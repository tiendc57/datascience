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90" r:id="rId2"/>
  </p:sldMasterIdLst>
  <p:handoutMasterIdLst>
    <p:handoutMasterId r:id="rId18"/>
  </p:handoutMasterIdLst>
  <p:sldIdLst>
    <p:sldId id="315" r:id="rId3"/>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342" r:id="rId51"/>
    <p:sldId id="343" r:id="rId52"/>
    <p:sldId id="344" r:id="rId53"/>
    <p:sldId id="345" r:id="rId54"/>
    <p:sldId id="346" r:id="rId55"/>
    <p:sldId id="347" r:id="rId56"/>
    <p:sldId id="348" r:id="rId57"/>
    <p:sldId id="349" r:id="rId58"/>
    <p:sldId id="350" r:id="rId59"/>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985D6A-63F4-5745-AD5D-02BB05467638}">
          <p14:sldIdLst>
            <p14:sldId id="315"/>
            <p14:sldId id="310"/>
            <p14:sldId id="304"/>
            <p14:sldId id="296"/>
            <p14:sldId id="305"/>
            <p14:sldId id="311"/>
            <p14:sldId id="316"/>
            <p14:sldId id="309"/>
            <p14:sldId id="307"/>
            <p14:sldId id="313"/>
            <p14:sldId id="314"/>
            <p14:sldId id="306"/>
            <p14:sldId id="312"/>
            <p14:sldId id="302"/>
            <p14:sldId id="3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DF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C10A7A-CE72-874A-A5D0-1DC6BD16DB28}" v="1" dt="2022-12-19T01:29:24.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5755"/>
  </p:normalViewPr>
  <p:slideViewPr>
    <p:cSldViewPr snapToGrid="0">
      <p:cViewPr varScale="1">
        <p:scale>
          <a:sx n="111" d="100"/>
          <a:sy n="111" d="100"/>
        </p:scale>
        <p:origin x="558" y="102"/>
      </p:cViewPr>
      <p:guideLst/>
    </p:cSldViewPr>
  </p:slideViewPr>
  <p:notesTextViewPr>
    <p:cViewPr>
      <p:scale>
        <a:sx n="1" d="1"/>
        <a:sy n="1" d="1"/>
      </p:scale>
      <p:origin x="0" y="0"/>
    </p:cViewPr>
  </p:notesTextViewPr>
  <p:notesViewPr>
    <p:cSldViewPr snapToGrid="0">
      <p:cViewPr varScale="1">
        <p:scale>
          <a:sx n="85" d="100"/>
          <a:sy n="85" d="100"/>
        </p:scale>
        <p:origin x="3928"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notesMaster" Target="notesMasters/notesMaster1.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ong Ngoc Son-Khoa QLDA" userId="7b6345db-15d8-4fe4-b2ee-53f6fbcd9c18" providerId="ADAL" clId="{92C10A7A-CE72-874A-A5D0-1DC6BD16DB28}"/>
    <pc:docChg chg="custSel addSld modSld sldOrd modMainMaster modSection">
      <pc:chgData name="Truong Ngoc Son-Khoa QLDA" userId="7b6345db-15d8-4fe4-b2ee-53f6fbcd9c18" providerId="ADAL" clId="{92C10A7A-CE72-874A-A5D0-1DC6BD16DB28}" dt="2022-12-19T01:29:59.498" v="8" actId="20578"/>
      <pc:docMkLst>
        <pc:docMk/>
      </pc:docMkLst>
      <pc:sldChg chg="add mod ord modClrScheme chgLayout">
        <pc:chgData name="Truong Ngoc Son-Khoa QLDA" userId="7b6345db-15d8-4fe4-b2ee-53f6fbcd9c18" providerId="ADAL" clId="{92C10A7A-CE72-874A-A5D0-1DC6BD16DB28}" dt="2022-12-19T01:29:59.498" v="8" actId="20578"/>
        <pc:sldMkLst>
          <pc:docMk/>
          <pc:sldMk cId="3783769825" sldId="315"/>
        </pc:sldMkLst>
      </pc:sldChg>
      <pc:sldMasterChg chg="addSldLayout modSldLayout">
        <pc:chgData name="Truong Ngoc Son-Khoa QLDA" userId="7b6345db-15d8-4fe4-b2ee-53f6fbcd9c18" providerId="ADAL" clId="{92C10A7A-CE72-874A-A5D0-1DC6BD16DB28}" dt="2022-12-19T01:29:29.546" v="5" actId="14100"/>
        <pc:sldMasterMkLst>
          <pc:docMk/>
          <pc:sldMasterMk cId="1486776597" sldId="2147483674"/>
        </pc:sldMasterMkLst>
        <pc:sldLayoutChg chg="addSp delSp modSp add mod replId modTransition">
          <pc:chgData name="Truong Ngoc Son-Khoa QLDA" userId="7b6345db-15d8-4fe4-b2ee-53f6fbcd9c18" providerId="ADAL" clId="{92C10A7A-CE72-874A-A5D0-1DC6BD16DB28}" dt="2022-12-19T01:29:29.546" v="5" actId="14100"/>
          <pc:sldLayoutMkLst>
            <pc:docMk/>
            <pc:sldMasterMk cId="1486776597" sldId="2147483674"/>
            <pc:sldLayoutMk cId="859889945" sldId="2147483702"/>
          </pc:sldLayoutMkLst>
          <pc:picChg chg="add mod">
            <ac:chgData name="Truong Ngoc Son-Khoa QLDA" userId="7b6345db-15d8-4fe4-b2ee-53f6fbcd9c18" providerId="ADAL" clId="{92C10A7A-CE72-874A-A5D0-1DC6BD16DB28}" dt="2022-12-19T01:29:29.546" v="5" actId="14100"/>
            <ac:picMkLst>
              <pc:docMk/>
              <pc:sldMasterMk cId="1486776597" sldId="2147483674"/>
              <pc:sldLayoutMk cId="859889945" sldId="2147483702"/>
              <ac:picMk id="6" creationId="{775CBC47-66D8-6B14-3700-5101CA9A86FC}"/>
            </ac:picMkLst>
          </pc:picChg>
          <pc:picChg chg="del">
            <ac:chgData name="Truong Ngoc Son-Khoa QLDA" userId="7b6345db-15d8-4fe4-b2ee-53f6fbcd9c18" providerId="ADAL" clId="{92C10A7A-CE72-874A-A5D0-1DC6BD16DB28}" dt="2022-12-19T01:29:04.391" v="1" actId="478"/>
            <ac:picMkLst>
              <pc:docMk/>
              <pc:sldMasterMk cId="1486776597" sldId="2147483674"/>
              <pc:sldLayoutMk cId="859889945" sldId="2147483702"/>
              <ac:picMk id="7" creationId="{0F5233AE-C293-4240-44B4-C4CCF5306E72}"/>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51D253-C8AA-7B05-B17D-8B4AEB9FA8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65C9CF16-4BE3-2E51-5FBC-2CC8DCFA4D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68DFF9-D954-4045-A6AB-461DD914726D}" type="datetimeFigureOut">
              <a:rPr lang="en-VN" smtClean="0"/>
              <a:t>05/07/2025</a:t>
            </a:fld>
            <a:endParaRPr lang="en-VN"/>
          </a:p>
        </p:txBody>
      </p:sp>
      <p:sp>
        <p:nvSpPr>
          <p:cNvPr id="4" name="Footer Placeholder 3">
            <a:extLst>
              <a:ext uri="{FF2B5EF4-FFF2-40B4-BE49-F238E27FC236}">
                <a16:creationId xmlns:a16="http://schemas.microsoft.com/office/drawing/2014/main" id="{21AE0FDA-E286-82B3-0E2E-E579D13AA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D0940566-724F-7B06-6239-7D233F7AED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F37F66-A223-A34D-9E00-842E72031805}" type="slidenum">
              <a:rPr lang="en-VN" smtClean="0"/>
              <a:t>‹#›</a:t>
            </a:fld>
            <a:endParaRPr lang="en-VN"/>
          </a:p>
        </p:txBody>
      </p:sp>
    </p:spTree>
    <p:extLst>
      <p:ext uri="{BB962C8B-B14F-4D97-AF65-F5344CB8AC3E}">
        <p14:creationId xmlns:p14="http://schemas.microsoft.com/office/powerpoint/2010/main" val="4114175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Nhóm em trình bày đề tài dự đoán giá rao bán ô tô trên Chợ Tốt. Mô hình được phân tích kỹ là Random Forest, làm hai bản: dùng thư viện scikit-learn và tự cài đặt bằng NumPy. Ridge Regression chỉ dùng làm mốc so sánh.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đi theo đúng quy trình một dự án học máy từ đầu đến cuối.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mua và người bán xe cũ đều cần một mốc giá hợp lý. Đây là bài toán hồi quy có giám sát: đầu vào là các thuộc tính ai cũng thấy trong tin đăng, đầu ra là giá rao bán tính bằng triệu đồng.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bước, mỗi bước một notebook. Mọi quyết định ở bước tiền xử lý và mô hình đều kiểm chứng bằng số liệu trên tập train; tập test chỉ dùng một lần ở bước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crawl duyệt 750 trang danh sách mới nhất, lấy link từng tin, rồi vào trang chi tiết đọc các thẻ HTML có thuộc tính itemprop, ví dụ itemprop='mileage_v2' là số km. Có nghỉ giữa các yêu cầu và cơ chế chạy tiếp khi bị ngắt.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Cột chọn từ danh sách thì sạch, không lỗi chính tả. Hai cột gõ tự do là số km và giá, cũng là hai nguồn lỗi chính cần kiểm tra ở bước tiền xử lý. URL chứa vị trí tin đăng.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Hiểu code crawl giúp biết mỗi loại lỗi đến từ đâu. Ví dụ N/A là do code không tìm thấy thẻ, tức người bán bỏ trống, còn 'Khác' là lựa chọn thật của người bán nên phải giữ.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Xuất xứ thiếu khoảng 41%, kiểu dáng 33%, số chỗ 25%: đều là ô không bắt buộc nhập. Số km thiếu chủ yếu ở xe mới. Dữ liệu tập trung vào xe đã dùng, hộp số tự động, xăng, và TP.HCM, Hà Nội chiếm khoảng 2/3 số tin.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trung vị tăng đều theo năm sản xuất và quan hệ không tuyến tính: xe mất giá nhanh những năm đầu. Xe sang Đức có giá và độ phân tán cao hơn hẳn xe phổ thông.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đầu tiên đưa dữ liệu về đúng kiểu: chuỗi '1.095.000.000' thành số, N/A thành thiếu thật. Tin trùng hoàn toàn (cùng mọi thuộc tính và giá) bị loại vì nếu một bản ở train, một bản ở test thì điểm đánh giá cao ảo.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cắt ngoại lệ theo phần trăm máy móc. Phân biệt sai dữ liệu (không thể xảy ra, loại hoặc sửa) với ngoại lệ thật (xe siêu sang vài tỷ là có thật, giữ). Làm trước khi điền thiếu để không điền dựa trên số sai.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Nhiều tin ghi số tiền trả trước thay vì giá xe để thu hút người xem. Ngưỡng tuyệt đối không bắt được: 100 triệu hợp lý với xe 20 năm tuổi nhưng vô lý với xe 1 năm tuổi. Nên so với chính mẫu xe đó.</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km thiếu có cấu trúc: trang tin xe mới không có ô số km, nên điền 0 là đúng bản chất; điền trung vị sẽ biến xe mới thành xe đã chạy 66.000 km. Kiểu dáng, số chỗ do dòng xe quyết định nên điền theo dòng xe. Xuất xứ thiếu quá nhiều nên không đoán.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đưa phân phối giá về gần đối xứng, biến sai số tuyệt đối thành sai số tương đối, khớp với MAPE. Gộp nhãn hiếm: dòng xe dưới 10 tin lùi về hãng, hãng dưới 30 tin lùi về nhóm cao cấp hoặc phổ thông. Ngưỡng chọn bằng CV trên train.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Biến mục tiêu liên tục nên không có lớp thiểu số; mất cân bằng thể hiện ở mật độ dữ liệu: xe trên 2 tỷ chỉ 3,3%, ít hơn phân khúc đông nhất gần 13 lần. Tổng cộng làm sạch giữ lại 93,9% dữ liệu, không còn giá trị thiếu.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 80/20 phân tầng theo phân khúc giá để tập test có đủ xe sang. Không tách tập validation riêng vì chỉ có khoảng 460 xe trên 2 tỷ; CV dùng lần lượt mọi phần của train làm validation nên ổn định hơn.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MAPE là thước đo chính vì lệch 100 triệu là nhỏ với xe 3 tỷ nhưng rất lớn với xe 150 triệu. Không chỉ số nào tốt khi đứng một mình: luôn so với baseline luôn đoán giá trung vị. Thang MAPE là quy ước tham khảo trong dự báo (Lewis, 1982).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One-hot sinh 277 cột 0/1; mã số thứ tự chỉ 12 cột nhưng thứ tự các nhãn là tùy ý. Với one-hot, một phép chia tách thẳng một dòng xe; với mã số, xe sang và xe rẻ xếp xen kẽ theo bảng chữ cái nên cây phải chia nhiều lần. Kết quả: one-hot tốt nhất, rõ nhất ở xe trên 2 tỷ.</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một cây thật độ sâu 3 học từ tập train. Câu hỏi đầu tiên là tuổi xe ≤ 13,5 năm, rồi đến hộp số sàn, kiểu dáng, số chỗ. Mỗi nút chọn câu hỏi làm giảm tổng bình phương sai số nhiều nhất; lá dự đoán bằng trung bình log giá của các xe trong lá.</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mỗi cây học trên mẫu lấy có hoàn lại, chứa khoảng 63% số xe khác nhau. Mỗi lần chia nút chỉ xét một phần đặc trưng ngẫu nhiên để các cây ít giống nhau. Trung bình nhiều cây ít tương quan có phương sai nhỏ hơn hẳn một cây. Khoảng 37% xe không được chọn (out-of-bag) dùng để ước lượng sai số mà không cần tập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RandomizedSearchCV thử 12 cấu hình ngẫu nhiên, 300 cây, 3-fold CV phân tầng theo phân khúc giá. Các cấu hình tốt đều có cây sâu, lá nhỏ: dữ liệu có nhiều tổ hợp hãng-dòng-đời xe riêng biệt; việc lấy trung bình 300 cây đã kiểm soát phương sai.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cơ bản phải sắp xếp từng cột ở mỗi nút, rất chậm trong Python. Kỹ thuật histogram (giống LightGBM): chia mỗi đặc trưng thành 32 bin một lần; ở mỗi nút chỉ cần np.bincount đếm số xe và tổng log giá theo bin, rồi np.cumsum cộng dồn là có gain của mọi ngưỡng cùng lúc.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1: dựng một cây cùng tham số với DecisionTreeRegressor, so số nút và R². Bước 2: so dự đoán của cả rừng trên từng xe trong tập test. Tập test ở đây chỉ dùng để kiểm tra tính đúng của code, không để chọn tham số.</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tự viết chọn tham số bằng OOB (6 cấu hình, mỗi cấu hình 30 cây, chỉ huấn luyện một lần), rồi huấn luyện 100 cây trong khoảng 2,4 phút. OOB RMSE giảm nhanh trong vài chục cây đầu rồi bão hòa. Trên test, rừng giảm MAPE từ khoảng 19% của một cây xuống 15,5-15,7%.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 là mô hình tuyến tính tốt nhất có thể trên cùng dữ liệu: đã có age² và log(km) để biểu diễn khấu hao cong, và được tinh chỉnh bằng CV như rừng. Vì vậy phần chênh lệch giữa Ridge và Random Forest chính là đóng góp của quan hệ phi tuyến và tương tác. Ridge chỉ dùng thư viện.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Đánh giá trên 2.788 tin test, dùng một lần. Random Forest vượt xa baseline và tốt hơn Ridge 3 điểm %. MedAPE 9% thấp hơn MAPE nhiều: xe điển hình chỉ lệch 9%, một nhóm nhỏ xe sai nặng kéo trung bình lên. RMSE gấp 3,6 lần MAE cho thấy có vài lỗi rất lớn, chủ yếu xe sang.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khúc 200 triệu - 1 tỷ chiếm khoảng 75% thị trường, sai số khoảng 11%. Xe dưới 200 triệu: chênh vài chục triệu đã là phần trăm lớn, và còn sót tin ghi giá trả trước. Xe trên 2 tỷ: ít dữ liệu và thiếu thông tin phiên bản, trang bị.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điểm là một xe test; trục thang log nên khoảng cách tới đường chéo là sai số phần trăm. Vùng xám là ±20%. Phần dư đối xứng quanh 0 nên mô hình không đoán lệch hệ thống; Random Forest có phân bố hẹp hơn Ridge.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tin cậy 95% cho biết MAPE có thể dao động trong khoảng nào nếu đánh giá trên tập test khác. Cách tính: bốc lại 2.788 xe test có hoàn lại, tính MAPE, lặp 1.000 lần, bỏ 2,5% mỗi đầu. So hai mô hình: tính hiệu MAPE trên cùng các xe trong mỗi lần bốc. Khoảng của hiệu không chứa 0 nghĩa là chênh lệch có ý nghĩa.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Impurity cộng mức giảm sai số khi học, nhưng bị lệch khi đặc trưng tương quan. Permutation xáo trộn từng đặc trưng trên tập test rồi đo MAPE tăng bao nhiêu. Hộp số tụt từ hạng 2 xuống hạng 4 vì trùng thông tin với tuổi xe: xe số sàn thường là xe cũ.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Cố định mọi thuộc tính, chỉ thay đổi tuổi xe với 15.000 km mỗi năm. Ridge buộc mọi dòng xe mất cùng một tỉ lệ % mỗi năm. Random Forest học được Mercedes C Class mất giá rất nhanh 3-4 năm đầu: đó là tương tác giữa dòng xe và tuổi xe.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giá giảm MAPE từ 19,6% xuống 16,2%. Trọng số mẫu và oversampling giữ nguyên MAPE tổng nhưng giảm sai số xe trên 2 tỷ khoảng 3 điểm %. Undersampling bỏ 22% dữ liệu và làm kết quả kém đi. Cân bằng chỉ làm trong phần train của từng fold; đánh giá bằng CV vì oversampling làm OOB sai.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 đăng lại làm điểm hơi lạc quan: chia theo nhóm (mọi bản đăng của một xe cùng một phía) làm MAPE CV tăng 0,5 điểm %. Ngược lại, nhiều xe bị đoán sai nhất thực ra là tin ghi giá trả trước còn sót: mô hình đoán hợp lý hơn giá rao.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được lưu trong thư mục model/. Hàm predict_price nhận thông tin thô (hãng, dòng, năm, km...), tự gộp nhãn, điền km thiếu và dựng đặc trưng như lúc huấn luyện. Nạp lại cho dự đoán trùng notebook đến 10⁻¹¹ triệu.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kết quả, nêu rõ hạn chế và hướng phát triển. Cảm ơn thầy cô đã lắng nghe, nhóm em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8E8A80-BEDD-3B8B-E0AD-2A4B196EDDE7}"/>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3" name="Footer Placeholder 2">
            <a:extLst>
              <a:ext uri="{FF2B5EF4-FFF2-40B4-BE49-F238E27FC236}">
                <a16:creationId xmlns:a16="http://schemas.microsoft.com/office/drawing/2014/main" id="{3F0F12E3-C460-CFF0-2397-9891E413AC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4D2489-055A-4040-3BD6-71CE92E3A455}"/>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7" name="Picture 6">
            <a:extLst>
              <a:ext uri="{FF2B5EF4-FFF2-40B4-BE49-F238E27FC236}">
                <a16:creationId xmlns:a16="http://schemas.microsoft.com/office/drawing/2014/main" id="{0F5233AE-C293-4240-44B4-C4CCF5306E72}"/>
              </a:ext>
            </a:extLst>
          </p:cNvPr>
          <p:cNvPicPr>
            <a:picLocks noChangeAspect="1"/>
          </p:cNvPicPr>
          <p:nvPr userDrawn="1"/>
        </p:nvPicPr>
        <p:blipFill>
          <a:blip r:embed="rId2"/>
          <a:stretch>
            <a:fillRect/>
          </a:stretch>
        </p:blipFill>
        <p:spPr>
          <a:xfrm>
            <a:off x="148" y="0"/>
            <a:ext cx="12191851" cy="6858084"/>
          </a:xfrm>
          <a:prstGeom prst="rect">
            <a:avLst/>
          </a:prstGeom>
        </p:spPr>
      </p:pic>
    </p:spTree>
    <p:extLst>
      <p:ext uri="{BB962C8B-B14F-4D97-AF65-F5344CB8AC3E}">
        <p14:creationId xmlns:p14="http://schemas.microsoft.com/office/powerpoint/2010/main" val="180165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8E8A80-BEDD-3B8B-E0AD-2A4B196EDDE7}"/>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3" name="Footer Placeholder 2">
            <a:extLst>
              <a:ext uri="{FF2B5EF4-FFF2-40B4-BE49-F238E27FC236}">
                <a16:creationId xmlns:a16="http://schemas.microsoft.com/office/drawing/2014/main" id="{3F0F12E3-C460-CFF0-2397-9891E413AC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4D2489-055A-4040-3BD6-71CE92E3A455}"/>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6" name="Picture 5" descr="A picture containing calendar&#10;&#10;Description automatically generated">
            <a:extLst>
              <a:ext uri="{FF2B5EF4-FFF2-40B4-BE49-F238E27FC236}">
                <a16:creationId xmlns:a16="http://schemas.microsoft.com/office/drawing/2014/main" id="{775CBC47-66D8-6B14-3700-5101CA9A86FC}"/>
              </a:ext>
            </a:extLst>
          </p:cNvPr>
          <p:cNvPicPr>
            <a:picLocks noChangeAspect="1"/>
          </p:cNvPicPr>
          <p:nvPr userDrawn="1"/>
        </p:nvPicPr>
        <p:blipFill>
          <a:blip r:embed="rId2"/>
          <a:stretch>
            <a:fillRect/>
          </a:stretch>
        </p:blipFill>
        <p:spPr>
          <a:xfrm>
            <a:off x="149" y="0"/>
            <a:ext cx="12191702" cy="6858000"/>
          </a:xfrm>
          <a:prstGeom prst="rect">
            <a:avLst/>
          </a:prstGeom>
        </p:spPr>
      </p:pic>
    </p:spTree>
    <p:extLst>
      <p:ext uri="{BB962C8B-B14F-4D97-AF65-F5344CB8AC3E}">
        <p14:creationId xmlns:p14="http://schemas.microsoft.com/office/powerpoint/2010/main" val="859889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1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94B1C-90AA-693B-D6E2-F6D98D12F7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E21D79-A5C5-6907-425F-1E81D8286D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0E792-172A-833A-6F50-587F56B7BD17}"/>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54AC9770-2139-DEAD-D8C8-9D453CF57847}"/>
              </a:ext>
            </a:extLst>
          </p:cNvPr>
          <p:cNvSpPr>
            <a:spLocks noGrp="1"/>
          </p:cNvSpPr>
          <p:nvPr>
            <p:ph type="ftr" sz="quarter" idx="11"/>
          </p:nvPr>
        </p:nvSpPr>
        <p:spPr/>
        <p:txBody>
          <a:bodyPr/>
          <a:lstStyle/>
          <a:p>
            <a:endParaRPr lang="en-US"/>
          </a:p>
        </p:txBody>
      </p:sp>
      <p:pic>
        <p:nvPicPr>
          <p:cNvPr id="9" name="Picture 8">
            <a:extLst>
              <a:ext uri="{FF2B5EF4-FFF2-40B4-BE49-F238E27FC236}">
                <a16:creationId xmlns:a16="http://schemas.microsoft.com/office/drawing/2014/main" id="{9BF1B271-D828-FAD4-2D6E-FE5937471FBB}"/>
              </a:ext>
            </a:extLst>
          </p:cNvPr>
          <p:cNvPicPr>
            <a:picLocks noChangeAspect="1"/>
          </p:cNvPicPr>
          <p:nvPr userDrawn="1"/>
        </p:nvPicPr>
        <p:blipFill>
          <a:blip r:embed="rId2"/>
          <a:stretch>
            <a:fillRect/>
          </a:stretch>
        </p:blipFill>
        <p:spPr>
          <a:xfrm>
            <a:off x="0" y="0"/>
            <a:ext cx="12191851" cy="6858084"/>
          </a:xfrm>
          <a:prstGeom prst="rect">
            <a:avLst/>
          </a:prstGeom>
        </p:spPr>
      </p:pic>
      <p:sp>
        <p:nvSpPr>
          <p:cNvPr id="10" name="Slide Number Placeholder 5">
            <a:extLst>
              <a:ext uri="{FF2B5EF4-FFF2-40B4-BE49-F238E27FC236}">
                <a16:creationId xmlns:a16="http://schemas.microsoft.com/office/drawing/2014/main" id="{2770F933-14CE-2DB1-9EE7-6BD214FCC5AA}"/>
              </a:ext>
            </a:extLst>
          </p:cNvPr>
          <p:cNvSpPr>
            <a:spLocks noGrp="1"/>
          </p:cNvSpPr>
          <p:nvPr>
            <p:ph type="sldNum" sz="quarter" idx="12"/>
          </p:nvPr>
        </p:nvSpPr>
        <p:spPr>
          <a:xfrm>
            <a:off x="4724325" y="6400090"/>
            <a:ext cx="2743200" cy="365125"/>
          </a:xfrm>
        </p:spPr>
        <p:txBody>
          <a:bodyPr/>
          <a:lstStyle>
            <a:lvl1pPr algn="ctr">
              <a:defRPr>
                <a:solidFill>
                  <a:schemeClr val="bg1"/>
                </a:solidFill>
              </a:defRPr>
            </a:lvl1pPr>
          </a:lstStyle>
          <a:p>
            <a:fld id="{44A9A2A8-896A-4908-99A1-F33C2133E199}" type="slidenum">
              <a:rPr lang="en-US" smtClean="0"/>
              <a:pPr/>
              <a:t>‹#›</a:t>
            </a:fld>
            <a:endParaRPr lang="en-US"/>
          </a:p>
        </p:txBody>
      </p:sp>
      <p:sp>
        <p:nvSpPr>
          <p:cNvPr id="11" name="TextBox 10">
            <a:extLst>
              <a:ext uri="{FF2B5EF4-FFF2-40B4-BE49-F238E27FC236}">
                <a16:creationId xmlns:a16="http://schemas.microsoft.com/office/drawing/2014/main" id="{3B883601-79FC-DA84-BAE6-F3073BDC4694}"/>
              </a:ext>
            </a:extLst>
          </p:cNvPr>
          <p:cNvSpPr txBox="1"/>
          <p:nvPr userDrawn="1"/>
        </p:nvSpPr>
        <p:spPr>
          <a:xfrm>
            <a:off x="282121" y="155571"/>
            <a:ext cx="3855358" cy="338554"/>
          </a:xfrm>
          <a:prstGeom prst="rect">
            <a:avLst/>
          </a:prstGeom>
          <a:noFill/>
        </p:spPr>
        <p:txBody>
          <a:bodyPr wrap="square" rtlCol="0">
            <a:spAutoFit/>
          </a:bodyPr>
          <a:lstStyle/>
          <a:p>
            <a:r>
              <a:rPr lang="en-US" sz="1600" dirty="0">
                <a:solidFill>
                  <a:schemeClr val="bg1">
                    <a:lumMod val="50000"/>
                  </a:schemeClr>
                </a:solidFill>
                <a:latin typeface="UTM Neutra" panose="02040603050506020204" pitchFamily="18" charset="0"/>
              </a:rPr>
              <a:t>CHƯƠNG 1: TỔNG QUAN</a:t>
            </a:r>
          </a:p>
        </p:txBody>
      </p:sp>
      <p:cxnSp>
        <p:nvCxnSpPr>
          <p:cNvPr id="12" name="Straight Connector 11">
            <a:extLst>
              <a:ext uri="{FF2B5EF4-FFF2-40B4-BE49-F238E27FC236}">
                <a16:creationId xmlns:a16="http://schemas.microsoft.com/office/drawing/2014/main" id="{8D0E39C6-43DA-EECF-23C6-59D63F572700}"/>
              </a:ext>
            </a:extLst>
          </p:cNvPr>
          <p:cNvCxnSpPr>
            <a:cxnSpLocks/>
          </p:cNvCxnSpPr>
          <p:nvPr userDrawn="1"/>
        </p:nvCxnSpPr>
        <p:spPr>
          <a:xfrm>
            <a:off x="371475" y="501012"/>
            <a:ext cx="2335149" cy="0"/>
          </a:xfrm>
          <a:prstGeom prst="line">
            <a:avLst/>
          </a:prstGeom>
          <a:ln w="28575">
            <a:solidFill>
              <a:schemeClr val="bg2">
                <a:lumMod val="50000"/>
              </a:schemeClr>
            </a:solidFill>
          </a:ln>
        </p:spPr>
        <p:style>
          <a:lnRef idx="1">
            <a:schemeClr val="accent3"/>
          </a:lnRef>
          <a:fillRef idx="0">
            <a:schemeClr val="accent3"/>
          </a:fillRef>
          <a:effectRef idx="0">
            <a:schemeClr val="accent3"/>
          </a:effectRef>
          <a:fontRef idx="minor">
            <a:schemeClr val="tx1"/>
          </a:fontRef>
        </p:style>
      </p:cxnSp>
      <p:sp>
        <p:nvSpPr>
          <p:cNvPr id="13" name="TextBox 12">
            <a:extLst>
              <a:ext uri="{FF2B5EF4-FFF2-40B4-BE49-F238E27FC236}">
                <a16:creationId xmlns:a16="http://schemas.microsoft.com/office/drawing/2014/main" id="{2D06680A-407A-232D-71BD-099E05DE8702}"/>
              </a:ext>
            </a:extLst>
          </p:cNvPr>
          <p:cNvSpPr txBox="1"/>
          <p:nvPr userDrawn="1"/>
        </p:nvSpPr>
        <p:spPr>
          <a:xfrm>
            <a:off x="282121" y="524902"/>
            <a:ext cx="3855358" cy="276999"/>
          </a:xfrm>
          <a:prstGeom prst="rect">
            <a:avLst/>
          </a:prstGeom>
          <a:noFill/>
        </p:spPr>
        <p:txBody>
          <a:bodyPr wrap="square" rtlCol="0">
            <a:spAutoFit/>
          </a:bodyPr>
          <a:lstStyle/>
          <a:p>
            <a:r>
              <a:rPr lang="en-US" sz="1200" dirty="0">
                <a:solidFill>
                  <a:srgbClr val="085189"/>
                </a:solidFill>
                <a:latin typeface="UTM Neutra" panose="02040603050506020204" pitchFamily="18" charset="0"/>
              </a:rPr>
              <a:t>1.1 ĐỀ CƯƠNG CHI TIẾT</a:t>
            </a:r>
          </a:p>
        </p:txBody>
      </p:sp>
    </p:spTree>
    <p:extLst>
      <p:ext uri="{BB962C8B-B14F-4D97-AF65-F5344CB8AC3E}">
        <p14:creationId xmlns:p14="http://schemas.microsoft.com/office/powerpoint/2010/main" val="1805645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AD15-D119-3EC8-CC44-70BEA3B650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AA86BB-6BC0-9D87-3DB9-785B71EFD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C3F056-854A-B42C-E05E-FAD8E313A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60A57-B6F0-C52A-A084-BED79297992B}"/>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6" name="Footer Placeholder 5">
            <a:extLst>
              <a:ext uri="{FF2B5EF4-FFF2-40B4-BE49-F238E27FC236}">
                <a16:creationId xmlns:a16="http://schemas.microsoft.com/office/drawing/2014/main" id="{88BC4353-A360-8F1B-B427-2F470FB6BDCD}"/>
              </a:ext>
            </a:extLst>
          </p:cNvPr>
          <p:cNvSpPr>
            <a:spLocks noGrp="1"/>
          </p:cNvSpPr>
          <p:nvPr>
            <p:ph type="ftr" sz="quarter" idx="11"/>
          </p:nvPr>
        </p:nvSpPr>
        <p:spPr/>
        <p:txBody>
          <a:bodyPr/>
          <a:lstStyle/>
          <a:p>
            <a:endParaRPr lang="en-US"/>
          </a:p>
        </p:txBody>
      </p:sp>
      <p:pic>
        <p:nvPicPr>
          <p:cNvPr id="10" name="Picture 9">
            <a:extLst>
              <a:ext uri="{FF2B5EF4-FFF2-40B4-BE49-F238E27FC236}">
                <a16:creationId xmlns:a16="http://schemas.microsoft.com/office/drawing/2014/main" id="{B51DD0A4-8111-B4A5-8A23-89C6E7C98499}"/>
              </a:ext>
            </a:extLst>
          </p:cNvPr>
          <p:cNvPicPr>
            <a:picLocks noChangeAspect="1"/>
          </p:cNvPicPr>
          <p:nvPr userDrawn="1"/>
        </p:nvPicPr>
        <p:blipFill>
          <a:blip r:embed="rId2"/>
          <a:stretch>
            <a:fillRect/>
          </a:stretch>
        </p:blipFill>
        <p:spPr>
          <a:xfrm>
            <a:off x="148" y="0"/>
            <a:ext cx="12191851" cy="6858084"/>
          </a:xfrm>
          <a:prstGeom prst="rect">
            <a:avLst/>
          </a:prstGeom>
        </p:spPr>
      </p:pic>
      <p:sp>
        <p:nvSpPr>
          <p:cNvPr id="11" name="Slide Number Placeholder 3">
            <a:extLst>
              <a:ext uri="{FF2B5EF4-FFF2-40B4-BE49-F238E27FC236}">
                <a16:creationId xmlns:a16="http://schemas.microsoft.com/office/drawing/2014/main" id="{0E5ECC14-5837-1A2A-4230-80B7946BBE51}"/>
              </a:ext>
            </a:extLst>
          </p:cNvPr>
          <p:cNvSpPr txBox="1">
            <a:spLocks/>
          </p:cNvSpPr>
          <p:nvPr userDrawn="1"/>
        </p:nvSpPr>
        <p:spPr>
          <a:xfrm>
            <a:off x="3400425" y="6488766"/>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A9A2A8-896A-4908-99A1-F33C2133E199}" type="slidenum">
              <a:rPr lang="en-US" smtClean="0">
                <a:solidFill>
                  <a:schemeClr val="bg1"/>
                </a:solidFill>
              </a:rPr>
              <a:pPr/>
              <a:t>‹#›</a:t>
            </a:fld>
            <a:endParaRPr lang="en-US" dirty="0">
              <a:solidFill>
                <a:schemeClr val="bg1"/>
              </a:solidFill>
            </a:endParaRPr>
          </a:p>
        </p:txBody>
      </p:sp>
      <p:sp>
        <p:nvSpPr>
          <p:cNvPr id="12" name="TextBox 11">
            <a:extLst>
              <a:ext uri="{FF2B5EF4-FFF2-40B4-BE49-F238E27FC236}">
                <a16:creationId xmlns:a16="http://schemas.microsoft.com/office/drawing/2014/main" id="{2A2E9BD3-7155-55B5-DC53-19DEAEE2ACE7}"/>
              </a:ext>
            </a:extLst>
          </p:cNvPr>
          <p:cNvSpPr txBox="1"/>
          <p:nvPr userDrawn="1"/>
        </p:nvSpPr>
        <p:spPr>
          <a:xfrm>
            <a:off x="282121" y="155571"/>
            <a:ext cx="3855358" cy="338554"/>
          </a:xfrm>
          <a:prstGeom prst="rect">
            <a:avLst/>
          </a:prstGeom>
          <a:noFill/>
        </p:spPr>
        <p:txBody>
          <a:bodyPr wrap="square" rtlCol="0">
            <a:spAutoFit/>
          </a:bodyPr>
          <a:lstStyle/>
          <a:p>
            <a:r>
              <a:rPr lang="en-US" sz="1600" dirty="0">
                <a:solidFill>
                  <a:schemeClr val="bg1">
                    <a:lumMod val="50000"/>
                  </a:schemeClr>
                </a:solidFill>
                <a:latin typeface="UTM Neutra" panose="02040603050506020204" pitchFamily="18" charset="0"/>
              </a:rPr>
              <a:t>CHƯƠNG 1: TỔNG QUAN</a:t>
            </a:r>
          </a:p>
        </p:txBody>
      </p:sp>
      <p:cxnSp>
        <p:nvCxnSpPr>
          <p:cNvPr id="13" name="Straight Connector 12">
            <a:extLst>
              <a:ext uri="{FF2B5EF4-FFF2-40B4-BE49-F238E27FC236}">
                <a16:creationId xmlns:a16="http://schemas.microsoft.com/office/drawing/2014/main" id="{E45E6485-FA4A-8EEC-5351-59431317D7CB}"/>
              </a:ext>
            </a:extLst>
          </p:cNvPr>
          <p:cNvCxnSpPr>
            <a:cxnSpLocks/>
          </p:cNvCxnSpPr>
          <p:nvPr userDrawn="1"/>
        </p:nvCxnSpPr>
        <p:spPr>
          <a:xfrm>
            <a:off x="371475" y="501012"/>
            <a:ext cx="2335149" cy="0"/>
          </a:xfrm>
          <a:prstGeom prst="line">
            <a:avLst/>
          </a:prstGeom>
          <a:ln w="28575">
            <a:solidFill>
              <a:schemeClr val="bg2">
                <a:lumMod val="50000"/>
              </a:schemeClr>
            </a:solidFill>
          </a:ln>
        </p:spPr>
        <p:style>
          <a:lnRef idx="1">
            <a:schemeClr val="accent3"/>
          </a:lnRef>
          <a:fillRef idx="0">
            <a:schemeClr val="accent3"/>
          </a:fillRef>
          <a:effectRef idx="0">
            <a:schemeClr val="accent3"/>
          </a:effectRef>
          <a:fontRef idx="minor">
            <a:schemeClr val="tx1"/>
          </a:fontRef>
        </p:style>
      </p:cxnSp>
      <p:sp>
        <p:nvSpPr>
          <p:cNvPr id="14" name="TextBox 13">
            <a:extLst>
              <a:ext uri="{FF2B5EF4-FFF2-40B4-BE49-F238E27FC236}">
                <a16:creationId xmlns:a16="http://schemas.microsoft.com/office/drawing/2014/main" id="{57B06640-5366-A68D-F217-AB17AE3CEB1E}"/>
              </a:ext>
            </a:extLst>
          </p:cNvPr>
          <p:cNvSpPr txBox="1"/>
          <p:nvPr userDrawn="1"/>
        </p:nvSpPr>
        <p:spPr>
          <a:xfrm>
            <a:off x="282121" y="524902"/>
            <a:ext cx="3855358" cy="276999"/>
          </a:xfrm>
          <a:prstGeom prst="rect">
            <a:avLst/>
          </a:prstGeom>
          <a:noFill/>
        </p:spPr>
        <p:txBody>
          <a:bodyPr wrap="square" rtlCol="0">
            <a:spAutoFit/>
          </a:bodyPr>
          <a:lstStyle/>
          <a:p>
            <a:r>
              <a:rPr lang="en-US" sz="1200" dirty="0">
                <a:solidFill>
                  <a:srgbClr val="085189"/>
                </a:solidFill>
                <a:latin typeface="UTM Neutra" panose="02040603050506020204" pitchFamily="18" charset="0"/>
              </a:rPr>
              <a:t>1.1 ĐỀ CƯƠNG CHI TIẾT</a:t>
            </a:r>
          </a:p>
        </p:txBody>
      </p:sp>
    </p:spTree>
    <p:extLst>
      <p:ext uri="{BB962C8B-B14F-4D97-AF65-F5344CB8AC3E}">
        <p14:creationId xmlns:p14="http://schemas.microsoft.com/office/powerpoint/2010/main" val="119485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32B175-B3D0-2F50-4BE0-5C1C5BFAC857}"/>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5784F3EE-651B-C7A4-7C4B-F86E5D179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CEE28-EB67-1727-82A8-9EB50F933EAC}"/>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8" name="Picture 7" descr="Shape&#10;&#10;Description automatically generated with low confidence">
            <a:extLst>
              <a:ext uri="{FF2B5EF4-FFF2-40B4-BE49-F238E27FC236}">
                <a16:creationId xmlns:a16="http://schemas.microsoft.com/office/drawing/2014/main" id="{BC4DE8E7-D11B-BA5E-7E38-EDDC2AA8FF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457371"/>
            <a:ext cx="12192000" cy="1400629"/>
          </a:xfrm>
          <a:prstGeom prst="rect">
            <a:avLst/>
          </a:prstGeom>
        </p:spPr>
      </p:pic>
      <p:sp>
        <p:nvSpPr>
          <p:cNvPr id="11" name="Slide Number Placeholder 3">
            <a:extLst>
              <a:ext uri="{FF2B5EF4-FFF2-40B4-BE49-F238E27FC236}">
                <a16:creationId xmlns:a16="http://schemas.microsoft.com/office/drawing/2014/main" id="{7C9DFFF3-6EF9-386C-317D-6AFECFF277C3}"/>
              </a:ext>
            </a:extLst>
          </p:cNvPr>
          <p:cNvSpPr txBox="1">
            <a:spLocks/>
          </p:cNvSpPr>
          <p:nvPr userDrawn="1"/>
        </p:nvSpPr>
        <p:spPr>
          <a:xfrm>
            <a:off x="92964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A9A2A8-896A-4908-99A1-F33C2133E199}" type="slidenum">
              <a:rPr lang="en-US" smtClean="0">
                <a:solidFill>
                  <a:schemeClr val="bg1"/>
                </a:solidFill>
              </a:rPr>
              <a:pPr/>
              <a:t>‹#›</a:t>
            </a:fld>
            <a:endParaRPr lang="en-US">
              <a:solidFill>
                <a:schemeClr val="bg1"/>
              </a:solidFill>
            </a:endParaRPr>
          </a:p>
        </p:txBody>
      </p:sp>
      <p:sp>
        <p:nvSpPr>
          <p:cNvPr id="12" name="TextBox 11">
            <a:extLst>
              <a:ext uri="{FF2B5EF4-FFF2-40B4-BE49-F238E27FC236}">
                <a16:creationId xmlns:a16="http://schemas.microsoft.com/office/drawing/2014/main" id="{2D2460D0-200A-937A-8A2A-B7A97F2A8D23}"/>
              </a:ext>
            </a:extLst>
          </p:cNvPr>
          <p:cNvSpPr txBox="1"/>
          <p:nvPr userDrawn="1"/>
        </p:nvSpPr>
        <p:spPr>
          <a:xfrm>
            <a:off x="297543" y="217714"/>
            <a:ext cx="3855358" cy="276999"/>
          </a:xfrm>
          <a:prstGeom prst="rect">
            <a:avLst/>
          </a:prstGeom>
          <a:noFill/>
        </p:spPr>
        <p:txBody>
          <a:bodyPr wrap="square" rtlCol="0">
            <a:spAutoFit/>
          </a:bodyPr>
          <a:lstStyle/>
          <a:p>
            <a:r>
              <a:rPr lang="en-US" sz="1200" dirty="0">
                <a:solidFill>
                  <a:schemeClr val="bg1">
                    <a:lumMod val="50000"/>
                  </a:schemeClr>
                </a:solidFill>
                <a:latin typeface="UTM Neutra" panose="02040603050506020204" pitchFamily="18" charset="0"/>
              </a:rPr>
              <a:t>CHƯƠNG 1: TỔNG QUAN</a:t>
            </a:r>
          </a:p>
        </p:txBody>
      </p:sp>
      <p:cxnSp>
        <p:nvCxnSpPr>
          <p:cNvPr id="14" name="Straight Connector 13">
            <a:extLst>
              <a:ext uri="{FF2B5EF4-FFF2-40B4-BE49-F238E27FC236}">
                <a16:creationId xmlns:a16="http://schemas.microsoft.com/office/drawing/2014/main" id="{B83E8B11-B11E-4836-9E0A-CCECE2E44E66}"/>
              </a:ext>
            </a:extLst>
          </p:cNvPr>
          <p:cNvCxnSpPr>
            <a:cxnSpLocks/>
          </p:cNvCxnSpPr>
          <p:nvPr userDrawn="1"/>
        </p:nvCxnSpPr>
        <p:spPr>
          <a:xfrm flipV="1">
            <a:off x="371475" y="494125"/>
            <a:ext cx="2047634" cy="588"/>
          </a:xfrm>
          <a:prstGeom prst="line">
            <a:avLst/>
          </a:prstGeom>
          <a:ln w="12700"/>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D2BEE2CC-74A1-111D-2E46-E975A15F4E03}"/>
              </a:ext>
            </a:extLst>
          </p:cNvPr>
          <p:cNvSpPr txBox="1"/>
          <p:nvPr userDrawn="1"/>
        </p:nvSpPr>
        <p:spPr>
          <a:xfrm>
            <a:off x="3402693" y="217126"/>
            <a:ext cx="3855358" cy="276999"/>
          </a:xfrm>
          <a:prstGeom prst="rect">
            <a:avLst/>
          </a:prstGeom>
          <a:noFill/>
        </p:spPr>
        <p:txBody>
          <a:bodyPr wrap="square" rtlCol="0">
            <a:spAutoFit/>
          </a:bodyPr>
          <a:lstStyle/>
          <a:p>
            <a:r>
              <a:rPr lang="en-US" sz="1200" dirty="0">
                <a:solidFill>
                  <a:srgbClr val="085189"/>
                </a:solidFill>
                <a:latin typeface="UTM Neutra" panose="02040603050506020204" pitchFamily="18" charset="0"/>
              </a:rPr>
              <a:t>1.1 ĐỀ CƯƠNG CHI TIẾT</a:t>
            </a:r>
          </a:p>
        </p:txBody>
      </p:sp>
      <p:cxnSp>
        <p:nvCxnSpPr>
          <p:cNvPr id="17" name="Straight Connector 16">
            <a:extLst>
              <a:ext uri="{FF2B5EF4-FFF2-40B4-BE49-F238E27FC236}">
                <a16:creationId xmlns:a16="http://schemas.microsoft.com/office/drawing/2014/main" id="{CB6DB47C-4FFB-0B52-97E8-CFD46BF2D6FC}"/>
              </a:ext>
            </a:extLst>
          </p:cNvPr>
          <p:cNvCxnSpPr>
            <a:cxnSpLocks/>
          </p:cNvCxnSpPr>
          <p:nvPr userDrawn="1"/>
        </p:nvCxnSpPr>
        <p:spPr>
          <a:xfrm>
            <a:off x="3476625" y="494125"/>
            <a:ext cx="1639385" cy="0"/>
          </a:xfrm>
          <a:prstGeom prst="line">
            <a:avLst/>
          </a:prstGeom>
          <a:ln w="12700">
            <a:solidFill>
              <a:srgbClr val="085189"/>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160499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32B175-B3D0-2F50-4BE0-5C1C5BFAC857}"/>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5784F3EE-651B-C7A4-7C4B-F86E5D179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CEE28-EB67-1727-82A8-9EB50F933EAC}"/>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8" name="Picture 7" descr="Shape&#10;&#10;Description automatically generated with low confidence">
            <a:extLst>
              <a:ext uri="{FF2B5EF4-FFF2-40B4-BE49-F238E27FC236}">
                <a16:creationId xmlns:a16="http://schemas.microsoft.com/office/drawing/2014/main" id="{BC4DE8E7-D11B-BA5E-7E38-EDDC2AA8FF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457371"/>
            <a:ext cx="12192000" cy="1400629"/>
          </a:xfrm>
          <a:prstGeom prst="rect">
            <a:avLst/>
          </a:prstGeom>
        </p:spPr>
      </p:pic>
      <p:sp>
        <p:nvSpPr>
          <p:cNvPr id="11" name="Slide Number Placeholder 3">
            <a:extLst>
              <a:ext uri="{FF2B5EF4-FFF2-40B4-BE49-F238E27FC236}">
                <a16:creationId xmlns:a16="http://schemas.microsoft.com/office/drawing/2014/main" id="{7C9DFFF3-6EF9-386C-317D-6AFECFF277C3}"/>
              </a:ext>
            </a:extLst>
          </p:cNvPr>
          <p:cNvSpPr txBox="1">
            <a:spLocks/>
          </p:cNvSpPr>
          <p:nvPr userDrawn="1"/>
        </p:nvSpPr>
        <p:spPr>
          <a:xfrm>
            <a:off x="92964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A9A2A8-896A-4908-99A1-F33C2133E199}" type="slidenum">
              <a:rPr lang="en-US" smtClean="0">
                <a:solidFill>
                  <a:schemeClr val="bg1"/>
                </a:solidFill>
              </a:rPr>
              <a:pPr/>
              <a:t>‹#›</a:t>
            </a:fld>
            <a:endParaRPr lang="en-US" dirty="0">
              <a:solidFill>
                <a:schemeClr val="bg1"/>
              </a:solidFill>
            </a:endParaRPr>
          </a:p>
        </p:txBody>
      </p:sp>
      <p:sp>
        <p:nvSpPr>
          <p:cNvPr id="12" name="TextBox 11">
            <a:extLst>
              <a:ext uri="{FF2B5EF4-FFF2-40B4-BE49-F238E27FC236}">
                <a16:creationId xmlns:a16="http://schemas.microsoft.com/office/drawing/2014/main" id="{2D2460D0-200A-937A-8A2A-B7A97F2A8D23}"/>
              </a:ext>
            </a:extLst>
          </p:cNvPr>
          <p:cNvSpPr txBox="1"/>
          <p:nvPr userDrawn="1"/>
        </p:nvSpPr>
        <p:spPr>
          <a:xfrm>
            <a:off x="297543" y="217714"/>
            <a:ext cx="3855358" cy="276999"/>
          </a:xfrm>
          <a:prstGeom prst="rect">
            <a:avLst/>
          </a:prstGeom>
          <a:noFill/>
        </p:spPr>
        <p:txBody>
          <a:bodyPr wrap="square" rtlCol="0">
            <a:spAutoFit/>
          </a:bodyPr>
          <a:lstStyle/>
          <a:p>
            <a:r>
              <a:rPr lang="en-US" sz="1200" dirty="0">
                <a:solidFill>
                  <a:schemeClr val="bg1">
                    <a:lumMod val="50000"/>
                  </a:schemeClr>
                </a:solidFill>
                <a:latin typeface="UTM Neutra" panose="02040603050506020204" pitchFamily="18" charset="0"/>
              </a:rPr>
              <a:t>HƯỚNG DẪN SỬ DỤNG BỘ NHẬN DIỆN</a:t>
            </a:r>
          </a:p>
        </p:txBody>
      </p:sp>
      <p:cxnSp>
        <p:nvCxnSpPr>
          <p:cNvPr id="14" name="Straight Connector 13">
            <a:extLst>
              <a:ext uri="{FF2B5EF4-FFF2-40B4-BE49-F238E27FC236}">
                <a16:creationId xmlns:a16="http://schemas.microsoft.com/office/drawing/2014/main" id="{B83E8B11-B11E-4836-9E0A-CCECE2E44E66}"/>
              </a:ext>
            </a:extLst>
          </p:cNvPr>
          <p:cNvCxnSpPr>
            <a:cxnSpLocks/>
          </p:cNvCxnSpPr>
          <p:nvPr userDrawn="1"/>
        </p:nvCxnSpPr>
        <p:spPr>
          <a:xfrm>
            <a:off x="371475" y="494713"/>
            <a:ext cx="2743200" cy="0"/>
          </a:xfrm>
          <a:prstGeom prst="line">
            <a:avLst/>
          </a:prstGeom>
          <a:ln w="12700"/>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D2BEE2CC-74A1-111D-2E46-E975A15F4E03}"/>
              </a:ext>
            </a:extLst>
          </p:cNvPr>
          <p:cNvSpPr txBox="1"/>
          <p:nvPr userDrawn="1"/>
        </p:nvSpPr>
        <p:spPr>
          <a:xfrm>
            <a:off x="3402693" y="217126"/>
            <a:ext cx="3855358" cy="276999"/>
          </a:xfrm>
          <a:prstGeom prst="rect">
            <a:avLst/>
          </a:prstGeom>
          <a:noFill/>
        </p:spPr>
        <p:txBody>
          <a:bodyPr wrap="square" rtlCol="0">
            <a:spAutoFit/>
          </a:bodyPr>
          <a:lstStyle/>
          <a:p>
            <a:r>
              <a:rPr lang="en-US" sz="1200" dirty="0">
                <a:solidFill>
                  <a:srgbClr val="085189"/>
                </a:solidFill>
                <a:latin typeface="UTM Neutra" panose="02040603050506020204" pitchFamily="18" charset="0"/>
              </a:rPr>
              <a:t>Quà tặng</a:t>
            </a:r>
          </a:p>
        </p:txBody>
      </p:sp>
      <p:cxnSp>
        <p:nvCxnSpPr>
          <p:cNvPr id="17" name="Straight Connector 16">
            <a:extLst>
              <a:ext uri="{FF2B5EF4-FFF2-40B4-BE49-F238E27FC236}">
                <a16:creationId xmlns:a16="http://schemas.microsoft.com/office/drawing/2014/main" id="{CB6DB47C-4FFB-0B52-97E8-CFD46BF2D6FC}"/>
              </a:ext>
            </a:extLst>
          </p:cNvPr>
          <p:cNvCxnSpPr>
            <a:cxnSpLocks/>
          </p:cNvCxnSpPr>
          <p:nvPr userDrawn="1"/>
        </p:nvCxnSpPr>
        <p:spPr>
          <a:xfrm>
            <a:off x="3476625" y="494125"/>
            <a:ext cx="778852" cy="0"/>
          </a:xfrm>
          <a:prstGeom prst="line">
            <a:avLst/>
          </a:prstGeom>
          <a:ln w="12700">
            <a:solidFill>
              <a:srgbClr val="085189"/>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373209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4484-B245-9786-96F3-ACCEA902CD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E9F73-0429-1113-2FF0-D37AC808DA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124FBF-32A7-F2F3-76F1-0BAEF05B2423}"/>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1E623DC7-77C8-68D3-5521-66F1B89AFD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D42FC1-5327-03BD-A517-DC428CBF85D5}"/>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10" name="Picture 9" descr="Icon&#10;&#10;Description automatically generated with medium confidence">
            <a:extLst>
              <a:ext uri="{FF2B5EF4-FFF2-40B4-BE49-F238E27FC236}">
                <a16:creationId xmlns:a16="http://schemas.microsoft.com/office/drawing/2014/main" id="{B74BDEF2-764A-5CA4-2205-ABE449F1B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00417" cy="6858000"/>
          </a:xfrm>
          <a:prstGeom prst="rect">
            <a:avLst/>
          </a:prstGeom>
        </p:spPr>
      </p:pic>
    </p:spTree>
    <p:extLst>
      <p:ext uri="{BB962C8B-B14F-4D97-AF65-F5344CB8AC3E}">
        <p14:creationId xmlns:p14="http://schemas.microsoft.com/office/powerpoint/2010/main" val="490975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7E74-2157-8156-D04F-4345F80449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B8762B-AC7A-09DA-B823-68098AE1F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F66B2A-EBD2-4E27-D79A-E6E2B45684FC}"/>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69A86395-86D3-03C1-3B7F-E37C1BD6AA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16C12-62D9-196B-F6E4-808B448BB7CB}"/>
              </a:ext>
            </a:extLst>
          </p:cNvPr>
          <p:cNvSpPr>
            <a:spLocks noGrp="1"/>
          </p:cNvSpPr>
          <p:nvPr>
            <p:ph type="sldNum" sz="quarter" idx="12"/>
          </p:nvPr>
        </p:nvSpPr>
        <p:spPr/>
        <p:txBody>
          <a:bodyPr/>
          <a:lstStyle/>
          <a:p>
            <a:fld id="{44A9A2A8-896A-4908-99A1-F33C2133E199}" type="slidenum">
              <a:rPr lang="en-US" smtClean="0"/>
              <a:t>‹#›</a:t>
            </a:fld>
            <a:endParaRPr lang="en-US"/>
          </a:p>
        </p:txBody>
      </p:sp>
      <p:pic>
        <p:nvPicPr>
          <p:cNvPr id="8" name="Picture 7" descr="Shape&#10;&#10;Description automatically generated">
            <a:extLst>
              <a:ext uri="{FF2B5EF4-FFF2-40B4-BE49-F238E27FC236}">
                <a16:creationId xmlns:a16="http://schemas.microsoft.com/office/drawing/2014/main" id="{CB0268BD-9039-7D8F-5503-DC5674B51E0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93" b="11387"/>
          <a:stretch/>
        </p:blipFill>
        <p:spPr>
          <a:xfrm>
            <a:off x="0" y="0"/>
            <a:ext cx="12208745" cy="6857999"/>
          </a:xfrm>
          <a:prstGeom prst="rect">
            <a:avLst/>
          </a:prstGeom>
        </p:spPr>
      </p:pic>
      <p:sp>
        <p:nvSpPr>
          <p:cNvPr id="7" name="Slide Number Placeholder 6">
            <a:extLst>
              <a:ext uri="{FF2B5EF4-FFF2-40B4-BE49-F238E27FC236}">
                <a16:creationId xmlns:a16="http://schemas.microsoft.com/office/drawing/2014/main" id="{4919B322-54B7-818A-16B3-D0BEBF7BBB76}"/>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A9A2A8-896A-4908-99A1-F33C2133E199}" type="slidenum">
              <a:rPr lang="en-US" smtClean="0"/>
              <a:pPr/>
              <a:t>‹#›</a:t>
            </a:fld>
            <a:endParaRPr lang="en-US"/>
          </a:p>
        </p:txBody>
      </p:sp>
    </p:spTree>
    <p:extLst>
      <p:ext uri="{BB962C8B-B14F-4D97-AF65-F5344CB8AC3E}">
        <p14:creationId xmlns:p14="http://schemas.microsoft.com/office/powerpoint/2010/main" val="2661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43FD51-9557-5B71-222D-1EE865B9A2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483093-D493-DBD1-689A-0AFC949EA3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53BEB4-4BA4-2960-22AC-0D3DAB8A833F}"/>
              </a:ext>
            </a:extLst>
          </p:cNvPr>
          <p:cNvSpPr>
            <a:spLocks noGrp="1"/>
          </p:cNvSpPr>
          <p:nvPr>
            <p:ph type="dt" sz="half" idx="10"/>
          </p:nvPr>
        </p:nvSpPr>
        <p:spPr/>
        <p:txBody>
          <a:body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76C07CD8-5FDF-F57C-8028-DF6EFC3DE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875602-A385-B1CF-A625-E09A8A6EA54D}"/>
              </a:ext>
            </a:extLst>
          </p:cNvPr>
          <p:cNvSpPr>
            <a:spLocks noGrp="1"/>
          </p:cNvSpPr>
          <p:nvPr>
            <p:ph type="sldNum" sz="quarter" idx="12"/>
          </p:nvPr>
        </p:nvSpPr>
        <p:spPr/>
        <p:txBody>
          <a:bodyPr/>
          <a:lstStyle/>
          <a:p>
            <a:fld id="{44A9A2A8-896A-4908-99A1-F33C2133E199}" type="slidenum">
              <a:rPr lang="en-US" smtClean="0"/>
              <a:t>‹#›</a:t>
            </a:fld>
            <a:endParaRPr lang="en-US"/>
          </a:p>
        </p:txBody>
      </p:sp>
    </p:spTree>
    <p:extLst>
      <p:ext uri="{BB962C8B-B14F-4D97-AF65-F5344CB8AC3E}">
        <p14:creationId xmlns:p14="http://schemas.microsoft.com/office/powerpoint/2010/main" val="4187561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0C4C-2721-EF8A-87FA-DF3697AF10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D7E65CAC-470F-FB10-EF9B-ADF4CBA29D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8BEDB4B1-4694-9F7D-7268-75C4EA5B9A67}"/>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9D25EB09-A3C3-F1A5-F128-F88BEDF1A22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7027631-79B9-BB38-EBE9-542AEA474BA8}"/>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265592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FFC69-B0B5-8B6C-BC84-819A3A45467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52F262DA-1FEC-4310-5E46-1B04C326D7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0906CCD9-EE5B-D53A-6B43-C9729A7058CD}"/>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3684C1D6-16C3-11C2-7E8D-1BCAE3BC47F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ADB73A8-DD30-7C39-4428-0096F34893E2}"/>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3202768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6F02E-2A60-075B-EE80-529C57F98C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9C3FBD82-7586-2BE7-4634-B656885B84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16D4FD-E0D4-FF72-1D72-DDE7020A2CDA}"/>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CB7372A2-CDF4-71B7-02E3-EC66216C76F0}"/>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D4C0BD52-32DC-87F3-F017-EDFB77B4D6B7}"/>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3084743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D7C9-251A-681F-FE90-F34ADC8B6DB9}"/>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50FDF3CD-9CD1-47EA-478D-273375EB51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2930CBA9-C53B-82AF-7BCD-2815CF244E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5B996E49-68E5-6D5B-01D2-E2D70F2ABC6B}"/>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6" name="Footer Placeholder 5">
            <a:extLst>
              <a:ext uri="{FF2B5EF4-FFF2-40B4-BE49-F238E27FC236}">
                <a16:creationId xmlns:a16="http://schemas.microsoft.com/office/drawing/2014/main" id="{592AF9F3-C662-679D-F399-835AF38B979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CD5EDE3D-A4F3-EB1E-22B4-4117E0251739}"/>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3497159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F3F0-A2D0-43BE-1440-E232FC5D8604}"/>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0E7EF7E0-3EA1-4F41-B806-D73ADBD43B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8570D-AFEB-1AAE-9C9E-975975C97E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8FF40D04-A956-8A5A-B626-B2B932B32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A8101-3C77-8F81-87DF-36657E3A57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291EA63A-D8CF-C7ED-C49D-53AE004C3A28}"/>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8" name="Footer Placeholder 7">
            <a:extLst>
              <a:ext uri="{FF2B5EF4-FFF2-40B4-BE49-F238E27FC236}">
                <a16:creationId xmlns:a16="http://schemas.microsoft.com/office/drawing/2014/main" id="{3E73F494-9142-8A94-C1EB-153339203330}"/>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11181F19-E634-7695-DE81-1B64A6A3A1F6}"/>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930576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1332-A738-0195-0BE7-1564292BCD00}"/>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A2B8FC58-5A1E-2BDB-489E-9D8723FA342B}"/>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4" name="Footer Placeholder 3">
            <a:extLst>
              <a:ext uri="{FF2B5EF4-FFF2-40B4-BE49-F238E27FC236}">
                <a16:creationId xmlns:a16="http://schemas.microsoft.com/office/drawing/2014/main" id="{098F07EC-41A4-246E-ADD0-D5E0F29ACD88}"/>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2043DA24-A916-89D0-C915-6FEA840ACDD0}"/>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1552666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71A2AA-D5E8-51EE-3DC1-F806D400B78C}"/>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3" name="Footer Placeholder 2">
            <a:extLst>
              <a:ext uri="{FF2B5EF4-FFF2-40B4-BE49-F238E27FC236}">
                <a16:creationId xmlns:a16="http://schemas.microsoft.com/office/drawing/2014/main" id="{66D10BE0-29E0-0DA6-DCD6-A9111C196955}"/>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02619D22-205D-E0A3-D8AD-4C22C55EADE1}"/>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1375363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7BEAE-7329-21A4-6E2B-B246F6022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913B01AD-73BE-8BFE-BF3B-7C0AFADD5E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45550BD2-3126-4882-EBDC-31345AFB0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BEA815-0D22-42C9-B3CC-6202DB707A4B}"/>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6" name="Footer Placeholder 5">
            <a:extLst>
              <a:ext uri="{FF2B5EF4-FFF2-40B4-BE49-F238E27FC236}">
                <a16:creationId xmlns:a16="http://schemas.microsoft.com/office/drawing/2014/main" id="{BA2D32BD-D54E-0425-2411-645F3C8A125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D909C717-4274-9731-E543-C526C17A1633}"/>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18713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1E17-C0BA-B98B-C131-02AB417E79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5EC6A9F-A3EB-93C4-42C7-63E9363B33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73A23D5F-97AD-F85D-95FF-D47522B7C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B80D7-ADD1-3C53-9F2E-EBB92FFB582E}"/>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6" name="Footer Placeholder 5">
            <a:extLst>
              <a:ext uri="{FF2B5EF4-FFF2-40B4-BE49-F238E27FC236}">
                <a16:creationId xmlns:a16="http://schemas.microsoft.com/office/drawing/2014/main" id="{9EB58B42-9186-334D-EFF9-B4AA839744C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57CD31C5-65B6-0F87-CD6F-85FDA42D113E}"/>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219936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C922-DFDE-C14F-0F4B-742A1A362028}"/>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8C028C8-6F83-8C09-F846-4C3F6386F7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C3B73228-D08F-4EB8-FE17-E285A27A5462}"/>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CC2E1202-52CC-8C1F-9A8F-2B03A8DD1EE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F2430BFF-703A-130E-8C91-B47C65840C49}"/>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10693680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139CBB-B51D-946A-0B42-E45B983D84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E0BC03C2-E70E-6F1C-072B-618EAE4E33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73F999A-F71C-5FEC-8490-FA19564D9BDF}"/>
              </a:ext>
            </a:extLst>
          </p:cNvPr>
          <p:cNvSpPr>
            <a:spLocks noGrp="1"/>
          </p:cNvSpPr>
          <p:nvPr>
            <p:ph type="dt" sz="half" idx="10"/>
          </p:nvPr>
        </p:nvSpPr>
        <p:spPr/>
        <p:txBody>
          <a:body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B20B2F99-75A3-22E7-186D-36F1198C2C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FF5AF24-1837-7DF1-C937-2917E6AE481C}"/>
              </a:ext>
            </a:extLst>
          </p:cNvPr>
          <p:cNvSpPr>
            <a:spLocks noGrp="1"/>
          </p:cNvSpPr>
          <p:nvPr>
            <p:ph type="sldNum" sz="quarter" idx="12"/>
          </p:nvPr>
        </p:nvSpPr>
        <p:spPr/>
        <p:txBody>
          <a:bodyPr/>
          <a:lstStyle/>
          <a:p>
            <a:fld id="{CD346AC3-7438-9240-8346-AC58A05A36AC}" type="slidenum">
              <a:rPr lang="en-VN" smtClean="0"/>
              <a:t>‹#›</a:t>
            </a:fld>
            <a:endParaRPr lang="en-VN"/>
          </a:p>
        </p:txBody>
      </p:sp>
    </p:spTree>
    <p:extLst>
      <p:ext uri="{BB962C8B-B14F-4D97-AF65-F5344CB8AC3E}">
        <p14:creationId xmlns:p14="http://schemas.microsoft.com/office/powerpoint/2010/main" val="1042526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theme" Target="../theme/theme2.xml"/><Relationship Id="rId13"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31AEE7-1745-7095-F664-6B95264B0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A03A21-2772-3828-7AC5-78FFACCBCE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73718-709B-4497-A711-65AA029D60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09B663-BDC2-451F-9FFD-E3F973D4142A}" type="datetimeFigureOut">
              <a:rPr lang="en-US" smtClean="0"/>
              <a:t>7/5/2025</a:t>
            </a:fld>
            <a:endParaRPr lang="en-US"/>
          </a:p>
        </p:txBody>
      </p:sp>
      <p:sp>
        <p:nvSpPr>
          <p:cNvPr id="5" name="Footer Placeholder 4">
            <a:extLst>
              <a:ext uri="{FF2B5EF4-FFF2-40B4-BE49-F238E27FC236}">
                <a16:creationId xmlns:a16="http://schemas.microsoft.com/office/drawing/2014/main" id="{93290932-8E1F-6DBB-5A0C-DF2410DABE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67DC62-3F95-5ACD-3C31-558A19C8C5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A9A2A8-896A-4908-99A1-F33C2133E199}" type="slidenum">
              <a:rPr lang="en-US" smtClean="0"/>
              <a:t>‹#›</a:t>
            </a:fld>
            <a:endParaRPr lang="en-US"/>
          </a:p>
        </p:txBody>
      </p:sp>
    </p:spTree>
    <p:extLst>
      <p:ext uri="{BB962C8B-B14F-4D97-AF65-F5344CB8AC3E}">
        <p14:creationId xmlns:p14="http://schemas.microsoft.com/office/powerpoint/2010/main" val="1486776597"/>
      </p:ext>
    </p:extLst>
  </p:cSld>
  <p:clrMap bg1="lt1" tx1="dk1" bg2="lt2" tx2="dk2" accent1="accent1" accent2="accent2" accent3="accent3" accent4="accent4" accent5="accent5" accent6="accent6" hlink="hlink" folHlink="folHlink"/>
  <p:sldLayoutIdLst>
    <p:sldLayoutId id="2147483685" r:id="rId1"/>
    <p:sldLayoutId id="2147483702" r:id="rId2"/>
    <p:sldLayoutId id="2147483688" r:id="rId3"/>
    <p:sldLayoutId id="2147483686" r:id="rId4"/>
    <p:sldLayoutId id="2147483676" r:id="rId5"/>
    <p:sldLayoutId id="2147483679" r:id="rId6"/>
    <p:sldLayoutId id="2147483680" r:id="rId7"/>
    <p:sldLayoutId id="2147483681" r:id="rId8"/>
    <p:sldLayoutId id="214748368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C7EEC1-4213-8FCF-3A7A-908258F09C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C5B1D829-DE05-9850-6373-B3F86F8854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C2E005DE-8349-AD99-ED16-5AFD4E61F5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E83637-48B6-A043-8832-174EC4489555}" type="datetimeFigureOut">
              <a:rPr lang="en-VN" smtClean="0"/>
              <a:t>05/07/2025</a:t>
            </a:fld>
            <a:endParaRPr lang="en-VN"/>
          </a:p>
        </p:txBody>
      </p:sp>
      <p:sp>
        <p:nvSpPr>
          <p:cNvPr id="5" name="Footer Placeholder 4">
            <a:extLst>
              <a:ext uri="{FF2B5EF4-FFF2-40B4-BE49-F238E27FC236}">
                <a16:creationId xmlns:a16="http://schemas.microsoft.com/office/drawing/2014/main" id="{43E5248B-C816-9A17-B3A8-FF9BC75DD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63AD0FF6-0F0C-669D-25BE-9D651C0A38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46AC3-7438-9240-8346-AC58A05A36AC}" type="slidenum">
              <a:rPr lang="en-VN" smtClean="0"/>
              <a:t>‹#›</a:t>
            </a:fld>
            <a:endParaRPr lang="en-VN"/>
          </a:p>
        </p:txBody>
      </p:sp>
      <p:pic>
        <p:nvPicPr>
          <p:cNvPr id="7" name="Picture 6">
            <a:extLst>
              <a:ext uri="{FF2B5EF4-FFF2-40B4-BE49-F238E27FC236}">
                <a16:creationId xmlns:a16="http://schemas.microsoft.com/office/drawing/2014/main" id="{34FA554B-9BF6-355F-690C-1F3ED34B2FA6}"/>
              </a:ext>
            </a:extLst>
          </p:cNvPr>
          <p:cNvPicPr>
            <a:picLocks noChangeAspect="1"/>
          </p:cNvPicPr>
          <p:nvPr userDrawn="1"/>
        </p:nvPicPr>
        <p:blipFill>
          <a:blip r:embed="rId13"/>
          <a:stretch>
            <a:fillRect/>
          </a:stretch>
        </p:blipFill>
        <p:spPr>
          <a:xfrm>
            <a:off x="0" y="0"/>
            <a:ext cx="12191851" cy="6858084"/>
          </a:xfrm>
          <a:prstGeom prst="rect">
            <a:avLst/>
          </a:prstGeom>
        </p:spPr>
      </p:pic>
      <p:sp>
        <p:nvSpPr>
          <p:cNvPr id="8" name="Slide Number Placeholder 5">
            <a:extLst>
              <a:ext uri="{FF2B5EF4-FFF2-40B4-BE49-F238E27FC236}">
                <a16:creationId xmlns:a16="http://schemas.microsoft.com/office/drawing/2014/main" id="{713A4733-A858-7A28-2A27-78134C3F356D}"/>
              </a:ext>
            </a:extLst>
          </p:cNvPr>
          <p:cNvSpPr txBox="1">
            <a:spLocks/>
          </p:cNvSpPr>
          <p:nvPr userDrawn="1"/>
        </p:nvSpPr>
        <p:spPr>
          <a:xfrm>
            <a:off x="4724325" y="6400090"/>
            <a:ext cx="2743200" cy="365125"/>
          </a:xfrm>
          <a:prstGeom prst="rect">
            <a:avLst/>
          </a:prstGeom>
        </p:spPr>
        <p:txBody>
          <a:bodyPr/>
          <a:lstStyle>
            <a:defPPr>
              <a:defRPr lang="en-VN"/>
            </a:defPPr>
            <a:lvl1pPr marL="0" algn="ct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A9A2A8-896A-4908-99A1-F33C2133E199}" type="slidenum">
              <a:rPr lang="en-US" smtClean="0"/>
              <a:pPr/>
              <a:t>‹#›</a:t>
            </a:fld>
            <a:endParaRPr lang="en-US"/>
          </a:p>
        </p:txBody>
      </p:sp>
    </p:spTree>
    <p:extLst>
      <p:ext uri="{BB962C8B-B14F-4D97-AF65-F5344CB8AC3E}">
        <p14:creationId xmlns:p14="http://schemas.microsoft.com/office/powerpoint/2010/main" val="195359915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F82E83-E938-C1B8-96ED-164E2023AA3A}"/>
              </a:ext>
            </a:extLst>
          </p:cNvPr>
          <p:cNvSpPr txBox="1"/>
          <p:nvPr/>
        </p:nvSpPr>
        <p:spPr>
          <a:xfrm>
            <a:off x="3841583" y="1807057"/>
            <a:ext cx="7749782"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prstClr val="white"/>
                </a:solidFill>
                <a:effectLst/>
                <a:uLnTx/>
                <a:uFillTx/>
                <a:latin typeface="UTM Neutra" panose="02040603050506020204" pitchFamily="18" charset="0"/>
                <a:ea typeface="+mn-ea"/>
                <a:cs typeface="+mn-cs"/>
              </a:rPr>
              <a:t>Đề tài môn Khoa học dữ liệu</a:t>
            </a:r>
            <a:endParaRPr kumimoji="0" lang="en-US" sz="3600" b="1" i="0" u="none" strike="noStrike" kern="1200" cap="none" spc="0" normalizeH="0" baseline="0" noProof="0" dirty="0">
              <a:ln>
                <a:noFill/>
              </a:ln>
              <a:solidFill>
                <a:prstClr val="white"/>
              </a:solidFill>
              <a:effectLst/>
              <a:uLnTx/>
              <a:uFillTx/>
              <a:latin typeface="UTM Neutra" panose="0204060305050602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err="1">
                <a:ln>
                  <a:noFill/>
                </a:ln>
                <a:solidFill>
                  <a:srgbClr val="FDDF08"/>
                </a:solidFill>
                <a:effectLst/>
                <a:uLnTx/>
                <a:uFillTx/>
                <a:latin typeface="UTM Neutra" panose="02040603050506020204" pitchFamily="18" charset="0"/>
                <a:ea typeface="+mn-ea"/>
                <a:cs typeface="+mn-cs"/>
              </a:rPr>
              <a:t>Dự đoán giá ô tô cũ trên Chợ Tốt bằng Random Forest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4C57B79-F982-05E7-B239-77BCD5416D65}"/>
              </a:ext>
            </a:extLst>
          </p:cNvPr>
          <p:cNvSpPr txBox="1"/>
          <p:nvPr/>
        </p:nvSpPr>
        <p:spPr>
          <a:xfrm>
            <a:off x="3841583" y="4016857"/>
            <a:ext cx="774978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prstClr val="white"/>
                </a:solidFill>
                <a:latin typeface="UTM Neutra" panose="02040603050506020204" pitchFamily="18" charset="0"/>
              </a:rPr>
              <a:t>SVTH: &lt;Họ tên SV 1&gt; – &lt;Họ tên SV 2&gt;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UTM Neutra" panose="02040603050506020204" pitchFamily="18" charset="0"/>
                <a:ea typeface="+mn-ea"/>
                <a:cs typeface="+mn-cs"/>
              </a:rPr>
              <a:t>GVHD: &lt;Tên giảng viên&gt;</a:t>
            </a:r>
            <a:endParaRPr kumimoji="0" lang="en-US" sz="2400" b="1" i="0" u="none" strike="noStrike" kern="1200" cap="none" spc="0" normalizeH="0" baseline="0" noProof="0" dirty="0">
              <a:ln>
                <a:noFill/>
              </a:ln>
              <a:solidFill>
                <a:srgbClr val="FDDF08"/>
              </a:solidFill>
              <a:effectLst/>
              <a:uLnTx/>
              <a:uFillTx/>
              <a:latin typeface="UTM Neutra" panose="0204060305050602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3769825"/>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NỘI DUNG TRÌNH BÀY</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Năm phần của bài báo cáo</a:t>
            </a:r>
          </a:p>
        </p:txBody>
      </p:sp>
      <p:sp>
        <p:nvSpPr>
          <p:cNvPr id="4" name="Oval 3"/>
          <p:cNvSpPr/>
          <p:nvPr/>
        </p:nvSpPr>
        <p:spPr>
          <a:xfrm>
            <a:off x="1097280" y="1463040"/>
            <a:ext cx="621792" cy="621792"/>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lang="vi-VN">
                <a:solidFill>
                  <a:srgbClr val="FFFFFF"/>
                </a:solidFill>
                <a:latin typeface="Arial"/>
              </a:rPr>
              <a:t>01</a:t>
            </a:r>
          </a:p>
        </p:txBody>
      </p:sp>
      <p:sp>
        <p:nvSpPr>
          <p:cNvPr id="5" name="TextBox 4"/>
          <p:cNvSpPr txBox="1"/>
          <p:nvPr/>
        </p:nvSpPr>
        <p:spPr>
          <a:xfrm>
            <a:off x="1920240" y="1444752"/>
            <a:ext cx="8686800" cy="365760"/>
          </a:xfrm>
          <a:prstGeom prst="rect">
            <a:avLst/>
          </a:prstGeom>
          <a:noFill/>
        </p:spPr>
        <p:txBody>
          <a:bodyPr wrap="square" lIns="45720" rIns="45720" tIns="27432" bIns="27432" anchor="t">
            <a:spAutoFit/>
          </a:bodyPr>
          <a:lstStyle/>
          <a:p>
            <a:pPr algn="l">
              <a:lnSpc>
                <a:spcPct val="110000"/>
              </a:lnSpc>
              <a:spcAft>
                <a:spcPts val="600"/>
              </a:spcAft>
            </a:pPr>
            <a:r>
              <a:rPr sz="2000" b="1" i="0" lang="vi-VN">
                <a:solidFill>
                  <a:srgbClr val="1F2937"/>
                </a:solidFill>
                <a:latin typeface="Arial"/>
              </a:rPr>
              <a:t>Giới thiệu đề tài</a:t>
            </a:r>
          </a:p>
        </p:txBody>
      </p:sp>
      <p:sp>
        <p:nvSpPr>
          <p:cNvPr id="6" name="TextBox 5"/>
          <p:cNvSpPr txBox="1"/>
          <p:nvPr/>
        </p:nvSpPr>
        <p:spPr>
          <a:xfrm>
            <a:off x="1920240" y="1792224"/>
            <a:ext cx="8686800" cy="32004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Bài toán, mục tiêu và quy trình thực hiện</a:t>
            </a:r>
          </a:p>
        </p:txBody>
      </p:sp>
      <p:sp>
        <p:nvSpPr>
          <p:cNvPr id="7" name="Oval 6"/>
          <p:cNvSpPr/>
          <p:nvPr/>
        </p:nvSpPr>
        <p:spPr>
          <a:xfrm>
            <a:off x="1097280" y="2267712"/>
            <a:ext cx="621792" cy="62179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lang="vi-VN">
                <a:solidFill>
                  <a:srgbClr val="FFFFFF"/>
                </a:solidFill>
                <a:latin typeface="Arial"/>
              </a:rPr>
              <a:t>02</a:t>
            </a:r>
          </a:p>
        </p:txBody>
      </p:sp>
      <p:sp>
        <p:nvSpPr>
          <p:cNvPr id="8" name="TextBox 7"/>
          <p:cNvSpPr txBox="1"/>
          <p:nvPr/>
        </p:nvSpPr>
        <p:spPr>
          <a:xfrm>
            <a:off x="1920240" y="2249424"/>
            <a:ext cx="8686800" cy="365760"/>
          </a:xfrm>
          <a:prstGeom prst="rect">
            <a:avLst/>
          </a:prstGeom>
          <a:noFill/>
        </p:spPr>
        <p:txBody>
          <a:bodyPr wrap="square" lIns="45720" rIns="45720" tIns="27432" bIns="27432" anchor="t">
            <a:spAutoFit/>
          </a:bodyPr>
          <a:lstStyle/>
          <a:p>
            <a:pPr algn="l">
              <a:lnSpc>
                <a:spcPct val="110000"/>
              </a:lnSpc>
              <a:spcAft>
                <a:spcPts val="600"/>
              </a:spcAft>
            </a:pPr>
            <a:r>
              <a:rPr sz="2000" b="1" i="0" lang="vi-VN">
                <a:solidFill>
                  <a:srgbClr val="1F2937"/>
                </a:solidFill>
                <a:latin typeface="Arial"/>
              </a:rPr>
              <a:t>Thu thập và khám phá dữ liệu</a:t>
            </a:r>
          </a:p>
        </p:txBody>
      </p:sp>
      <p:sp>
        <p:nvSpPr>
          <p:cNvPr id="9" name="TextBox 8"/>
          <p:cNvSpPr txBox="1"/>
          <p:nvPr/>
        </p:nvSpPr>
        <p:spPr>
          <a:xfrm>
            <a:off x="1920240" y="2596896"/>
            <a:ext cx="8686800" cy="32004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Crawl 14.835 tin rao bán ô tô từ Chợ Tốt</a:t>
            </a:r>
          </a:p>
        </p:txBody>
      </p:sp>
      <p:sp>
        <p:nvSpPr>
          <p:cNvPr id="10" name="Oval 9"/>
          <p:cNvSpPr/>
          <p:nvPr/>
        </p:nvSpPr>
        <p:spPr>
          <a:xfrm>
            <a:off x="1097280" y="3072384"/>
            <a:ext cx="621792" cy="621792"/>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lang="vi-VN">
                <a:solidFill>
                  <a:srgbClr val="FFFFFF"/>
                </a:solidFill>
                <a:latin typeface="Arial"/>
              </a:rPr>
              <a:t>03</a:t>
            </a:r>
          </a:p>
        </p:txBody>
      </p:sp>
      <p:sp>
        <p:nvSpPr>
          <p:cNvPr id="11" name="TextBox 10"/>
          <p:cNvSpPr txBox="1"/>
          <p:nvPr/>
        </p:nvSpPr>
        <p:spPr>
          <a:xfrm>
            <a:off x="1920240" y="3054096"/>
            <a:ext cx="8686800" cy="365760"/>
          </a:xfrm>
          <a:prstGeom prst="rect">
            <a:avLst/>
          </a:prstGeom>
          <a:noFill/>
        </p:spPr>
        <p:txBody>
          <a:bodyPr wrap="square" lIns="45720" rIns="45720" tIns="27432" bIns="27432" anchor="t">
            <a:spAutoFit/>
          </a:bodyPr>
          <a:lstStyle/>
          <a:p>
            <a:pPr algn="l">
              <a:lnSpc>
                <a:spcPct val="110000"/>
              </a:lnSpc>
              <a:spcAft>
                <a:spcPts val="600"/>
              </a:spcAft>
            </a:pPr>
            <a:r>
              <a:rPr sz="2000" b="1" i="0" lang="vi-VN">
                <a:solidFill>
                  <a:srgbClr val="1F2937"/>
                </a:solidFill>
                <a:latin typeface="Arial"/>
              </a:rPr>
              <a:t>Tiền xử lý dữ liệu</a:t>
            </a:r>
          </a:p>
        </p:txBody>
      </p:sp>
      <p:sp>
        <p:nvSpPr>
          <p:cNvPr id="12" name="TextBox 11"/>
          <p:cNvSpPr txBox="1"/>
          <p:nvPr/>
        </p:nvSpPr>
        <p:spPr>
          <a:xfrm>
            <a:off x="1920240" y="3401568"/>
            <a:ext cx="8686800" cy="32004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Làm sạch, điền thiếu, gộp nhãn, log giá, mất cân bằng</a:t>
            </a:r>
          </a:p>
        </p:txBody>
      </p:sp>
      <p:sp>
        <p:nvSpPr>
          <p:cNvPr id="13" name="Oval 12"/>
          <p:cNvSpPr/>
          <p:nvPr/>
        </p:nvSpPr>
        <p:spPr>
          <a:xfrm>
            <a:off x="1097280" y="3877056"/>
            <a:ext cx="621792" cy="62179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lang="vi-VN">
                <a:solidFill>
                  <a:srgbClr val="FFFFFF"/>
                </a:solidFill>
                <a:latin typeface="Arial"/>
              </a:rPr>
              <a:t>04</a:t>
            </a:r>
          </a:p>
        </p:txBody>
      </p:sp>
      <p:sp>
        <p:nvSpPr>
          <p:cNvPr id="14" name="TextBox 13"/>
          <p:cNvSpPr txBox="1"/>
          <p:nvPr/>
        </p:nvSpPr>
        <p:spPr>
          <a:xfrm>
            <a:off x="1920240" y="3858768"/>
            <a:ext cx="8686800" cy="365760"/>
          </a:xfrm>
          <a:prstGeom prst="rect">
            <a:avLst/>
          </a:prstGeom>
          <a:noFill/>
        </p:spPr>
        <p:txBody>
          <a:bodyPr wrap="square" lIns="45720" rIns="45720" tIns="27432" bIns="27432" anchor="t">
            <a:spAutoFit/>
          </a:bodyPr>
          <a:lstStyle/>
          <a:p>
            <a:pPr algn="l">
              <a:lnSpc>
                <a:spcPct val="110000"/>
              </a:lnSpc>
              <a:spcAft>
                <a:spcPts val="600"/>
              </a:spcAft>
            </a:pPr>
            <a:r>
              <a:rPr sz="2000" b="1" i="0" lang="vi-VN">
                <a:solidFill>
                  <a:srgbClr val="1F2937"/>
                </a:solidFill>
                <a:latin typeface="Arial"/>
              </a:rPr>
              <a:t>Mô hình Random Forest</a:t>
            </a:r>
          </a:p>
        </p:txBody>
      </p:sp>
      <p:sp>
        <p:nvSpPr>
          <p:cNvPr id="15" name="TextBox 14"/>
          <p:cNvSpPr txBox="1"/>
          <p:nvPr/>
        </p:nvSpPr>
        <p:spPr>
          <a:xfrm>
            <a:off x="1920240" y="4206240"/>
            <a:ext cx="8686800" cy="32004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Lý thuyết, bản thư viện, bản tự cài đặt, kiểm chứng; Ridge để so sánh</a:t>
            </a:r>
          </a:p>
        </p:txBody>
      </p:sp>
      <p:sp>
        <p:nvSpPr>
          <p:cNvPr id="16" name="Oval 15"/>
          <p:cNvSpPr/>
          <p:nvPr/>
        </p:nvSpPr>
        <p:spPr>
          <a:xfrm>
            <a:off x="1097280" y="4681728"/>
            <a:ext cx="621792" cy="621792"/>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lang="vi-VN">
                <a:solidFill>
                  <a:srgbClr val="FFFFFF"/>
                </a:solidFill>
                <a:latin typeface="Arial"/>
              </a:rPr>
              <a:t>05</a:t>
            </a:r>
          </a:p>
        </p:txBody>
      </p:sp>
      <p:sp>
        <p:nvSpPr>
          <p:cNvPr id="17" name="TextBox 16"/>
          <p:cNvSpPr txBox="1"/>
          <p:nvPr/>
        </p:nvSpPr>
        <p:spPr>
          <a:xfrm>
            <a:off x="1920240" y="4663440"/>
            <a:ext cx="8686800" cy="365760"/>
          </a:xfrm>
          <a:prstGeom prst="rect">
            <a:avLst/>
          </a:prstGeom>
          <a:noFill/>
        </p:spPr>
        <p:txBody>
          <a:bodyPr wrap="square" lIns="45720" rIns="45720" tIns="27432" bIns="27432" anchor="t">
            <a:spAutoFit/>
          </a:bodyPr>
          <a:lstStyle/>
          <a:p>
            <a:pPr algn="l">
              <a:lnSpc>
                <a:spcPct val="110000"/>
              </a:lnSpc>
              <a:spcAft>
                <a:spcPts val="600"/>
              </a:spcAft>
            </a:pPr>
            <a:r>
              <a:rPr sz="2000" b="1" i="0" lang="vi-VN">
                <a:solidFill>
                  <a:srgbClr val="1F2937"/>
                </a:solidFill>
                <a:latin typeface="Arial"/>
              </a:rPr>
              <a:t>Kết quả và kết luận</a:t>
            </a:r>
          </a:p>
        </p:txBody>
      </p:sp>
      <p:sp>
        <p:nvSpPr>
          <p:cNvPr id="18" name="TextBox 17"/>
          <p:cNvSpPr txBox="1"/>
          <p:nvPr/>
        </p:nvSpPr>
        <p:spPr>
          <a:xfrm>
            <a:off x="1920240" y="5010912"/>
            <a:ext cx="8686800" cy="32004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Đánh giá trên tập test, diễn giải, thí nghiệm, hạn chế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1 · GIỚI THIỆU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Bài toán: ước lượng giá một chiếc xe từ thông tin trong tin đăng</a:t>
            </a:r>
          </a:p>
        </p:txBody>
      </p:sp>
      <p:sp>
        <p:nvSpPr>
          <p:cNvPr id="4" name="Rounded Rectangle 3"/>
          <p:cNvSpPr/>
          <p:nvPr/>
        </p:nvSpPr>
        <p:spPr>
          <a:xfrm>
            <a:off x="548640" y="1508760"/>
            <a:ext cx="4572000" cy="38862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645920"/>
            <a:ext cx="420624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Đầu vào: thông tin trong tin đăng</a:t>
            </a:r>
          </a:p>
        </p:txBody>
      </p:sp>
      <p:sp>
        <p:nvSpPr>
          <p:cNvPr id="6" name="TextBox 5"/>
          <p:cNvSpPr txBox="1"/>
          <p:nvPr/>
        </p:nvSpPr>
        <p:spPr>
          <a:xfrm>
            <a:off x="777240" y="2103120"/>
            <a:ext cx="4206240" cy="3200400"/>
          </a:xfrm>
          <a:prstGeom prst="rect">
            <a:avLst/>
          </a:prstGeom>
          <a:noFill/>
        </p:spPr>
        <p:txBody>
          <a:bodyPr wrap="square" lIns="45720" rIns="45720" tIns="27432" bIns="27432" anchor="t">
            <a:spAutoFit/>
          </a:bodyPr>
          <a:lstStyle/>
          <a:p>
            <a:pPr algn="l" marL="201168" indent="-201168">
              <a:lnSpc>
                <a:spcPct val="110000"/>
              </a:lnSpc>
              <a:spcAft>
                <a:spcPts val="800"/>
              </a:spcAft>
              <a:buClr>
                <a:srgbClr val="075289"/>
              </a:buClr>
              <a:buFont typeface="Arial"/>
              <a:buChar char="•"/>
            </a:pPr>
            <a:r>
              <a:rPr sz="1600" b="0" i="0" lang="vi-VN">
                <a:solidFill>
                  <a:srgbClr val="1F2937"/>
                </a:solidFill>
                <a:latin typeface="Arial"/>
              </a:rPr>
              <a:t>Hãng, dòng xe</a:t>
            </a:r>
          </a:p>
          <a:p>
            <a:pPr algn="l" marL="201168" indent="-201168">
              <a:lnSpc>
                <a:spcPct val="110000"/>
              </a:lnSpc>
              <a:spcAft>
                <a:spcPts val="800"/>
              </a:spcAft>
              <a:buClr>
                <a:srgbClr val="075289"/>
              </a:buClr>
              <a:buFont typeface="Arial"/>
              <a:buChar char="•"/>
            </a:pPr>
            <a:r>
              <a:rPr sz="1600" b="0" i="0" lang="vi-VN">
                <a:solidFill>
                  <a:srgbClr val="1F2937"/>
                </a:solidFill>
                <a:latin typeface="Arial"/>
              </a:rPr>
              <a:t>Năm sản xuất, số km đã đi</a:t>
            </a:r>
          </a:p>
          <a:p>
            <a:pPr algn="l" marL="201168" indent="-201168">
              <a:lnSpc>
                <a:spcPct val="110000"/>
              </a:lnSpc>
              <a:spcAft>
                <a:spcPts val="800"/>
              </a:spcAft>
              <a:buClr>
                <a:srgbClr val="075289"/>
              </a:buClr>
              <a:buFont typeface="Arial"/>
              <a:buChar char="•"/>
            </a:pPr>
            <a:r>
              <a:rPr sz="1600" b="0" i="0" lang="vi-VN">
                <a:solidFill>
                  <a:srgbClr val="1F2937"/>
                </a:solidFill>
                <a:latin typeface="Arial"/>
              </a:rPr>
              <a:t>Hộp số, nhiên liệu</a:t>
            </a:r>
          </a:p>
          <a:p>
            <a:pPr algn="l" marL="201168" indent="-201168">
              <a:lnSpc>
                <a:spcPct val="110000"/>
              </a:lnSpc>
              <a:spcAft>
                <a:spcPts val="800"/>
              </a:spcAft>
              <a:buClr>
                <a:srgbClr val="075289"/>
              </a:buClr>
              <a:buFont typeface="Arial"/>
              <a:buChar char="•"/>
            </a:pPr>
            <a:r>
              <a:rPr sz="1600" b="0" i="0" lang="vi-VN">
                <a:solidFill>
                  <a:srgbClr val="1F2937"/>
                </a:solidFill>
                <a:latin typeface="Arial"/>
              </a:rPr>
              <a:t>Kiểu dáng, số chỗ</a:t>
            </a:r>
          </a:p>
          <a:p>
            <a:pPr algn="l" marL="201168" indent="-201168">
              <a:lnSpc>
                <a:spcPct val="110000"/>
              </a:lnSpc>
              <a:spcAft>
                <a:spcPts val="800"/>
              </a:spcAft>
              <a:buClr>
                <a:srgbClr val="075289"/>
              </a:buClr>
              <a:buFont typeface="Arial"/>
              <a:buChar char="•"/>
            </a:pPr>
            <a:r>
              <a:rPr sz="1600" b="0" i="0" lang="vi-VN">
                <a:solidFill>
                  <a:srgbClr val="1F2937"/>
                </a:solidFill>
                <a:latin typeface="Arial"/>
              </a:rPr>
              <a:t>Xuất xứ, tình trạng (mới / đã dùng)</a:t>
            </a:r>
          </a:p>
        </p:txBody>
      </p:sp>
      <p:sp>
        <p:nvSpPr>
          <p:cNvPr id="7" name="Right Arrow 6"/>
          <p:cNvSpPr/>
          <p:nvPr/>
        </p:nvSpPr>
        <p:spPr>
          <a:xfrm>
            <a:off x="5349240" y="3154680"/>
            <a:ext cx="822960" cy="54864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508760"/>
            <a:ext cx="5212080" cy="178308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645920"/>
            <a:ext cx="475488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FFD400"/>
                </a:solidFill>
                <a:latin typeface="Arial"/>
              </a:rPr>
              <a:t>Đầu ra</a:t>
            </a:r>
          </a:p>
        </p:txBody>
      </p:sp>
      <p:sp>
        <p:nvSpPr>
          <p:cNvPr id="10" name="TextBox 9"/>
          <p:cNvSpPr txBox="1"/>
          <p:nvPr/>
        </p:nvSpPr>
        <p:spPr>
          <a:xfrm>
            <a:off x="6629400" y="2011680"/>
            <a:ext cx="4754880" cy="118872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FFFFFF"/>
                </a:solidFill>
                <a:latin typeface="Arial"/>
              </a:rPr>
              <a:t>Giá rao bán</a:t>
            </a:r>
          </a:p>
          <a:p>
            <a:pPr algn="l">
              <a:lnSpc>
                <a:spcPct val="110000"/>
              </a:lnSpc>
              <a:spcAft>
                <a:spcPts val="600"/>
              </a:spcAft>
            </a:pPr>
            <a:r>
              <a:rPr sz="1500" b="0" i="0" lang="vi-VN">
                <a:solidFill>
                  <a:srgbClr val="FFFFFF"/>
                </a:solidFill>
                <a:latin typeface="Arial"/>
              </a:rPr>
              <a:t>(triệu đồng) - bài toán hồi quy có giám sát</a:t>
            </a:r>
          </a:p>
        </p:txBody>
      </p:sp>
      <p:sp>
        <p:nvSpPr>
          <p:cNvPr id="11" name="Rounded Rectangle 10"/>
          <p:cNvSpPr/>
          <p:nvPr/>
        </p:nvSpPr>
        <p:spPr>
          <a:xfrm>
            <a:off x="6400800" y="3520440"/>
            <a:ext cx="5212080" cy="1874519"/>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29400" y="3639312"/>
            <a:ext cx="475488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Yêu cầu của đề tài</a:t>
            </a:r>
          </a:p>
        </p:txBody>
      </p:sp>
      <p:sp>
        <p:nvSpPr>
          <p:cNvPr id="13" name="TextBox 12"/>
          <p:cNvSpPr txBox="1"/>
          <p:nvPr/>
        </p:nvSpPr>
        <p:spPr>
          <a:xfrm>
            <a:off x="6629400" y="4023360"/>
            <a:ext cx="4846320" cy="1371600"/>
          </a:xfrm>
          <a:prstGeom prst="rect">
            <a:avLst/>
          </a:prstGeom>
          <a:noFill/>
        </p:spPr>
        <p:txBody>
          <a:bodyPr wrap="square" lIns="45720" rIns="45720" tIns="27432" bIns="27432" anchor="t">
            <a:spAutoFit/>
          </a:bodyPr>
          <a:lstStyle/>
          <a:p>
            <a:pPr algn="l" marL="201168" indent="-201168">
              <a:lnSpc>
                <a:spcPct val="110000"/>
              </a:lnSpc>
              <a:spcAft>
                <a:spcPts val="500"/>
              </a:spcAft>
              <a:buClr>
                <a:srgbClr val="075289"/>
              </a:buClr>
              <a:buFont typeface="Arial"/>
              <a:buChar char="•"/>
            </a:pPr>
            <a:r>
              <a:rPr sz="1400" b="0" i="0" lang="vi-VN">
                <a:solidFill>
                  <a:srgbClr val="1F2937"/>
                </a:solidFill>
                <a:latin typeface="Arial"/>
              </a:rPr>
              <a:t>Một mô hình từ đầu đến cuối, có thước đo đánh giá</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Phân tích kỹ Random Forest, tự cài đặt và kiểm chứng</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Có kỹ thuật xử lý dữ liệu mất cân bằng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1 · GIỚI THIỆU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Quy trình thực hiện</a:t>
            </a:r>
          </a:p>
        </p:txBody>
      </p:sp>
      <p:sp>
        <p:nvSpPr>
          <p:cNvPr id="4" name="Rounded Rectangle 3"/>
          <p:cNvSpPr/>
          <p:nvPr/>
        </p:nvSpPr>
        <p:spPr>
          <a:xfrm>
            <a:off x="548640" y="1645920"/>
            <a:ext cx="1920240" cy="2377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88719" y="1828800"/>
            <a:ext cx="640080" cy="6400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lang="vi-VN">
                <a:solidFill>
                  <a:srgbClr val="FFFFFF"/>
                </a:solidFill>
                <a:latin typeface="Arial"/>
              </a:rPr>
              <a:t>1</a:t>
            </a:r>
          </a:p>
        </p:txBody>
      </p:sp>
      <p:sp>
        <p:nvSpPr>
          <p:cNvPr id="6" name="TextBox 5"/>
          <p:cNvSpPr txBox="1"/>
          <p:nvPr/>
        </p:nvSpPr>
        <p:spPr>
          <a:xfrm>
            <a:off x="640080" y="2606040"/>
            <a:ext cx="173736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075289"/>
                </a:solidFill>
                <a:latin typeface="Arial"/>
              </a:rPr>
              <a:t>Thu thập</a:t>
            </a:r>
          </a:p>
        </p:txBody>
      </p:sp>
      <p:sp>
        <p:nvSpPr>
          <p:cNvPr id="7" name="TextBox 6"/>
          <p:cNvSpPr txBox="1"/>
          <p:nvPr/>
        </p:nvSpPr>
        <p:spPr>
          <a:xfrm>
            <a:off x="640080" y="3063240"/>
            <a:ext cx="1737360" cy="868680"/>
          </a:xfrm>
          <a:prstGeom prst="rect">
            <a:avLst/>
          </a:prstGeom>
          <a:noFill/>
        </p:spPr>
        <p:txBody>
          <a:bodyPr wrap="square" lIns="45720" rIns="45720" tIns="27432" bIns="27432" anchor="t">
            <a:spAutoFit/>
          </a:bodyPr>
          <a:lstStyle/>
          <a:p>
            <a:pPr algn="ctr">
              <a:lnSpc>
                <a:spcPct val="110000"/>
              </a:lnSpc>
              <a:spcAft>
                <a:spcPts val="200"/>
              </a:spcAft>
            </a:pPr>
            <a:r>
              <a:rPr sz="1300" b="0" i="0" lang="vi-VN">
                <a:solidFill>
                  <a:srgbClr val="1F2937"/>
                </a:solidFill>
                <a:latin typeface="Arial"/>
              </a:rPr>
              <a:t>Crawl Chợ Tốt</a:t>
            </a:r>
          </a:p>
          <a:p>
            <a:pPr algn="ctr">
              <a:lnSpc>
                <a:spcPct val="110000"/>
              </a:lnSpc>
              <a:spcAft>
                <a:spcPts val="200"/>
              </a:spcAft>
            </a:pPr>
            <a:r>
              <a:rPr sz="1300" b="0" i="0" lang="vi-VN">
                <a:solidFill>
                  <a:srgbClr val="1F2937"/>
                </a:solidFill>
                <a:latin typeface="Arial"/>
              </a:rPr>
              <a:t>14.835 tin</a:t>
            </a:r>
          </a:p>
        </p:txBody>
      </p:sp>
      <p:sp>
        <p:nvSpPr>
          <p:cNvPr id="8" name="Right Arrow 7"/>
          <p:cNvSpPr/>
          <p:nvPr/>
        </p:nvSpPr>
        <p:spPr>
          <a:xfrm>
            <a:off x="2496312" y="2651760"/>
            <a:ext cx="292608" cy="36576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645920"/>
            <a:ext cx="1920240" cy="237744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474720" y="182880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lang="vi-VN">
                <a:solidFill>
                  <a:srgbClr val="FFFFFF"/>
                </a:solidFill>
                <a:latin typeface="Arial"/>
              </a:rPr>
              <a:t>2</a:t>
            </a:r>
          </a:p>
        </p:txBody>
      </p:sp>
      <p:sp>
        <p:nvSpPr>
          <p:cNvPr id="11" name="TextBox 10"/>
          <p:cNvSpPr txBox="1"/>
          <p:nvPr/>
        </p:nvSpPr>
        <p:spPr>
          <a:xfrm>
            <a:off x="2926080" y="2606040"/>
            <a:ext cx="173736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075289"/>
                </a:solidFill>
                <a:latin typeface="Arial"/>
              </a:rPr>
              <a:t>Tiền xử lý</a:t>
            </a:r>
          </a:p>
        </p:txBody>
      </p:sp>
      <p:sp>
        <p:nvSpPr>
          <p:cNvPr id="12" name="TextBox 11"/>
          <p:cNvSpPr txBox="1"/>
          <p:nvPr/>
        </p:nvSpPr>
        <p:spPr>
          <a:xfrm>
            <a:off x="2926080" y="3063240"/>
            <a:ext cx="1737360" cy="868680"/>
          </a:xfrm>
          <a:prstGeom prst="rect">
            <a:avLst/>
          </a:prstGeom>
          <a:noFill/>
        </p:spPr>
        <p:txBody>
          <a:bodyPr wrap="square" lIns="45720" rIns="45720" tIns="27432" bIns="27432" anchor="t">
            <a:spAutoFit/>
          </a:bodyPr>
          <a:lstStyle/>
          <a:p>
            <a:pPr algn="ctr">
              <a:lnSpc>
                <a:spcPct val="110000"/>
              </a:lnSpc>
              <a:spcAft>
                <a:spcPts val="200"/>
              </a:spcAft>
            </a:pPr>
            <a:r>
              <a:rPr sz="1300" b="0" i="0" lang="vi-VN">
                <a:solidFill>
                  <a:srgbClr val="1F2937"/>
                </a:solidFill>
                <a:latin typeface="Arial"/>
              </a:rPr>
              <a:t>Làm sạch, điền thiếu</a:t>
            </a:r>
          </a:p>
          <a:p>
            <a:pPr algn="ctr">
              <a:lnSpc>
                <a:spcPct val="110000"/>
              </a:lnSpc>
              <a:spcAft>
                <a:spcPts val="200"/>
              </a:spcAft>
            </a:pPr>
            <a:r>
              <a:rPr sz="1300" b="0" i="0" lang="vi-VN">
                <a:solidFill>
                  <a:srgbClr val="1F2937"/>
                </a:solidFill>
                <a:latin typeface="Arial"/>
              </a:rPr>
              <a:t>13.937 tin</a:t>
            </a:r>
          </a:p>
        </p:txBody>
      </p:sp>
      <p:sp>
        <p:nvSpPr>
          <p:cNvPr id="13" name="Right Arrow 12"/>
          <p:cNvSpPr/>
          <p:nvPr/>
        </p:nvSpPr>
        <p:spPr>
          <a:xfrm>
            <a:off x="4782312" y="2651760"/>
            <a:ext cx="292608" cy="36576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645920"/>
            <a:ext cx="1920240" cy="2377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760720" y="1828800"/>
            <a:ext cx="640080" cy="6400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lang="vi-VN">
                <a:solidFill>
                  <a:srgbClr val="FFFFFF"/>
                </a:solidFill>
                <a:latin typeface="Arial"/>
              </a:rPr>
              <a:t>3</a:t>
            </a:r>
          </a:p>
        </p:txBody>
      </p:sp>
      <p:sp>
        <p:nvSpPr>
          <p:cNvPr id="16" name="TextBox 15"/>
          <p:cNvSpPr txBox="1"/>
          <p:nvPr/>
        </p:nvSpPr>
        <p:spPr>
          <a:xfrm>
            <a:off x="5212079" y="2606040"/>
            <a:ext cx="173736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075289"/>
                </a:solidFill>
                <a:latin typeface="Arial"/>
              </a:rPr>
              <a:t>Mô hình</a:t>
            </a:r>
          </a:p>
        </p:txBody>
      </p:sp>
      <p:sp>
        <p:nvSpPr>
          <p:cNvPr id="17" name="TextBox 16"/>
          <p:cNvSpPr txBox="1"/>
          <p:nvPr/>
        </p:nvSpPr>
        <p:spPr>
          <a:xfrm>
            <a:off x="5212079" y="3063240"/>
            <a:ext cx="1737360" cy="868680"/>
          </a:xfrm>
          <a:prstGeom prst="rect">
            <a:avLst/>
          </a:prstGeom>
          <a:noFill/>
        </p:spPr>
        <p:txBody>
          <a:bodyPr wrap="square" lIns="45720" rIns="45720" tIns="27432" bIns="27432" anchor="t">
            <a:spAutoFit/>
          </a:bodyPr>
          <a:lstStyle/>
          <a:p>
            <a:pPr algn="ctr">
              <a:lnSpc>
                <a:spcPct val="110000"/>
              </a:lnSpc>
              <a:spcAft>
                <a:spcPts val="200"/>
              </a:spcAft>
            </a:pPr>
            <a:r>
              <a:rPr sz="1300" b="0" i="0" lang="vi-VN">
                <a:solidFill>
                  <a:srgbClr val="1F2937"/>
                </a:solidFill>
                <a:latin typeface="Arial"/>
              </a:rPr>
              <a:t>Random Forest</a:t>
            </a:r>
          </a:p>
          <a:p>
            <a:pPr algn="ctr">
              <a:lnSpc>
                <a:spcPct val="110000"/>
              </a:lnSpc>
              <a:spcAft>
                <a:spcPts val="200"/>
              </a:spcAft>
            </a:pPr>
            <a:r>
              <a:rPr sz="1300" b="0" i="0" lang="vi-VN">
                <a:solidFill>
                  <a:srgbClr val="1F2937"/>
                </a:solidFill>
                <a:latin typeface="Arial"/>
              </a:rPr>
              <a:t>thư viện + tự cài đặt</a:t>
            </a:r>
          </a:p>
        </p:txBody>
      </p:sp>
      <p:sp>
        <p:nvSpPr>
          <p:cNvPr id="18" name="Right Arrow 17"/>
          <p:cNvSpPr/>
          <p:nvPr/>
        </p:nvSpPr>
        <p:spPr>
          <a:xfrm>
            <a:off x="7068312" y="2651760"/>
            <a:ext cx="292608" cy="36576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645920"/>
            <a:ext cx="1920240" cy="237744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046719" y="182880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lang="vi-VN">
                <a:solidFill>
                  <a:srgbClr val="FFFFFF"/>
                </a:solidFill>
                <a:latin typeface="Arial"/>
              </a:rPr>
              <a:t>4</a:t>
            </a:r>
          </a:p>
        </p:txBody>
      </p:sp>
      <p:sp>
        <p:nvSpPr>
          <p:cNvPr id="21" name="TextBox 20"/>
          <p:cNvSpPr txBox="1"/>
          <p:nvPr/>
        </p:nvSpPr>
        <p:spPr>
          <a:xfrm>
            <a:off x="7498079" y="2606040"/>
            <a:ext cx="173736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075289"/>
                </a:solidFill>
                <a:latin typeface="Arial"/>
              </a:rPr>
              <a:t>Đánh giá</a:t>
            </a:r>
          </a:p>
        </p:txBody>
      </p:sp>
      <p:sp>
        <p:nvSpPr>
          <p:cNvPr id="22" name="TextBox 21"/>
          <p:cNvSpPr txBox="1"/>
          <p:nvPr/>
        </p:nvSpPr>
        <p:spPr>
          <a:xfrm>
            <a:off x="7498079" y="3063240"/>
            <a:ext cx="1737360" cy="868680"/>
          </a:xfrm>
          <a:prstGeom prst="rect">
            <a:avLst/>
          </a:prstGeom>
          <a:noFill/>
        </p:spPr>
        <p:txBody>
          <a:bodyPr wrap="square" lIns="45720" rIns="45720" tIns="27432" bIns="27432" anchor="t">
            <a:spAutoFit/>
          </a:bodyPr>
          <a:lstStyle/>
          <a:p>
            <a:pPr algn="ctr">
              <a:lnSpc>
                <a:spcPct val="110000"/>
              </a:lnSpc>
              <a:spcAft>
                <a:spcPts val="200"/>
              </a:spcAft>
            </a:pPr>
            <a:r>
              <a:rPr sz="1300" b="0" i="0" lang="vi-VN">
                <a:solidFill>
                  <a:srgbClr val="1F2937"/>
                </a:solidFill>
                <a:latin typeface="Arial"/>
              </a:rPr>
              <a:t>MAPE, R², ±20%</a:t>
            </a:r>
          </a:p>
          <a:p>
            <a:pPr algn="ctr">
              <a:lnSpc>
                <a:spcPct val="110000"/>
              </a:lnSpc>
              <a:spcAft>
                <a:spcPts val="200"/>
              </a:spcAft>
            </a:pPr>
            <a:r>
              <a:rPr sz="1300" b="0" i="0" lang="vi-VN">
                <a:solidFill>
                  <a:srgbClr val="1F2937"/>
                </a:solidFill>
                <a:latin typeface="Arial"/>
              </a:rPr>
              <a:t>theo phân khúc</a:t>
            </a:r>
          </a:p>
        </p:txBody>
      </p:sp>
      <p:sp>
        <p:nvSpPr>
          <p:cNvPr id="23" name="Right Arrow 22"/>
          <p:cNvSpPr/>
          <p:nvPr/>
        </p:nvSpPr>
        <p:spPr>
          <a:xfrm>
            <a:off x="9354312" y="2651760"/>
            <a:ext cx="292608" cy="36576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92640" y="1645920"/>
            <a:ext cx="1920240" cy="2377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332719" y="1828800"/>
            <a:ext cx="640080" cy="6400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lang="vi-VN">
                <a:solidFill>
                  <a:srgbClr val="FFFFFF"/>
                </a:solidFill>
                <a:latin typeface="Arial"/>
              </a:rPr>
              <a:t>5</a:t>
            </a:r>
          </a:p>
        </p:txBody>
      </p:sp>
      <p:sp>
        <p:nvSpPr>
          <p:cNvPr id="26" name="TextBox 25"/>
          <p:cNvSpPr txBox="1"/>
          <p:nvPr/>
        </p:nvSpPr>
        <p:spPr>
          <a:xfrm>
            <a:off x="9784080" y="2606040"/>
            <a:ext cx="173736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075289"/>
                </a:solidFill>
                <a:latin typeface="Arial"/>
              </a:rPr>
              <a:t>Triển khai</a:t>
            </a:r>
          </a:p>
        </p:txBody>
      </p:sp>
      <p:sp>
        <p:nvSpPr>
          <p:cNvPr id="27" name="TextBox 26"/>
          <p:cNvSpPr txBox="1"/>
          <p:nvPr/>
        </p:nvSpPr>
        <p:spPr>
          <a:xfrm>
            <a:off x="9784080" y="3063240"/>
            <a:ext cx="1737360" cy="868680"/>
          </a:xfrm>
          <a:prstGeom prst="rect">
            <a:avLst/>
          </a:prstGeom>
          <a:noFill/>
        </p:spPr>
        <p:txBody>
          <a:bodyPr wrap="square" lIns="45720" rIns="45720" tIns="27432" bIns="27432" anchor="t">
            <a:spAutoFit/>
          </a:bodyPr>
          <a:lstStyle/>
          <a:p>
            <a:pPr algn="ctr">
              <a:lnSpc>
                <a:spcPct val="110000"/>
              </a:lnSpc>
              <a:spcAft>
                <a:spcPts val="200"/>
              </a:spcAft>
            </a:pPr>
            <a:r>
              <a:rPr sz="1300" b="0" i="0" lang="vi-VN">
                <a:solidFill>
                  <a:srgbClr val="1F2937"/>
                </a:solidFill>
                <a:latin typeface="Arial"/>
              </a:rPr>
              <a:t>Lưu mô hình</a:t>
            </a:r>
          </a:p>
          <a:p>
            <a:pPr algn="ctr">
              <a:lnSpc>
                <a:spcPct val="110000"/>
              </a:lnSpc>
              <a:spcAft>
                <a:spcPts val="200"/>
              </a:spcAft>
            </a:pPr>
            <a:r>
              <a:rPr sz="1300" b="0" i="0" lang="vi-VN">
                <a:solidFill>
                  <a:srgbClr val="1F2937"/>
                </a:solidFill>
                <a:latin typeface="Arial"/>
              </a:rPr>
              <a:t>price_model.py</a:t>
            </a:r>
          </a:p>
        </p:txBody>
      </p:sp>
      <p:sp>
        <p:nvSpPr>
          <p:cNvPr id="28" name="TextBox 27"/>
          <p:cNvSpPr txBox="1"/>
          <p:nvPr/>
        </p:nvSpPr>
        <p:spPr>
          <a:xfrm>
            <a:off x="548640" y="4297680"/>
            <a:ext cx="11064240" cy="45720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Chống rò rỉ dữ liệu: </a:t>
            </a:r>
            <a:r>
              <a:rPr sz="1500" b="0" i="0" lang="vi-VN">
                <a:solidFill>
                  <a:srgbClr val="1F2937"/>
                </a:solidFill>
                <a:latin typeface="Arial"/>
              </a:rPr>
              <a:t>mọi lựa chọn (cách mã hóa, tham số, log giá, kỹ thuật cân bằng) quyết định bằng CV hoặc OOB trên tập train.</a:t>
            </a:r>
          </a:p>
        </p:txBody>
      </p:sp>
      <p:sp>
        <p:nvSpPr>
          <p:cNvPr id="29" name="TextBox 28"/>
          <p:cNvSpPr txBox="1"/>
          <p:nvPr/>
        </p:nvSpPr>
        <p:spPr>
          <a:xfrm>
            <a:off x="548640" y="4846320"/>
            <a:ext cx="11064240" cy="45720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Tái lập: </a:t>
            </a:r>
            <a:r>
              <a:rPr sz="1500" b="0" i="0" lang="vi-VN">
                <a:solidFill>
                  <a:srgbClr val="1F2937"/>
                </a:solidFill>
                <a:latin typeface="Arial"/>
              </a:rPr>
              <a:t>mọi bước ngẫu nhiên cố định random_state = 42, chạy lại cho đúng cùng kết quả.</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2 · THU THẬP DỮ LIỆU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Crawl 14.835 tin rao bán ô tô từ Chợ Tốt</a:t>
            </a:r>
          </a:p>
        </p:txBody>
      </p:sp>
      <p:sp>
        <p:nvSpPr>
          <p:cNvPr id="4" name="Rounded Rectangle 3"/>
          <p:cNvSpPr/>
          <p:nvPr/>
        </p:nvSpPr>
        <p:spPr>
          <a:xfrm>
            <a:off x="548640" y="1463040"/>
            <a:ext cx="25603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536192"/>
            <a:ext cx="2560320" cy="685800"/>
          </a:xfrm>
          <a:prstGeom prst="rect">
            <a:avLst/>
          </a:prstGeom>
          <a:noFill/>
        </p:spPr>
        <p:txBody>
          <a:bodyPr wrap="square" lIns="45720" rIns="45720" tIns="27432" bIns="27432" anchor="t">
            <a:spAutoFit/>
          </a:bodyPr>
          <a:lstStyle/>
          <a:p>
            <a:pPr algn="ctr">
              <a:lnSpc>
                <a:spcPct val="110000"/>
              </a:lnSpc>
              <a:spcAft>
                <a:spcPts val="600"/>
              </a:spcAft>
            </a:pPr>
            <a:r>
              <a:rPr sz="3200" b="1" i="0" lang="vi-VN">
                <a:solidFill>
                  <a:srgbClr val="075289"/>
                </a:solidFill>
                <a:latin typeface="Arial"/>
              </a:rPr>
              <a:t>750</a:t>
            </a:r>
          </a:p>
        </p:txBody>
      </p:sp>
      <p:sp>
        <p:nvSpPr>
          <p:cNvPr id="6" name="TextBox 5"/>
          <p:cNvSpPr txBox="1"/>
          <p:nvPr/>
        </p:nvSpPr>
        <p:spPr>
          <a:xfrm>
            <a:off x="548640" y="2212848"/>
            <a:ext cx="25603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5B6775"/>
                </a:solidFill>
                <a:latin typeface="Arial"/>
              </a:rPr>
              <a:t>trang danh sách</a:t>
            </a:r>
          </a:p>
        </p:txBody>
      </p:sp>
      <p:sp>
        <p:nvSpPr>
          <p:cNvPr id="7" name="Rounded Rectangle 6"/>
          <p:cNvSpPr/>
          <p:nvPr/>
        </p:nvSpPr>
        <p:spPr>
          <a:xfrm>
            <a:off x="3337560" y="1463040"/>
            <a:ext cx="2560320" cy="132588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7560" y="1536192"/>
            <a:ext cx="2560320" cy="685800"/>
          </a:xfrm>
          <a:prstGeom prst="rect">
            <a:avLst/>
          </a:prstGeom>
          <a:noFill/>
        </p:spPr>
        <p:txBody>
          <a:bodyPr wrap="square" lIns="45720" rIns="45720" tIns="27432" bIns="27432" anchor="t">
            <a:spAutoFit/>
          </a:bodyPr>
          <a:lstStyle/>
          <a:p>
            <a:pPr algn="ctr">
              <a:lnSpc>
                <a:spcPct val="110000"/>
              </a:lnSpc>
              <a:spcAft>
                <a:spcPts val="600"/>
              </a:spcAft>
            </a:pPr>
            <a:r>
              <a:rPr sz="3200" b="1" i="0" lang="vi-VN">
                <a:solidFill>
                  <a:srgbClr val="FFFFFF"/>
                </a:solidFill>
                <a:latin typeface="Arial"/>
              </a:rPr>
              <a:t>14.835</a:t>
            </a:r>
          </a:p>
        </p:txBody>
      </p:sp>
      <p:sp>
        <p:nvSpPr>
          <p:cNvPr id="9" name="TextBox 8"/>
          <p:cNvSpPr txBox="1"/>
          <p:nvPr/>
        </p:nvSpPr>
        <p:spPr>
          <a:xfrm>
            <a:off x="3337560" y="2212848"/>
            <a:ext cx="25603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FFFFFF"/>
                </a:solidFill>
                <a:latin typeface="Arial"/>
              </a:rPr>
              <a:t>tin rao bán</a:t>
            </a:r>
          </a:p>
        </p:txBody>
      </p:sp>
      <p:sp>
        <p:nvSpPr>
          <p:cNvPr id="10" name="Rounded Rectangle 9"/>
          <p:cNvSpPr/>
          <p:nvPr/>
        </p:nvSpPr>
        <p:spPr>
          <a:xfrm>
            <a:off x="6126479" y="1463040"/>
            <a:ext cx="25603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26479" y="1536192"/>
            <a:ext cx="2560320" cy="685800"/>
          </a:xfrm>
          <a:prstGeom prst="rect">
            <a:avLst/>
          </a:prstGeom>
          <a:noFill/>
        </p:spPr>
        <p:txBody>
          <a:bodyPr wrap="square" lIns="45720" rIns="45720" tIns="27432" bIns="27432" anchor="t">
            <a:spAutoFit/>
          </a:bodyPr>
          <a:lstStyle/>
          <a:p>
            <a:pPr algn="ctr">
              <a:lnSpc>
                <a:spcPct val="110000"/>
              </a:lnSpc>
              <a:spcAft>
                <a:spcPts val="600"/>
              </a:spcAft>
            </a:pPr>
            <a:r>
              <a:rPr sz="3200" b="1" i="0" lang="vi-VN">
                <a:solidFill>
                  <a:srgbClr val="075289"/>
                </a:solidFill>
                <a:latin typeface="Arial"/>
              </a:rPr>
              <a:t>12</a:t>
            </a:r>
          </a:p>
        </p:txBody>
      </p:sp>
      <p:sp>
        <p:nvSpPr>
          <p:cNvPr id="12" name="TextBox 11"/>
          <p:cNvSpPr txBox="1"/>
          <p:nvPr/>
        </p:nvSpPr>
        <p:spPr>
          <a:xfrm>
            <a:off x="6126479" y="2212848"/>
            <a:ext cx="25603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5B6775"/>
                </a:solidFill>
                <a:latin typeface="Arial"/>
              </a:rPr>
              <a:t>thuộc tính mỗi tin</a:t>
            </a:r>
          </a:p>
        </p:txBody>
      </p:sp>
      <p:sp>
        <p:nvSpPr>
          <p:cNvPr id="13" name="Rounded Rectangle 12"/>
          <p:cNvSpPr/>
          <p:nvPr/>
        </p:nvSpPr>
        <p:spPr>
          <a:xfrm>
            <a:off x="8915399" y="1463040"/>
            <a:ext cx="25603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15399" y="1536192"/>
            <a:ext cx="2560320" cy="685800"/>
          </a:xfrm>
          <a:prstGeom prst="rect">
            <a:avLst/>
          </a:prstGeom>
          <a:noFill/>
        </p:spPr>
        <p:txBody>
          <a:bodyPr wrap="square" lIns="45720" rIns="45720" tIns="27432" bIns="27432" anchor="t">
            <a:spAutoFit/>
          </a:bodyPr>
          <a:lstStyle/>
          <a:p>
            <a:pPr algn="ctr">
              <a:lnSpc>
                <a:spcPct val="110000"/>
              </a:lnSpc>
              <a:spcAft>
                <a:spcPts val="600"/>
              </a:spcAft>
            </a:pPr>
            <a:r>
              <a:rPr sz="3200" b="1" i="0" lang="vi-VN">
                <a:solidFill>
                  <a:srgbClr val="075289"/>
                </a:solidFill>
                <a:latin typeface="Arial"/>
              </a:rPr>
              <a:t>25/10/2026</a:t>
            </a:r>
          </a:p>
        </p:txBody>
      </p:sp>
      <p:sp>
        <p:nvSpPr>
          <p:cNvPr id="15" name="TextBox 14"/>
          <p:cNvSpPr txBox="1"/>
          <p:nvPr/>
        </p:nvSpPr>
        <p:spPr>
          <a:xfrm>
            <a:off x="8915399" y="2212848"/>
            <a:ext cx="25603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5B6775"/>
                </a:solidFill>
                <a:latin typeface="Arial"/>
              </a:rPr>
              <a:t>ngày thu thập</a:t>
            </a:r>
          </a:p>
        </p:txBody>
      </p:sp>
      <p:sp>
        <p:nvSpPr>
          <p:cNvPr id="16" name="Rounded Rectangle 15"/>
          <p:cNvSpPr/>
          <p:nvPr/>
        </p:nvSpPr>
        <p:spPr>
          <a:xfrm>
            <a:off x="548640" y="3063240"/>
            <a:ext cx="2377440" cy="91440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3108960"/>
            <a:ext cx="2377440" cy="822960"/>
          </a:xfrm>
          <a:prstGeom prst="rect">
            <a:avLst/>
          </a:prstGeom>
          <a:noFill/>
        </p:spPr>
        <p:txBody>
          <a:bodyPr wrap="square" lIns="45720" rIns="45720" tIns="27432" bIns="27432" anchor="ctr">
            <a:spAutoFit/>
          </a:bodyPr>
          <a:lstStyle/>
          <a:p>
            <a:pPr algn="ctr">
              <a:lnSpc>
                <a:spcPct val="110000"/>
              </a:lnSpc>
              <a:spcAft>
                <a:spcPts val="0"/>
              </a:spcAft>
            </a:pPr>
            <a:r>
              <a:rPr sz="1400" b="0" i="0" lang="vi-VN">
                <a:solidFill>
                  <a:srgbClr val="1F2937"/>
                </a:solidFill>
                <a:latin typeface="Arial"/>
              </a:rPr>
              <a:t>Trang danh sách</a:t>
            </a:r>
          </a:p>
          <a:p>
            <a:pPr algn="ctr">
              <a:lnSpc>
                <a:spcPct val="110000"/>
              </a:lnSpc>
              <a:spcAft>
                <a:spcPts val="0"/>
              </a:spcAft>
            </a:pPr>
            <a:r>
              <a:rPr sz="1400" b="0" i="0" lang="vi-VN">
                <a:solidFill>
                  <a:srgbClr val="1F2937"/>
                </a:solidFill>
                <a:latin typeface="Arial"/>
              </a:rPr>
              <a:t>?page=1..750</a:t>
            </a:r>
          </a:p>
        </p:txBody>
      </p:sp>
      <p:sp>
        <p:nvSpPr>
          <p:cNvPr id="18" name="Right Arrow 17"/>
          <p:cNvSpPr/>
          <p:nvPr/>
        </p:nvSpPr>
        <p:spPr>
          <a:xfrm>
            <a:off x="2971800" y="3383280"/>
            <a:ext cx="320040" cy="27432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337560" y="3063240"/>
            <a:ext cx="2377440" cy="91440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337560" y="3108960"/>
            <a:ext cx="2377440" cy="822960"/>
          </a:xfrm>
          <a:prstGeom prst="rect">
            <a:avLst/>
          </a:prstGeom>
          <a:noFill/>
        </p:spPr>
        <p:txBody>
          <a:bodyPr wrap="square" lIns="45720" rIns="45720" tIns="27432" bIns="27432" anchor="ctr">
            <a:spAutoFit/>
          </a:bodyPr>
          <a:lstStyle/>
          <a:p>
            <a:pPr algn="ctr">
              <a:lnSpc>
                <a:spcPct val="110000"/>
              </a:lnSpc>
              <a:spcAft>
                <a:spcPts val="0"/>
              </a:spcAft>
            </a:pPr>
            <a:r>
              <a:rPr sz="1400" b="0" i="0" lang="vi-VN">
                <a:solidFill>
                  <a:srgbClr val="1F2937"/>
                </a:solidFill>
                <a:latin typeface="Arial"/>
              </a:rPr>
              <a:t>Link từng tin</a:t>
            </a:r>
          </a:p>
          <a:p>
            <a:pPr algn="ctr">
              <a:lnSpc>
                <a:spcPct val="110000"/>
              </a:lnSpc>
              <a:spcAft>
                <a:spcPts val="0"/>
              </a:spcAft>
            </a:pPr>
            <a:r>
              <a:rPr sz="1400" b="0" i="0" lang="vi-VN">
                <a:solidFill>
                  <a:srgbClr val="1F2937"/>
                </a:solidFill>
                <a:latin typeface="Arial"/>
              </a:rPr>
              <a:t>(bỏ link trùng)</a:t>
            </a:r>
          </a:p>
        </p:txBody>
      </p:sp>
      <p:sp>
        <p:nvSpPr>
          <p:cNvPr id="21" name="Right Arrow 20"/>
          <p:cNvSpPr/>
          <p:nvPr/>
        </p:nvSpPr>
        <p:spPr>
          <a:xfrm>
            <a:off x="5760720" y="3383280"/>
            <a:ext cx="320040" cy="27432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26479" y="3063240"/>
            <a:ext cx="2377440" cy="91440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26479" y="3108960"/>
            <a:ext cx="2377440" cy="822960"/>
          </a:xfrm>
          <a:prstGeom prst="rect">
            <a:avLst/>
          </a:prstGeom>
          <a:noFill/>
        </p:spPr>
        <p:txBody>
          <a:bodyPr wrap="square" lIns="45720" rIns="45720" tIns="27432" bIns="27432" anchor="ctr">
            <a:spAutoFit/>
          </a:bodyPr>
          <a:lstStyle/>
          <a:p>
            <a:pPr algn="ctr">
              <a:lnSpc>
                <a:spcPct val="110000"/>
              </a:lnSpc>
              <a:spcAft>
                <a:spcPts val="0"/>
              </a:spcAft>
            </a:pPr>
            <a:r>
              <a:rPr sz="1400" b="0" i="0" lang="vi-VN">
                <a:solidFill>
                  <a:srgbClr val="1F2937"/>
                </a:solidFill>
                <a:latin typeface="Arial"/>
              </a:rPr>
              <a:t>Trang chi tiết</a:t>
            </a:r>
          </a:p>
          <a:p>
            <a:pPr algn="ctr">
              <a:lnSpc>
                <a:spcPct val="110000"/>
              </a:lnSpc>
              <a:spcAft>
                <a:spcPts val="0"/>
              </a:spcAft>
            </a:pPr>
            <a:r>
              <a:rPr sz="1400" b="0" i="0" lang="vi-VN">
                <a:solidFill>
                  <a:srgbClr val="1F2937"/>
                </a:solidFill>
                <a:latin typeface="Arial"/>
              </a:rPr>
              <a:t>đọc thẻ itemprop</a:t>
            </a:r>
          </a:p>
        </p:txBody>
      </p:sp>
      <p:sp>
        <p:nvSpPr>
          <p:cNvPr id="24" name="Right Arrow 23"/>
          <p:cNvSpPr/>
          <p:nvPr/>
        </p:nvSpPr>
        <p:spPr>
          <a:xfrm>
            <a:off x="8549640" y="3383280"/>
            <a:ext cx="320040" cy="274320"/>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15399" y="3063240"/>
            <a:ext cx="2377440" cy="91440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15399" y="3108960"/>
            <a:ext cx="2377440" cy="822960"/>
          </a:xfrm>
          <a:prstGeom prst="rect">
            <a:avLst/>
          </a:prstGeom>
          <a:noFill/>
        </p:spPr>
        <p:txBody>
          <a:bodyPr wrap="square" lIns="45720" rIns="45720" tIns="27432" bIns="27432" anchor="ctr">
            <a:spAutoFit/>
          </a:bodyPr>
          <a:lstStyle/>
          <a:p>
            <a:pPr algn="ctr">
              <a:lnSpc>
                <a:spcPct val="110000"/>
              </a:lnSpc>
              <a:spcAft>
                <a:spcPts val="0"/>
              </a:spcAft>
            </a:pPr>
            <a:r>
              <a:rPr sz="1400" b="0" i="0" lang="vi-VN">
                <a:solidFill>
                  <a:srgbClr val="1F2937"/>
                </a:solidFill>
                <a:latin typeface="Arial"/>
              </a:rPr>
              <a:t>raw_data_oto.csv</a:t>
            </a:r>
          </a:p>
          <a:p>
            <a:pPr algn="ctr">
              <a:lnSpc>
                <a:spcPct val="110000"/>
              </a:lnSpc>
              <a:spcAft>
                <a:spcPts val="0"/>
              </a:spcAft>
            </a:pPr>
            <a:r>
              <a:rPr sz="1400" b="0" i="0" lang="vi-VN">
                <a:solidFill>
                  <a:srgbClr val="1F2937"/>
                </a:solidFill>
                <a:latin typeface="Arial"/>
              </a:rPr>
              <a:t>14 cột</a:t>
            </a:r>
          </a:p>
        </p:txBody>
      </p:sp>
      <p:sp>
        <p:nvSpPr>
          <p:cNvPr id="27" name="TextBox 26"/>
          <p:cNvSpPr txBox="1"/>
          <p:nvPr/>
        </p:nvSpPr>
        <p:spPr>
          <a:xfrm>
            <a:off x="548640" y="4206240"/>
            <a:ext cx="11064240" cy="1371600"/>
          </a:xfrm>
          <a:prstGeom prst="rect">
            <a:avLst/>
          </a:prstGeom>
          <a:noFill/>
        </p:spPr>
        <p:txBody>
          <a:bodyPr wrap="square" lIns="45720" rIns="45720" tIns="27432" bIns="27432" anchor="t">
            <a:spAutoFit/>
          </a:bodyPr>
          <a:lstStyle/>
          <a:p>
            <a:pPr algn="l" marL="201168" indent="-201168">
              <a:lnSpc>
                <a:spcPct val="110000"/>
              </a:lnSpc>
              <a:spcAft>
                <a:spcPts val="600"/>
              </a:spcAft>
              <a:buClr>
                <a:srgbClr val="075289"/>
              </a:buClr>
              <a:buFont typeface="Arial"/>
              <a:buChar char="•"/>
            </a:pPr>
            <a:r>
              <a:rPr sz="1400" b="0" i="0" lang="vi-VN">
                <a:solidFill>
                  <a:srgbClr val="1F2937"/>
                </a:solidFill>
                <a:latin typeface="Arial"/>
              </a:rPr>
              <a:t>requests + BeautifulSoup; tự lùi thời gian khi bị trả mã 403 / 429; nghỉ 0,5 giây mỗi tin, 1 giây mỗi trang</a:t>
            </a:r>
          </a:p>
          <a:p>
            <a:pPr algn="l" marL="201168" indent="-201168">
              <a:lnSpc>
                <a:spcPct val="110000"/>
              </a:lnSpc>
              <a:spcAft>
                <a:spcPts val="600"/>
              </a:spcAft>
              <a:buClr>
                <a:srgbClr val="075289"/>
              </a:buClr>
              <a:buFont typeface="Arial"/>
              <a:buChar char="•"/>
            </a:pPr>
            <a:r>
              <a:rPr sz="1400" b="0" i="0" lang="vi-VN">
                <a:solidFill>
                  <a:srgbClr val="1F2937"/>
                </a:solidFill>
                <a:latin typeface="Arial"/>
              </a:rPr>
              <a:t>Chỉ lấy thông tin công khai, không đăng nhập, không lấy thông tin liên hệ người bán; chỉ dùng cho học tập</a:t>
            </a:r>
          </a:p>
          <a:p>
            <a:pPr algn="l" marL="201168" indent="-201168">
              <a:lnSpc>
                <a:spcPct val="110000"/>
              </a:lnSpc>
              <a:spcAft>
                <a:spcPts val="600"/>
              </a:spcAft>
              <a:buClr>
                <a:srgbClr val="075289"/>
              </a:buClr>
              <a:buFont typeface="Arial"/>
              <a:buChar char="•"/>
            </a:pPr>
            <a:r>
              <a:rPr sz="1400" b="0" i="0" lang="vi-VN">
                <a:solidFill>
                  <a:srgbClr val="1F2937"/>
                </a:solidFill>
                <a:latin typeface="Arial"/>
              </a:rPr>
              <a:t>Chạy tiếp được khi bị ngắt: bỏ qua các URL đã có trong file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2 · THU THẬP DỮ LIỆU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Từ điển dữ liệu: biết cột nào người bán gõ tự do</a:t>
            </a:r>
          </a:p>
        </p:txBody>
      </p:sp>
      <p:graphicFrame>
        <p:nvGraphicFramePr>
          <p:cNvPr id="4" name="Table 3"/>
          <p:cNvGraphicFramePr>
            <a:graphicFrameLocks noGrp="1"/>
          </p:cNvGraphicFramePr>
          <p:nvPr/>
        </p:nvGraphicFramePr>
        <p:xfrm>
          <a:off x="548640" y="1417320"/>
          <a:ext cx="11064240" cy="4123944"/>
        </p:xfrm>
        <a:graphic>
          <a:graphicData uri="http://schemas.openxmlformats.org/drawingml/2006/table">
            <a:tbl>
              <a:tblPr firstRow="0" bandRow="0">
                <a:tableStyleId>{5940675A-B579-460E-94D1-54222C63F5DA}</a:tableStyleId>
              </a:tblPr>
              <a:tblGrid>
                <a:gridCol w="2468880"/>
                <a:gridCol w="2468880"/>
                <a:gridCol w="2834640"/>
                <a:gridCol w="3291840"/>
              </a:tblGrid>
              <a:tr h="374904">
                <a:tc>
                  <a:txBody>
                    <a:bodyPr wrap="square"/>
                    <a:lstStyle/>
                    <a:p>
                      <a:r>
                        <a:rPr sz="1300" b="1" i="0" lang="vi-VN">
                          <a:solidFill>
                            <a:srgbClr val="FFFFFF"/>
                          </a:solidFill>
                          <a:latin typeface="Arial"/>
                        </a:rPr>
                        <a:t>Cột</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Ý nghĩa</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Người bán nhập</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Xử lý</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carbrand / carmodel</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Hãng / dòng xe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chọn từ danh sách</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gộp nhãn hiếm theo cấp</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mfdate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Năm sản xuất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chọn (có "trước 1980")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 tuổi xe = 2026 − năm</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mileage_v2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Số km đã đi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EB6834"/>
                          </a:solidFill>
                          <a:latin typeface="Arial"/>
                        </a:rPr>
                        <a:t>gõ tự do</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kiểm tra km vô lý, điền thiếu</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gearbox / fuel</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Hộp số / nhiên liệu</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chọn (3 / 4 giá trị)</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one-hot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cartype / carseats</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Kiểu dáng / số chỗ</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chọn, không bắt buộc</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điền theo dòng xe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carorigin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Xuất xứ</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chọn, không bắt buộc</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thiếu 41% → "Không rõ"</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condition_ad</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Tình trạng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Mới / Đã sử dụng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sửa xe "Mới" quá 3 năm tuổi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veh_warranty_policy</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Bảo hành</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một giá trị duy nhất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bỏ cột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price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Giá rao bán (đồng)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EB6834"/>
                          </a:solidFill>
                          <a:latin typeface="Arial"/>
                        </a:rPr>
                        <a:t>gõ tự do</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biến mục tiêu, loại giá sai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374904">
                <a:tc>
                  <a:txBody>
                    <a:bodyPr wrap="square"/>
                    <a:lstStyle/>
                    <a:p>
                      <a:r>
                        <a:rPr sz="1300" b="1" i="0" lang="vi-VN">
                          <a:solidFill>
                            <a:srgbClr val="1F2937"/>
                          </a:solidFill>
                          <a:latin typeface="Arial"/>
                        </a:rPr>
                        <a:t>url</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Đường dẫn tin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tự sinh, chứa tỉnh/thành</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trích tỉnh/thành rồi bỏ</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2 · THU THẬP DỮ LIỆU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Cách dữ liệu được tạo ra quyết định cách xử lý</a:t>
            </a:r>
          </a:p>
        </p:txBody>
      </p:sp>
      <p:graphicFrame>
        <p:nvGraphicFramePr>
          <p:cNvPr id="4" name="Table 3"/>
          <p:cNvGraphicFramePr>
            <a:graphicFrameLocks noGrp="1"/>
          </p:cNvGraphicFramePr>
          <p:nvPr/>
        </p:nvGraphicFramePr>
        <p:xfrm>
          <a:off x="548640" y="1463040"/>
          <a:ext cx="11064240" cy="3657600"/>
        </p:xfrm>
        <a:graphic>
          <a:graphicData uri="http://schemas.openxmlformats.org/drawingml/2006/table">
            <a:tbl>
              <a:tblPr firstRow="0" bandRow="0">
                <a:tableStyleId>{5940675A-B579-460E-94D1-54222C63F5DA}</a:tableStyleId>
              </a:tblPr>
              <a:tblGrid>
                <a:gridCol w="3931920"/>
                <a:gridCol w="3566160"/>
                <a:gridCol w="3566160"/>
              </a:tblGrid>
              <a:tr h="457200">
                <a:tc>
                  <a:txBody>
                    <a:bodyPr wrap="square"/>
                    <a:lstStyle/>
                    <a:p>
                      <a:r>
                        <a:rPr sz="1300" b="1" i="0" lang="vi-VN">
                          <a:solidFill>
                            <a:srgbClr val="FFFFFF"/>
                          </a:solidFill>
                          <a:latin typeface="Arial"/>
                        </a:rPr>
                        <a:t>Cơ chế</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Hệ quả</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Cách xử lý</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Không tìm thấy thẻ → ghi "N/A"</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Thiếu thật</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đổi về NaN (đọc với keep_default_na=False)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Trang hiện "Đang cập nhật" khi bỏ trống xuất xứ</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Cũng là thiếu thật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đổi về NaN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Danh sách có sẵn "Khác", "Dòng khác"</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Lựa chọn thật của người bán</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giữ làm nhãn (trừ số chỗ "Khác")</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Số km, giá là ô gõ tự do</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Gõ thiếu/thừa số 0, giá giả, giá trả trước</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luật kiểm tra ở phần 3</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Trang xe "Mới" không có ô số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Mọi xe mới thiếu số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điền 0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Bảo hành ghi "Bảo hành hãng" ở mọi tin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Không phân biệt được tin nào</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bỏ cột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0" i="0" lang="vi-VN">
                          <a:solidFill>
                            <a:srgbClr val="1F2937"/>
                          </a:solidFill>
                          <a:latin typeface="Arial"/>
                        </a:rPr>
                        <a:t>Một lần crawl, 750 trang mới nhất</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Ảnh chụp thị trường; giá rao, không phải giá bán</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tuổi xe tính theo 2026; nêu ở hạn chế</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2 · KHÁM PHÁ DỮ LIỆU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Dữ liệu thô: thiếu nhiều ở các cột không bắt buộc</a:t>
            </a:r>
          </a:p>
        </p:txBody>
      </p:sp>
      <p:pic>
        <p:nvPicPr>
          <p:cNvPr id="4" name="Picture 3" descr="01_missing.png"/>
          <p:cNvPicPr>
            <a:picLocks noChangeAspect="1"/>
          </p:cNvPicPr>
          <p:nvPr/>
        </p:nvPicPr>
        <p:blipFill>
          <a:blip r:embed="rId3"/>
          <a:stretch>
            <a:fillRect/>
          </a:stretch>
        </p:blipFill>
        <p:spPr>
          <a:xfrm>
            <a:off x="460465" y="1371600"/>
            <a:ext cx="5114108" cy="2743200"/>
          </a:xfrm>
          <a:prstGeom prst="rect">
            <a:avLst/>
          </a:prstGeom>
        </p:spPr>
      </p:pic>
      <p:pic>
        <p:nvPicPr>
          <p:cNvPr id="5" name="Picture 4" descr="02_co_cau.png"/>
          <p:cNvPicPr>
            <a:picLocks noChangeAspect="1"/>
          </p:cNvPicPr>
          <p:nvPr/>
        </p:nvPicPr>
        <p:blipFill>
          <a:blip r:embed="rId4"/>
          <a:stretch>
            <a:fillRect/>
          </a:stretch>
        </p:blipFill>
        <p:spPr>
          <a:xfrm>
            <a:off x="5760720" y="2025312"/>
            <a:ext cx="5943600" cy="1435774"/>
          </a:xfrm>
          <a:prstGeom prst="rect">
            <a:avLst/>
          </a:prstGeom>
        </p:spPr>
      </p:pic>
      <p:sp>
        <p:nvSpPr>
          <p:cNvPr id="6" name="Rounded Rectangle 5"/>
          <p:cNvSpPr/>
          <p:nvPr/>
        </p:nvSpPr>
        <p:spPr>
          <a:xfrm>
            <a:off x="548640" y="4389120"/>
            <a:ext cx="3474720" cy="10058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4434840"/>
            <a:ext cx="1188720" cy="914400"/>
          </a:xfrm>
          <a:prstGeom prst="rect">
            <a:avLst/>
          </a:prstGeom>
          <a:noFill/>
        </p:spPr>
        <p:txBody>
          <a:bodyPr wrap="square" lIns="45720" rIns="45720" tIns="27432" bIns="27432" anchor="ctr">
            <a:spAutoFit/>
          </a:bodyPr>
          <a:lstStyle/>
          <a:p>
            <a:pPr algn="l">
              <a:lnSpc>
                <a:spcPct val="110000"/>
              </a:lnSpc>
              <a:spcAft>
                <a:spcPts val="600"/>
              </a:spcAft>
            </a:pPr>
            <a:r>
              <a:rPr sz="2400" b="1" i="0" lang="vi-VN">
                <a:solidFill>
                  <a:srgbClr val="EB6834"/>
                </a:solidFill>
                <a:latin typeface="Arial"/>
              </a:rPr>
              <a:t>41%</a:t>
            </a:r>
          </a:p>
        </p:txBody>
      </p:sp>
      <p:sp>
        <p:nvSpPr>
          <p:cNvPr id="8" name="TextBox 7"/>
          <p:cNvSpPr txBox="1"/>
          <p:nvPr/>
        </p:nvSpPr>
        <p:spPr>
          <a:xfrm>
            <a:off x="1874519" y="4434840"/>
            <a:ext cx="2057400" cy="914400"/>
          </a:xfrm>
          <a:prstGeom prst="rect">
            <a:avLst/>
          </a:prstGeom>
          <a:noFill/>
        </p:spPr>
        <p:txBody>
          <a:bodyPr wrap="square" lIns="45720" rIns="45720" tIns="27432" bIns="27432" anchor="ctr">
            <a:spAutoFit/>
          </a:bodyPr>
          <a:lstStyle/>
          <a:p>
            <a:pPr algn="l">
              <a:lnSpc>
                <a:spcPct val="110000"/>
              </a:lnSpc>
              <a:spcAft>
                <a:spcPts val="0"/>
              </a:spcAft>
            </a:pPr>
            <a:r>
              <a:rPr sz="1300" b="0" i="0" lang="vi-VN">
                <a:solidFill>
                  <a:srgbClr val="1F2937"/>
                </a:solidFill>
                <a:latin typeface="Arial"/>
              </a:rPr>
              <a:t>xuất xứ bị thiếu → giữ nhãn "Không rõ"</a:t>
            </a:r>
          </a:p>
        </p:txBody>
      </p:sp>
      <p:sp>
        <p:nvSpPr>
          <p:cNvPr id="9" name="Rounded Rectangle 8"/>
          <p:cNvSpPr/>
          <p:nvPr/>
        </p:nvSpPr>
        <p:spPr>
          <a:xfrm>
            <a:off x="4297679" y="4389120"/>
            <a:ext cx="3474720" cy="10058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4434840"/>
            <a:ext cx="1188720" cy="914400"/>
          </a:xfrm>
          <a:prstGeom prst="rect">
            <a:avLst/>
          </a:prstGeom>
          <a:noFill/>
        </p:spPr>
        <p:txBody>
          <a:bodyPr wrap="square" lIns="45720" rIns="45720" tIns="27432" bIns="27432" anchor="ctr">
            <a:spAutoFit/>
          </a:bodyPr>
          <a:lstStyle/>
          <a:p>
            <a:pPr algn="l">
              <a:lnSpc>
                <a:spcPct val="110000"/>
              </a:lnSpc>
              <a:spcAft>
                <a:spcPts val="600"/>
              </a:spcAft>
            </a:pPr>
            <a:r>
              <a:rPr sz="2400" b="1" i="0" lang="vi-VN">
                <a:solidFill>
                  <a:srgbClr val="EB6834"/>
                </a:solidFill>
                <a:latin typeface="Arial"/>
              </a:rPr>
              <a:t>100%</a:t>
            </a:r>
          </a:p>
        </p:txBody>
      </p:sp>
      <p:sp>
        <p:nvSpPr>
          <p:cNvPr id="11" name="TextBox 10"/>
          <p:cNvSpPr txBox="1"/>
          <p:nvPr/>
        </p:nvSpPr>
        <p:spPr>
          <a:xfrm>
            <a:off x="5623559" y="4434840"/>
            <a:ext cx="2057400" cy="914400"/>
          </a:xfrm>
          <a:prstGeom prst="rect">
            <a:avLst/>
          </a:prstGeom>
          <a:noFill/>
        </p:spPr>
        <p:txBody>
          <a:bodyPr wrap="square" lIns="45720" rIns="45720" tIns="27432" bIns="27432" anchor="ctr">
            <a:spAutoFit/>
          </a:bodyPr>
          <a:lstStyle/>
          <a:p>
            <a:pPr algn="l">
              <a:lnSpc>
                <a:spcPct val="110000"/>
              </a:lnSpc>
              <a:spcAft>
                <a:spcPts val="0"/>
              </a:spcAft>
            </a:pPr>
            <a:r>
              <a:rPr sz="1300" b="0" i="0" lang="vi-VN">
                <a:solidFill>
                  <a:srgbClr val="1F2937"/>
                </a:solidFill>
                <a:latin typeface="Arial"/>
              </a:rPr>
              <a:t>xe mới thiếu số km → thiếu có cấu trúc</a:t>
            </a:r>
          </a:p>
        </p:txBody>
      </p:sp>
      <p:sp>
        <p:nvSpPr>
          <p:cNvPr id="12" name="Rounded Rectangle 11"/>
          <p:cNvSpPr/>
          <p:nvPr/>
        </p:nvSpPr>
        <p:spPr>
          <a:xfrm>
            <a:off x="8046719" y="4389120"/>
            <a:ext cx="3474720" cy="10058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83879" y="4434840"/>
            <a:ext cx="1188720" cy="914400"/>
          </a:xfrm>
          <a:prstGeom prst="rect">
            <a:avLst/>
          </a:prstGeom>
          <a:noFill/>
        </p:spPr>
        <p:txBody>
          <a:bodyPr wrap="square" lIns="45720" rIns="45720" tIns="27432" bIns="27432" anchor="ctr">
            <a:spAutoFit/>
          </a:bodyPr>
          <a:lstStyle/>
          <a:p>
            <a:pPr algn="l">
              <a:lnSpc>
                <a:spcPct val="110000"/>
              </a:lnSpc>
              <a:spcAft>
                <a:spcPts val="600"/>
              </a:spcAft>
            </a:pPr>
            <a:r>
              <a:rPr sz="2400" b="1" i="0" lang="vi-VN">
                <a:solidFill>
                  <a:srgbClr val="EB6834"/>
                </a:solidFill>
                <a:latin typeface="Arial"/>
              </a:rPr>
              <a:t>67%</a:t>
            </a:r>
          </a:p>
        </p:txBody>
      </p:sp>
      <p:sp>
        <p:nvSpPr>
          <p:cNvPr id="14" name="TextBox 13"/>
          <p:cNvSpPr txBox="1"/>
          <p:nvPr/>
        </p:nvSpPr>
        <p:spPr>
          <a:xfrm>
            <a:off x="9372599" y="4434840"/>
            <a:ext cx="2057400" cy="914400"/>
          </a:xfrm>
          <a:prstGeom prst="rect">
            <a:avLst/>
          </a:prstGeom>
          <a:noFill/>
        </p:spPr>
        <p:txBody>
          <a:bodyPr wrap="square" lIns="45720" rIns="45720" tIns="27432" bIns="27432" anchor="ctr">
            <a:spAutoFit/>
          </a:bodyPr>
          <a:lstStyle/>
          <a:p>
            <a:pPr algn="l">
              <a:lnSpc>
                <a:spcPct val="110000"/>
              </a:lnSpc>
              <a:spcAft>
                <a:spcPts val="0"/>
              </a:spcAft>
            </a:pPr>
            <a:r>
              <a:rPr sz="1300" b="0" i="0" lang="vi-VN">
                <a:solidFill>
                  <a:srgbClr val="1F2937"/>
                </a:solidFill>
                <a:latin typeface="Arial"/>
              </a:rPr>
              <a:t>số tin ở TP.HCM và Hà Nội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2 · KHÁM PHÁ DỮ LIỆU</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Tuổi xe và thương hiệu quyết định phần lớn giá</a:t>
            </a:r>
          </a:p>
        </p:txBody>
      </p:sp>
      <p:pic>
        <p:nvPicPr>
          <p:cNvPr id="4" name="Picture 3" descr="08_gia_theo_nam.png"/>
          <p:cNvPicPr>
            <a:picLocks noChangeAspect="1"/>
          </p:cNvPicPr>
          <p:nvPr/>
        </p:nvPicPr>
        <p:blipFill>
          <a:blip r:embed="rId3"/>
          <a:stretch>
            <a:fillRect/>
          </a:stretch>
        </p:blipFill>
        <p:spPr>
          <a:xfrm>
            <a:off x="457200" y="1641790"/>
            <a:ext cx="5577840" cy="2842899"/>
          </a:xfrm>
          <a:prstGeom prst="rect">
            <a:avLst/>
          </a:prstGeom>
        </p:spPr>
      </p:pic>
      <p:pic>
        <p:nvPicPr>
          <p:cNvPr id="5" name="Picture 4" descr="05_gia_theo_hang.png"/>
          <p:cNvPicPr>
            <a:picLocks noChangeAspect="1"/>
          </p:cNvPicPr>
          <p:nvPr/>
        </p:nvPicPr>
        <p:blipFill>
          <a:blip r:embed="rId4"/>
          <a:stretch>
            <a:fillRect/>
          </a:stretch>
        </p:blipFill>
        <p:spPr>
          <a:xfrm>
            <a:off x="6172200" y="1477941"/>
            <a:ext cx="5577840" cy="3170596"/>
          </a:xfrm>
          <a:prstGeom prst="rect">
            <a:avLst/>
          </a:prstGeom>
        </p:spPr>
      </p:pic>
      <p:sp>
        <p:nvSpPr>
          <p:cNvPr id="6" name="TextBox 5"/>
          <p:cNvSpPr txBox="1"/>
          <p:nvPr/>
        </p:nvSpPr>
        <p:spPr>
          <a:xfrm>
            <a:off x="548640" y="4846320"/>
            <a:ext cx="5394960" cy="36576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Xe đời 2001 trung vị khoảng 73 triệu, xe đời 2026 khoảng 624 triệu</a:t>
            </a:r>
          </a:p>
        </p:txBody>
      </p:sp>
      <p:sp>
        <p:nvSpPr>
          <p:cNvPr id="7" name="TextBox 6"/>
          <p:cNvSpPr txBox="1"/>
          <p:nvPr/>
        </p:nvSpPr>
        <p:spPr>
          <a:xfrm>
            <a:off x="6263640" y="4846320"/>
            <a:ext cx="5394960" cy="36576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BMW, Mercedes đắt và phân tán rộng; Suzuki, Chevrolet rẻ và tập trung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Chuẩn hóa giá trị giả, trích vị trí, loại tin trùng</a:t>
            </a:r>
          </a:p>
        </p:txBody>
      </p:sp>
      <p:sp>
        <p:nvSpPr>
          <p:cNvPr id="4" name="Rounded Rectangle 3"/>
          <p:cNvSpPr/>
          <p:nvPr/>
        </p:nvSpPr>
        <p:spPr>
          <a:xfrm>
            <a:off x="548640" y="1463040"/>
            <a:ext cx="3474720" cy="3931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572768"/>
            <a:ext cx="3108960" cy="411480"/>
          </a:xfrm>
          <a:prstGeom prst="rect">
            <a:avLst/>
          </a:prstGeom>
          <a:noFill/>
        </p:spPr>
        <p:txBody>
          <a:bodyPr wrap="square" lIns="45720" rIns="45720" tIns="27432" bIns="27432" anchor="t">
            <a:spAutoFit/>
          </a:bodyPr>
          <a:lstStyle/>
          <a:p>
            <a:pPr algn="l">
              <a:lnSpc>
                <a:spcPct val="110000"/>
              </a:lnSpc>
              <a:spcAft>
                <a:spcPts val="600"/>
              </a:spcAft>
            </a:pPr>
            <a:r>
              <a:rPr sz="1800" b="1" i="0" lang="vi-VN">
                <a:solidFill>
                  <a:srgbClr val="075289"/>
                </a:solidFill>
                <a:latin typeface="Arial"/>
              </a:rPr>
              <a:t>Giá trị giả</a:t>
            </a:r>
          </a:p>
        </p:txBody>
      </p:sp>
      <p:sp>
        <p:nvSpPr>
          <p:cNvPr id="6" name="TextBox 5"/>
          <p:cNvSpPr txBox="1"/>
          <p:nvPr/>
        </p:nvSpPr>
        <p:spPr>
          <a:xfrm>
            <a:off x="731520" y="2103120"/>
            <a:ext cx="3154680" cy="3200400"/>
          </a:xfrm>
          <a:prstGeom prst="rect">
            <a:avLst/>
          </a:prstGeom>
          <a:noFill/>
        </p:spPr>
        <p:txBody>
          <a:bodyPr wrap="square" lIns="45720" rIns="45720" tIns="27432" bIns="27432" anchor="t">
            <a:spAutoFit/>
          </a:bodyPr>
          <a:lstStyle/>
          <a:p>
            <a:pPr algn="l" marL="201168" indent="-201168">
              <a:lnSpc>
                <a:spcPct val="110000"/>
              </a:lnSpc>
              <a:spcAft>
                <a:spcPts val="800"/>
              </a:spcAft>
              <a:buClr>
                <a:srgbClr val="075289"/>
              </a:buClr>
              <a:buFont typeface="Arial"/>
              <a:buChar char="•"/>
            </a:pPr>
            <a:r>
              <a:rPr sz="1400" b="0" i="0" lang="vi-VN">
                <a:solidFill>
                  <a:srgbClr val="1F2937"/>
                </a:solidFill>
                <a:latin typeface="Arial"/>
              </a:rPr>
              <a:t>"N/A", "Đang cập nhật" → thiếu thật</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"Khác" ở số chỗ → thiếu; "Dòng khác" giữ làm nhãn</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"109.366" → 109366 (bỏ dấu chấm)</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"trước năm 1980" → 1979</a:t>
            </a:r>
          </a:p>
        </p:txBody>
      </p:sp>
      <p:sp>
        <p:nvSpPr>
          <p:cNvPr id="7" name="Rounded Rectangle 6"/>
          <p:cNvSpPr/>
          <p:nvPr/>
        </p:nvSpPr>
        <p:spPr>
          <a:xfrm>
            <a:off x="4297679" y="1463040"/>
            <a:ext cx="3474720" cy="3931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80559" y="1572768"/>
            <a:ext cx="3108960" cy="411480"/>
          </a:xfrm>
          <a:prstGeom prst="rect">
            <a:avLst/>
          </a:prstGeom>
          <a:noFill/>
        </p:spPr>
        <p:txBody>
          <a:bodyPr wrap="square" lIns="45720" rIns="45720" tIns="27432" bIns="27432" anchor="t">
            <a:spAutoFit/>
          </a:bodyPr>
          <a:lstStyle/>
          <a:p>
            <a:pPr algn="l">
              <a:lnSpc>
                <a:spcPct val="110000"/>
              </a:lnSpc>
              <a:spcAft>
                <a:spcPts val="600"/>
              </a:spcAft>
            </a:pPr>
            <a:r>
              <a:rPr sz="1800" b="1" i="0" lang="vi-VN">
                <a:solidFill>
                  <a:srgbClr val="075289"/>
                </a:solidFill>
                <a:latin typeface="Arial"/>
              </a:rPr>
              <a:t>Vị trí và cột thừa</a:t>
            </a:r>
          </a:p>
        </p:txBody>
      </p:sp>
      <p:sp>
        <p:nvSpPr>
          <p:cNvPr id="9" name="TextBox 8"/>
          <p:cNvSpPr txBox="1"/>
          <p:nvPr/>
        </p:nvSpPr>
        <p:spPr>
          <a:xfrm>
            <a:off x="4480559" y="2103120"/>
            <a:ext cx="3154680" cy="3200400"/>
          </a:xfrm>
          <a:prstGeom prst="rect">
            <a:avLst/>
          </a:prstGeom>
          <a:noFill/>
        </p:spPr>
        <p:txBody>
          <a:bodyPr wrap="square" lIns="45720" rIns="45720" tIns="27432" bIns="27432" anchor="t">
            <a:spAutoFit/>
          </a:bodyPr>
          <a:lstStyle/>
          <a:p>
            <a:pPr algn="l" marL="201168" indent="-201168">
              <a:lnSpc>
                <a:spcPct val="110000"/>
              </a:lnSpc>
              <a:spcAft>
                <a:spcPts val="800"/>
              </a:spcAft>
              <a:buClr>
                <a:srgbClr val="075289"/>
              </a:buClr>
              <a:buFont typeface="Arial"/>
              <a:buChar char="•"/>
            </a:pPr>
            <a:r>
              <a:rPr sz="1400" b="0" i="0" lang="vi-VN">
                <a:solidFill>
                  <a:srgbClr val="1F2937"/>
                </a:solidFill>
                <a:latin typeface="Arial"/>
              </a:rPr>
              <a:t>Trích tỉnh/thành từ URL: 63 tỉnh, 100% số tin</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Không tách quận/huyện: 453 giá trị, trung vị 4 tin/quận</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Bỏ no, url, veh_warranty_policy</a:t>
            </a:r>
          </a:p>
        </p:txBody>
      </p:sp>
      <p:sp>
        <p:nvSpPr>
          <p:cNvPr id="10" name="Rounded Rectangle 9"/>
          <p:cNvSpPr/>
          <p:nvPr/>
        </p:nvSpPr>
        <p:spPr>
          <a:xfrm>
            <a:off x="8046719" y="1463040"/>
            <a:ext cx="3474720" cy="393192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9" y="1572768"/>
            <a:ext cx="3108960" cy="411480"/>
          </a:xfrm>
          <a:prstGeom prst="rect">
            <a:avLst/>
          </a:prstGeom>
          <a:noFill/>
        </p:spPr>
        <p:txBody>
          <a:bodyPr wrap="square" lIns="45720" rIns="45720" tIns="27432" bIns="27432" anchor="t">
            <a:spAutoFit/>
          </a:bodyPr>
          <a:lstStyle/>
          <a:p>
            <a:pPr algn="l">
              <a:lnSpc>
                <a:spcPct val="110000"/>
              </a:lnSpc>
              <a:spcAft>
                <a:spcPts val="600"/>
              </a:spcAft>
            </a:pPr>
            <a:r>
              <a:rPr sz="1800" b="1" i="0" lang="vi-VN">
                <a:solidFill>
                  <a:srgbClr val="075289"/>
                </a:solidFill>
                <a:latin typeface="Arial"/>
              </a:rPr>
              <a:t>Tin trùng</a:t>
            </a:r>
          </a:p>
        </p:txBody>
      </p:sp>
      <p:sp>
        <p:nvSpPr>
          <p:cNvPr id="12" name="TextBox 11"/>
          <p:cNvSpPr txBox="1"/>
          <p:nvPr/>
        </p:nvSpPr>
        <p:spPr>
          <a:xfrm>
            <a:off x="8229599" y="2103120"/>
            <a:ext cx="3154680" cy="3200400"/>
          </a:xfrm>
          <a:prstGeom prst="rect">
            <a:avLst/>
          </a:prstGeom>
          <a:noFill/>
        </p:spPr>
        <p:txBody>
          <a:bodyPr wrap="square" lIns="45720" rIns="45720" tIns="27432" bIns="27432" anchor="t">
            <a:spAutoFit/>
          </a:bodyPr>
          <a:lstStyle/>
          <a:p>
            <a:pPr algn="l" marL="201168" indent="-201168">
              <a:lnSpc>
                <a:spcPct val="110000"/>
              </a:lnSpc>
              <a:spcAft>
                <a:spcPts val="800"/>
              </a:spcAft>
              <a:buClr>
                <a:srgbClr val="075289"/>
              </a:buClr>
              <a:buFont typeface="Arial"/>
              <a:buChar char="•"/>
            </a:pPr>
            <a:r>
              <a:rPr sz="1400" b="0" i="0" lang="vi-VN">
                <a:solidFill>
                  <a:srgbClr val="1F2937"/>
                </a:solidFill>
                <a:latin typeface="Arial"/>
              </a:rPr>
              <a:t>691 tin giống hệt mọi thuộc tính và giá (4,7%)</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331 trong số đó là xe mới của đại lý</a:t>
            </a:r>
          </a:p>
          <a:p>
            <a:pPr algn="l" marL="201168" indent="-201168">
              <a:lnSpc>
                <a:spcPct val="110000"/>
              </a:lnSpc>
              <a:spcAft>
                <a:spcPts val="800"/>
              </a:spcAft>
              <a:buClr>
                <a:srgbClr val="075289"/>
              </a:buClr>
              <a:buFont typeface="Arial"/>
              <a:buChar char="•"/>
            </a:pPr>
            <a:r>
              <a:rPr sz="1400" b="0" i="0" lang="vi-VN">
                <a:solidFill>
                  <a:srgbClr val="1F2937"/>
                </a:solidFill>
                <a:latin typeface="Arial"/>
              </a:rPr>
              <a:t>Giữ một bản → còn 14.144 tin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Phát hiện giá trị bất hợp lý bằng hiểu biết thực tế</a:t>
            </a:r>
          </a:p>
        </p:txBody>
      </p:sp>
      <p:graphicFrame>
        <p:nvGraphicFramePr>
          <p:cNvPr id="4" name="Table 3"/>
          <p:cNvGraphicFramePr>
            <a:graphicFrameLocks noGrp="1"/>
          </p:cNvGraphicFramePr>
          <p:nvPr/>
        </p:nvGraphicFramePr>
        <p:xfrm>
          <a:off x="548640" y="1463040"/>
          <a:ext cx="11064240" cy="3200400"/>
        </p:xfrm>
        <a:graphic>
          <a:graphicData uri="http://schemas.openxmlformats.org/drawingml/2006/table">
            <a:tbl>
              <a:tblPr firstRow="0" bandRow="0">
                <a:tableStyleId>{5940675A-B579-460E-94D1-54222C63F5DA}</a:tableStyleId>
              </a:tblPr>
              <a:tblGrid>
                <a:gridCol w="1463040"/>
                <a:gridCol w="4206240"/>
                <a:gridCol w="4114800"/>
                <a:gridCol w="1280160"/>
              </a:tblGrid>
              <a:tr h="457200">
                <a:tc>
                  <a:txBody>
                    <a:bodyPr wrap="square"/>
                    <a:lstStyle/>
                    <a:p>
                      <a:r>
                        <a:rPr sz="1400" b="1" i="0" lang="vi-VN">
                          <a:solidFill>
                            <a:srgbClr val="FFFFFF"/>
                          </a:solidFill>
                          <a:latin typeface="Arial"/>
                        </a:rPr>
                        <a:t>Cột</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Quy tắc</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Lý do</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Số dòng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Giá</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&lt; 20 triệu hoặc &gt; 10 tỷ → loại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gõ thiếu / thừa số 0, không biết giá đúng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64</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Giá</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dãy số liên tiếp 123.456.789 → loại</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giá giả khi không muốn công khai giá</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14</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Tình trạng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"Mới" mà hơn 3 năm tuổi → "Đã sử dụng"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ghi sai (Tucson 2011 "mới")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6 (sửa)</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Số km</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xe đã dùng &gt; 500.000 km → thiếu</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nhập thừa số 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106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Số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xe ≥ 2 năm tuổi mà &lt; 100 km → thiếu</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nhập theo đơn vị nghìn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447</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Số km</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&gt; 100.000 km/năm → thiếu</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bất khả thi với xe dân dụng</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25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5" name="Rounded Rectangle 4"/>
          <p:cNvSpPr/>
          <p:nvPr/>
        </p:nvSpPr>
        <p:spPr>
          <a:xfrm>
            <a:off x="548640" y="4846320"/>
            <a:ext cx="11064240" cy="64008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4873752"/>
            <a:ext cx="10607040" cy="594360"/>
          </a:xfrm>
          <a:prstGeom prst="rect">
            <a:avLst/>
          </a:prstGeom>
          <a:noFill/>
        </p:spPr>
        <p:txBody>
          <a:bodyPr wrap="square" lIns="45720" rIns="45720" tIns="27432" bIns="27432" anchor="ctr">
            <a:spAutoFit/>
          </a:bodyPr>
          <a:lstStyle/>
          <a:p>
            <a:pPr algn="l">
              <a:lnSpc>
                <a:spcPct val="110000"/>
              </a:lnSpc>
              <a:spcAft>
                <a:spcPts val="600"/>
              </a:spcAft>
            </a:pPr>
            <a:r>
              <a:rPr sz="1400" b="1" i="0" lang="vi-VN">
                <a:solidFill>
                  <a:srgbClr val="075289"/>
                </a:solidFill>
                <a:latin typeface="Arial"/>
              </a:rPr>
              <a:t>Giữ lại: </a:t>
            </a:r>
            <a:r>
              <a:rPr sz="1400" b="0" i="0" lang="vi-VN">
                <a:solidFill>
                  <a:srgbClr val="1F2937"/>
                </a:solidFill>
                <a:latin typeface="Arial"/>
              </a:rPr>
              <a:t>giá 399.999.999 (định giá tâm lý), 888.888.888 (số đẹp); xe sang thật dù là ngoại lệ thống kê.</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Giá trả trước / đặt cọc: nhãn sai nằm đúng ở biến cần dự đoán</a:t>
            </a:r>
          </a:p>
        </p:txBody>
      </p:sp>
      <p:sp>
        <p:nvSpPr>
          <p:cNvPr id="4" name="Rounded Rectangle 3"/>
          <p:cNvSpPr/>
          <p:nvPr/>
        </p:nvSpPr>
        <p:spPr>
          <a:xfrm>
            <a:off x="548640" y="1463040"/>
            <a:ext cx="4937760" cy="19202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572768"/>
            <a:ext cx="457200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FFD400"/>
                </a:solidFill>
                <a:latin typeface="Arial"/>
              </a:rPr>
              <a:t>Quy tắc</a:t>
            </a:r>
          </a:p>
        </p:txBody>
      </p:sp>
      <p:sp>
        <p:nvSpPr>
          <p:cNvPr id="6" name="TextBox 5"/>
          <p:cNvSpPr txBox="1"/>
          <p:nvPr/>
        </p:nvSpPr>
        <p:spPr>
          <a:xfrm>
            <a:off x="777240" y="1965960"/>
            <a:ext cx="4572000" cy="1371600"/>
          </a:xfrm>
          <a:prstGeom prst="rect">
            <a:avLst/>
          </a:prstGeom>
          <a:noFill/>
        </p:spPr>
        <p:txBody>
          <a:bodyPr wrap="square" lIns="45720" rIns="45720" tIns="27432" bIns="27432" anchor="t">
            <a:spAutoFit/>
          </a:bodyPr>
          <a:lstStyle/>
          <a:p>
            <a:pPr algn="l">
              <a:lnSpc>
                <a:spcPct val="110000"/>
              </a:lnSpc>
              <a:spcAft>
                <a:spcPts val="600"/>
              </a:spcAft>
            </a:pPr>
            <a:r>
              <a:rPr sz="1600" b="0" i="0" lang="vi-VN">
                <a:solidFill>
                  <a:srgbClr val="FFFFFF"/>
                </a:solidFill>
                <a:latin typeface="Arial"/>
              </a:rPr>
              <a:t>Loại tin có giá &lt; 30% trung vị của các xe cùng hãng, dòng, năm sản xuất (nhóm ≥ 3 xe)</a:t>
            </a:r>
          </a:p>
        </p:txBody>
      </p:sp>
      <p:sp>
        <p:nvSpPr>
          <p:cNvPr id="7" name="Rounded Rectangle 6"/>
          <p:cNvSpPr/>
          <p:nvPr/>
        </p:nvSpPr>
        <p:spPr>
          <a:xfrm>
            <a:off x="548640" y="3566160"/>
            <a:ext cx="4937760" cy="18288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3657600"/>
            <a:ext cx="4572000" cy="548640"/>
          </a:xfrm>
          <a:prstGeom prst="rect">
            <a:avLst/>
          </a:prstGeom>
          <a:noFill/>
        </p:spPr>
        <p:txBody>
          <a:bodyPr wrap="square" lIns="45720" rIns="45720" tIns="27432" bIns="27432" anchor="t">
            <a:spAutoFit/>
          </a:bodyPr>
          <a:lstStyle/>
          <a:p>
            <a:pPr algn="l">
              <a:lnSpc>
                <a:spcPct val="110000"/>
              </a:lnSpc>
              <a:spcAft>
                <a:spcPts val="600"/>
              </a:spcAft>
            </a:pPr>
            <a:r>
              <a:rPr sz="3000" b="1" i="0" lang="vi-VN">
                <a:solidFill>
                  <a:srgbClr val="EB6834"/>
                </a:solidFill>
                <a:latin typeface="Arial"/>
              </a:rPr>
              <a:t>129 tin</a:t>
            </a:r>
          </a:p>
        </p:txBody>
      </p:sp>
      <p:sp>
        <p:nvSpPr>
          <p:cNvPr id="9" name="TextBox 8"/>
          <p:cNvSpPr txBox="1"/>
          <p:nvPr/>
        </p:nvSpPr>
        <p:spPr>
          <a:xfrm>
            <a:off x="777240" y="4297680"/>
            <a:ext cx="4572000" cy="1097280"/>
          </a:xfrm>
          <a:prstGeom prst="rect">
            <a:avLst/>
          </a:prstGeom>
          <a:noFill/>
        </p:spPr>
        <p:txBody>
          <a:bodyPr wrap="square" lIns="45720" rIns="45720" tIns="27432" bIns="27432" anchor="t">
            <a:spAutoFit/>
          </a:bodyPr>
          <a:lstStyle/>
          <a:p>
            <a:pPr algn="l" marL="201168" indent="-201168">
              <a:lnSpc>
                <a:spcPct val="110000"/>
              </a:lnSpc>
              <a:spcAft>
                <a:spcPts val="600"/>
              </a:spcAft>
              <a:buClr>
                <a:srgbClr val="075289"/>
              </a:buClr>
              <a:buFont typeface="Arial"/>
              <a:buChar char="•"/>
            </a:pPr>
            <a:r>
              <a:rPr sz="1400" b="0" i="0" lang="vi-VN">
                <a:solidFill>
                  <a:srgbClr val="1F2937"/>
                </a:solidFill>
                <a:latin typeface="Arial"/>
              </a:rPr>
              <a:t>bị loại, 94% có giá dưới 200 triệu</a:t>
            </a:r>
          </a:p>
          <a:p>
            <a:pPr algn="l" marL="201168" indent="-201168">
              <a:lnSpc>
                <a:spcPct val="110000"/>
              </a:lnSpc>
              <a:spcAft>
                <a:spcPts val="600"/>
              </a:spcAft>
              <a:buClr>
                <a:srgbClr val="075289"/>
              </a:buClr>
              <a:buFont typeface="Arial"/>
              <a:buChar char="•"/>
            </a:pPr>
            <a:r>
              <a:rPr sz="1400" b="0" i="0" lang="vi-VN">
                <a:solidFill>
                  <a:srgbClr val="1F2937"/>
                </a:solidFill>
                <a:latin typeface="Arial"/>
              </a:rPr>
              <a:t>Đây là sửa nhãn sai, không tạo đặc trưng từ giá</a:t>
            </a:r>
          </a:p>
        </p:txBody>
      </p:sp>
      <p:sp>
        <p:nvSpPr>
          <p:cNvPr id="10" name="TextBox 9"/>
          <p:cNvSpPr txBox="1"/>
          <p:nvPr/>
        </p:nvSpPr>
        <p:spPr>
          <a:xfrm>
            <a:off x="5760720" y="1463040"/>
            <a:ext cx="585216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Ví dụ tin bị loại (triệu đồng)</a:t>
            </a:r>
          </a:p>
        </p:txBody>
      </p:sp>
      <p:graphicFrame>
        <p:nvGraphicFramePr>
          <p:cNvPr id="11" name="Table 10"/>
          <p:cNvGraphicFramePr>
            <a:graphicFrameLocks noGrp="1"/>
          </p:cNvGraphicFramePr>
          <p:nvPr/>
        </p:nvGraphicFramePr>
        <p:xfrm>
          <a:off x="5760720" y="1920240"/>
          <a:ext cx="5852160" cy="2743200"/>
        </p:xfrm>
        <a:graphic>
          <a:graphicData uri="http://schemas.openxmlformats.org/drawingml/2006/table">
            <a:tbl>
              <a:tblPr firstRow="0" bandRow="0">
                <a:tableStyleId>{5940675A-B579-460E-94D1-54222C63F5DA}</a:tableStyleId>
              </a:tblPr>
              <a:tblGrid>
                <a:gridCol w="2011680"/>
                <a:gridCol w="731520"/>
                <a:gridCol w="1280160"/>
                <a:gridCol w="822960"/>
                <a:gridCol w="1005840"/>
              </a:tblGrid>
              <a:tr h="457200">
                <a:tc>
                  <a:txBody>
                    <a:bodyPr wrap="square"/>
                    <a:lstStyle/>
                    <a:p>
                      <a:r>
                        <a:rPr sz="1300" b="1" i="0" lang="vi-VN">
                          <a:solidFill>
                            <a:srgbClr val="FFFFFF"/>
                          </a:solidFill>
                          <a:latin typeface="Arial"/>
                        </a:rPr>
                        <a:t>Xe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Năm</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Tình trạng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Giá rao</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Trung vị nhóm</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Toyota Camry</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2026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sử dụng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300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1.400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Ford Everest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2026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sử dụng</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320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1.325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Toyota Fortuner</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2026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Mới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125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1.249</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Hyundai Santa Fe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2025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Mới</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220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959</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Mercedes E Class</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2019</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sử dụng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156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889</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12" name="TextBox 11"/>
          <p:cNvSpPr txBox="1"/>
          <p:nvPr/>
        </p:nvSpPr>
        <p:spPr>
          <a:xfrm>
            <a:off x="5760720" y="4800600"/>
            <a:ext cx="585216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5B6775"/>
                </a:solidFill>
                <a:latin typeface="Arial"/>
              </a:rPr>
              <a:t>Fortuner 2026 "mới" rao 125 triệu trong khi xe cùng đời khoảng 1,25 tỷ: đây là tiền trả trước.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Hiểu vì sao thiếu trước khi điền</a:t>
            </a:r>
          </a:p>
        </p:txBody>
      </p:sp>
      <p:pic>
        <p:nvPicPr>
          <p:cNvPr id="4" name="Picture 3" descr="p02_thieu_va_cach_xu_ly.png"/>
          <p:cNvPicPr>
            <a:picLocks noChangeAspect="1"/>
          </p:cNvPicPr>
          <p:nvPr/>
        </p:nvPicPr>
        <p:blipFill>
          <a:blip r:embed="rId3"/>
          <a:stretch>
            <a:fillRect/>
          </a:stretch>
        </p:blipFill>
        <p:spPr>
          <a:xfrm>
            <a:off x="1697415" y="1371600"/>
            <a:ext cx="8766689" cy="3017520"/>
          </a:xfrm>
          <a:prstGeom prst="rect">
            <a:avLst/>
          </a:prstGeom>
        </p:spPr>
      </p:pic>
      <p:sp>
        <p:nvSpPr>
          <p:cNvPr id="5" name="Rounded Rectangle 4"/>
          <p:cNvSpPr/>
          <p:nvPr/>
        </p:nvSpPr>
        <p:spPr>
          <a:xfrm>
            <a:off x="548640" y="4526280"/>
            <a:ext cx="3474720" cy="105156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59943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Thiếu có cấu trúc</a:t>
            </a:r>
          </a:p>
        </p:txBody>
      </p:sp>
      <p:sp>
        <p:nvSpPr>
          <p:cNvPr id="7" name="TextBox 6"/>
          <p:cNvSpPr txBox="1"/>
          <p:nvPr/>
        </p:nvSpPr>
        <p:spPr>
          <a:xfrm>
            <a:off x="731520" y="4983480"/>
            <a:ext cx="3108960" cy="54863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Xe mới không có ô km → điền 0, không điền trung vị</a:t>
            </a:r>
          </a:p>
        </p:txBody>
      </p:sp>
      <p:sp>
        <p:nvSpPr>
          <p:cNvPr id="8" name="Rounded Rectangle 7"/>
          <p:cNvSpPr/>
          <p:nvPr/>
        </p:nvSpPr>
        <p:spPr>
          <a:xfrm>
            <a:off x="4297679" y="4526280"/>
            <a:ext cx="3474720" cy="105156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59" y="459943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Cờ mileage_missing</a:t>
            </a:r>
          </a:p>
        </p:txBody>
      </p:sp>
      <p:sp>
        <p:nvSpPr>
          <p:cNvPr id="10" name="TextBox 9"/>
          <p:cNvSpPr txBox="1"/>
          <p:nvPr/>
        </p:nvSpPr>
        <p:spPr>
          <a:xfrm>
            <a:off x="4480559" y="4983480"/>
            <a:ext cx="3108960" cy="54863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814 xe cũ được điền km → đánh dấu để mô hình biết đó là ước lượng</a:t>
            </a:r>
          </a:p>
        </p:txBody>
      </p:sp>
      <p:sp>
        <p:nvSpPr>
          <p:cNvPr id="11" name="Rounded Rectangle 10"/>
          <p:cNvSpPr/>
          <p:nvPr/>
        </p:nvSpPr>
        <p:spPr>
          <a:xfrm>
            <a:off x="8046719" y="4526280"/>
            <a:ext cx="3474720" cy="105156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9" y="459943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Không đoán bừa</a:t>
            </a:r>
          </a:p>
        </p:txBody>
      </p:sp>
      <p:sp>
        <p:nvSpPr>
          <p:cNvPr id="13" name="TextBox 12"/>
          <p:cNvSpPr txBox="1"/>
          <p:nvPr/>
        </p:nvSpPr>
        <p:spPr>
          <a:xfrm>
            <a:off x="8229599" y="4983480"/>
            <a:ext cx="3108960" cy="54863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Kiểu dáng không suy ra được → "Không rõ", không lùi về hãng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Học trên log(giá) và gộp nhãn hiếm theo cấp</a:t>
            </a:r>
          </a:p>
        </p:txBody>
      </p:sp>
      <p:pic>
        <p:nvPicPr>
          <p:cNvPr id="4" name="Picture 3" descr="p03_gia_va_log_gia.png"/>
          <p:cNvPicPr>
            <a:picLocks noChangeAspect="1"/>
          </p:cNvPicPr>
          <p:nvPr/>
        </p:nvPicPr>
        <p:blipFill>
          <a:blip r:embed="rId3"/>
          <a:stretch>
            <a:fillRect/>
          </a:stretch>
        </p:blipFill>
        <p:spPr>
          <a:xfrm>
            <a:off x="2052517" y="1325880"/>
            <a:ext cx="8056485" cy="2514600"/>
          </a:xfrm>
          <a:prstGeom prst="rect">
            <a:avLst/>
          </a:prstGeom>
        </p:spPr>
      </p:pic>
      <p:sp>
        <p:nvSpPr>
          <p:cNvPr id="5" name="Rounded Rectangle 4"/>
          <p:cNvSpPr/>
          <p:nvPr/>
        </p:nvSpPr>
        <p:spPr>
          <a:xfrm>
            <a:off x="548640" y="3977639"/>
            <a:ext cx="2331720" cy="14630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58368" y="4087368"/>
            <a:ext cx="411480" cy="4114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lang="vi-VN">
                <a:solidFill>
                  <a:srgbClr val="FFFFFF"/>
                </a:solidFill>
                <a:latin typeface="Arial"/>
              </a:rPr>
              <a:t>1</a:t>
            </a:r>
          </a:p>
        </p:txBody>
      </p:sp>
      <p:sp>
        <p:nvSpPr>
          <p:cNvPr id="7" name="TextBox 6"/>
          <p:cNvSpPr txBox="1"/>
          <p:nvPr/>
        </p:nvSpPr>
        <p:spPr>
          <a:xfrm>
            <a:off x="1143000" y="4069080"/>
            <a:ext cx="1691640" cy="457200"/>
          </a:xfrm>
          <a:prstGeom prst="rect">
            <a:avLst/>
          </a:prstGeom>
          <a:noFill/>
        </p:spPr>
        <p:txBody>
          <a:bodyPr wrap="square" lIns="45720" rIns="45720" tIns="27432" bIns="27432" anchor="t">
            <a:spAutoFit/>
          </a:bodyPr>
          <a:lstStyle/>
          <a:p>
            <a:pPr algn="l">
              <a:lnSpc>
                <a:spcPct val="110000"/>
              </a:lnSpc>
              <a:spcAft>
                <a:spcPts val="600"/>
              </a:spcAft>
            </a:pPr>
            <a:r>
              <a:rPr sz="1300" b="1" i="0" lang="vi-VN">
                <a:solidFill>
                  <a:srgbClr val="075289"/>
                </a:solidFill>
                <a:latin typeface="Arial"/>
              </a:rPr>
              <a:t>Dòng xe ≥ 10 tin</a:t>
            </a:r>
          </a:p>
        </p:txBody>
      </p:sp>
      <p:sp>
        <p:nvSpPr>
          <p:cNvPr id="8" name="TextBox 7"/>
          <p:cNvSpPr txBox="1"/>
          <p:nvPr/>
        </p:nvSpPr>
        <p:spPr>
          <a:xfrm>
            <a:off x="685800" y="4572000"/>
            <a:ext cx="2103120" cy="822960"/>
          </a:xfrm>
          <a:prstGeom prst="rect">
            <a:avLst/>
          </a:prstGeom>
          <a:noFill/>
        </p:spPr>
        <p:txBody>
          <a:bodyPr wrap="square" lIns="45720" rIns="45720" tIns="27432" bIns="27432" anchor="t">
            <a:spAutoFit/>
          </a:bodyPr>
          <a:lstStyle/>
          <a:p>
            <a:pPr algn="l">
              <a:lnSpc>
                <a:spcPct val="110000"/>
              </a:lnSpc>
              <a:spcAft>
                <a:spcPts val="600"/>
              </a:spcAft>
            </a:pPr>
            <a:r>
              <a:rPr sz="1200" b="0" i="0" lang="vi-VN">
                <a:solidFill>
                  <a:srgbClr val="1F2937"/>
                </a:solidFill>
                <a:latin typeface="Arial"/>
              </a:rPr>
              <a:t>giữ nguyên: Toyota Vios</a:t>
            </a:r>
          </a:p>
        </p:txBody>
      </p:sp>
      <p:sp>
        <p:nvSpPr>
          <p:cNvPr id="9" name="Rounded Rectangle 8"/>
          <p:cNvSpPr/>
          <p:nvPr/>
        </p:nvSpPr>
        <p:spPr>
          <a:xfrm>
            <a:off x="3063240" y="3977639"/>
            <a:ext cx="2331720" cy="14630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172968" y="4087368"/>
            <a:ext cx="411480" cy="4114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lang="vi-VN">
                <a:solidFill>
                  <a:srgbClr val="FFFFFF"/>
                </a:solidFill>
                <a:latin typeface="Arial"/>
              </a:rPr>
              <a:t>2</a:t>
            </a:r>
          </a:p>
        </p:txBody>
      </p:sp>
      <p:sp>
        <p:nvSpPr>
          <p:cNvPr id="11" name="TextBox 10"/>
          <p:cNvSpPr txBox="1"/>
          <p:nvPr/>
        </p:nvSpPr>
        <p:spPr>
          <a:xfrm>
            <a:off x="3657600" y="4069080"/>
            <a:ext cx="1691640" cy="457200"/>
          </a:xfrm>
          <a:prstGeom prst="rect">
            <a:avLst/>
          </a:prstGeom>
          <a:noFill/>
        </p:spPr>
        <p:txBody>
          <a:bodyPr wrap="square" lIns="45720" rIns="45720" tIns="27432" bIns="27432" anchor="t">
            <a:spAutoFit/>
          </a:bodyPr>
          <a:lstStyle/>
          <a:p>
            <a:pPr algn="l">
              <a:lnSpc>
                <a:spcPct val="110000"/>
              </a:lnSpc>
              <a:spcAft>
                <a:spcPts val="600"/>
              </a:spcAft>
            </a:pPr>
            <a:r>
              <a:rPr sz="1300" b="1" i="0" lang="vi-VN">
                <a:solidFill>
                  <a:srgbClr val="075289"/>
                </a:solidFill>
                <a:latin typeface="Arial"/>
              </a:rPr>
              <a:t>Dòng xe hiếm</a:t>
            </a:r>
          </a:p>
        </p:txBody>
      </p:sp>
      <p:sp>
        <p:nvSpPr>
          <p:cNvPr id="12" name="TextBox 11"/>
          <p:cNvSpPr txBox="1"/>
          <p:nvPr/>
        </p:nvSpPr>
        <p:spPr>
          <a:xfrm>
            <a:off x="3200400" y="4572000"/>
            <a:ext cx="2103120" cy="822960"/>
          </a:xfrm>
          <a:prstGeom prst="rect">
            <a:avLst/>
          </a:prstGeom>
          <a:noFill/>
        </p:spPr>
        <p:txBody>
          <a:bodyPr wrap="square" lIns="45720" rIns="45720" tIns="27432" bIns="27432" anchor="t">
            <a:spAutoFit/>
          </a:bodyPr>
          <a:lstStyle/>
          <a:p>
            <a:pPr algn="l">
              <a:lnSpc>
                <a:spcPct val="110000"/>
              </a:lnSpc>
              <a:spcAft>
                <a:spcPts val="600"/>
              </a:spcAft>
            </a:pPr>
            <a:r>
              <a:rPr sz="1200" b="0" i="0" lang="vi-VN">
                <a:solidFill>
                  <a:srgbClr val="1F2937"/>
                </a:solidFill>
                <a:latin typeface="Arial"/>
              </a:rPr>
              <a:t>→ "Mercedes Benz - dòng khác"</a:t>
            </a:r>
          </a:p>
        </p:txBody>
      </p:sp>
      <p:sp>
        <p:nvSpPr>
          <p:cNvPr id="13" name="Rounded Rectangle 12"/>
          <p:cNvSpPr/>
          <p:nvPr/>
        </p:nvSpPr>
        <p:spPr>
          <a:xfrm>
            <a:off x="5577840" y="3977639"/>
            <a:ext cx="2331720" cy="14630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687568" y="4087368"/>
            <a:ext cx="411480" cy="41148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lang="vi-VN">
                <a:solidFill>
                  <a:srgbClr val="FFFFFF"/>
                </a:solidFill>
                <a:latin typeface="Arial"/>
              </a:rPr>
              <a:t>3</a:t>
            </a:r>
          </a:p>
        </p:txBody>
      </p:sp>
      <p:sp>
        <p:nvSpPr>
          <p:cNvPr id="15" name="TextBox 14"/>
          <p:cNvSpPr txBox="1"/>
          <p:nvPr/>
        </p:nvSpPr>
        <p:spPr>
          <a:xfrm>
            <a:off x="6172200" y="4069080"/>
            <a:ext cx="1691640" cy="457200"/>
          </a:xfrm>
          <a:prstGeom prst="rect">
            <a:avLst/>
          </a:prstGeom>
          <a:noFill/>
        </p:spPr>
        <p:txBody>
          <a:bodyPr wrap="square" lIns="45720" rIns="45720" tIns="27432" bIns="27432" anchor="t">
            <a:spAutoFit/>
          </a:bodyPr>
          <a:lstStyle/>
          <a:p>
            <a:pPr algn="l">
              <a:lnSpc>
                <a:spcPct val="110000"/>
              </a:lnSpc>
              <a:spcAft>
                <a:spcPts val="600"/>
              </a:spcAft>
            </a:pPr>
            <a:r>
              <a:rPr sz="1300" b="1" i="0" lang="vi-VN">
                <a:solidFill>
                  <a:srgbClr val="075289"/>
                </a:solidFill>
                <a:latin typeface="Arial"/>
              </a:rPr>
              <a:t>Hãng &lt; 30 tin</a:t>
            </a:r>
          </a:p>
        </p:txBody>
      </p:sp>
      <p:sp>
        <p:nvSpPr>
          <p:cNvPr id="16" name="TextBox 15"/>
          <p:cNvSpPr txBox="1"/>
          <p:nvPr/>
        </p:nvSpPr>
        <p:spPr>
          <a:xfrm>
            <a:off x="5715000" y="4572000"/>
            <a:ext cx="2103120" cy="822960"/>
          </a:xfrm>
          <a:prstGeom prst="rect">
            <a:avLst/>
          </a:prstGeom>
          <a:noFill/>
        </p:spPr>
        <p:txBody>
          <a:bodyPr wrap="square" lIns="45720" rIns="45720" tIns="27432" bIns="27432" anchor="t">
            <a:spAutoFit/>
          </a:bodyPr>
          <a:lstStyle/>
          <a:p>
            <a:pPr algn="l">
              <a:lnSpc>
                <a:spcPct val="110000"/>
              </a:lnSpc>
              <a:spcAft>
                <a:spcPts val="600"/>
              </a:spcAft>
            </a:pPr>
            <a:r>
              <a:rPr sz="1200" b="0" i="0" lang="vi-VN">
                <a:solidFill>
                  <a:srgbClr val="1F2937"/>
                </a:solidFill>
                <a:latin typeface="Arial"/>
              </a:rPr>
              <a:t>→ "Hãng cao cấp khác" (Bentley) / "phổ thông khác" (Wuling)</a:t>
            </a:r>
          </a:p>
        </p:txBody>
      </p:sp>
      <p:sp>
        <p:nvSpPr>
          <p:cNvPr id="17" name="Rounded Rectangle 16"/>
          <p:cNvSpPr/>
          <p:nvPr/>
        </p:nvSpPr>
        <p:spPr>
          <a:xfrm>
            <a:off x="8183879" y="3977639"/>
            <a:ext cx="3429000" cy="14630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66759" y="4050791"/>
            <a:ext cx="306324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FFD400"/>
                </a:solidFill>
                <a:latin typeface="Arial"/>
              </a:rPr>
              <a:t>69 hãng → 28;  509 dòng → 214</a:t>
            </a:r>
          </a:p>
        </p:txBody>
      </p:sp>
      <p:sp>
        <p:nvSpPr>
          <p:cNvPr id="19" name="TextBox 18"/>
          <p:cNvSpPr txBox="1"/>
          <p:nvPr/>
        </p:nvSpPr>
        <p:spPr>
          <a:xfrm>
            <a:off x="8366759" y="4434840"/>
            <a:ext cx="3063240" cy="960120"/>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FFFFFF"/>
                </a:solidFill>
                <a:latin typeface="Arial"/>
              </a:rPr>
              <a:t>CV trên train: Ridge 21,9% → 18,9%; RF 16,3% → 16,1%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3 · TIỀN XỬ LÝ</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Mất cân bằng theo phân khúc giá; còn 13.937 tin sạch</a:t>
            </a:r>
          </a:p>
        </p:txBody>
      </p:sp>
      <p:pic>
        <p:nvPicPr>
          <p:cNvPr id="4" name="Picture 3" descr="p04_phan_khuc_gia.png"/>
          <p:cNvPicPr>
            <a:picLocks noChangeAspect="1"/>
          </p:cNvPicPr>
          <p:nvPr/>
        </p:nvPicPr>
        <p:blipFill>
          <a:blip r:embed="rId3"/>
          <a:stretch>
            <a:fillRect/>
          </a:stretch>
        </p:blipFill>
        <p:spPr>
          <a:xfrm>
            <a:off x="457200" y="1426943"/>
            <a:ext cx="5394960" cy="2541073"/>
          </a:xfrm>
          <a:prstGeom prst="rect">
            <a:avLst/>
          </a:prstGeom>
        </p:spPr>
      </p:pic>
      <p:pic>
        <p:nvPicPr>
          <p:cNvPr id="5" name="Picture 4" descr="p01_pheu_lam_sach.png"/>
          <p:cNvPicPr>
            <a:picLocks noChangeAspect="1"/>
          </p:cNvPicPr>
          <p:nvPr/>
        </p:nvPicPr>
        <p:blipFill>
          <a:blip r:embed="rId4"/>
          <a:stretch>
            <a:fillRect/>
          </a:stretch>
        </p:blipFill>
        <p:spPr>
          <a:xfrm>
            <a:off x="5943600" y="1693571"/>
            <a:ext cx="5760720" cy="2007816"/>
          </a:xfrm>
          <a:prstGeom prst="rect">
            <a:avLst/>
          </a:prstGeom>
        </p:spPr>
      </p:pic>
      <p:sp>
        <p:nvSpPr>
          <p:cNvPr id="6" name="Rounded Rectangle 5"/>
          <p:cNvSpPr/>
          <p:nvPr/>
        </p:nvSpPr>
        <p:spPr>
          <a:xfrm>
            <a:off x="548640" y="4206240"/>
            <a:ext cx="53035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279392"/>
            <a:ext cx="4937759"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Xử lý mất cân bằng</a:t>
            </a:r>
          </a:p>
        </p:txBody>
      </p:sp>
      <p:sp>
        <p:nvSpPr>
          <p:cNvPr id="8" name="TextBox 7"/>
          <p:cNvSpPr txBox="1"/>
          <p:nvPr/>
        </p:nvSpPr>
        <p:spPr>
          <a:xfrm>
            <a:off x="731520" y="4663440"/>
            <a:ext cx="4937759" cy="82295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Chia train/test phân tầng theo phân khúc; học trên log giá; báo MAPE theo phân khúc; thử trọng số mẫu / oversampling / undersampling (phần 5)</a:t>
            </a:r>
          </a:p>
        </p:txBody>
      </p:sp>
      <p:sp>
        <p:nvSpPr>
          <p:cNvPr id="9" name="Rounded Rectangle 8"/>
          <p:cNvSpPr/>
          <p:nvPr/>
        </p:nvSpPr>
        <p:spPr>
          <a:xfrm>
            <a:off x="6035040" y="4206240"/>
            <a:ext cx="5577840" cy="132588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4279392"/>
            <a:ext cx="5212079"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FFD400"/>
                </a:solidFill>
                <a:latin typeface="Arial"/>
              </a:rPr>
              <a:t>File sạch chỉ chứa dữ liệu thật</a:t>
            </a:r>
          </a:p>
        </p:txBody>
      </p:sp>
      <p:sp>
        <p:nvSpPr>
          <p:cNvPr id="11" name="TextBox 10"/>
          <p:cNvSpPr txBox="1"/>
          <p:nvPr/>
        </p:nvSpPr>
        <p:spPr>
          <a:xfrm>
            <a:off x="6217920" y="4663440"/>
            <a:ext cx="5212079" cy="82295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FFFFFF"/>
                </a:solidFill>
                <a:latin typeface="Arial"/>
              </a:rPr>
              <a:t>Không ghi mẫu nhân bản vào file: nếu không, bản sao của cùng một xe có thể nằm ở cả train lẫn test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THIẾT KẾ THÍ NGHIỆM</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Chia dữ liệu và chọn tham số không dùng tập test</a:t>
            </a:r>
          </a:p>
        </p:txBody>
      </p:sp>
      <p:pic>
        <p:nvPicPr>
          <p:cNvPr id="4" name="Picture 3" descr="m01_chia_train_test.png"/>
          <p:cNvPicPr>
            <a:picLocks noChangeAspect="1"/>
          </p:cNvPicPr>
          <p:nvPr/>
        </p:nvPicPr>
        <p:blipFill>
          <a:blip r:embed="rId3"/>
          <a:stretch>
            <a:fillRect/>
          </a:stretch>
        </p:blipFill>
        <p:spPr>
          <a:xfrm>
            <a:off x="457200" y="1466625"/>
            <a:ext cx="6309359" cy="3010348"/>
          </a:xfrm>
          <a:prstGeom prst="rect">
            <a:avLst/>
          </a:prstGeom>
        </p:spPr>
      </p:pic>
      <p:sp>
        <p:nvSpPr>
          <p:cNvPr id="5" name="TextBox 4"/>
          <p:cNvSpPr txBox="1"/>
          <p:nvPr/>
        </p:nvSpPr>
        <p:spPr>
          <a:xfrm>
            <a:off x="548640" y="4663440"/>
            <a:ext cx="6126480" cy="36576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5B6775"/>
                </a:solidFill>
                <a:latin typeface="Arial"/>
              </a:rPr>
              <a:t>Mỗi phân khúc giá có cùng tỉ lệ ở train (11.149 tin) và test (2.788 tin)</a:t>
            </a:r>
          </a:p>
        </p:txBody>
      </p:sp>
      <p:sp>
        <p:nvSpPr>
          <p:cNvPr id="6" name="Oval 5"/>
          <p:cNvSpPr/>
          <p:nvPr/>
        </p:nvSpPr>
        <p:spPr>
          <a:xfrm>
            <a:off x="7132320" y="1508760"/>
            <a:ext cx="548640" cy="54864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lang="vi-VN">
                <a:solidFill>
                  <a:srgbClr val="FFFFFF"/>
                </a:solidFill>
                <a:latin typeface="Arial"/>
              </a:rPr>
              <a:t>1</a:t>
            </a:r>
          </a:p>
        </p:txBody>
      </p:sp>
      <p:sp>
        <p:nvSpPr>
          <p:cNvPr id="7" name="TextBox 6"/>
          <p:cNvSpPr txBox="1"/>
          <p:nvPr/>
        </p:nvSpPr>
        <p:spPr>
          <a:xfrm>
            <a:off x="7863840" y="1463039"/>
            <a:ext cx="3749039" cy="365760"/>
          </a:xfrm>
          <a:prstGeom prst="rect">
            <a:avLst/>
          </a:prstGeom>
          <a:noFill/>
        </p:spPr>
        <p:txBody>
          <a:bodyPr wrap="square" lIns="45720" rIns="45720" tIns="27432" bIns="27432" anchor="t">
            <a:spAutoFit/>
          </a:bodyPr>
          <a:lstStyle/>
          <a:p>
            <a:pPr algn="l">
              <a:lnSpc>
                <a:spcPct val="110000"/>
              </a:lnSpc>
              <a:spcAft>
                <a:spcPts val="600"/>
              </a:spcAft>
            </a:pPr>
            <a:r>
              <a:rPr sz="1700" b="1" i="0" lang="vi-VN">
                <a:solidFill>
                  <a:srgbClr val="075289"/>
                </a:solidFill>
                <a:latin typeface="Arial"/>
              </a:rPr>
              <a:t>Train 80%</a:t>
            </a:r>
          </a:p>
        </p:txBody>
      </p:sp>
      <p:sp>
        <p:nvSpPr>
          <p:cNvPr id="8" name="TextBox 7"/>
          <p:cNvSpPr txBox="1"/>
          <p:nvPr/>
        </p:nvSpPr>
        <p:spPr>
          <a:xfrm>
            <a:off x="7863840" y="1856231"/>
            <a:ext cx="3749039" cy="86868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1F2937"/>
                </a:solidFill>
                <a:latin typeface="Arial"/>
              </a:rPr>
              <a:t>chọn cách mã hóa, tham số, log giá, kỹ thuật cân bằng bằng CV (thư viện) hoặc OOB (tự cài đặt)</a:t>
            </a:r>
          </a:p>
        </p:txBody>
      </p:sp>
      <p:sp>
        <p:nvSpPr>
          <p:cNvPr id="9" name="Oval 8"/>
          <p:cNvSpPr/>
          <p:nvPr/>
        </p:nvSpPr>
        <p:spPr>
          <a:xfrm>
            <a:off x="7132320" y="283463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lang="vi-VN">
                <a:solidFill>
                  <a:srgbClr val="FFFFFF"/>
                </a:solidFill>
                <a:latin typeface="Arial"/>
              </a:rPr>
              <a:t>2</a:t>
            </a:r>
          </a:p>
        </p:txBody>
      </p:sp>
      <p:sp>
        <p:nvSpPr>
          <p:cNvPr id="10" name="TextBox 9"/>
          <p:cNvSpPr txBox="1"/>
          <p:nvPr/>
        </p:nvSpPr>
        <p:spPr>
          <a:xfrm>
            <a:off x="7863840" y="2788920"/>
            <a:ext cx="3749039" cy="365760"/>
          </a:xfrm>
          <a:prstGeom prst="rect">
            <a:avLst/>
          </a:prstGeom>
          <a:noFill/>
        </p:spPr>
        <p:txBody>
          <a:bodyPr wrap="square" lIns="45720" rIns="45720" tIns="27432" bIns="27432" anchor="t">
            <a:spAutoFit/>
          </a:bodyPr>
          <a:lstStyle/>
          <a:p>
            <a:pPr algn="l">
              <a:lnSpc>
                <a:spcPct val="110000"/>
              </a:lnSpc>
              <a:spcAft>
                <a:spcPts val="600"/>
              </a:spcAft>
            </a:pPr>
            <a:r>
              <a:rPr sz="1700" b="1" i="0" lang="vi-VN">
                <a:solidFill>
                  <a:srgbClr val="075289"/>
                </a:solidFill>
                <a:latin typeface="Arial"/>
              </a:rPr>
              <a:t>Test 20%</a:t>
            </a:r>
          </a:p>
        </p:txBody>
      </p:sp>
      <p:sp>
        <p:nvSpPr>
          <p:cNvPr id="11" name="TextBox 10"/>
          <p:cNvSpPr txBox="1"/>
          <p:nvPr/>
        </p:nvSpPr>
        <p:spPr>
          <a:xfrm>
            <a:off x="7863840" y="3182111"/>
            <a:ext cx="3749039" cy="86868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1F2937"/>
                </a:solidFill>
                <a:latin typeface="Arial"/>
              </a:rPr>
              <a:t>dùng đúng một lần để báo cáo kết quả cuối</a:t>
            </a:r>
          </a:p>
        </p:txBody>
      </p:sp>
      <p:sp>
        <p:nvSpPr>
          <p:cNvPr id="12" name="Oval 11"/>
          <p:cNvSpPr/>
          <p:nvPr/>
        </p:nvSpPr>
        <p:spPr>
          <a:xfrm>
            <a:off x="7132320" y="4160520"/>
            <a:ext cx="548640" cy="54864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lang="vi-VN">
                <a:solidFill>
                  <a:srgbClr val="FFFFFF"/>
                </a:solidFill>
                <a:latin typeface="Arial"/>
              </a:rPr>
              <a:t>3</a:t>
            </a:r>
          </a:p>
        </p:txBody>
      </p:sp>
      <p:sp>
        <p:nvSpPr>
          <p:cNvPr id="13" name="TextBox 12"/>
          <p:cNvSpPr txBox="1"/>
          <p:nvPr/>
        </p:nvSpPr>
        <p:spPr>
          <a:xfrm>
            <a:off x="7863840" y="4114800"/>
            <a:ext cx="3749039" cy="365760"/>
          </a:xfrm>
          <a:prstGeom prst="rect">
            <a:avLst/>
          </a:prstGeom>
          <a:noFill/>
        </p:spPr>
        <p:txBody>
          <a:bodyPr wrap="square" lIns="45720" rIns="45720" tIns="27432" bIns="27432" anchor="t">
            <a:spAutoFit/>
          </a:bodyPr>
          <a:lstStyle/>
          <a:p>
            <a:pPr algn="l">
              <a:lnSpc>
                <a:spcPct val="110000"/>
              </a:lnSpc>
              <a:spcAft>
                <a:spcPts val="600"/>
              </a:spcAft>
            </a:pPr>
            <a:r>
              <a:rPr sz="1700" b="1" i="0" lang="vi-VN">
                <a:solidFill>
                  <a:srgbClr val="075289"/>
                </a:solidFill>
                <a:latin typeface="Arial"/>
              </a:rPr>
              <a:t>Hai bản Random Forest</a:t>
            </a:r>
          </a:p>
        </p:txBody>
      </p:sp>
      <p:sp>
        <p:nvSpPr>
          <p:cNvPr id="14" name="TextBox 13"/>
          <p:cNvSpPr txBox="1"/>
          <p:nvPr/>
        </p:nvSpPr>
        <p:spPr>
          <a:xfrm>
            <a:off x="7863840" y="4507992"/>
            <a:ext cx="3749039" cy="868680"/>
          </a:xfrm>
          <a:prstGeom prst="rect">
            <a:avLst/>
          </a:prstGeom>
          <a:noFill/>
        </p:spPr>
        <p:txBody>
          <a:bodyPr wrap="square" lIns="45720" rIns="45720" tIns="27432" bIns="27432" anchor="t">
            <a:spAutoFit/>
          </a:bodyPr>
          <a:lstStyle/>
          <a:p>
            <a:pPr algn="l">
              <a:lnSpc>
                <a:spcPct val="110000"/>
              </a:lnSpc>
              <a:spcAft>
                <a:spcPts val="600"/>
              </a:spcAft>
            </a:pPr>
            <a:r>
              <a:rPr sz="1400" b="0" i="0" lang="vi-VN">
                <a:solidFill>
                  <a:srgbClr val="1F2937"/>
                </a:solidFill>
                <a:latin typeface="Arial"/>
              </a:rPr>
              <a:t>thư viện scikit-learn làm chuẩn; bản tự viết bằng NumPy được kiểm chứng với nó</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THƯỚC ĐO</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Thước đo đánh giá: chỉ số nào cần thấp, chỉ số nào cần cao</a:t>
            </a:r>
          </a:p>
        </p:txBody>
      </p:sp>
      <p:graphicFrame>
        <p:nvGraphicFramePr>
          <p:cNvPr id="4" name="Table 3"/>
          <p:cNvGraphicFramePr>
            <a:graphicFrameLocks noGrp="1"/>
          </p:cNvGraphicFramePr>
          <p:nvPr/>
        </p:nvGraphicFramePr>
        <p:xfrm>
          <a:off x="548640" y="1463040"/>
          <a:ext cx="11064240" cy="3328416"/>
        </p:xfrm>
        <a:graphic>
          <a:graphicData uri="http://schemas.openxmlformats.org/drawingml/2006/table">
            <a:tbl>
              <a:tblPr firstRow="0" bandRow="0">
                <a:tableStyleId>{5940675A-B579-460E-94D1-54222C63F5DA}</a:tableStyleId>
              </a:tblPr>
              <a:tblGrid>
                <a:gridCol w="2103120"/>
                <a:gridCol w="4206240"/>
                <a:gridCol w="1188720"/>
                <a:gridCol w="3566160"/>
              </a:tblGrid>
              <a:tr h="475488">
                <a:tc>
                  <a:txBody>
                    <a:bodyPr wrap="square"/>
                    <a:lstStyle/>
                    <a:p>
                      <a:r>
                        <a:rPr sz="1300" b="1" i="0" lang="vi-VN">
                          <a:solidFill>
                            <a:srgbClr val="FFFFFF"/>
                          </a:solidFill>
                          <a:latin typeface="Arial"/>
                        </a:rPr>
                        <a:t>Thước đo</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Ý nghĩa</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Tốt khi</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Mức tham khảo</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EB6834"/>
                          </a:solidFill>
                          <a:latin typeface="Arial"/>
                        </a:rPr>
                        <a:t>MAPE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sai số % trung bình (thước đo chính)</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thấp</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&lt; 10% rất tốt · 10-20% tốt · 20-50% tạm · &gt; 50% kém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1F2937"/>
                          </a:solidFill>
                          <a:latin typeface="Arial"/>
                        </a:rPr>
                        <a:t>MedAPE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sai số % của xe "điển hình" (trung vị)</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thấp</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cùng thang MAPE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1F2937"/>
                          </a:solidFill>
                          <a:latin typeface="Arial"/>
                        </a:rPr>
                        <a:t>MAE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trung bình đoán lệch bao nhiêu triệu</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thấp</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tùy mức giá</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1F2937"/>
                          </a:solidFill>
                          <a:latin typeface="Arial"/>
                        </a:rPr>
                        <a:t>RMSE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như MAE nhưng phạt nặng lỗi lớn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thấp</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RMSE ≫ MAE: có vài lỗi rất lớn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1F2937"/>
                          </a:solidFill>
                          <a:latin typeface="Arial"/>
                        </a:rPr>
                        <a:t>R² (log)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tỉ lệ biến thiên log giá được giải thích</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cao</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 hoàn hảo · 0 = đoán trung bình</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300" b="1" i="0" lang="vi-VN">
                          <a:solidFill>
                            <a:srgbClr val="1F2937"/>
                          </a:solidFill>
                          <a:latin typeface="Arial"/>
                        </a:rPr>
                        <a:t>Lệch ≤ 10% / 20%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tỉ lệ xe đoán sát giá thật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cao</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so với baseline</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5" name="TextBox 4"/>
          <p:cNvSpPr txBox="1"/>
          <p:nvPr/>
        </p:nvSpPr>
        <p:spPr>
          <a:xfrm>
            <a:off x="548640" y="4937760"/>
            <a:ext cx="11064240" cy="54864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Mốc so sánh (baseline): </a:t>
            </a:r>
            <a:r>
              <a:rPr sz="1400" b="0" i="0" lang="vi-VN">
                <a:solidFill>
                  <a:srgbClr val="1F2937"/>
                </a:solidFill>
                <a:latin typeface="Arial"/>
              </a:rPr>
              <a:t>luôn đoán giá trung vị của tập train. Luôn báo thêm MAPE theo 5 phân khúc giá.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ĐẶC TRƯNG CHO RỪNG</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One-hot hay mã số thứ tự? Kiểm chứng bằng CV</a:t>
            </a:r>
          </a:p>
        </p:txBody>
      </p:sp>
      <p:pic>
        <p:nvPicPr>
          <p:cNvPr id="4" name="Picture 3" descr="m16_ma_hoa.png"/>
          <p:cNvPicPr>
            <a:picLocks noChangeAspect="1"/>
          </p:cNvPicPr>
          <p:nvPr/>
        </p:nvPicPr>
        <p:blipFill>
          <a:blip r:embed="rId3"/>
          <a:stretch>
            <a:fillRect/>
          </a:stretch>
        </p:blipFill>
        <p:spPr>
          <a:xfrm>
            <a:off x="513403" y="1325880"/>
            <a:ext cx="11134713" cy="3154680"/>
          </a:xfrm>
          <a:prstGeom prst="rect">
            <a:avLst/>
          </a:prstGeom>
        </p:spPr>
      </p:pic>
      <p:sp>
        <p:nvSpPr>
          <p:cNvPr id="5" name="Rounded Rectangle 4"/>
          <p:cNvSpPr/>
          <p:nvPr/>
        </p:nvSpPr>
        <p:spPr>
          <a:xfrm>
            <a:off x="548640" y="4572000"/>
            <a:ext cx="5394960" cy="10058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645152"/>
            <a:ext cx="502920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D400"/>
                </a:solidFill>
                <a:latin typeface="Arial"/>
              </a:rPr>
              <a:t>Chọn one-hot: MAPE 16,4%</a:t>
            </a:r>
          </a:p>
        </p:txBody>
      </p:sp>
      <p:sp>
        <p:nvSpPr>
          <p:cNvPr id="7" name="TextBox 6"/>
          <p:cNvSpPr txBox="1"/>
          <p:nvPr/>
        </p:nvSpPr>
        <p:spPr>
          <a:xfrm>
            <a:off x="731520" y="5029200"/>
            <a:ext cx="5029200" cy="502920"/>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FFFFFF"/>
                </a:solidFill>
                <a:latin typeface="Arial"/>
              </a:rPr>
              <a:t>mã số thứ tự 16,7-18,4%; xe &gt; 2 tỷ 28,9% so với 29-39%</a:t>
            </a:r>
          </a:p>
        </p:txBody>
      </p:sp>
      <p:sp>
        <p:nvSpPr>
          <p:cNvPr id="8" name="Rounded Rectangle 7"/>
          <p:cNvSpPr/>
          <p:nvPr/>
        </p:nvSpPr>
        <p:spPr>
          <a:xfrm>
            <a:off x="6217920" y="4572000"/>
            <a:ext cx="5394960" cy="10058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0" y="4645152"/>
            <a:ext cx="502920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Rừng không cần age², log, chuẩn hóa</a:t>
            </a:r>
          </a:p>
        </p:txBody>
      </p:sp>
      <p:sp>
        <p:nvSpPr>
          <p:cNvPr id="10" name="TextBox 9"/>
          <p:cNvSpPr txBox="1"/>
          <p:nvPr/>
        </p:nvSpPr>
        <p:spPr>
          <a:xfrm>
            <a:off x="6400800" y="5029200"/>
            <a:ext cx="5029200" cy="502920"/>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1F2937"/>
                </a:solidFill>
                <a:latin typeface="Arial"/>
              </a:rPr>
              <a:t>cây chỉ so sánh ngưỡng: biến đổi đơn điệu cho cùng phép chia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LÝ THUYẾT</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Cây hồi quy CART: chia dữ liệu bằng câu hỏi có / không</a:t>
            </a:r>
          </a:p>
        </p:txBody>
      </p:sp>
      <p:pic>
        <p:nvPicPr>
          <p:cNvPr id="4" name="Picture 3" descr="m17_cay_minh_hoa.png"/>
          <p:cNvPicPr>
            <a:picLocks noChangeAspect="1"/>
          </p:cNvPicPr>
          <p:nvPr/>
        </p:nvPicPr>
        <p:blipFill>
          <a:blip r:embed="rId3"/>
          <a:stretch>
            <a:fillRect/>
          </a:stretch>
        </p:blipFill>
        <p:spPr>
          <a:xfrm>
            <a:off x="182880" y="1241425"/>
            <a:ext cx="9418320" cy="4055110"/>
          </a:xfrm>
          <a:prstGeom prst="rect">
            <a:avLst/>
          </a:prstGeom>
        </p:spPr>
      </p:pic>
      <p:sp>
        <p:nvSpPr>
          <p:cNvPr id="5" name="Rounded Rectangle 4"/>
          <p:cNvSpPr/>
          <p:nvPr/>
        </p:nvSpPr>
        <p:spPr>
          <a:xfrm>
            <a:off x="9646920" y="1371600"/>
            <a:ext cx="2057400" cy="173736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38360" y="1426464"/>
            <a:ext cx="1920240" cy="365760"/>
          </a:xfrm>
          <a:prstGeom prst="rect">
            <a:avLst/>
          </a:prstGeom>
          <a:noFill/>
        </p:spPr>
        <p:txBody>
          <a:bodyPr wrap="square" lIns="45720" rIns="45720" tIns="27432" bIns="27432" anchor="t">
            <a:spAutoFit/>
          </a:bodyPr>
          <a:lstStyle/>
          <a:p>
            <a:pPr algn="l">
              <a:lnSpc>
                <a:spcPct val="110000"/>
              </a:lnSpc>
              <a:spcAft>
                <a:spcPts val="600"/>
              </a:spcAft>
            </a:pPr>
            <a:r>
              <a:rPr sz="1300" b="1" i="0" lang="vi-VN">
                <a:solidFill>
                  <a:srgbClr val="FFD400"/>
                </a:solidFill>
                <a:latin typeface="Arial"/>
              </a:rPr>
              <a:t>Mức giảm SSE</a:t>
            </a:r>
          </a:p>
        </p:txBody>
      </p:sp>
      <p:sp>
        <p:nvSpPr>
          <p:cNvPr id="7" name="TextBox 6"/>
          <p:cNvSpPr txBox="1"/>
          <p:nvPr/>
        </p:nvSpPr>
        <p:spPr>
          <a:xfrm>
            <a:off x="9738360" y="1783080"/>
            <a:ext cx="1920240" cy="1280160"/>
          </a:xfrm>
          <a:prstGeom prst="rect">
            <a:avLst/>
          </a:prstGeom>
          <a:noFill/>
        </p:spPr>
        <p:txBody>
          <a:bodyPr wrap="square" lIns="45720" rIns="45720" tIns="27432" bIns="27432" anchor="t">
            <a:spAutoFit/>
          </a:bodyPr>
          <a:lstStyle/>
          <a:p>
            <a:pPr algn="l">
              <a:lnSpc>
                <a:spcPct val="110000"/>
              </a:lnSpc>
              <a:spcAft>
                <a:spcPts val="400"/>
              </a:spcAft>
            </a:pPr>
            <a:r>
              <a:rPr sz="1300" b="1" i="0" lang="vi-VN">
                <a:solidFill>
                  <a:srgbClr val="FFFFFF"/>
                </a:solidFill>
                <a:latin typeface="Arial"/>
              </a:rPr>
              <a:t>gain = S²ₗ/nₗ + S²ᵣ/nᵣ − S²/n</a:t>
            </a:r>
          </a:p>
          <a:p>
            <a:pPr algn="l">
              <a:lnSpc>
                <a:spcPct val="110000"/>
              </a:lnSpc>
              <a:spcAft>
                <a:spcPts val="400"/>
              </a:spcAft>
            </a:pPr>
            <a:r>
              <a:rPr sz="1100" b="0" i="0" lang="vi-VN">
                <a:solidFill>
                  <a:srgbClr val="FFFFFF"/>
                </a:solidFill>
                <a:latin typeface="Arial"/>
              </a:rPr>
              <a:t>n: số xe, S: tổng log giá</a:t>
            </a:r>
          </a:p>
        </p:txBody>
      </p:sp>
      <p:sp>
        <p:nvSpPr>
          <p:cNvPr id="8" name="TextBox 7"/>
          <p:cNvSpPr txBox="1"/>
          <p:nvPr/>
        </p:nvSpPr>
        <p:spPr>
          <a:xfrm>
            <a:off x="9646920" y="3246120"/>
            <a:ext cx="2057400" cy="2194560"/>
          </a:xfrm>
          <a:prstGeom prst="rect">
            <a:avLst/>
          </a:prstGeom>
          <a:noFill/>
        </p:spPr>
        <p:txBody>
          <a:bodyPr wrap="square" lIns="45720" rIns="45720" tIns="27432" bIns="27432" anchor="t">
            <a:spAutoFit/>
          </a:bodyPr>
          <a:lstStyle/>
          <a:p>
            <a:pPr algn="l" marL="201168" indent="-201168">
              <a:lnSpc>
                <a:spcPct val="110000"/>
              </a:lnSpc>
              <a:spcAft>
                <a:spcPts val="600"/>
              </a:spcAft>
              <a:buClr>
                <a:srgbClr val="075289"/>
              </a:buClr>
              <a:buFont typeface="Arial"/>
              <a:buChar char="•"/>
            </a:pPr>
            <a:r>
              <a:rPr sz="1200" b="0" i="0" lang="vi-VN">
                <a:solidFill>
                  <a:srgbClr val="1F2937"/>
                </a:solidFill>
                <a:latin typeface="Arial"/>
              </a:rPr>
              <a:t>Cây sâu: độ chệch thấp</a:t>
            </a:r>
          </a:p>
          <a:p>
            <a:pPr algn="l" marL="201168" indent="-201168">
              <a:lnSpc>
                <a:spcPct val="110000"/>
              </a:lnSpc>
              <a:spcAft>
                <a:spcPts val="600"/>
              </a:spcAft>
              <a:buClr>
                <a:srgbClr val="075289"/>
              </a:buClr>
              <a:buFont typeface="Arial"/>
              <a:buChar char="•"/>
            </a:pPr>
            <a:r>
              <a:rPr sz="1200" b="0" i="0" lang="vi-VN">
                <a:solidFill>
                  <a:srgbClr val="1F2937"/>
                </a:solidFill>
                <a:latin typeface="Arial"/>
              </a:rPr>
              <a:t>Nhưng phương sai cao: đổi vài mẫu là cây đổi hẳn</a:t>
            </a:r>
          </a:p>
          <a:p>
            <a:pPr algn="l" marL="201168" indent="-201168">
              <a:lnSpc>
                <a:spcPct val="110000"/>
              </a:lnSpc>
              <a:spcAft>
                <a:spcPts val="600"/>
              </a:spcAft>
              <a:buClr>
                <a:srgbClr val="075289"/>
              </a:buClr>
              <a:buFont typeface="Arial"/>
              <a:buChar char="•"/>
            </a:pPr>
            <a:r>
              <a:rPr sz="1200" b="0" i="0" lang="vi-VN">
                <a:solidFill>
                  <a:srgbClr val="1F2937"/>
                </a:solidFill>
                <a:latin typeface="Arial"/>
              </a:rPr>
              <a:t>→ cần trung bình nhiều cây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LÝ THUYẾT</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Random Forest: lấy trung bình nhiều cây khác nhau</a:t>
            </a:r>
          </a:p>
        </p:txBody>
      </p:sp>
      <p:sp>
        <p:nvSpPr>
          <p:cNvPr id="4" name="Rounded Rectangle 3"/>
          <p:cNvSpPr/>
          <p:nvPr/>
        </p:nvSpPr>
        <p:spPr>
          <a:xfrm>
            <a:off x="548640" y="2103120"/>
            <a:ext cx="1737360" cy="105156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2130552"/>
            <a:ext cx="1737360" cy="1005840"/>
          </a:xfrm>
          <a:prstGeom prst="rect">
            <a:avLst/>
          </a:prstGeom>
          <a:noFill/>
        </p:spPr>
        <p:txBody>
          <a:bodyPr wrap="square" lIns="45720" rIns="45720" tIns="27432" bIns="27432" anchor="ctr">
            <a:spAutoFit/>
          </a:bodyPr>
          <a:lstStyle/>
          <a:p>
            <a:pPr algn="ctr">
              <a:lnSpc>
                <a:spcPct val="110000"/>
              </a:lnSpc>
              <a:spcAft>
                <a:spcPts val="200"/>
              </a:spcAft>
            </a:pPr>
            <a:r>
              <a:rPr sz="1500" b="1" i="0" lang="vi-VN">
                <a:solidFill>
                  <a:srgbClr val="FFFFFF"/>
                </a:solidFill>
                <a:latin typeface="Arial"/>
              </a:rPr>
              <a:t>Tập train</a:t>
            </a:r>
          </a:p>
          <a:p>
            <a:pPr algn="ctr">
              <a:lnSpc>
                <a:spcPct val="110000"/>
              </a:lnSpc>
              <a:spcAft>
                <a:spcPts val="200"/>
              </a:spcAft>
            </a:pPr>
            <a:r>
              <a:rPr sz="1500" b="1" i="0" lang="vi-VN">
                <a:solidFill>
                  <a:srgbClr val="FFFFFF"/>
                </a:solidFill>
                <a:latin typeface="Arial"/>
              </a:rPr>
              <a:t>11.149 xe</a:t>
            </a:r>
          </a:p>
        </p:txBody>
      </p:sp>
      <p:sp>
        <p:nvSpPr>
          <p:cNvPr id="6" name="Right Arrow 5"/>
          <p:cNvSpPr/>
          <p:nvPr/>
        </p:nvSpPr>
        <p:spPr>
          <a:xfrm>
            <a:off x="2377440" y="1536192"/>
            <a:ext cx="45720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6080" y="1417320"/>
            <a:ext cx="1737360" cy="502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26080" y="1435608"/>
            <a:ext cx="173736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075289"/>
                </a:solidFill>
                <a:latin typeface="Arial"/>
              </a:rPr>
              <a:t>Bootstrap 1</a:t>
            </a:r>
          </a:p>
        </p:txBody>
      </p:sp>
      <p:sp>
        <p:nvSpPr>
          <p:cNvPr id="9" name="Right Arrow 8"/>
          <p:cNvSpPr/>
          <p:nvPr/>
        </p:nvSpPr>
        <p:spPr>
          <a:xfrm>
            <a:off x="4754880" y="1536192"/>
            <a:ext cx="36576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0" y="1417320"/>
            <a:ext cx="1645920" cy="50292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12080" y="1435608"/>
            <a:ext cx="164592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1F2937"/>
                </a:solidFill>
                <a:latin typeface="Arial"/>
              </a:rPr>
              <a:t>Cây 1</a:t>
            </a:r>
          </a:p>
        </p:txBody>
      </p:sp>
      <p:sp>
        <p:nvSpPr>
          <p:cNvPr id="12" name="Right Arrow 11"/>
          <p:cNvSpPr/>
          <p:nvPr/>
        </p:nvSpPr>
        <p:spPr>
          <a:xfrm>
            <a:off x="2377440" y="2157984"/>
            <a:ext cx="45720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26080" y="2039112"/>
            <a:ext cx="1737360" cy="502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26080" y="2057400"/>
            <a:ext cx="173736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075289"/>
                </a:solidFill>
                <a:latin typeface="Arial"/>
              </a:rPr>
              <a:t>Bootstrap 2</a:t>
            </a:r>
          </a:p>
        </p:txBody>
      </p:sp>
      <p:sp>
        <p:nvSpPr>
          <p:cNvPr id="15" name="Right Arrow 14"/>
          <p:cNvSpPr/>
          <p:nvPr/>
        </p:nvSpPr>
        <p:spPr>
          <a:xfrm>
            <a:off x="4754880" y="2157984"/>
            <a:ext cx="36576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12080" y="2039112"/>
            <a:ext cx="1645920" cy="50292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12080" y="2057400"/>
            <a:ext cx="164592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1F2937"/>
                </a:solidFill>
                <a:latin typeface="Arial"/>
              </a:rPr>
              <a:t>Cây 2</a:t>
            </a:r>
          </a:p>
        </p:txBody>
      </p:sp>
      <p:sp>
        <p:nvSpPr>
          <p:cNvPr id="18" name="Right Arrow 17"/>
          <p:cNvSpPr/>
          <p:nvPr/>
        </p:nvSpPr>
        <p:spPr>
          <a:xfrm>
            <a:off x="2377440" y="2779776"/>
            <a:ext cx="45720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26080" y="2660904"/>
            <a:ext cx="1737360" cy="502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926080" y="2679192"/>
            <a:ext cx="173736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075289"/>
                </a:solidFill>
                <a:latin typeface="Arial"/>
              </a:rPr>
              <a:t>…</a:t>
            </a:r>
          </a:p>
        </p:txBody>
      </p:sp>
      <p:sp>
        <p:nvSpPr>
          <p:cNvPr id="21" name="Right Arrow 20"/>
          <p:cNvSpPr/>
          <p:nvPr/>
        </p:nvSpPr>
        <p:spPr>
          <a:xfrm>
            <a:off x="4754880" y="2779776"/>
            <a:ext cx="36576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0" y="2660904"/>
            <a:ext cx="1645920" cy="50292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12080" y="2679192"/>
            <a:ext cx="164592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1F2937"/>
                </a:solidFill>
                <a:latin typeface="Arial"/>
              </a:rPr>
              <a:t>Cây …</a:t>
            </a:r>
          </a:p>
        </p:txBody>
      </p:sp>
      <p:sp>
        <p:nvSpPr>
          <p:cNvPr id="24" name="Right Arrow 23"/>
          <p:cNvSpPr/>
          <p:nvPr/>
        </p:nvSpPr>
        <p:spPr>
          <a:xfrm>
            <a:off x="2377440" y="3401568"/>
            <a:ext cx="45720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926080" y="3282696"/>
            <a:ext cx="1737360" cy="5029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926080" y="3300984"/>
            <a:ext cx="173736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075289"/>
                </a:solidFill>
                <a:latin typeface="Arial"/>
              </a:rPr>
              <a:t>Bootstrap T</a:t>
            </a:r>
          </a:p>
        </p:txBody>
      </p:sp>
      <p:sp>
        <p:nvSpPr>
          <p:cNvPr id="27" name="Right Arrow 26"/>
          <p:cNvSpPr/>
          <p:nvPr/>
        </p:nvSpPr>
        <p:spPr>
          <a:xfrm>
            <a:off x="4754880" y="3401568"/>
            <a:ext cx="365760" cy="256032"/>
          </a:xfrm>
          <a:prstGeom prst="rightArrow">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212080" y="3282696"/>
            <a:ext cx="1645920" cy="50292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212080" y="3300984"/>
            <a:ext cx="1645920" cy="457200"/>
          </a:xfrm>
          <a:prstGeom prst="rect">
            <a:avLst/>
          </a:prstGeom>
          <a:noFill/>
        </p:spPr>
        <p:txBody>
          <a:bodyPr wrap="square" lIns="45720" rIns="45720" tIns="27432" bIns="27432" anchor="ctr">
            <a:spAutoFit/>
          </a:bodyPr>
          <a:lstStyle/>
          <a:p>
            <a:pPr algn="ctr">
              <a:lnSpc>
                <a:spcPct val="110000"/>
              </a:lnSpc>
              <a:spcAft>
                <a:spcPts val="600"/>
              </a:spcAft>
            </a:pPr>
            <a:r>
              <a:rPr sz="1300" b="1" i="0" lang="vi-VN">
                <a:solidFill>
                  <a:srgbClr val="1F2937"/>
                </a:solidFill>
                <a:latin typeface="Arial"/>
              </a:rPr>
              <a:t>Cây T</a:t>
            </a:r>
          </a:p>
        </p:txBody>
      </p:sp>
      <p:sp>
        <p:nvSpPr>
          <p:cNvPr id="30" name="Right Arrow 29"/>
          <p:cNvSpPr/>
          <p:nvPr/>
        </p:nvSpPr>
        <p:spPr>
          <a:xfrm>
            <a:off x="6995160" y="2423160"/>
            <a:ext cx="457200" cy="411480"/>
          </a:xfrm>
          <a:prstGeom prst="rightArrow">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589520" y="2103120"/>
            <a:ext cx="1737360" cy="105156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589520" y="2130552"/>
            <a:ext cx="1737360" cy="1005840"/>
          </a:xfrm>
          <a:prstGeom prst="rect">
            <a:avLst/>
          </a:prstGeom>
          <a:noFill/>
        </p:spPr>
        <p:txBody>
          <a:bodyPr wrap="square" lIns="45720" rIns="45720" tIns="27432" bIns="27432" anchor="ctr">
            <a:spAutoFit/>
          </a:bodyPr>
          <a:lstStyle/>
          <a:p>
            <a:pPr algn="ctr">
              <a:lnSpc>
                <a:spcPct val="110000"/>
              </a:lnSpc>
              <a:spcAft>
                <a:spcPts val="200"/>
              </a:spcAft>
            </a:pPr>
            <a:r>
              <a:rPr sz="1500" b="1" i="0" lang="vi-VN">
                <a:solidFill>
                  <a:srgbClr val="FFFFFF"/>
                </a:solidFill>
                <a:latin typeface="Arial"/>
              </a:rPr>
              <a:t>Trung bình</a:t>
            </a:r>
          </a:p>
          <a:p>
            <a:pPr algn="ctr">
              <a:lnSpc>
                <a:spcPct val="110000"/>
              </a:lnSpc>
              <a:spcAft>
                <a:spcPts val="200"/>
              </a:spcAft>
            </a:pPr>
            <a:r>
              <a:rPr sz="1500" b="1" i="0" lang="vi-VN">
                <a:solidFill>
                  <a:srgbClr val="FFFFFF"/>
                </a:solidFill>
                <a:latin typeface="Arial"/>
              </a:rPr>
              <a:t>T dự đoán</a:t>
            </a:r>
          </a:p>
        </p:txBody>
      </p:sp>
      <p:sp>
        <p:nvSpPr>
          <p:cNvPr id="33" name="TextBox 32"/>
          <p:cNvSpPr txBox="1"/>
          <p:nvPr/>
        </p:nvSpPr>
        <p:spPr>
          <a:xfrm>
            <a:off x="9555480" y="1463040"/>
            <a:ext cx="2103120" cy="237744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ŷ(x) = (1/T) Σ fₜ(x)</a:t>
            </a:r>
          </a:p>
          <a:p>
            <a:pPr algn="l">
              <a:lnSpc>
                <a:spcPct val="110000"/>
              </a:lnSpc>
              <a:spcAft>
                <a:spcPts val="600"/>
              </a:spcAft>
            </a:pPr>
            <a:r>
              <a:rPr sz="1200" b="0" i="0" lang="vi-VN">
                <a:solidFill>
                  <a:srgbClr val="5B6775"/>
                </a:solidFill>
                <a:latin typeface="Arial"/>
              </a:rPr>
              <a:t>trung bình T cây</a:t>
            </a:r>
          </a:p>
        </p:txBody>
      </p:sp>
      <p:sp>
        <p:nvSpPr>
          <p:cNvPr id="34" name="Rounded Rectangle 33"/>
          <p:cNvSpPr/>
          <p:nvPr/>
        </p:nvSpPr>
        <p:spPr>
          <a:xfrm>
            <a:off x="548640" y="4160520"/>
            <a:ext cx="34747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31520" y="42336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1. Bootstrap</a:t>
            </a:r>
          </a:p>
        </p:txBody>
      </p:sp>
      <p:sp>
        <p:nvSpPr>
          <p:cNvPr id="36" name="TextBox 35"/>
          <p:cNvSpPr txBox="1"/>
          <p:nvPr/>
        </p:nvSpPr>
        <p:spPr>
          <a:xfrm>
            <a:off x="731520" y="4617720"/>
            <a:ext cx="3108960" cy="822959"/>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1F2937"/>
                </a:solidFill>
                <a:latin typeface="Arial"/>
              </a:rPr>
              <a:t>mỗi cây học ~63% số xe khác nhau</a:t>
            </a:r>
          </a:p>
        </p:txBody>
      </p:sp>
      <p:sp>
        <p:nvSpPr>
          <p:cNvPr id="37" name="Rounded Rectangle 36"/>
          <p:cNvSpPr/>
          <p:nvPr/>
        </p:nvSpPr>
        <p:spPr>
          <a:xfrm>
            <a:off x="4297679" y="4160520"/>
            <a:ext cx="3474720" cy="13258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80559" y="42336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2. max_features</a:t>
            </a:r>
          </a:p>
        </p:txBody>
      </p:sp>
      <p:sp>
        <p:nvSpPr>
          <p:cNvPr id="39" name="TextBox 38"/>
          <p:cNvSpPr txBox="1"/>
          <p:nvPr/>
        </p:nvSpPr>
        <p:spPr>
          <a:xfrm>
            <a:off x="4480559" y="4617720"/>
            <a:ext cx="3108960" cy="822959"/>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1F2937"/>
                </a:solidFill>
                <a:latin typeface="Arial"/>
              </a:rPr>
              <a:t>mỗi nút chỉ xét một phần đặc trưng</a:t>
            </a:r>
          </a:p>
        </p:txBody>
      </p:sp>
      <p:sp>
        <p:nvSpPr>
          <p:cNvPr id="40" name="Rounded Rectangle 39"/>
          <p:cNvSpPr/>
          <p:nvPr/>
        </p:nvSpPr>
        <p:spPr>
          <a:xfrm>
            <a:off x="8046719" y="4160520"/>
            <a:ext cx="3474720" cy="132588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9599" y="42336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D400"/>
                </a:solidFill>
                <a:latin typeface="Arial"/>
              </a:rPr>
              <a:t>3. OOB</a:t>
            </a:r>
          </a:p>
        </p:txBody>
      </p:sp>
      <p:sp>
        <p:nvSpPr>
          <p:cNvPr id="42" name="TextBox 41"/>
          <p:cNvSpPr txBox="1"/>
          <p:nvPr/>
        </p:nvSpPr>
        <p:spPr>
          <a:xfrm>
            <a:off x="8229599" y="4617720"/>
            <a:ext cx="3108960" cy="822959"/>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FFFFFF"/>
                </a:solidFill>
                <a:latin typeface="Arial"/>
              </a:rPr>
              <a:t>~37% xe ngoài túi → ước lượng sai số</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RANDOM FOREST THƯ VIỆN</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Tinh chỉnh RandomForestRegressor bằng CV trên train</a:t>
            </a:r>
          </a:p>
        </p:txBody>
      </p:sp>
      <p:sp>
        <p:nvSpPr>
          <p:cNvPr id="4" name="TextBox 3"/>
          <p:cNvSpPr txBox="1"/>
          <p:nvPr/>
        </p:nvSpPr>
        <p:spPr>
          <a:xfrm>
            <a:off x="548640" y="1417320"/>
            <a:ext cx="640080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5 cấu hình tốt nhất (300 cây)</a:t>
            </a:r>
          </a:p>
        </p:txBody>
      </p:sp>
      <p:graphicFrame>
        <p:nvGraphicFramePr>
          <p:cNvPr id="5" name="Table 4"/>
          <p:cNvGraphicFramePr>
            <a:graphicFrameLocks noGrp="1"/>
          </p:cNvGraphicFramePr>
          <p:nvPr/>
        </p:nvGraphicFramePr>
        <p:xfrm>
          <a:off x="548640" y="1874519"/>
          <a:ext cx="6400800" cy="2852928"/>
        </p:xfrm>
        <a:graphic>
          <a:graphicData uri="http://schemas.openxmlformats.org/drawingml/2006/table">
            <a:tbl>
              <a:tblPr firstRow="0" bandRow="0">
                <a:tableStyleId>{5940675A-B579-460E-94D1-54222C63F5DA}</a:tableStyleId>
              </a:tblPr>
              <a:tblGrid>
                <a:gridCol w="1828800"/>
                <a:gridCol w="1554480"/>
                <a:gridCol w="1371600"/>
                <a:gridCol w="1645920"/>
              </a:tblGrid>
              <a:tr h="475488">
                <a:tc>
                  <a:txBody>
                    <a:bodyPr wrap="square"/>
                    <a:lstStyle/>
                    <a:p>
                      <a:r>
                        <a:rPr sz="1400" b="1" i="0" lang="vi-VN">
                          <a:solidFill>
                            <a:srgbClr val="FFFFFF"/>
                          </a:solidFill>
                          <a:latin typeface="Arial"/>
                        </a:rPr>
                        <a:t>min_samples_leaf</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max_features</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max_depth</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CV RMSE (log)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400" b="1" i="0" lang="vi-VN">
                          <a:solidFill>
                            <a:srgbClr val="EB6834"/>
                          </a:solidFill>
                          <a:latin typeface="Arial"/>
                        </a:rPr>
                        <a:t>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EB6834"/>
                          </a:solidFill>
                          <a:latin typeface="Arial"/>
                        </a:rPr>
                        <a:t>0,50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EB6834"/>
                          </a:solidFill>
                          <a:latin typeface="Arial"/>
                        </a:rPr>
                        <a:t>30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EB6834"/>
                          </a:solidFill>
                          <a:latin typeface="Arial"/>
                        </a:rPr>
                        <a:t>0,2692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400" b="0" i="0" lang="vi-VN">
                          <a:solidFill>
                            <a:srgbClr val="1F2937"/>
                          </a:solidFill>
                          <a:latin typeface="Arial"/>
                        </a:rPr>
                        <a:t>1</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0,33</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0,2701</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400" b="0" i="0" lang="vi-VN">
                          <a:solidFill>
                            <a:srgbClr val="1F2937"/>
                          </a:solidFill>
                          <a:latin typeface="Arial"/>
                        </a:rPr>
                        <a:t>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0,2763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400" b="0" i="0" lang="vi-VN">
                          <a:solidFill>
                            <a:srgbClr val="1F2937"/>
                          </a:solidFill>
                          <a:latin typeface="Arial"/>
                        </a:rPr>
                        <a:t>2</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0,50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0,2766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75488">
                <a:tc>
                  <a:txBody>
                    <a:bodyPr wrap="square"/>
                    <a:lstStyle/>
                    <a:p>
                      <a:r>
                        <a:rPr sz="1400" b="0" i="0" lang="vi-VN">
                          <a:solidFill>
                            <a:srgbClr val="1F2937"/>
                          </a:solidFill>
                          <a:latin typeface="Arial"/>
                        </a:rPr>
                        <a:t>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0,33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0,2793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6" name="Rounded Rectangle 5"/>
          <p:cNvSpPr/>
          <p:nvPr/>
        </p:nvSpPr>
        <p:spPr>
          <a:xfrm>
            <a:off x="7315200" y="1463040"/>
            <a:ext cx="4297680" cy="114300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498079" y="1536192"/>
            <a:ext cx="3931920" cy="54864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FFD400"/>
                </a:solidFill>
                <a:latin typeface="Arial"/>
              </a:rPr>
              <a:t>0,896</a:t>
            </a:r>
          </a:p>
        </p:txBody>
      </p:sp>
      <p:sp>
        <p:nvSpPr>
          <p:cNvPr id="8" name="TextBox 7"/>
          <p:cNvSpPr txBox="1"/>
          <p:nvPr/>
        </p:nvSpPr>
        <p:spPr>
          <a:xfrm>
            <a:off x="7498079" y="2103120"/>
            <a:ext cx="3931920" cy="45720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FFFFFF"/>
                </a:solidFill>
                <a:latin typeface="Arial"/>
              </a:rPr>
              <a:t>OOB R² (log) của mô hình cuối</a:t>
            </a:r>
          </a:p>
        </p:txBody>
      </p:sp>
      <p:sp>
        <p:nvSpPr>
          <p:cNvPr id="9" name="Rounded Rectangle 8"/>
          <p:cNvSpPr/>
          <p:nvPr/>
        </p:nvSpPr>
        <p:spPr>
          <a:xfrm>
            <a:off x="7315200" y="2788920"/>
            <a:ext cx="4297680" cy="11430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79" y="2862072"/>
            <a:ext cx="3931920" cy="54864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075289"/>
                </a:solidFill>
                <a:latin typeface="Arial"/>
              </a:rPr>
              <a:t>9 giây</a:t>
            </a:r>
          </a:p>
        </p:txBody>
      </p:sp>
      <p:sp>
        <p:nvSpPr>
          <p:cNvPr id="11" name="TextBox 10"/>
          <p:cNvSpPr txBox="1"/>
          <p:nvPr/>
        </p:nvSpPr>
        <p:spPr>
          <a:xfrm>
            <a:off x="7498079" y="3429000"/>
            <a:ext cx="3931920" cy="45720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huấn luyện 300 cây (C/Cython, nhiều lõi)</a:t>
            </a:r>
          </a:p>
        </p:txBody>
      </p:sp>
      <p:sp>
        <p:nvSpPr>
          <p:cNvPr id="12" name="Rounded Rectangle 11"/>
          <p:cNvSpPr/>
          <p:nvPr/>
        </p:nvSpPr>
        <p:spPr>
          <a:xfrm>
            <a:off x="7315200" y="4114800"/>
            <a:ext cx="4297680" cy="11430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8079" y="4187952"/>
            <a:ext cx="3931920" cy="54864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075289"/>
                </a:solidFill>
                <a:latin typeface="Arial"/>
              </a:rPr>
              <a:t>12 / 3-fold</a:t>
            </a:r>
          </a:p>
        </p:txBody>
      </p:sp>
      <p:sp>
        <p:nvSpPr>
          <p:cNvPr id="14" name="TextBox 13"/>
          <p:cNvSpPr txBox="1"/>
          <p:nvPr/>
        </p:nvSpPr>
        <p:spPr>
          <a:xfrm>
            <a:off x="7498079" y="4754880"/>
            <a:ext cx="3931920" cy="45720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số cấu hình thử / số fold CV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RANDOM FOREST TỰ CÀI ĐẶT</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Tự cài đặt bằng NumPy: ba lớp, tìm ngưỡng bằng histogram</a:t>
            </a:r>
          </a:p>
        </p:txBody>
      </p:sp>
      <p:sp>
        <p:nvSpPr>
          <p:cNvPr id="4" name="Oval 3"/>
          <p:cNvSpPr/>
          <p:nvPr/>
        </p:nvSpPr>
        <p:spPr>
          <a:xfrm>
            <a:off x="548640" y="1645920"/>
            <a:ext cx="457200" cy="45720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lang="vi-VN">
                <a:solidFill>
                  <a:srgbClr val="FFFFFF"/>
                </a:solidFill>
                <a:latin typeface="Arial"/>
              </a:rPr>
              <a:t>1</a:t>
            </a:r>
          </a:p>
        </p:txBody>
      </p:sp>
      <p:sp>
        <p:nvSpPr>
          <p:cNvPr id="5" name="Rounded Rectangle 4"/>
          <p:cNvSpPr/>
          <p:nvPr/>
        </p:nvSpPr>
        <p:spPr>
          <a:xfrm>
            <a:off x="1143000" y="1463040"/>
            <a:ext cx="4892040" cy="8686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80160" y="1508760"/>
            <a:ext cx="466344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Binner</a:t>
            </a:r>
          </a:p>
        </p:txBody>
      </p:sp>
      <p:sp>
        <p:nvSpPr>
          <p:cNvPr id="7" name="TextBox 6"/>
          <p:cNvSpPr txBox="1"/>
          <p:nvPr/>
        </p:nvSpPr>
        <p:spPr>
          <a:xfrm>
            <a:off x="1280160" y="1892808"/>
            <a:ext cx="4663440" cy="41148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chia mỗi đặc trưng thành ≤ 32 bin theo phân vị (fit trên train)</a:t>
            </a:r>
          </a:p>
        </p:txBody>
      </p:sp>
      <p:sp>
        <p:nvSpPr>
          <p:cNvPr id="8" name="Oval 7"/>
          <p:cNvSpPr/>
          <p:nvPr/>
        </p:nvSpPr>
        <p:spPr>
          <a:xfrm>
            <a:off x="548640" y="2651760"/>
            <a:ext cx="457200" cy="45720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lang="vi-VN">
                <a:solidFill>
                  <a:srgbClr val="FFFFFF"/>
                </a:solidFill>
                <a:latin typeface="Arial"/>
              </a:rPr>
              <a:t>2</a:t>
            </a:r>
          </a:p>
        </p:txBody>
      </p:sp>
      <p:sp>
        <p:nvSpPr>
          <p:cNvPr id="9" name="Rounded Rectangle 8"/>
          <p:cNvSpPr/>
          <p:nvPr/>
        </p:nvSpPr>
        <p:spPr>
          <a:xfrm>
            <a:off x="1143000" y="2468880"/>
            <a:ext cx="4892040" cy="8686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80160" y="2514600"/>
            <a:ext cx="466344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RegressionTreeScratch</a:t>
            </a:r>
          </a:p>
        </p:txBody>
      </p:sp>
      <p:sp>
        <p:nvSpPr>
          <p:cNvPr id="11" name="TextBox 10"/>
          <p:cNvSpPr txBox="1"/>
          <p:nvPr/>
        </p:nvSpPr>
        <p:spPr>
          <a:xfrm>
            <a:off x="1280160" y="2898648"/>
            <a:ext cx="4663440" cy="41148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cây CART: tìm phép chia giảm SSE lớn nhất, dựng cây bằng ngăn xếp</a:t>
            </a:r>
          </a:p>
        </p:txBody>
      </p:sp>
      <p:sp>
        <p:nvSpPr>
          <p:cNvPr id="12" name="Oval 11"/>
          <p:cNvSpPr/>
          <p:nvPr/>
        </p:nvSpPr>
        <p:spPr>
          <a:xfrm>
            <a:off x="548640" y="3657600"/>
            <a:ext cx="457200" cy="457200"/>
          </a:xfrm>
          <a:prstGeom prst="ellipse">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lang="vi-VN">
                <a:solidFill>
                  <a:srgbClr val="FFFFFF"/>
                </a:solidFill>
                <a:latin typeface="Arial"/>
              </a:rPr>
              <a:t>3</a:t>
            </a:r>
          </a:p>
        </p:txBody>
      </p:sp>
      <p:sp>
        <p:nvSpPr>
          <p:cNvPr id="13" name="Rounded Rectangle 12"/>
          <p:cNvSpPr/>
          <p:nvPr/>
        </p:nvSpPr>
        <p:spPr>
          <a:xfrm>
            <a:off x="1143000" y="3474720"/>
            <a:ext cx="4892040" cy="8686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80160" y="3520440"/>
            <a:ext cx="466344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RandomForestScratch</a:t>
            </a:r>
          </a:p>
        </p:txBody>
      </p:sp>
      <p:sp>
        <p:nvSpPr>
          <p:cNvPr id="15" name="TextBox 14"/>
          <p:cNvSpPr txBox="1"/>
          <p:nvPr/>
        </p:nvSpPr>
        <p:spPr>
          <a:xfrm>
            <a:off x="1280160" y="3904488"/>
            <a:ext cx="4663440" cy="41148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bootstrap + chọn ngẫu nhiên đặc trưng + trung bình; OOB và độ quan trọng</a:t>
            </a:r>
          </a:p>
        </p:txBody>
      </p:sp>
      <p:sp>
        <p:nvSpPr>
          <p:cNvPr id="16" name="TextBox 15"/>
          <p:cNvSpPr txBox="1"/>
          <p:nvPr/>
        </p:nvSpPr>
        <p:spPr>
          <a:xfrm>
            <a:off x="6400800" y="1463040"/>
            <a:ext cx="521208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Tìm ngưỡng tốt nhất ở một nút</a:t>
            </a:r>
          </a:p>
        </p:txBody>
      </p:sp>
      <p:sp>
        <p:nvSpPr>
          <p:cNvPr id="17" name="Rounded Rectangle 16"/>
          <p:cNvSpPr/>
          <p:nvPr/>
        </p:nvSpPr>
        <p:spPr>
          <a:xfrm>
            <a:off x="6400800" y="1920240"/>
            <a:ext cx="5212080" cy="658368"/>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7960" y="1965960"/>
            <a:ext cx="1645920" cy="566928"/>
          </a:xfrm>
          <a:prstGeom prst="rect">
            <a:avLst/>
          </a:prstGeom>
          <a:noFill/>
        </p:spPr>
        <p:txBody>
          <a:bodyPr wrap="square" lIns="45720" rIns="45720" tIns="27432" bIns="27432" anchor="ctr">
            <a:spAutoFit/>
          </a:bodyPr>
          <a:lstStyle/>
          <a:p>
            <a:pPr algn="l">
              <a:lnSpc>
                <a:spcPct val="110000"/>
              </a:lnSpc>
              <a:spcAft>
                <a:spcPts val="600"/>
              </a:spcAft>
            </a:pPr>
            <a:r>
              <a:rPr sz="1400" b="1" i="0" lang="vi-VN">
                <a:solidFill>
                  <a:srgbClr val="075289"/>
                </a:solidFill>
                <a:latin typeface="Arial"/>
              </a:rPr>
              <a:t>Đếm theo bin</a:t>
            </a:r>
          </a:p>
        </p:txBody>
      </p:sp>
      <p:sp>
        <p:nvSpPr>
          <p:cNvPr id="19" name="TextBox 18"/>
          <p:cNvSpPr txBox="1"/>
          <p:nvPr/>
        </p:nvSpPr>
        <p:spPr>
          <a:xfrm>
            <a:off x="8183879" y="1965960"/>
            <a:ext cx="3383280" cy="566928"/>
          </a:xfrm>
          <a:prstGeom prst="rect">
            <a:avLst/>
          </a:prstGeom>
          <a:noFill/>
        </p:spPr>
        <p:txBody>
          <a:bodyPr wrap="square" lIns="45720" rIns="45720" tIns="27432" bIns="27432" anchor="ctr">
            <a:spAutoFit/>
          </a:bodyPr>
          <a:lstStyle/>
          <a:p>
            <a:pPr algn="l">
              <a:lnSpc>
                <a:spcPct val="110000"/>
              </a:lnSpc>
              <a:spcAft>
                <a:spcPts val="600"/>
              </a:spcAft>
            </a:pPr>
            <a:r>
              <a:rPr sz="1300" b="0" i="0" lang="vi-VN">
                <a:solidFill>
                  <a:srgbClr val="1F2937"/>
                </a:solidFill>
                <a:latin typeface="Arial"/>
              </a:rPr>
              <a:t>bincount: số xe, tổng log giá mỗi bin</a:t>
            </a:r>
          </a:p>
        </p:txBody>
      </p:sp>
      <p:sp>
        <p:nvSpPr>
          <p:cNvPr id="20" name="Rounded Rectangle 19"/>
          <p:cNvSpPr/>
          <p:nvPr/>
        </p:nvSpPr>
        <p:spPr>
          <a:xfrm>
            <a:off x="6400800" y="2697480"/>
            <a:ext cx="5212080" cy="658368"/>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7960" y="2743200"/>
            <a:ext cx="1645920" cy="566928"/>
          </a:xfrm>
          <a:prstGeom prst="rect">
            <a:avLst/>
          </a:prstGeom>
          <a:noFill/>
        </p:spPr>
        <p:txBody>
          <a:bodyPr wrap="square" lIns="45720" rIns="45720" tIns="27432" bIns="27432" anchor="ctr">
            <a:spAutoFit/>
          </a:bodyPr>
          <a:lstStyle/>
          <a:p>
            <a:pPr algn="l">
              <a:lnSpc>
                <a:spcPct val="110000"/>
              </a:lnSpc>
              <a:spcAft>
                <a:spcPts val="600"/>
              </a:spcAft>
            </a:pPr>
            <a:r>
              <a:rPr sz="1400" b="1" i="0" lang="vi-VN">
                <a:solidFill>
                  <a:srgbClr val="075289"/>
                </a:solidFill>
                <a:latin typeface="Arial"/>
              </a:rPr>
              <a:t>Cộng dồn</a:t>
            </a:r>
          </a:p>
        </p:txBody>
      </p:sp>
      <p:sp>
        <p:nvSpPr>
          <p:cNvPr id="22" name="TextBox 21"/>
          <p:cNvSpPr txBox="1"/>
          <p:nvPr/>
        </p:nvSpPr>
        <p:spPr>
          <a:xfrm>
            <a:off x="8183879" y="2743200"/>
            <a:ext cx="3383280" cy="566928"/>
          </a:xfrm>
          <a:prstGeom prst="rect">
            <a:avLst/>
          </a:prstGeom>
          <a:noFill/>
        </p:spPr>
        <p:txBody>
          <a:bodyPr wrap="square" lIns="45720" rIns="45720" tIns="27432" bIns="27432" anchor="ctr">
            <a:spAutoFit/>
          </a:bodyPr>
          <a:lstStyle/>
          <a:p>
            <a:pPr algn="l">
              <a:lnSpc>
                <a:spcPct val="110000"/>
              </a:lnSpc>
              <a:spcAft>
                <a:spcPts val="600"/>
              </a:spcAft>
            </a:pPr>
            <a:r>
              <a:rPr sz="1300" b="0" i="0" lang="vi-VN">
                <a:solidFill>
                  <a:srgbClr val="1F2937"/>
                </a:solidFill>
                <a:latin typeface="Arial"/>
              </a:rPr>
              <a:t>cumsum: nhánh trái của mọi ngưỡng</a:t>
            </a:r>
          </a:p>
        </p:txBody>
      </p:sp>
      <p:sp>
        <p:nvSpPr>
          <p:cNvPr id="23" name="Rounded Rectangle 22"/>
          <p:cNvSpPr/>
          <p:nvPr/>
        </p:nvSpPr>
        <p:spPr>
          <a:xfrm>
            <a:off x="6400800" y="3474720"/>
            <a:ext cx="5212080" cy="658368"/>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37960" y="3520439"/>
            <a:ext cx="1645920" cy="566928"/>
          </a:xfrm>
          <a:prstGeom prst="rect">
            <a:avLst/>
          </a:prstGeom>
          <a:noFill/>
        </p:spPr>
        <p:txBody>
          <a:bodyPr wrap="square" lIns="45720" rIns="45720" tIns="27432" bIns="27432" anchor="ctr">
            <a:spAutoFit/>
          </a:bodyPr>
          <a:lstStyle/>
          <a:p>
            <a:pPr algn="l">
              <a:lnSpc>
                <a:spcPct val="110000"/>
              </a:lnSpc>
              <a:spcAft>
                <a:spcPts val="600"/>
              </a:spcAft>
            </a:pPr>
            <a:r>
              <a:rPr sz="1400" b="1" i="0" lang="vi-VN">
                <a:solidFill>
                  <a:srgbClr val="075289"/>
                </a:solidFill>
                <a:latin typeface="Arial"/>
              </a:rPr>
              <a:t>Tính gain</a:t>
            </a:r>
          </a:p>
        </p:txBody>
      </p:sp>
      <p:sp>
        <p:nvSpPr>
          <p:cNvPr id="25" name="TextBox 24"/>
          <p:cNvSpPr txBox="1"/>
          <p:nvPr/>
        </p:nvSpPr>
        <p:spPr>
          <a:xfrm>
            <a:off x="8183879" y="3520439"/>
            <a:ext cx="3383280" cy="566928"/>
          </a:xfrm>
          <a:prstGeom prst="rect">
            <a:avLst/>
          </a:prstGeom>
          <a:noFill/>
        </p:spPr>
        <p:txBody>
          <a:bodyPr wrap="square" lIns="45720" rIns="45720" tIns="27432" bIns="27432" anchor="ctr">
            <a:spAutoFit/>
          </a:bodyPr>
          <a:lstStyle/>
          <a:p>
            <a:pPr algn="l">
              <a:lnSpc>
                <a:spcPct val="110000"/>
              </a:lnSpc>
              <a:spcAft>
                <a:spcPts val="600"/>
              </a:spcAft>
            </a:pPr>
            <a:r>
              <a:rPr sz="1300" b="0" i="0" lang="vi-VN">
                <a:solidFill>
                  <a:srgbClr val="1F2937"/>
                </a:solidFill>
                <a:latin typeface="Arial"/>
              </a:rPr>
              <a:t>công thức gain cho mọi ngưỡng cùng lúc</a:t>
            </a:r>
          </a:p>
        </p:txBody>
      </p:sp>
      <p:sp>
        <p:nvSpPr>
          <p:cNvPr id="26" name="Rounded Rectangle 25"/>
          <p:cNvSpPr/>
          <p:nvPr/>
        </p:nvSpPr>
        <p:spPr>
          <a:xfrm>
            <a:off x="6400800" y="4251960"/>
            <a:ext cx="5212080" cy="658368"/>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37960" y="4297680"/>
            <a:ext cx="1645920" cy="566928"/>
          </a:xfrm>
          <a:prstGeom prst="rect">
            <a:avLst/>
          </a:prstGeom>
          <a:noFill/>
        </p:spPr>
        <p:txBody>
          <a:bodyPr wrap="square" lIns="45720" rIns="45720" tIns="27432" bIns="27432" anchor="ctr">
            <a:spAutoFit/>
          </a:bodyPr>
          <a:lstStyle/>
          <a:p>
            <a:pPr algn="l">
              <a:lnSpc>
                <a:spcPct val="110000"/>
              </a:lnSpc>
              <a:spcAft>
                <a:spcPts val="600"/>
              </a:spcAft>
            </a:pPr>
            <a:r>
              <a:rPr sz="1400" b="1" i="0" lang="vi-VN">
                <a:solidFill>
                  <a:srgbClr val="075289"/>
                </a:solidFill>
                <a:latin typeface="Arial"/>
              </a:rPr>
              <a:t>Chọn max</a:t>
            </a:r>
          </a:p>
        </p:txBody>
      </p:sp>
      <p:sp>
        <p:nvSpPr>
          <p:cNvPr id="28" name="TextBox 27"/>
          <p:cNvSpPr txBox="1"/>
          <p:nvPr/>
        </p:nvSpPr>
        <p:spPr>
          <a:xfrm>
            <a:off x="8183879" y="4297680"/>
            <a:ext cx="3383280" cy="566928"/>
          </a:xfrm>
          <a:prstGeom prst="rect">
            <a:avLst/>
          </a:prstGeom>
          <a:noFill/>
        </p:spPr>
        <p:txBody>
          <a:bodyPr wrap="square" lIns="45720" rIns="45720" tIns="27432" bIns="27432" anchor="ctr">
            <a:spAutoFit/>
          </a:bodyPr>
          <a:lstStyle/>
          <a:p>
            <a:pPr algn="l">
              <a:lnSpc>
                <a:spcPct val="110000"/>
              </a:lnSpc>
              <a:spcAft>
                <a:spcPts val="600"/>
              </a:spcAft>
            </a:pPr>
            <a:r>
              <a:rPr sz="1300" b="0" i="0" lang="vi-VN">
                <a:solidFill>
                  <a:srgbClr val="1F2937"/>
                </a:solidFill>
                <a:latin typeface="Arial"/>
              </a:rPr>
              <a:t>argmax trên (đặc trưng, ngưỡng)</a:t>
            </a:r>
          </a:p>
        </p:txBody>
      </p:sp>
      <p:sp>
        <p:nvSpPr>
          <p:cNvPr id="29" name="Rounded Rectangle 28"/>
          <p:cNvSpPr/>
          <p:nvPr/>
        </p:nvSpPr>
        <p:spPr>
          <a:xfrm>
            <a:off x="548640" y="4572000"/>
            <a:ext cx="5486400" cy="91440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1520" y="4617720"/>
            <a:ext cx="5120640" cy="822960"/>
          </a:xfrm>
          <a:prstGeom prst="rect">
            <a:avLst/>
          </a:prstGeom>
          <a:noFill/>
        </p:spPr>
        <p:txBody>
          <a:bodyPr wrap="square" lIns="45720" rIns="45720" tIns="27432" bIns="27432" anchor="ctr">
            <a:spAutoFit/>
          </a:bodyPr>
          <a:lstStyle/>
          <a:p>
            <a:pPr algn="l">
              <a:lnSpc>
                <a:spcPct val="110000"/>
              </a:lnSpc>
              <a:spcAft>
                <a:spcPts val="600"/>
              </a:spcAft>
            </a:pPr>
            <a:r>
              <a:rPr sz="1400" b="0" i="0" lang="vi-VN">
                <a:solidFill>
                  <a:srgbClr val="FFFFFF"/>
                </a:solidFill>
                <a:latin typeface="Arial"/>
              </a:rPr>
              <a:t>Cột one-hot chỉ có 2 giá trị → không mất thông tin; </a:t>
            </a:r>
            <a:r>
              <a:rPr sz="1400" b="1" i="0" lang="vi-VN">
                <a:solidFill>
                  <a:srgbClr val="FFD400"/>
                </a:solidFill>
                <a:latin typeface="Arial"/>
              </a:rPr>
              <a:t>cột số mất rất ít độ chi tiết.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KIỂM CHỨNG</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Kiểm chứng: một cây và cả rừng trùng khớp thư viện</a:t>
            </a:r>
          </a:p>
        </p:txBody>
      </p:sp>
      <p:sp>
        <p:nvSpPr>
          <p:cNvPr id="4" name="TextBox 3"/>
          <p:cNvSpPr txBox="1"/>
          <p:nvPr/>
        </p:nvSpPr>
        <p:spPr>
          <a:xfrm>
            <a:off x="548640" y="1417320"/>
            <a:ext cx="484632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Một cây (lá ≥ 5 mẫu)</a:t>
            </a:r>
          </a:p>
        </p:txBody>
      </p:sp>
      <p:graphicFrame>
        <p:nvGraphicFramePr>
          <p:cNvPr id="5" name="Table 4"/>
          <p:cNvGraphicFramePr>
            <a:graphicFrameLocks noGrp="1"/>
          </p:cNvGraphicFramePr>
          <p:nvPr/>
        </p:nvGraphicFramePr>
        <p:xfrm>
          <a:off x="548640" y="1874519"/>
          <a:ext cx="4846320" cy="2286000"/>
        </p:xfrm>
        <a:graphic>
          <a:graphicData uri="http://schemas.openxmlformats.org/drawingml/2006/table">
            <a:tbl>
              <a:tblPr firstRow="0" bandRow="0">
                <a:tableStyleId>{5940675A-B579-460E-94D1-54222C63F5DA}</a:tableStyleId>
              </a:tblPr>
              <a:tblGrid>
                <a:gridCol w="1920240"/>
                <a:gridCol w="1463040"/>
                <a:gridCol w="1463040"/>
              </a:tblGrid>
              <a:tr h="457200">
                <a:tc>
                  <a:txBody>
                    <a:bodyPr wrap="square"/>
                    <a:lstStyle/>
                    <a:p>
                      <a:r>
                        <a:rPr sz="1400" b="1" i="0" lang="vi-VN">
                          <a:solidFill>
                            <a:srgbClr val="FFFFFF"/>
                          </a:solidFill>
                          <a:latin typeface="Arial"/>
                        </a:rPr>
                        <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Thư viện</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Tự cài đặt</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Số nút</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3.481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3.429</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R² (log) train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0,929</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0,927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R² (log) test</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0,842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0,851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MAPE test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19,6%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18,6%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6" name="TextBox 5"/>
          <p:cNvSpPr txBox="1"/>
          <p:nvPr/>
        </p:nvSpPr>
        <p:spPr>
          <a:xfrm>
            <a:off x="548640" y="4251960"/>
            <a:ext cx="484632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5B6775"/>
                </a:solidFill>
                <a:latin typeface="Arial"/>
              </a:rPr>
              <a:t>R² train cao hơn hẳn R² test: một cây có phương sai cao</a:t>
            </a:r>
          </a:p>
        </p:txBody>
      </p:sp>
      <p:sp>
        <p:nvSpPr>
          <p:cNvPr id="7" name="TextBox 6"/>
          <p:cNvSpPr txBox="1"/>
          <p:nvPr/>
        </p:nvSpPr>
        <p:spPr>
          <a:xfrm>
            <a:off x="5669280" y="1417320"/>
            <a:ext cx="603504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Cả rừng: dự đoán trên từng xe</a:t>
            </a:r>
          </a:p>
        </p:txBody>
      </p:sp>
      <p:pic>
        <p:nvPicPr>
          <p:cNvPr id="8" name="Picture 7" descr="m11_tu_cai_dat_vs_thu_vien.png"/>
          <p:cNvPicPr>
            <a:picLocks noChangeAspect="1"/>
          </p:cNvPicPr>
          <p:nvPr/>
        </p:nvPicPr>
        <p:blipFill>
          <a:blip r:embed="rId3"/>
          <a:stretch>
            <a:fillRect/>
          </a:stretch>
        </p:blipFill>
        <p:spPr>
          <a:xfrm>
            <a:off x="5577840" y="1861556"/>
            <a:ext cx="6126480" cy="2311927"/>
          </a:xfrm>
          <a:prstGeom prst="rect">
            <a:avLst/>
          </a:prstGeom>
        </p:spPr>
      </p:pic>
      <p:sp>
        <p:nvSpPr>
          <p:cNvPr id="9" name="Rounded Rectangle 8"/>
          <p:cNvSpPr/>
          <p:nvPr/>
        </p:nvSpPr>
        <p:spPr>
          <a:xfrm>
            <a:off x="5669280" y="4389120"/>
            <a:ext cx="2834640" cy="109728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06440" y="4434840"/>
            <a:ext cx="1097280" cy="1005840"/>
          </a:xfrm>
          <a:prstGeom prst="rect">
            <a:avLst/>
          </a:prstGeom>
          <a:noFill/>
        </p:spPr>
        <p:txBody>
          <a:bodyPr wrap="square" lIns="45720" rIns="45720" tIns="27432" bIns="27432" anchor="ctr">
            <a:spAutoFit/>
          </a:bodyPr>
          <a:lstStyle/>
          <a:p>
            <a:pPr algn="l">
              <a:lnSpc>
                <a:spcPct val="110000"/>
              </a:lnSpc>
              <a:spcAft>
                <a:spcPts val="600"/>
              </a:spcAft>
            </a:pPr>
            <a:r>
              <a:rPr sz="2400" b="1" i="0" lang="vi-VN">
                <a:solidFill>
                  <a:srgbClr val="FFD400"/>
                </a:solidFill>
                <a:latin typeface="Arial"/>
              </a:rPr>
              <a:t>1,7%</a:t>
            </a:r>
          </a:p>
        </p:txBody>
      </p:sp>
      <p:sp>
        <p:nvSpPr>
          <p:cNvPr id="11" name="TextBox 10"/>
          <p:cNvSpPr txBox="1"/>
          <p:nvPr/>
        </p:nvSpPr>
        <p:spPr>
          <a:xfrm>
            <a:off x="6903720" y="4434840"/>
            <a:ext cx="1554480" cy="1005840"/>
          </a:xfrm>
          <a:prstGeom prst="rect">
            <a:avLst/>
          </a:prstGeom>
          <a:noFill/>
        </p:spPr>
        <p:txBody>
          <a:bodyPr wrap="square" lIns="45720" rIns="45720" tIns="27432" bIns="27432" anchor="ctr">
            <a:spAutoFit/>
          </a:bodyPr>
          <a:lstStyle/>
          <a:p>
            <a:pPr algn="l">
              <a:lnSpc>
                <a:spcPct val="110000"/>
              </a:lnSpc>
              <a:spcAft>
                <a:spcPts val="0"/>
              </a:spcAft>
            </a:pPr>
            <a:r>
              <a:rPr sz="1200" b="0" i="0" lang="vi-VN">
                <a:solidFill>
                  <a:srgbClr val="FFFFFF"/>
                </a:solidFill>
                <a:latin typeface="Arial"/>
              </a:rPr>
              <a:t>độ lệch trung vị giữa hai bản trên từng xe</a:t>
            </a:r>
          </a:p>
        </p:txBody>
      </p:sp>
      <p:sp>
        <p:nvSpPr>
          <p:cNvPr id="12" name="Rounded Rectangle 11"/>
          <p:cNvSpPr/>
          <p:nvPr/>
        </p:nvSpPr>
        <p:spPr>
          <a:xfrm>
            <a:off x="8686800" y="4389120"/>
            <a:ext cx="2834640" cy="10972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823960" y="4434840"/>
            <a:ext cx="1097280" cy="1005840"/>
          </a:xfrm>
          <a:prstGeom prst="rect">
            <a:avLst/>
          </a:prstGeom>
          <a:noFill/>
        </p:spPr>
        <p:txBody>
          <a:bodyPr wrap="square" lIns="45720" rIns="45720" tIns="27432" bIns="27432" anchor="ctr">
            <a:spAutoFit/>
          </a:bodyPr>
          <a:lstStyle/>
          <a:p>
            <a:pPr algn="l">
              <a:lnSpc>
                <a:spcPct val="110000"/>
              </a:lnSpc>
              <a:spcAft>
                <a:spcPts val="600"/>
              </a:spcAft>
            </a:pPr>
            <a:r>
              <a:rPr sz="2400" b="1" i="0" lang="vi-VN">
                <a:solidFill>
                  <a:srgbClr val="EB6834"/>
                </a:solidFill>
                <a:latin typeface="Arial"/>
              </a:rPr>
              <a:t>83%</a:t>
            </a:r>
          </a:p>
        </p:txBody>
      </p:sp>
      <p:sp>
        <p:nvSpPr>
          <p:cNvPr id="14" name="TextBox 13"/>
          <p:cNvSpPr txBox="1"/>
          <p:nvPr/>
        </p:nvSpPr>
        <p:spPr>
          <a:xfrm>
            <a:off x="9921240" y="4434840"/>
            <a:ext cx="1554480" cy="1005840"/>
          </a:xfrm>
          <a:prstGeom prst="rect">
            <a:avLst/>
          </a:prstGeom>
          <a:noFill/>
        </p:spPr>
        <p:txBody>
          <a:bodyPr wrap="square" lIns="45720" rIns="45720" tIns="27432" bIns="27432" anchor="ctr">
            <a:spAutoFit/>
          </a:bodyPr>
          <a:lstStyle/>
          <a:p>
            <a:pPr algn="l">
              <a:lnSpc>
                <a:spcPct val="110000"/>
              </a:lnSpc>
              <a:spcAft>
                <a:spcPts val="0"/>
              </a:spcAft>
            </a:pPr>
            <a:r>
              <a:rPr sz="1200" b="0" i="0" lang="vi-VN">
                <a:solidFill>
                  <a:srgbClr val="1F2937"/>
                </a:solidFill>
                <a:latin typeface="Arial"/>
              </a:rPr>
              <a:t>số xe lệch không quá 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RANDOM FOREST TỰ CÀI ĐẶT</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Từ một cây đến một rừng: sai số giảm rõ rệt</a:t>
            </a:r>
          </a:p>
        </p:txBody>
      </p:sp>
      <p:pic>
        <p:nvPicPr>
          <p:cNvPr id="4" name="Picture 3" descr="m05_rf_so_cay.png"/>
          <p:cNvPicPr>
            <a:picLocks noChangeAspect="1"/>
          </p:cNvPicPr>
          <p:nvPr/>
        </p:nvPicPr>
        <p:blipFill>
          <a:blip r:embed="rId3"/>
          <a:stretch>
            <a:fillRect/>
          </a:stretch>
        </p:blipFill>
        <p:spPr>
          <a:xfrm>
            <a:off x="365760" y="1345152"/>
            <a:ext cx="5120639" cy="2658934"/>
          </a:xfrm>
          <a:prstGeom prst="rect">
            <a:avLst/>
          </a:prstGeom>
        </p:spPr>
      </p:pic>
      <p:pic>
        <p:nvPicPr>
          <p:cNvPr id="5" name="Picture 4" descr="m18_cay_vs_rung.png"/>
          <p:cNvPicPr>
            <a:picLocks noChangeAspect="1"/>
          </p:cNvPicPr>
          <p:nvPr/>
        </p:nvPicPr>
        <p:blipFill>
          <a:blip r:embed="rId4"/>
          <a:stretch>
            <a:fillRect/>
          </a:stretch>
        </p:blipFill>
        <p:spPr>
          <a:xfrm>
            <a:off x="5577840" y="1715017"/>
            <a:ext cx="6217920" cy="1964925"/>
          </a:xfrm>
          <a:prstGeom prst="rect">
            <a:avLst/>
          </a:prstGeom>
        </p:spPr>
      </p:pic>
      <p:sp>
        <p:nvSpPr>
          <p:cNvPr id="6" name="Rounded Rectangle 5"/>
          <p:cNvSpPr/>
          <p:nvPr/>
        </p:nvSpPr>
        <p:spPr>
          <a:xfrm>
            <a:off x="548640" y="4206240"/>
            <a:ext cx="3474720" cy="1234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261104"/>
            <a:ext cx="3108960" cy="548640"/>
          </a:xfrm>
          <a:prstGeom prst="rect">
            <a:avLst/>
          </a:prstGeom>
          <a:noFill/>
        </p:spPr>
        <p:txBody>
          <a:bodyPr wrap="square" lIns="45720" rIns="45720" tIns="27432" bIns="27432" anchor="t">
            <a:spAutoFit/>
          </a:bodyPr>
          <a:lstStyle/>
          <a:p>
            <a:pPr algn="l">
              <a:lnSpc>
                <a:spcPct val="110000"/>
              </a:lnSpc>
              <a:spcAft>
                <a:spcPts val="600"/>
              </a:spcAft>
            </a:pPr>
            <a:r>
              <a:rPr sz="2200" b="1" i="0" lang="vi-VN">
                <a:solidFill>
                  <a:srgbClr val="075289"/>
                </a:solidFill>
                <a:latin typeface="Arial"/>
              </a:rPr>
              <a:t>0,346 → 0,263</a:t>
            </a:r>
          </a:p>
        </p:txBody>
      </p:sp>
      <p:sp>
        <p:nvSpPr>
          <p:cNvPr id="8" name="TextBox 7"/>
          <p:cNvSpPr txBox="1"/>
          <p:nvPr/>
        </p:nvSpPr>
        <p:spPr>
          <a:xfrm>
            <a:off x="731520" y="4846320"/>
            <a:ext cx="3108960" cy="54864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OOB RMSE: 1 cây → 100 cây</a:t>
            </a:r>
          </a:p>
        </p:txBody>
      </p:sp>
      <p:sp>
        <p:nvSpPr>
          <p:cNvPr id="9" name="Rounded Rectangle 8"/>
          <p:cNvSpPr/>
          <p:nvPr/>
        </p:nvSpPr>
        <p:spPr>
          <a:xfrm>
            <a:off x="4297679" y="4206240"/>
            <a:ext cx="3474720" cy="1234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59" y="4261104"/>
            <a:ext cx="3108960" cy="548640"/>
          </a:xfrm>
          <a:prstGeom prst="rect">
            <a:avLst/>
          </a:prstGeom>
          <a:noFill/>
        </p:spPr>
        <p:txBody>
          <a:bodyPr wrap="square" lIns="45720" rIns="45720" tIns="27432" bIns="27432" anchor="t">
            <a:spAutoFit/>
          </a:bodyPr>
          <a:lstStyle/>
          <a:p>
            <a:pPr algn="l">
              <a:lnSpc>
                <a:spcPct val="110000"/>
              </a:lnSpc>
              <a:spcAft>
                <a:spcPts val="600"/>
              </a:spcAft>
            </a:pPr>
            <a:r>
              <a:rPr sz="2200" b="1" i="0" lang="vi-VN">
                <a:solidFill>
                  <a:srgbClr val="075289"/>
                </a:solidFill>
                <a:latin typeface="Arial"/>
              </a:rPr>
              <a:t>0,892</a:t>
            </a:r>
          </a:p>
        </p:txBody>
      </p:sp>
      <p:sp>
        <p:nvSpPr>
          <p:cNvPr id="11" name="TextBox 10"/>
          <p:cNvSpPr txBox="1"/>
          <p:nvPr/>
        </p:nvSpPr>
        <p:spPr>
          <a:xfrm>
            <a:off x="4480559" y="4846320"/>
            <a:ext cx="3108960" cy="54864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OOB R² tự cài đặt (thư viện 0,896)</a:t>
            </a:r>
          </a:p>
        </p:txBody>
      </p:sp>
      <p:sp>
        <p:nvSpPr>
          <p:cNvPr id="12" name="Rounded Rectangle 11"/>
          <p:cNvSpPr/>
          <p:nvPr/>
        </p:nvSpPr>
        <p:spPr>
          <a:xfrm>
            <a:off x="8046719" y="4206240"/>
            <a:ext cx="3474720" cy="12344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9" y="4261104"/>
            <a:ext cx="3108960" cy="548640"/>
          </a:xfrm>
          <a:prstGeom prst="rect">
            <a:avLst/>
          </a:prstGeom>
          <a:noFill/>
        </p:spPr>
        <p:txBody>
          <a:bodyPr wrap="square" lIns="45720" rIns="45720" tIns="27432" bIns="27432" anchor="t">
            <a:spAutoFit/>
          </a:bodyPr>
          <a:lstStyle/>
          <a:p>
            <a:pPr algn="l">
              <a:lnSpc>
                <a:spcPct val="110000"/>
              </a:lnSpc>
              <a:spcAft>
                <a:spcPts val="600"/>
              </a:spcAft>
            </a:pPr>
            <a:r>
              <a:rPr sz="2200" b="1" i="0" lang="vi-VN">
                <a:solidFill>
                  <a:srgbClr val="FFD400"/>
                </a:solidFill>
                <a:latin typeface="Arial"/>
              </a:rPr>
              <a:t>19% → 15,5%</a:t>
            </a:r>
          </a:p>
        </p:txBody>
      </p:sp>
      <p:sp>
        <p:nvSpPr>
          <p:cNvPr id="14" name="TextBox 13"/>
          <p:cNvSpPr txBox="1"/>
          <p:nvPr/>
        </p:nvSpPr>
        <p:spPr>
          <a:xfrm>
            <a:off x="8229599" y="4846320"/>
            <a:ext cx="3108960" cy="54864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FFFFFF"/>
                </a:solidFill>
                <a:latin typeface="Arial"/>
              </a:rPr>
              <a:t>MAPE test: một cây → cả rừng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4 · MÔ HÌNH SO SÁNH</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Ridge Regression: mốc so sánh tuyến tính</a:t>
            </a:r>
          </a:p>
        </p:txBody>
      </p:sp>
      <p:sp>
        <p:nvSpPr>
          <p:cNvPr id="4" name="Rounded Rectangle 3"/>
          <p:cNvSpPr/>
          <p:nvPr/>
        </p:nvSpPr>
        <p:spPr>
          <a:xfrm>
            <a:off x="548640" y="1463040"/>
            <a:ext cx="5486400" cy="16002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554480"/>
            <a:ext cx="512064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Hàm mất mát</a:t>
            </a:r>
          </a:p>
        </p:txBody>
      </p:sp>
      <p:sp>
        <p:nvSpPr>
          <p:cNvPr id="6" name="TextBox 5"/>
          <p:cNvSpPr txBox="1"/>
          <p:nvPr/>
        </p:nvSpPr>
        <p:spPr>
          <a:xfrm>
            <a:off x="731520" y="1965960"/>
            <a:ext cx="5120640" cy="1005840"/>
          </a:xfrm>
          <a:prstGeom prst="rect">
            <a:avLst/>
          </a:prstGeom>
          <a:noFill/>
        </p:spPr>
        <p:txBody>
          <a:bodyPr wrap="square" lIns="45720" rIns="45720" tIns="27432" bIns="27432" anchor="t">
            <a:spAutoFit/>
          </a:bodyPr>
          <a:lstStyle/>
          <a:p>
            <a:pPr algn="l">
              <a:lnSpc>
                <a:spcPct val="110000"/>
              </a:lnSpc>
              <a:spcAft>
                <a:spcPts val="600"/>
              </a:spcAft>
            </a:pPr>
            <a:r>
              <a:rPr sz="2000" b="0" i="0" lang="vi-VN">
                <a:solidFill>
                  <a:srgbClr val="1F2937"/>
                </a:solidFill>
                <a:latin typeface="Arial"/>
              </a:rPr>
              <a:t>J(w) = </a:t>
            </a:r>
            <a:r>
              <a:rPr sz="2000" b="1" i="0" lang="vi-VN">
                <a:solidFill>
                  <a:srgbClr val="1F2937"/>
                </a:solidFill>
                <a:latin typeface="Arial"/>
              </a:rPr>
              <a:t>(1/2n) Σ (yᵢ − ŷᵢ)²</a:t>
            </a:r>
            <a:r>
              <a:rPr sz="2000" b="0" i="0" lang="vi-VN">
                <a:solidFill>
                  <a:srgbClr val="1F2937"/>
                </a:solidFill>
                <a:latin typeface="Arial"/>
              </a:rPr>
              <a:t>  +  </a:t>
            </a:r>
            <a:r>
              <a:rPr sz="2000" b="1" i="0" lang="vi-VN">
                <a:solidFill>
                  <a:srgbClr val="EB6834"/>
                </a:solidFill>
                <a:latin typeface="Arial"/>
              </a:rPr>
              <a:t>(α/2) Σ wⱼ²</a:t>
            </a:r>
          </a:p>
          <a:p>
            <a:pPr algn="l">
              <a:lnSpc>
                <a:spcPct val="110000"/>
              </a:lnSpc>
              <a:spcAft>
                <a:spcPts val="600"/>
              </a:spcAft>
            </a:pPr>
            <a:r>
              <a:rPr sz="1200" b="0" i="0" lang="vi-VN">
                <a:solidFill>
                  <a:srgbClr val="5B6775"/>
                </a:solidFill>
                <a:latin typeface="Arial"/>
              </a:rPr>
              <a:t>sai số dự đoán            khoản phạt L2</a:t>
            </a:r>
          </a:p>
        </p:txBody>
      </p:sp>
      <p:sp>
        <p:nvSpPr>
          <p:cNvPr id="7" name="TextBox 6"/>
          <p:cNvSpPr txBox="1"/>
          <p:nvPr/>
        </p:nvSpPr>
        <p:spPr>
          <a:xfrm>
            <a:off x="548640" y="3246120"/>
            <a:ext cx="5486400" cy="2286000"/>
          </a:xfrm>
          <a:prstGeom prst="rect">
            <a:avLst/>
          </a:prstGeom>
          <a:noFill/>
        </p:spPr>
        <p:txBody>
          <a:bodyPr wrap="square" lIns="45720" rIns="45720" tIns="27432" bIns="27432" anchor="t">
            <a:spAutoFit/>
          </a:bodyPr>
          <a:lstStyle/>
          <a:p>
            <a:pPr algn="l" marL="201168" indent="-201168">
              <a:lnSpc>
                <a:spcPct val="110000"/>
              </a:lnSpc>
              <a:spcAft>
                <a:spcPts val="900"/>
              </a:spcAft>
              <a:buClr>
                <a:srgbClr val="075289"/>
              </a:buClr>
              <a:buFont typeface="Arial"/>
              <a:buChar char="•"/>
            </a:pPr>
            <a:r>
              <a:rPr sz="1500" b="0" i="0" lang="vi-VN">
                <a:solidFill>
                  <a:srgbClr val="1F2937"/>
                </a:solidFill>
                <a:latin typeface="Arial"/>
              </a:rPr>
              <a:t>ŷ = w₀ + Σ wⱼxⱼ: tổ hợp tuyến tính, dự đoán log giá</a:t>
            </a:r>
          </a:p>
          <a:p>
            <a:pPr algn="l" marL="201168" indent="-201168">
              <a:lnSpc>
                <a:spcPct val="110000"/>
              </a:lnSpc>
              <a:spcAft>
                <a:spcPts val="900"/>
              </a:spcAft>
              <a:buClr>
                <a:srgbClr val="075289"/>
              </a:buClr>
              <a:buFont typeface="Arial"/>
              <a:buChar char="•"/>
            </a:pPr>
            <a:r>
              <a:rPr sz="1500" b="0" i="0" lang="vi-VN">
                <a:solidFill>
                  <a:srgbClr val="1F2937"/>
                </a:solidFill>
                <a:latin typeface="Arial"/>
              </a:rPr>
              <a:t>Phạt L2 giữ hệ số ổn định khi các cột one-hot tương quan (Toyota và Toyota Vios)</a:t>
            </a:r>
          </a:p>
          <a:p>
            <a:pPr algn="l" marL="201168" indent="-201168">
              <a:lnSpc>
                <a:spcPct val="110000"/>
              </a:lnSpc>
              <a:spcAft>
                <a:spcPts val="900"/>
              </a:spcAft>
              <a:buClr>
                <a:srgbClr val="075289"/>
              </a:buClr>
              <a:buFont typeface="Arial"/>
              <a:buChar char="•"/>
            </a:pPr>
            <a:r>
              <a:rPr sz="1500" b="0" i="0" lang="vi-VN">
                <a:solidFill>
                  <a:srgbClr val="1F2937"/>
                </a:solidFill>
                <a:latin typeface="Arial"/>
              </a:rPr>
              <a:t>α = 0,56 chọn bằng 5-fold CV trên train</a:t>
            </a:r>
          </a:p>
        </p:txBody>
      </p:sp>
      <p:sp>
        <p:nvSpPr>
          <p:cNvPr id="8" name="Rounded Rectangle 7"/>
          <p:cNvSpPr/>
          <p:nvPr/>
        </p:nvSpPr>
        <p:spPr>
          <a:xfrm>
            <a:off x="6400800" y="1463040"/>
            <a:ext cx="5212080" cy="182880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0" y="1536192"/>
            <a:ext cx="484632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D400"/>
                </a:solidFill>
                <a:latin typeface="Arial"/>
              </a:rPr>
              <a:t>Vì sao chọn Ridge làm mốc?</a:t>
            </a:r>
          </a:p>
        </p:txBody>
      </p:sp>
      <p:sp>
        <p:nvSpPr>
          <p:cNvPr id="10" name="TextBox 9"/>
          <p:cNvSpPr txBox="1"/>
          <p:nvPr/>
        </p:nvSpPr>
        <p:spPr>
          <a:xfrm>
            <a:off x="6583680" y="1920240"/>
            <a:ext cx="4846320" cy="1325880"/>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FFFFFF"/>
                </a:solidFill>
                <a:latin typeface="Arial"/>
              </a:rPr>
              <a:t>Cùng tập train/test, cùng thước đo, cũng được tinh chỉnh → so sánh công bằng</a:t>
            </a:r>
          </a:p>
          <a:p>
            <a:pPr algn="l">
              <a:lnSpc>
                <a:spcPct val="110000"/>
              </a:lnSpc>
              <a:spcAft>
                <a:spcPts val="400"/>
              </a:spcAft>
            </a:pPr>
            <a:r>
              <a:rPr sz="1300" b="0" i="0" lang="vi-VN">
                <a:solidFill>
                  <a:srgbClr val="FFFFFF"/>
                </a:solidFill>
                <a:latin typeface="Arial"/>
              </a:rPr>
              <a:t>Trả lời: phi tuyến và tương tác giúp được bao nhiêu?</a:t>
            </a:r>
          </a:p>
        </p:txBody>
      </p:sp>
      <p:sp>
        <p:nvSpPr>
          <p:cNvPr id="11" name="Rounded Rectangle 10"/>
          <p:cNvSpPr/>
          <p:nvPr/>
        </p:nvSpPr>
        <p:spPr>
          <a:xfrm>
            <a:off x="6400800" y="3474720"/>
            <a:ext cx="5212080" cy="201168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83680" y="3547872"/>
            <a:ext cx="484632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Ridge khác rừng ở đặc trưng số</a:t>
            </a:r>
          </a:p>
        </p:txBody>
      </p:sp>
      <p:sp>
        <p:nvSpPr>
          <p:cNvPr id="13" name="TextBox 12"/>
          <p:cNvSpPr txBox="1"/>
          <p:nvPr/>
        </p:nvSpPr>
        <p:spPr>
          <a:xfrm>
            <a:off x="6583680" y="3931920"/>
            <a:ext cx="4846320" cy="1508760"/>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1F2937"/>
                </a:solidFill>
                <a:latin typeface="Arial"/>
              </a:rPr>
              <a:t>Cần age², log(1+km), log(1+km/năm) và StandardScaler</a:t>
            </a:r>
          </a:p>
          <a:p>
            <a:pPr algn="l">
              <a:lnSpc>
                <a:spcPct val="110000"/>
              </a:lnSpc>
              <a:spcAft>
                <a:spcPts val="400"/>
              </a:spcAft>
            </a:pPr>
            <a:r>
              <a:rPr sz="1300" b="0" i="0" lang="vi-VN">
                <a:solidFill>
                  <a:srgbClr val="1F2937"/>
                </a:solidFill>
                <a:latin typeface="Arial"/>
              </a:rPr>
              <a:t>Vì chỉ cộng hiệu ứng tuyến tính, trong khi xe mất giá nhanh những năm đầu rồi chậm lại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KẾT QUẢ</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Random Forest: MAPE 15,5%, 80% xe lệch không quá 20%</a:t>
            </a:r>
          </a:p>
        </p:txBody>
      </p:sp>
      <p:sp>
        <p:nvSpPr>
          <p:cNvPr id="4" name="Rounded Rectangle 3"/>
          <p:cNvSpPr/>
          <p:nvPr/>
        </p:nvSpPr>
        <p:spPr>
          <a:xfrm>
            <a:off x="548640" y="1417320"/>
            <a:ext cx="3474720" cy="1234440"/>
          </a:xfrm>
          <a:prstGeom prst="roundRect">
            <a:avLst>
              <a:gd name="adj" fmla="val 8000"/>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444752"/>
            <a:ext cx="3474720" cy="731520"/>
          </a:xfrm>
          <a:prstGeom prst="rect">
            <a:avLst/>
          </a:prstGeom>
          <a:noFill/>
        </p:spPr>
        <p:txBody>
          <a:bodyPr wrap="square" lIns="45720" rIns="45720" tIns="27432" bIns="27432" anchor="t">
            <a:spAutoFit/>
          </a:bodyPr>
          <a:lstStyle/>
          <a:p>
            <a:pPr algn="ctr">
              <a:lnSpc>
                <a:spcPct val="110000"/>
              </a:lnSpc>
              <a:spcAft>
                <a:spcPts val="600"/>
              </a:spcAft>
            </a:pPr>
            <a:r>
              <a:rPr sz="3600" b="1" i="0" lang="vi-VN">
                <a:solidFill>
                  <a:srgbClr val="FFFFFF"/>
                </a:solidFill>
                <a:latin typeface="Arial"/>
              </a:rPr>
              <a:t>83,5%</a:t>
            </a:r>
          </a:p>
        </p:txBody>
      </p:sp>
      <p:sp>
        <p:nvSpPr>
          <p:cNvPr id="6" name="TextBox 5"/>
          <p:cNvSpPr txBox="1"/>
          <p:nvPr/>
        </p:nvSpPr>
        <p:spPr>
          <a:xfrm>
            <a:off x="548640" y="2148840"/>
            <a:ext cx="34747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FFFFFF"/>
                </a:solidFill>
                <a:latin typeface="Arial"/>
              </a:rPr>
              <a:t>Baseline · MAPE</a:t>
            </a:r>
          </a:p>
        </p:txBody>
      </p:sp>
      <p:sp>
        <p:nvSpPr>
          <p:cNvPr id="7" name="Rounded Rectangle 6"/>
          <p:cNvSpPr/>
          <p:nvPr/>
        </p:nvSpPr>
        <p:spPr>
          <a:xfrm>
            <a:off x="4297679" y="1417320"/>
            <a:ext cx="3474720" cy="12344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297679" y="1444752"/>
            <a:ext cx="3474720" cy="731520"/>
          </a:xfrm>
          <a:prstGeom prst="rect">
            <a:avLst/>
          </a:prstGeom>
          <a:noFill/>
        </p:spPr>
        <p:txBody>
          <a:bodyPr wrap="square" lIns="45720" rIns="45720" tIns="27432" bIns="27432" anchor="t">
            <a:spAutoFit/>
          </a:bodyPr>
          <a:lstStyle/>
          <a:p>
            <a:pPr algn="ctr">
              <a:lnSpc>
                <a:spcPct val="110000"/>
              </a:lnSpc>
              <a:spcAft>
                <a:spcPts val="600"/>
              </a:spcAft>
            </a:pPr>
            <a:r>
              <a:rPr sz="3600" b="1" i="0" lang="vi-VN">
                <a:solidFill>
                  <a:srgbClr val="FFFFFF"/>
                </a:solidFill>
                <a:latin typeface="Arial"/>
              </a:rPr>
              <a:t>18,5%</a:t>
            </a:r>
          </a:p>
        </p:txBody>
      </p:sp>
      <p:sp>
        <p:nvSpPr>
          <p:cNvPr id="9" name="TextBox 8"/>
          <p:cNvSpPr txBox="1"/>
          <p:nvPr/>
        </p:nvSpPr>
        <p:spPr>
          <a:xfrm>
            <a:off x="4297679" y="2148840"/>
            <a:ext cx="34747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FFFFFF"/>
                </a:solidFill>
                <a:latin typeface="Arial"/>
              </a:rPr>
              <a:t>Ridge (so sánh) · MAPE</a:t>
            </a:r>
          </a:p>
        </p:txBody>
      </p:sp>
      <p:sp>
        <p:nvSpPr>
          <p:cNvPr id="10" name="Rounded Rectangle 9"/>
          <p:cNvSpPr/>
          <p:nvPr/>
        </p:nvSpPr>
        <p:spPr>
          <a:xfrm>
            <a:off x="8046719" y="1417320"/>
            <a:ext cx="3474720" cy="12344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9" y="1444752"/>
            <a:ext cx="3474720" cy="731520"/>
          </a:xfrm>
          <a:prstGeom prst="rect">
            <a:avLst/>
          </a:prstGeom>
          <a:noFill/>
        </p:spPr>
        <p:txBody>
          <a:bodyPr wrap="square" lIns="45720" rIns="45720" tIns="27432" bIns="27432" anchor="t">
            <a:spAutoFit/>
          </a:bodyPr>
          <a:lstStyle/>
          <a:p>
            <a:pPr algn="ctr">
              <a:lnSpc>
                <a:spcPct val="110000"/>
              </a:lnSpc>
              <a:spcAft>
                <a:spcPts val="600"/>
              </a:spcAft>
            </a:pPr>
            <a:r>
              <a:rPr sz="3600" b="1" i="0" lang="vi-VN">
                <a:solidFill>
                  <a:srgbClr val="FFFFFF"/>
                </a:solidFill>
                <a:latin typeface="Arial"/>
              </a:rPr>
              <a:t>15,5%</a:t>
            </a:r>
          </a:p>
        </p:txBody>
      </p:sp>
      <p:sp>
        <p:nvSpPr>
          <p:cNvPr id="12" name="TextBox 11"/>
          <p:cNvSpPr txBox="1"/>
          <p:nvPr/>
        </p:nvSpPr>
        <p:spPr>
          <a:xfrm>
            <a:off x="8046719" y="2148840"/>
            <a:ext cx="3474720" cy="411480"/>
          </a:xfrm>
          <a:prstGeom prst="rect">
            <a:avLst/>
          </a:prstGeom>
          <a:noFill/>
        </p:spPr>
        <p:txBody>
          <a:bodyPr wrap="square" lIns="45720" rIns="45720" tIns="27432" bIns="27432" anchor="t">
            <a:spAutoFit/>
          </a:bodyPr>
          <a:lstStyle/>
          <a:p>
            <a:pPr algn="ctr">
              <a:lnSpc>
                <a:spcPct val="110000"/>
              </a:lnSpc>
              <a:spcAft>
                <a:spcPts val="600"/>
              </a:spcAft>
            </a:pPr>
            <a:r>
              <a:rPr sz="1400" b="0" i="0" lang="vi-VN">
                <a:solidFill>
                  <a:srgbClr val="FFFFFF"/>
                </a:solidFill>
                <a:latin typeface="Arial"/>
              </a:rPr>
              <a:t>Random Forest · MAPE</a:t>
            </a:r>
          </a:p>
        </p:txBody>
      </p:sp>
      <p:graphicFrame>
        <p:nvGraphicFramePr>
          <p:cNvPr id="13" name="Table 12"/>
          <p:cNvGraphicFramePr>
            <a:graphicFrameLocks noGrp="1"/>
          </p:cNvGraphicFramePr>
          <p:nvPr/>
        </p:nvGraphicFramePr>
        <p:xfrm>
          <a:off x="548640" y="2880360"/>
          <a:ext cx="11064240" cy="2286000"/>
        </p:xfrm>
        <a:graphic>
          <a:graphicData uri="http://schemas.openxmlformats.org/drawingml/2006/table">
            <a:tbl>
              <a:tblPr firstRow="0" bandRow="0">
                <a:tableStyleId>{5940675A-B579-460E-94D1-54222C63F5DA}</a:tableStyleId>
              </a:tblPr>
              <a:tblGrid>
                <a:gridCol w="3200400"/>
                <a:gridCol w="1005840"/>
                <a:gridCol w="1097280"/>
                <a:gridCol w="1097280"/>
                <a:gridCol w="1188720"/>
                <a:gridCol w="1097280"/>
                <a:gridCol w="1005840"/>
                <a:gridCol w="1371600"/>
              </a:tblGrid>
              <a:tr h="457200">
                <a:tc>
                  <a:txBody>
                    <a:bodyPr wrap="square"/>
                    <a:lstStyle/>
                    <a:p>
                      <a:r>
                        <a:rPr sz="1400" b="1" i="0" lang="vi-VN">
                          <a:solidFill>
                            <a:srgbClr val="FFFFFF"/>
                          </a:solidFill>
                          <a:latin typeface="Arial"/>
                        </a:rPr>
                        <a:t>Mô hình</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MAPE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MedAPE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MAE (tr)</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RMSE (tr)</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R² (log)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 20%</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Huấn luyện</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Baseline (trung vị)</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83,5%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40,0%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337</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724</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0,00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26%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Ridge – thư viện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18,5%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10,7%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120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411</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0,873</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75%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0,04 giây</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EB6834"/>
                          </a:solidFill>
                          <a:latin typeface="Arial"/>
                        </a:rPr>
                        <a:t>Random Forest – thư viện</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1F2937"/>
                          </a:solidFill>
                          <a:latin typeface="Arial"/>
                        </a:rPr>
                        <a:t>15,5%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9,0%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102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372</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0,891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80%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9 giây</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Random Forest – tự cài đặt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15,7%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9,0%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106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388</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0,887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80%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143 giây</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14" name="TextBox 13"/>
          <p:cNvSpPr txBox="1"/>
          <p:nvPr/>
        </p:nvSpPr>
        <p:spPr>
          <a:xfrm>
            <a:off x="548640" y="5212080"/>
            <a:ext cx="1106424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5B6775"/>
                </a:solidFill>
                <a:latin typeface="Arial"/>
              </a:rPr>
              <a:t>Theo thang tham khảo, MAPE 10-20% là mức tốt. Hai bản Random Forest gần như trùng nhau; khác biệt lớn nhất là thời gian.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KẾT QUẢ</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Mô hình tốt ở phân khúc giữa, kém ở hai đầu thang giá</a:t>
            </a:r>
          </a:p>
        </p:txBody>
      </p:sp>
      <p:pic>
        <p:nvPicPr>
          <p:cNvPr id="4" name="Picture 3" descr="m07_mape_phan_khuc.png"/>
          <p:cNvPicPr>
            <a:picLocks noChangeAspect="1"/>
          </p:cNvPicPr>
          <p:nvPr/>
        </p:nvPicPr>
        <p:blipFill>
          <a:blip r:embed="rId3"/>
          <a:stretch>
            <a:fillRect/>
          </a:stretch>
        </p:blipFill>
        <p:spPr>
          <a:xfrm>
            <a:off x="2234702" y="1371600"/>
            <a:ext cx="7692114" cy="3291840"/>
          </a:xfrm>
          <a:prstGeom prst="rect">
            <a:avLst/>
          </a:prstGeom>
        </p:spPr>
      </p:pic>
      <p:sp>
        <p:nvSpPr>
          <p:cNvPr id="5" name="Rounded Rectangle 4"/>
          <p:cNvSpPr/>
          <p:nvPr/>
        </p:nvSpPr>
        <p:spPr>
          <a:xfrm>
            <a:off x="548640" y="4754880"/>
            <a:ext cx="3474720" cy="7772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4800600"/>
            <a:ext cx="1097280" cy="685800"/>
          </a:xfrm>
          <a:prstGeom prst="rect">
            <a:avLst/>
          </a:prstGeom>
          <a:noFill/>
        </p:spPr>
        <p:txBody>
          <a:bodyPr wrap="square" lIns="45720" rIns="45720" tIns="27432" bIns="27432" anchor="ctr">
            <a:spAutoFit/>
          </a:bodyPr>
          <a:lstStyle/>
          <a:p>
            <a:pPr algn="l">
              <a:lnSpc>
                <a:spcPct val="110000"/>
              </a:lnSpc>
              <a:spcAft>
                <a:spcPts val="600"/>
              </a:spcAft>
            </a:pPr>
            <a:r>
              <a:rPr sz="2200" b="1" i="0" lang="vi-VN">
                <a:solidFill>
                  <a:srgbClr val="EB6834"/>
                </a:solidFill>
                <a:latin typeface="Arial"/>
              </a:rPr>
              <a:t>~11%</a:t>
            </a:r>
          </a:p>
        </p:txBody>
      </p:sp>
      <p:sp>
        <p:nvSpPr>
          <p:cNvPr id="7" name="TextBox 6"/>
          <p:cNvSpPr txBox="1"/>
          <p:nvPr/>
        </p:nvSpPr>
        <p:spPr>
          <a:xfrm>
            <a:off x="1783080" y="4800600"/>
            <a:ext cx="2148840" cy="685800"/>
          </a:xfrm>
          <a:prstGeom prst="rect">
            <a:avLst/>
          </a:prstGeom>
          <a:noFill/>
        </p:spPr>
        <p:txBody>
          <a:bodyPr wrap="square" lIns="45720" rIns="45720" tIns="27432" bIns="27432" anchor="ctr">
            <a:spAutoFit/>
          </a:bodyPr>
          <a:lstStyle/>
          <a:p>
            <a:pPr algn="l">
              <a:lnSpc>
                <a:spcPct val="110000"/>
              </a:lnSpc>
              <a:spcAft>
                <a:spcPts val="0"/>
              </a:spcAft>
            </a:pPr>
            <a:r>
              <a:rPr sz="1200" b="0" i="0" lang="vi-VN">
                <a:solidFill>
                  <a:srgbClr val="1F2937"/>
                </a:solidFill>
                <a:latin typeface="Arial"/>
              </a:rPr>
              <a:t>sai số ở phân khúc 200 triệu - 1 tỷ (75% thị trường)</a:t>
            </a:r>
          </a:p>
        </p:txBody>
      </p:sp>
      <p:sp>
        <p:nvSpPr>
          <p:cNvPr id="8" name="Rounded Rectangle 7"/>
          <p:cNvSpPr/>
          <p:nvPr/>
        </p:nvSpPr>
        <p:spPr>
          <a:xfrm>
            <a:off x="4297679" y="4754880"/>
            <a:ext cx="3474720" cy="7772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34840" y="4800600"/>
            <a:ext cx="1097280" cy="685800"/>
          </a:xfrm>
          <a:prstGeom prst="rect">
            <a:avLst/>
          </a:prstGeom>
          <a:noFill/>
        </p:spPr>
        <p:txBody>
          <a:bodyPr wrap="square" lIns="45720" rIns="45720" tIns="27432" bIns="27432" anchor="ctr">
            <a:spAutoFit/>
          </a:bodyPr>
          <a:lstStyle/>
          <a:p>
            <a:pPr algn="l">
              <a:lnSpc>
                <a:spcPct val="110000"/>
              </a:lnSpc>
              <a:spcAft>
                <a:spcPts val="600"/>
              </a:spcAft>
            </a:pPr>
            <a:r>
              <a:rPr sz="2200" b="1" i="0" lang="vi-VN">
                <a:solidFill>
                  <a:srgbClr val="EB6834"/>
                </a:solidFill>
                <a:latin typeface="Arial"/>
              </a:rPr>
              <a:t>35%</a:t>
            </a:r>
          </a:p>
        </p:txBody>
      </p:sp>
      <p:sp>
        <p:nvSpPr>
          <p:cNvPr id="10" name="TextBox 9"/>
          <p:cNvSpPr txBox="1"/>
          <p:nvPr/>
        </p:nvSpPr>
        <p:spPr>
          <a:xfrm>
            <a:off x="5532119" y="4800600"/>
            <a:ext cx="2148840" cy="685800"/>
          </a:xfrm>
          <a:prstGeom prst="rect">
            <a:avLst/>
          </a:prstGeom>
          <a:noFill/>
        </p:spPr>
        <p:txBody>
          <a:bodyPr wrap="square" lIns="45720" rIns="45720" tIns="27432" bIns="27432" anchor="ctr">
            <a:spAutoFit/>
          </a:bodyPr>
          <a:lstStyle/>
          <a:p>
            <a:pPr algn="l">
              <a:lnSpc>
                <a:spcPct val="110000"/>
              </a:lnSpc>
              <a:spcAft>
                <a:spcPts val="0"/>
              </a:spcAft>
            </a:pPr>
            <a:r>
              <a:rPr sz="1200" b="0" i="0" lang="vi-VN">
                <a:solidFill>
                  <a:srgbClr val="1F2937"/>
                </a:solidFill>
                <a:latin typeface="Arial"/>
              </a:rPr>
              <a:t>xe dưới 200 triệu: giá thấp, tình trạng khác nhau, giá trả trước sót</a:t>
            </a:r>
          </a:p>
        </p:txBody>
      </p:sp>
      <p:sp>
        <p:nvSpPr>
          <p:cNvPr id="11" name="Rounded Rectangle 10"/>
          <p:cNvSpPr/>
          <p:nvPr/>
        </p:nvSpPr>
        <p:spPr>
          <a:xfrm>
            <a:off x="8046719" y="4754880"/>
            <a:ext cx="3474720" cy="7772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83879" y="4800600"/>
            <a:ext cx="1097280" cy="685800"/>
          </a:xfrm>
          <a:prstGeom prst="rect">
            <a:avLst/>
          </a:prstGeom>
          <a:noFill/>
        </p:spPr>
        <p:txBody>
          <a:bodyPr wrap="square" lIns="45720" rIns="45720" tIns="27432" bIns="27432" anchor="ctr">
            <a:spAutoFit/>
          </a:bodyPr>
          <a:lstStyle/>
          <a:p>
            <a:pPr algn="l">
              <a:lnSpc>
                <a:spcPct val="110000"/>
              </a:lnSpc>
              <a:spcAft>
                <a:spcPts val="600"/>
              </a:spcAft>
            </a:pPr>
            <a:r>
              <a:rPr sz="2200" b="1" i="0" lang="vi-VN">
                <a:solidFill>
                  <a:srgbClr val="EB6834"/>
                </a:solidFill>
                <a:latin typeface="Arial"/>
              </a:rPr>
              <a:t>27%</a:t>
            </a:r>
          </a:p>
        </p:txBody>
      </p:sp>
      <p:sp>
        <p:nvSpPr>
          <p:cNvPr id="13" name="TextBox 12"/>
          <p:cNvSpPr txBox="1"/>
          <p:nvPr/>
        </p:nvSpPr>
        <p:spPr>
          <a:xfrm>
            <a:off x="9281159" y="4800600"/>
            <a:ext cx="2148840" cy="685800"/>
          </a:xfrm>
          <a:prstGeom prst="rect">
            <a:avLst/>
          </a:prstGeom>
          <a:noFill/>
        </p:spPr>
        <p:txBody>
          <a:bodyPr wrap="square" lIns="45720" rIns="45720" tIns="27432" bIns="27432" anchor="ctr">
            <a:spAutoFit/>
          </a:bodyPr>
          <a:lstStyle/>
          <a:p>
            <a:pPr algn="l">
              <a:lnSpc>
                <a:spcPct val="110000"/>
              </a:lnSpc>
              <a:spcAft>
                <a:spcPts val="0"/>
              </a:spcAft>
            </a:pPr>
            <a:r>
              <a:rPr sz="1200" b="0" i="0" lang="vi-VN">
                <a:solidFill>
                  <a:srgbClr val="1F2937"/>
                </a:solidFill>
                <a:latin typeface="Arial"/>
              </a:rPr>
              <a:t>xe trên 2 tỷ: chỉ 3% dữ liệu, thiếu phiên bản / trang bị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KẾT QUẢ</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Dự đoán so với giá thật: RF bám sát đường chéo</a:t>
            </a:r>
          </a:p>
        </p:txBody>
      </p:sp>
      <p:pic>
        <p:nvPicPr>
          <p:cNvPr id="4" name="Picture 3" descr="m08_du_doan_vs_thuc_te.png"/>
          <p:cNvPicPr>
            <a:picLocks noChangeAspect="1"/>
          </p:cNvPicPr>
          <p:nvPr/>
        </p:nvPicPr>
        <p:blipFill>
          <a:blip r:embed="rId3"/>
          <a:stretch>
            <a:fillRect/>
          </a:stretch>
        </p:blipFill>
        <p:spPr>
          <a:xfrm>
            <a:off x="457200" y="1335954"/>
            <a:ext cx="7863840" cy="3363130"/>
          </a:xfrm>
          <a:prstGeom prst="rect">
            <a:avLst/>
          </a:prstGeom>
        </p:spPr>
      </p:pic>
      <p:sp>
        <p:nvSpPr>
          <p:cNvPr id="5" name="TextBox 4"/>
          <p:cNvSpPr txBox="1"/>
          <p:nvPr/>
        </p:nvSpPr>
        <p:spPr>
          <a:xfrm>
            <a:off x="8503920" y="1463040"/>
            <a:ext cx="3108960" cy="3657600"/>
          </a:xfrm>
          <a:prstGeom prst="rect">
            <a:avLst/>
          </a:prstGeom>
          <a:noFill/>
        </p:spPr>
        <p:txBody>
          <a:bodyPr wrap="square" lIns="45720" rIns="45720" tIns="27432" bIns="27432" anchor="t">
            <a:spAutoFit/>
          </a:bodyPr>
          <a:lstStyle/>
          <a:p>
            <a:pPr algn="l" marL="201168" indent="-201168">
              <a:lnSpc>
                <a:spcPct val="110000"/>
              </a:lnSpc>
              <a:spcAft>
                <a:spcPts val="1000"/>
              </a:spcAft>
              <a:buClr>
                <a:srgbClr val="075289"/>
              </a:buClr>
              <a:buFont typeface="Arial"/>
              <a:buChar char="•"/>
            </a:pPr>
            <a:r>
              <a:rPr sz="1400" b="0" i="0" lang="vi-VN">
                <a:solidFill>
                  <a:srgbClr val="1F2937"/>
                </a:solidFill>
                <a:latin typeface="Arial"/>
              </a:rPr>
              <a:t>R² (log): Ridge 0,873, RF 0,891</a:t>
            </a:r>
          </a:p>
          <a:p>
            <a:pPr algn="l" marL="201168" indent="-201168">
              <a:lnSpc>
                <a:spcPct val="110000"/>
              </a:lnSpc>
              <a:spcAft>
                <a:spcPts val="1000"/>
              </a:spcAft>
              <a:buClr>
                <a:srgbClr val="075289"/>
              </a:buClr>
              <a:buFont typeface="Arial"/>
              <a:buChar char="•"/>
            </a:pPr>
            <a:r>
              <a:rPr sz="1400" b="0" i="0" lang="vi-VN">
                <a:solidFill>
                  <a:srgbClr val="1F2937"/>
                </a:solidFill>
                <a:latin typeface="Arial"/>
              </a:rPr>
              <a:t>Lệch ≤ 20%: Ridge 75%, RF 80%</a:t>
            </a:r>
          </a:p>
          <a:p>
            <a:pPr algn="l" marL="201168" indent="-201168">
              <a:lnSpc>
                <a:spcPct val="110000"/>
              </a:lnSpc>
              <a:spcAft>
                <a:spcPts val="1000"/>
              </a:spcAft>
              <a:buClr>
                <a:srgbClr val="075289"/>
              </a:buClr>
              <a:buFont typeface="Arial"/>
              <a:buChar char="•"/>
            </a:pPr>
            <a:r>
              <a:rPr sz="1400" b="0" i="0" lang="vi-VN">
                <a:solidFill>
                  <a:srgbClr val="1F2937"/>
                </a:solidFill>
                <a:latin typeface="Arial"/>
              </a:rPr>
              <a:t>Không đoán lệch hệ thống (phần dư quanh 0)</a:t>
            </a:r>
          </a:p>
          <a:p>
            <a:pPr algn="l" marL="201168" indent="-201168">
              <a:lnSpc>
                <a:spcPct val="110000"/>
              </a:lnSpc>
              <a:spcAft>
                <a:spcPts val="1000"/>
              </a:spcAft>
              <a:buClr>
                <a:srgbClr val="075289"/>
              </a:buClr>
              <a:buFont typeface="Arial"/>
              <a:buChar char="•"/>
            </a:pPr>
            <a:r>
              <a:rPr sz="1400" b="0" i="0" lang="vi-VN">
                <a:solidFill>
                  <a:srgbClr val="1F2937"/>
                </a:solidFill>
                <a:latin typeface="Arial"/>
              </a:rPr>
              <a:t>Điểm xa đường chéo nhất: xe rất rẻ và xe sang</a:t>
            </a:r>
          </a:p>
        </p:txBody>
      </p:sp>
      <p:sp>
        <p:nvSpPr>
          <p:cNvPr id="6" name="TextBox 5"/>
          <p:cNvSpPr txBox="1"/>
          <p:nvPr/>
        </p:nvSpPr>
        <p:spPr>
          <a:xfrm>
            <a:off x="548640" y="4846320"/>
            <a:ext cx="1106424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5B6775"/>
                </a:solidFill>
                <a:latin typeface="Arial"/>
              </a:rPr>
              <a:t>Giá dự đoán = exp(dự đoán log giá), tức ước lượng trung vị của giá; phù hợp với MAPE.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KẾT QUẢ</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Chênh lệch có ý nghĩa thống kê không? Bootstrap ghép cặp</a:t>
            </a:r>
          </a:p>
        </p:txBody>
      </p:sp>
      <p:pic>
        <p:nvPicPr>
          <p:cNvPr id="4" name="Picture 3" descr="m10_khoang_tin_cay.png"/>
          <p:cNvPicPr>
            <a:picLocks noChangeAspect="1"/>
          </p:cNvPicPr>
          <p:nvPr/>
        </p:nvPicPr>
        <p:blipFill>
          <a:blip r:embed="rId3"/>
          <a:stretch>
            <a:fillRect/>
          </a:stretch>
        </p:blipFill>
        <p:spPr>
          <a:xfrm>
            <a:off x="365760" y="1479758"/>
            <a:ext cx="6858000" cy="2984083"/>
          </a:xfrm>
          <a:prstGeom prst="rect">
            <a:avLst/>
          </a:prstGeom>
        </p:spPr>
      </p:pic>
      <p:sp>
        <p:nvSpPr>
          <p:cNvPr id="5" name="TextBox 4"/>
          <p:cNvSpPr txBox="1"/>
          <p:nvPr/>
        </p:nvSpPr>
        <p:spPr>
          <a:xfrm>
            <a:off x="548640" y="4572000"/>
            <a:ext cx="658368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5B6775"/>
                </a:solidFill>
                <a:latin typeface="Arial"/>
              </a:rPr>
              <a:t>Bốc lại tập test 1.000 lần → khoảng chứa 95% giá trị MAPE ở giữa</a:t>
            </a:r>
          </a:p>
        </p:txBody>
      </p:sp>
      <p:sp>
        <p:nvSpPr>
          <p:cNvPr id="6" name="Rounded Rectangle 5"/>
          <p:cNvSpPr/>
          <p:nvPr/>
        </p:nvSpPr>
        <p:spPr>
          <a:xfrm>
            <a:off x="7406640" y="1463040"/>
            <a:ext cx="4206240" cy="141732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589520" y="1536192"/>
            <a:ext cx="384048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FFFF"/>
                </a:solidFill>
                <a:latin typeface="Arial"/>
              </a:rPr>
              <a:t>RF tốt hơn Ridge</a:t>
            </a:r>
          </a:p>
        </p:txBody>
      </p:sp>
      <p:sp>
        <p:nvSpPr>
          <p:cNvPr id="8" name="TextBox 7"/>
          <p:cNvSpPr txBox="1"/>
          <p:nvPr/>
        </p:nvSpPr>
        <p:spPr>
          <a:xfrm>
            <a:off x="7589520" y="1965960"/>
            <a:ext cx="1828800" cy="548640"/>
          </a:xfrm>
          <a:prstGeom prst="rect">
            <a:avLst/>
          </a:prstGeom>
          <a:noFill/>
        </p:spPr>
        <p:txBody>
          <a:bodyPr wrap="square" lIns="45720" rIns="45720" tIns="27432" bIns="27432" anchor="t">
            <a:spAutoFit/>
          </a:bodyPr>
          <a:lstStyle/>
          <a:p>
            <a:pPr algn="l">
              <a:lnSpc>
                <a:spcPct val="110000"/>
              </a:lnSpc>
              <a:spcAft>
                <a:spcPts val="600"/>
              </a:spcAft>
            </a:pPr>
            <a:r>
              <a:rPr sz="2200" b="1" i="0" lang="vi-VN">
                <a:solidFill>
                  <a:srgbClr val="FFD400"/>
                </a:solidFill>
                <a:latin typeface="Arial"/>
              </a:rPr>
              <a:t>3,0 điểm %</a:t>
            </a:r>
          </a:p>
        </p:txBody>
      </p:sp>
      <p:sp>
        <p:nvSpPr>
          <p:cNvPr id="9" name="TextBox 8"/>
          <p:cNvSpPr txBox="1"/>
          <p:nvPr/>
        </p:nvSpPr>
        <p:spPr>
          <a:xfrm>
            <a:off x="9418320" y="1920240"/>
            <a:ext cx="2148840" cy="868680"/>
          </a:xfrm>
          <a:prstGeom prst="rect">
            <a:avLst/>
          </a:prstGeom>
          <a:noFill/>
        </p:spPr>
        <p:txBody>
          <a:bodyPr wrap="square" lIns="45720" rIns="45720" tIns="27432" bIns="27432" anchor="t">
            <a:spAutoFit/>
          </a:bodyPr>
          <a:lstStyle/>
          <a:p>
            <a:pPr algn="l">
              <a:lnSpc>
                <a:spcPct val="110000"/>
              </a:lnSpc>
              <a:spcAft>
                <a:spcPts val="200"/>
              </a:spcAft>
            </a:pPr>
            <a:r>
              <a:rPr sz="1200" b="0" i="0" lang="vi-VN">
                <a:solidFill>
                  <a:srgbClr val="FFFFFF"/>
                </a:solidFill>
                <a:latin typeface="Arial"/>
              </a:rPr>
              <a:t>KTC 95%: 2,1 → 4,0</a:t>
            </a:r>
          </a:p>
          <a:p>
            <a:pPr algn="l">
              <a:lnSpc>
                <a:spcPct val="110000"/>
              </a:lnSpc>
              <a:spcAft>
                <a:spcPts val="200"/>
              </a:spcAft>
            </a:pPr>
            <a:r>
              <a:rPr sz="1200" b="0" i="0" lang="vi-VN">
                <a:solidFill>
                  <a:srgbClr val="FFFFFF"/>
                </a:solidFill>
                <a:latin typeface="Arial"/>
              </a:rPr>
              <a:t>không chứa 0 → có ý nghĩa</a:t>
            </a:r>
          </a:p>
        </p:txBody>
      </p:sp>
      <p:sp>
        <p:nvSpPr>
          <p:cNvPr id="10" name="Rounded Rectangle 9"/>
          <p:cNvSpPr/>
          <p:nvPr/>
        </p:nvSpPr>
        <p:spPr>
          <a:xfrm>
            <a:off x="7406640" y="3063240"/>
            <a:ext cx="4206240" cy="141732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89520" y="3136392"/>
            <a:ext cx="384048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RF tự cài đặt − thư viện</a:t>
            </a:r>
          </a:p>
        </p:txBody>
      </p:sp>
      <p:sp>
        <p:nvSpPr>
          <p:cNvPr id="12" name="TextBox 11"/>
          <p:cNvSpPr txBox="1"/>
          <p:nvPr/>
        </p:nvSpPr>
        <p:spPr>
          <a:xfrm>
            <a:off x="7589520" y="3566160"/>
            <a:ext cx="1828800" cy="548640"/>
          </a:xfrm>
          <a:prstGeom prst="rect">
            <a:avLst/>
          </a:prstGeom>
          <a:noFill/>
        </p:spPr>
        <p:txBody>
          <a:bodyPr wrap="square" lIns="45720" rIns="45720" tIns="27432" bIns="27432" anchor="t">
            <a:spAutoFit/>
          </a:bodyPr>
          <a:lstStyle/>
          <a:p>
            <a:pPr algn="l">
              <a:lnSpc>
                <a:spcPct val="110000"/>
              </a:lnSpc>
              <a:spcAft>
                <a:spcPts val="600"/>
              </a:spcAft>
            </a:pPr>
            <a:r>
              <a:rPr sz="2200" b="1" i="0" lang="vi-VN">
                <a:solidFill>
                  <a:srgbClr val="EB6834"/>
                </a:solidFill>
                <a:latin typeface="Arial"/>
              </a:rPr>
              <a:t>0,19 điểm %</a:t>
            </a:r>
          </a:p>
        </p:txBody>
      </p:sp>
      <p:sp>
        <p:nvSpPr>
          <p:cNvPr id="13" name="TextBox 12"/>
          <p:cNvSpPr txBox="1"/>
          <p:nvPr/>
        </p:nvSpPr>
        <p:spPr>
          <a:xfrm>
            <a:off x="9418320" y="3520440"/>
            <a:ext cx="2148840" cy="868680"/>
          </a:xfrm>
          <a:prstGeom prst="rect">
            <a:avLst/>
          </a:prstGeom>
          <a:noFill/>
        </p:spPr>
        <p:txBody>
          <a:bodyPr wrap="square" lIns="45720" rIns="45720" tIns="27432" bIns="27432" anchor="t">
            <a:spAutoFit/>
          </a:bodyPr>
          <a:lstStyle/>
          <a:p>
            <a:pPr algn="l">
              <a:lnSpc>
                <a:spcPct val="110000"/>
              </a:lnSpc>
              <a:spcAft>
                <a:spcPts val="200"/>
              </a:spcAft>
            </a:pPr>
            <a:r>
              <a:rPr sz="1200" b="0" i="0" lang="vi-VN">
                <a:solidFill>
                  <a:srgbClr val="1F2937"/>
                </a:solidFill>
                <a:latin typeface="Arial"/>
              </a:rPr>
              <a:t>KTC 95%: −0,04 → 0,46</a:t>
            </a:r>
          </a:p>
          <a:p>
            <a:pPr algn="l">
              <a:lnSpc>
                <a:spcPct val="110000"/>
              </a:lnSpc>
              <a:spcAft>
                <a:spcPts val="200"/>
              </a:spcAft>
            </a:pPr>
            <a:r>
              <a:rPr sz="1200" b="0" i="0" lang="vi-VN">
                <a:solidFill>
                  <a:srgbClr val="1F2937"/>
                </a:solidFill>
                <a:latin typeface="Arial"/>
              </a:rPr>
              <a:t>chứa 0 → ngang nhau</a:t>
            </a:r>
          </a:p>
        </p:txBody>
      </p:sp>
      <p:sp>
        <p:nvSpPr>
          <p:cNvPr id="14" name="Rounded Rectangle 13"/>
          <p:cNvSpPr/>
          <p:nvPr/>
        </p:nvSpPr>
        <p:spPr>
          <a:xfrm>
            <a:off x="7406640" y="4663440"/>
            <a:ext cx="4206240" cy="82296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43800" y="4681728"/>
            <a:ext cx="3931920" cy="777240"/>
          </a:xfrm>
          <a:prstGeom prst="rect">
            <a:avLst/>
          </a:prstGeom>
          <a:noFill/>
        </p:spPr>
        <p:txBody>
          <a:bodyPr wrap="square" lIns="45720" rIns="45720" tIns="27432" bIns="27432" anchor="ctr">
            <a:spAutoFit/>
          </a:bodyPr>
          <a:lstStyle/>
          <a:p>
            <a:pPr algn="l">
              <a:lnSpc>
                <a:spcPct val="110000"/>
              </a:lnSpc>
              <a:spcAft>
                <a:spcPts val="600"/>
              </a:spcAft>
            </a:pPr>
            <a:r>
              <a:rPr sz="1300" b="0" i="0" lang="vi-VN">
                <a:solidFill>
                  <a:srgbClr val="1F2937"/>
                </a:solidFill>
                <a:latin typeface="Arial"/>
              </a:rPr>
              <a:t>Quy tắc: khoảng của hiệu không chứa 0 thì chênh lệch là thật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DIỄN GIẢI</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Đặc trưng nào quyết định giá? Hai cách đo</a:t>
            </a:r>
          </a:p>
        </p:txBody>
      </p:sp>
      <p:pic>
        <p:nvPicPr>
          <p:cNvPr id="4" name="Picture 3" descr="m15_permutation_importance.png"/>
          <p:cNvPicPr>
            <a:picLocks noChangeAspect="1"/>
          </p:cNvPicPr>
          <p:nvPr/>
        </p:nvPicPr>
        <p:blipFill>
          <a:blip r:embed="rId3"/>
          <a:stretch>
            <a:fillRect/>
          </a:stretch>
        </p:blipFill>
        <p:spPr>
          <a:xfrm>
            <a:off x="1435688" y="1280160"/>
            <a:ext cx="9290143" cy="3291840"/>
          </a:xfrm>
          <a:prstGeom prst="rect">
            <a:avLst/>
          </a:prstGeom>
        </p:spPr>
      </p:pic>
      <p:sp>
        <p:nvSpPr>
          <p:cNvPr id="5" name="Rounded Rectangle 4"/>
          <p:cNvSpPr/>
          <p:nvPr/>
        </p:nvSpPr>
        <p:spPr>
          <a:xfrm>
            <a:off x="548640" y="4617720"/>
            <a:ext cx="3474720" cy="91440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6908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FFD400"/>
                </a:solidFill>
                <a:latin typeface="Arial"/>
              </a:rPr>
              <a:t>Tuổi xe đứng đầu</a:t>
            </a:r>
          </a:p>
        </p:txBody>
      </p:sp>
      <p:sp>
        <p:nvSpPr>
          <p:cNvPr id="7" name="TextBox 6"/>
          <p:cNvSpPr txBox="1"/>
          <p:nvPr/>
        </p:nvSpPr>
        <p:spPr>
          <a:xfrm>
            <a:off x="731520" y="5074920"/>
            <a:ext cx="3108960" cy="41147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FFFFFF"/>
                </a:solidFill>
                <a:latin typeface="Arial"/>
              </a:rPr>
              <a:t>xáo trộn làm MAPE tăng 43 điểm %</a:t>
            </a:r>
          </a:p>
        </p:txBody>
      </p:sp>
      <p:sp>
        <p:nvSpPr>
          <p:cNvPr id="8" name="Rounded Rectangle 7"/>
          <p:cNvSpPr/>
          <p:nvPr/>
        </p:nvSpPr>
        <p:spPr>
          <a:xfrm>
            <a:off x="4297679" y="4617720"/>
            <a:ext cx="3474720" cy="9144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59" y="46908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Hộp số: hạng 2 → 4</a:t>
            </a:r>
          </a:p>
        </p:txBody>
      </p:sp>
      <p:sp>
        <p:nvSpPr>
          <p:cNvPr id="10" name="TextBox 9"/>
          <p:cNvSpPr txBox="1"/>
          <p:nvPr/>
        </p:nvSpPr>
        <p:spPr>
          <a:xfrm>
            <a:off x="4480559" y="5074920"/>
            <a:ext cx="3108960" cy="41147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trùng thông tin với tuổi xe</a:t>
            </a:r>
          </a:p>
        </p:txBody>
      </p:sp>
      <p:sp>
        <p:nvSpPr>
          <p:cNvPr id="11" name="Rounded Rectangle 10"/>
          <p:cNvSpPr/>
          <p:nvPr/>
        </p:nvSpPr>
        <p:spPr>
          <a:xfrm>
            <a:off x="8046719" y="4617720"/>
            <a:ext cx="3474720" cy="91440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9" y="4690872"/>
            <a:ext cx="3108960" cy="365760"/>
          </a:xfrm>
          <a:prstGeom prst="rect">
            <a:avLst/>
          </a:prstGeom>
          <a:noFill/>
        </p:spPr>
        <p:txBody>
          <a:bodyPr wrap="square" lIns="45720" rIns="45720" tIns="27432" bIns="27432" anchor="t">
            <a:spAutoFit/>
          </a:bodyPr>
          <a:lstStyle/>
          <a:p>
            <a:pPr algn="l">
              <a:lnSpc>
                <a:spcPct val="110000"/>
              </a:lnSpc>
              <a:spcAft>
                <a:spcPts val="600"/>
              </a:spcAft>
            </a:pPr>
            <a:r>
              <a:rPr sz="1400" b="1" i="0" lang="vi-VN">
                <a:solidFill>
                  <a:srgbClr val="075289"/>
                </a:solidFill>
                <a:latin typeface="Arial"/>
              </a:rPr>
              <a:t>Hãng: hạng 3 → 2</a:t>
            </a:r>
          </a:p>
        </p:txBody>
      </p:sp>
      <p:sp>
        <p:nvSpPr>
          <p:cNvPr id="13" name="TextBox 12"/>
          <p:cNvSpPr txBox="1"/>
          <p:nvPr/>
        </p:nvSpPr>
        <p:spPr>
          <a:xfrm>
            <a:off x="8229599" y="5074920"/>
            <a:ext cx="3108960" cy="411479"/>
          </a:xfrm>
          <a:prstGeom prst="rect">
            <a:avLst/>
          </a:prstGeom>
          <a:noFill/>
        </p:spPr>
        <p:txBody>
          <a:bodyPr wrap="square" lIns="45720" rIns="45720" tIns="27432" bIns="27432" anchor="t">
            <a:spAutoFit/>
          </a:bodyPr>
          <a:lstStyle/>
          <a:p>
            <a:pPr algn="l">
              <a:lnSpc>
                <a:spcPct val="110000"/>
              </a:lnSpc>
              <a:spcAft>
                <a:spcPts val="400"/>
              </a:spcAft>
            </a:pPr>
            <a:r>
              <a:rPr sz="1200" b="0" i="0" lang="vi-VN">
                <a:solidFill>
                  <a:srgbClr val="1F2937"/>
                </a:solidFill>
                <a:latin typeface="Arial"/>
              </a:rPr>
              <a:t>giá thương hiệu khó thay thế</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DIỄN GIẢI</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Random Forest học được mỗi dòng xe khấu hao khác nhau</a:t>
            </a:r>
          </a:p>
        </p:txBody>
      </p:sp>
      <p:pic>
        <p:nvPicPr>
          <p:cNvPr id="4" name="Picture 3" descr="m13_duong_khau_hao.png"/>
          <p:cNvPicPr>
            <a:picLocks noChangeAspect="1"/>
          </p:cNvPicPr>
          <p:nvPr/>
        </p:nvPicPr>
        <p:blipFill>
          <a:blip r:embed="rId3"/>
          <a:stretch>
            <a:fillRect/>
          </a:stretch>
        </p:blipFill>
        <p:spPr>
          <a:xfrm>
            <a:off x="457200" y="1662748"/>
            <a:ext cx="11247120" cy="2846703"/>
          </a:xfrm>
          <a:prstGeom prst="rect">
            <a:avLst/>
          </a:prstGeom>
        </p:spPr>
      </p:pic>
      <p:sp>
        <p:nvSpPr>
          <p:cNvPr id="5" name="TextBox 4"/>
          <p:cNvSpPr txBox="1"/>
          <p:nvPr/>
        </p:nvSpPr>
        <p:spPr>
          <a:xfrm>
            <a:off x="548640" y="4892040"/>
            <a:ext cx="11064240" cy="68580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Vì sao Random Forest chính xác hơn: </a:t>
            </a:r>
            <a:r>
              <a:rPr sz="1500" b="0" i="0" lang="vi-VN">
                <a:solidFill>
                  <a:srgbClr val="1F2937"/>
                </a:solidFill>
                <a:latin typeface="Arial"/>
              </a:rPr>
              <a:t>giá phụ thuộc phi tuyến và có tương tác giữa các đặc trưng. Mức chênh 3 điểm % chính là phần mô hình tuyến tính bỏ lỡ.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THÍ NGHIỆM</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Log giá và xử lý mất cân bằng: kiểm chứng bằng CV trên train</a:t>
            </a:r>
          </a:p>
        </p:txBody>
      </p:sp>
      <p:pic>
        <p:nvPicPr>
          <p:cNvPr id="4" name="Picture 3" descr="m14_log_va_mat_can_bang.png"/>
          <p:cNvPicPr>
            <a:picLocks noChangeAspect="1"/>
          </p:cNvPicPr>
          <p:nvPr/>
        </p:nvPicPr>
        <p:blipFill>
          <a:blip r:embed="rId3"/>
          <a:stretch>
            <a:fillRect/>
          </a:stretch>
        </p:blipFill>
        <p:spPr>
          <a:xfrm>
            <a:off x="457200" y="1418282"/>
            <a:ext cx="11247120" cy="3152755"/>
          </a:xfrm>
          <a:prstGeom prst="rect">
            <a:avLst/>
          </a:prstGeom>
        </p:spPr>
      </p:pic>
      <p:sp>
        <p:nvSpPr>
          <p:cNvPr id="5" name="Rounded Rectangle 4"/>
          <p:cNvSpPr/>
          <p:nvPr/>
        </p:nvSpPr>
        <p:spPr>
          <a:xfrm>
            <a:off x="548640" y="4709160"/>
            <a:ext cx="3474720" cy="82296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754880"/>
            <a:ext cx="320040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D400"/>
                </a:solidFill>
                <a:latin typeface="Arial"/>
              </a:rPr>
              <a:t>Log giá</a:t>
            </a:r>
          </a:p>
        </p:txBody>
      </p:sp>
      <p:sp>
        <p:nvSpPr>
          <p:cNvPr id="7" name="TextBox 6"/>
          <p:cNvSpPr txBox="1"/>
          <p:nvPr/>
        </p:nvSpPr>
        <p:spPr>
          <a:xfrm>
            <a:off x="731520" y="5102352"/>
            <a:ext cx="320040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FFFFFF"/>
                </a:solidFill>
                <a:latin typeface="Arial"/>
              </a:rPr>
              <a:t>19,6% → 16,2% MAPE tổng</a:t>
            </a:r>
          </a:p>
        </p:txBody>
      </p:sp>
      <p:sp>
        <p:nvSpPr>
          <p:cNvPr id="8" name="Rounded Rectangle 7"/>
          <p:cNvSpPr/>
          <p:nvPr/>
        </p:nvSpPr>
        <p:spPr>
          <a:xfrm>
            <a:off x="4297679" y="4709160"/>
            <a:ext cx="3474720" cy="82296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59" y="4754880"/>
            <a:ext cx="320040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Oversampling</a:t>
            </a:r>
          </a:p>
        </p:txBody>
      </p:sp>
      <p:sp>
        <p:nvSpPr>
          <p:cNvPr id="10" name="TextBox 9"/>
          <p:cNvSpPr txBox="1"/>
          <p:nvPr/>
        </p:nvSpPr>
        <p:spPr>
          <a:xfrm>
            <a:off x="4480559" y="5102352"/>
            <a:ext cx="320040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xe &gt; 2 tỷ: 27,4% → 24,5%</a:t>
            </a:r>
          </a:p>
        </p:txBody>
      </p:sp>
      <p:sp>
        <p:nvSpPr>
          <p:cNvPr id="11" name="Rounded Rectangle 10"/>
          <p:cNvSpPr/>
          <p:nvPr/>
        </p:nvSpPr>
        <p:spPr>
          <a:xfrm>
            <a:off x="8046719" y="4709160"/>
            <a:ext cx="3474720" cy="82296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9" y="4754880"/>
            <a:ext cx="320040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Undersampling</a:t>
            </a:r>
          </a:p>
        </p:txBody>
      </p:sp>
      <p:sp>
        <p:nvSpPr>
          <p:cNvPr id="13" name="TextBox 12"/>
          <p:cNvSpPr txBox="1"/>
          <p:nvPr/>
        </p:nvSpPr>
        <p:spPr>
          <a:xfrm>
            <a:off x="8229599" y="5102352"/>
            <a:ext cx="3200400" cy="3657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mất 22% dữ liệu, MAPE 16,8%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HẠN CHẾ</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Hai nguồn sai lệch: tin đăng lại và nhãn sai còn sót</a:t>
            </a:r>
          </a:p>
        </p:txBody>
      </p:sp>
      <p:sp>
        <p:nvSpPr>
          <p:cNvPr id="4" name="TextBox 3"/>
          <p:cNvSpPr txBox="1"/>
          <p:nvPr/>
        </p:nvSpPr>
        <p:spPr>
          <a:xfrm>
            <a:off x="548640" y="1417320"/>
            <a:ext cx="512064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Chia ngẫu nhiên so với chia theo nhóm (CV)</a:t>
            </a:r>
          </a:p>
        </p:txBody>
      </p:sp>
      <p:graphicFrame>
        <p:nvGraphicFramePr>
          <p:cNvPr id="5" name="Table 4"/>
          <p:cNvGraphicFramePr>
            <a:graphicFrameLocks noGrp="1"/>
          </p:cNvGraphicFramePr>
          <p:nvPr/>
        </p:nvGraphicFramePr>
        <p:xfrm>
          <a:off x="548640" y="1828800"/>
          <a:ext cx="5120640" cy="1371600"/>
        </p:xfrm>
        <a:graphic>
          <a:graphicData uri="http://schemas.openxmlformats.org/drawingml/2006/table">
            <a:tbl>
              <a:tblPr firstRow="0" bandRow="0">
                <a:tableStyleId>{5940675A-B579-460E-94D1-54222C63F5DA}</a:tableStyleId>
              </a:tblPr>
              <a:tblGrid>
                <a:gridCol w="1828800"/>
                <a:gridCol w="1097280"/>
                <a:gridCol w="1097280"/>
                <a:gridCol w="1097280"/>
              </a:tblGrid>
              <a:tr h="457200">
                <a:tc>
                  <a:txBody>
                    <a:bodyPr wrap="square"/>
                    <a:lstStyle/>
                    <a:p>
                      <a:r>
                        <a:rPr sz="1400" b="1" i="0" lang="vi-VN">
                          <a:solidFill>
                            <a:srgbClr val="FFFFFF"/>
                          </a:solidFill>
                          <a:latin typeface="Arial"/>
                        </a:rPr>
                        <a:t>Cách chia</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MAPE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&lt; 200 tr</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1" i="0" lang="vi-VN">
                          <a:solidFill>
                            <a:srgbClr val="FFFFFF"/>
                          </a:solidFill>
                          <a:latin typeface="Arial"/>
                        </a:rPr>
                        <a:t>&gt; 2 tỷ</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Ngẫu nhiên</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16,1%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35,7%</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27,6%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400" b="1" i="0" lang="vi-VN">
                          <a:solidFill>
                            <a:srgbClr val="1F2937"/>
                          </a:solidFill>
                          <a:latin typeface="Arial"/>
                        </a:rPr>
                        <a:t>Theo nhóm</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16,7%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38,0%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400" b="0" i="0" lang="vi-VN">
                          <a:solidFill>
                            <a:srgbClr val="1F2937"/>
                          </a:solidFill>
                          <a:latin typeface="Arial"/>
                        </a:rPr>
                        <a:t>28,7%</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6" name="Rounded Rectangle 5"/>
          <p:cNvSpPr/>
          <p:nvPr/>
        </p:nvSpPr>
        <p:spPr>
          <a:xfrm>
            <a:off x="548640" y="3429000"/>
            <a:ext cx="5120640" cy="205740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3502152"/>
            <a:ext cx="4754879"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FFD400"/>
                </a:solidFill>
                <a:latin typeface="Arial"/>
              </a:rPr>
              <a:t>Ước lượng thận trọng: 16-16,5%</a:t>
            </a:r>
          </a:p>
        </p:txBody>
      </p:sp>
      <p:sp>
        <p:nvSpPr>
          <p:cNvPr id="8" name="TextBox 7"/>
          <p:cNvSpPr txBox="1"/>
          <p:nvPr/>
        </p:nvSpPr>
        <p:spPr>
          <a:xfrm>
            <a:off x="731520" y="3886200"/>
            <a:ext cx="4754879" cy="1554480"/>
          </a:xfrm>
          <a:prstGeom prst="rect">
            <a:avLst/>
          </a:prstGeom>
          <a:noFill/>
        </p:spPr>
        <p:txBody>
          <a:bodyPr wrap="square" lIns="45720" rIns="45720" tIns="27432" bIns="27432" anchor="t">
            <a:spAutoFit/>
          </a:bodyPr>
          <a:lstStyle/>
          <a:p>
            <a:pPr algn="l">
              <a:lnSpc>
                <a:spcPct val="110000"/>
              </a:lnSpc>
              <a:spcAft>
                <a:spcPts val="400"/>
              </a:spcAft>
            </a:pPr>
            <a:r>
              <a:rPr sz="1300" b="0" i="0" lang="vi-VN">
                <a:solidFill>
                  <a:srgbClr val="FFFFFF"/>
                </a:solidFill>
                <a:latin typeface="Arial"/>
              </a:rPr>
              <a:t>14% tin test có bản sao trong train: MAPE 10,9% so với 16,2% ở phần còn lại</a:t>
            </a:r>
          </a:p>
          <a:p>
            <a:pPr algn="l">
              <a:lnSpc>
                <a:spcPct val="110000"/>
              </a:lnSpc>
              <a:spcAft>
                <a:spcPts val="400"/>
              </a:spcAft>
            </a:pPr>
            <a:r>
              <a:rPr sz="1300" b="0" i="0" lang="vi-VN">
                <a:solidFill>
                  <a:srgbClr val="FFFFFF"/>
                </a:solidFill>
                <a:latin typeface="Arial"/>
              </a:rPr>
              <a:t>Mức lạc quan có nhưng nhỏ, không đổi kết luận</a:t>
            </a:r>
          </a:p>
        </p:txBody>
      </p:sp>
      <p:sp>
        <p:nvSpPr>
          <p:cNvPr id="9" name="TextBox 8"/>
          <p:cNvSpPr txBox="1"/>
          <p:nvPr/>
        </p:nvSpPr>
        <p:spPr>
          <a:xfrm>
            <a:off x="5943600" y="1417320"/>
            <a:ext cx="566928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Xe bị đoán sai nhiều nhất (triệu đồng)</a:t>
            </a:r>
          </a:p>
        </p:txBody>
      </p:sp>
      <p:graphicFrame>
        <p:nvGraphicFramePr>
          <p:cNvPr id="10" name="Table 9"/>
          <p:cNvGraphicFramePr>
            <a:graphicFrameLocks noGrp="1"/>
          </p:cNvGraphicFramePr>
          <p:nvPr/>
        </p:nvGraphicFramePr>
        <p:xfrm>
          <a:off x="5943600" y="1828800"/>
          <a:ext cx="5669280" cy="2578608"/>
        </p:xfrm>
        <a:graphic>
          <a:graphicData uri="http://schemas.openxmlformats.org/drawingml/2006/table">
            <a:tbl>
              <a:tblPr firstRow="0" bandRow="0">
                <a:tableStyleId>{5940675A-B579-460E-94D1-54222C63F5DA}</a:tableStyleId>
              </a:tblPr>
              <a:tblGrid>
                <a:gridCol w="2560320"/>
                <a:gridCol w="1188720"/>
                <a:gridCol w="914400"/>
                <a:gridCol w="1005840"/>
              </a:tblGrid>
              <a:tr h="429768">
                <a:tc>
                  <a:txBody>
                    <a:bodyPr wrap="square"/>
                    <a:lstStyle/>
                    <a:p>
                      <a:r>
                        <a:rPr sz="1300" b="1" i="0" lang="vi-VN">
                          <a:solidFill>
                            <a:srgbClr val="FFFFFF"/>
                          </a:solidFill>
                          <a:latin typeface="Arial"/>
                        </a:rPr>
                        <a:t>Xe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Tình trạng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Giá rao</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Dự đoán</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29768">
                <a:tc>
                  <a:txBody>
                    <a:bodyPr wrap="square"/>
                    <a:lstStyle/>
                    <a:p>
                      <a:r>
                        <a:rPr sz="1300" b="1" i="0" lang="vi-VN">
                          <a:solidFill>
                            <a:srgbClr val="1F2937"/>
                          </a:solidFill>
                          <a:latin typeface="Arial"/>
                        </a:rPr>
                        <a:t>Hyundai Starex 2023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dùng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35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655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29768">
                <a:tc>
                  <a:txBody>
                    <a:bodyPr wrap="square"/>
                    <a:lstStyle/>
                    <a:p>
                      <a:r>
                        <a:rPr sz="1300" b="1" i="0" lang="vi-VN">
                          <a:solidFill>
                            <a:srgbClr val="1F2937"/>
                          </a:solidFill>
                          <a:latin typeface="Arial"/>
                        </a:rPr>
                        <a:t>Toyota 4 Runner 2025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dùng</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115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819</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29768">
                <a:tc>
                  <a:txBody>
                    <a:bodyPr wrap="square"/>
                    <a:lstStyle/>
                    <a:p>
                      <a:r>
                        <a:rPr sz="1300" b="1" i="0" lang="vi-VN">
                          <a:solidFill>
                            <a:srgbClr val="1F2937"/>
                          </a:solidFill>
                          <a:latin typeface="Arial"/>
                        </a:rPr>
                        <a:t>Hyundai Accent 2026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Mới</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90</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464</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29768">
                <a:tc>
                  <a:txBody>
                    <a:bodyPr wrap="square"/>
                    <a:lstStyle/>
                    <a:p>
                      <a:r>
                        <a:rPr sz="1300" b="1" i="0" lang="vi-VN">
                          <a:solidFill>
                            <a:srgbClr val="1F2937"/>
                          </a:solidFill>
                          <a:latin typeface="Arial"/>
                        </a:rPr>
                        <a:t>Mitsubishi Xforce 2025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dùng</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170</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612</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29768">
                <a:tc>
                  <a:txBody>
                    <a:bodyPr wrap="square"/>
                    <a:lstStyle/>
                    <a:p>
                      <a:r>
                        <a:rPr sz="1300" b="1" i="0" lang="vi-VN">
                          <a:solidFill>
                            <a:srgbClr val="1F2937"/>
                          </a:solidFill>
                          <a:latin typeface="Arial"/>
                        </a:rPr>
                        <a:t>Ford Ranger 2024</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Đã dùng</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225</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616</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11" name="TextBox 10"/>
          <p:cNvSpPr txBox="1"/>
          <p:nvPr/>
        </p:nvSpPr>
        <p:spPr>
          <a:xfrm>
            <a:off x="5943600" y="4526280"/>
            <a:ext cx="5669280" cy="365760"/>
          </a:xfrm>
          <a:prstGeom prst="rect">
            <a:avLst/>
          </a:prstGeom>
          <a:noFill/>
        </p:spPr>
        <p:txBody>
          <a:bodyPr wrap="square" lIns="45720" rIns="45720" tIns="27432" bIns="27432" anchor="t">
            <a:spAutoFit/>
          </a:bodyPr>
          <a:lstStyle/>
          <a:p>
            <a:pPr algn="l">
              <a:lnSpc>
                <a:spcPct val="110000"/>
              </a:lnSpc>
              <a:spcAft>
                <a:spcPts val="600"/>
              </a:spcAft>
            </a:pPr>
            <a:r>
              <a:rPr sz="1200" b="0" i="0" lang="vi-VN">
                <a:solidFill>
                  <a:srgbClr val="5B6775"/>
                </a:solidFill>
                <a:latin typeface="Arial"/>
              </a:rPr>
              <a:t>Xe đời mới rao vài chục triệu: gần như chắc chắn là giá trả trước lọt qua luật lọc (nhóm &lt; 3 xe).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PHẦN 5 · TRIỂN KHAI</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Lưu mô hình và dự đoán từ thông tin thô của xe</a:t>
            </a:r>
          </a:p>
        </p:txBody>
      </p:sp>
      <p:graphicFrame>
        <p:nvGraphicFramePr>
          <p:cNvPr id="4" name="Table 3"/>
          <p:cNvGraphicFramePr>
            <a:graphicFrameLocks noGrp="1"/>
          </p:cNvGraphicFramePr>
          <p:nvPr/>
        </p:nvGraphicFramePr>
        <p:xfrm>
          <a:off x="548640" y="1463040"/>
          <a:ext cx="6035040" cy="2743200"/>
        </p:xfrm>
        <a:graphic>
          <a:graphicData uri="http://schemas.openxmlformats.org/drawingml/2006/table">
            <a:tbl>
              <a:tblPr firstRow="0" bandRow="0">
                <a:tableStyleId>{5940675A-B579-460E-94D1-54222C63F5DA}</a:tableStyleId>
              </a:tblPr>
              <a:tblGrid>
                <a:gridCol w="2834640"/>
                <a:gridCol w="3200400"/>
              </a:tblGrid>
              <a:tr h="457200">
                <a:tc>
                  <a:txBody>
                    <a:bodyPr wrap="square"/>
                    <a:lstStyle/>
                    <a:p>
                      <a:r>
                        <a:rPr sz="1300" b="1" i="0" lang="vi-VN">
                          <a:solidFill>
                            <a:srgbClr val="FFFFFF"/>
                          </a:solidFill>
                          <a:latin typeface="Arial"/>
                        </a:rPr>
                        <a:t>File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Nội dung</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random_forest_sklearn.joblib</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rừng thư viện (300 cây)</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random_forest_scratch.npz</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các cây và ngưỡng bin của rừng tự cài đặt</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preprocessor_rf.joblib</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bộ mã hóa one-hot (fit trên train)</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metadata.json</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bảng gộp nhãn, trung vị km theo năm, metric</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r h="457200">
                <a:tc>
                  <a:txBody>
                    <a:bodyPr wrap="square"/>
                    <a:lstStyle/>
                    <a:p>
                      <a:r>
                        <a:rPr sz="1300" b="1" i="0" lang="vi-VN">
                          <a:solidFill>
                            <a:srgbClr val="1F2937"/>
                          </a:solidFill>
                          <a:latin typeface="Arial"/>
                        </a:rPr>
                        <a:t>price_model.py</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load_model(), predict_price()</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5" name="TextBox 4"/>
          <p:cNvSpPr txBox="1"/>
          <p:nvPr/>
        </p:nvSpPr>
        <p:spPr>
          <a:xfrm>
            <a:off x="6858000" y="1417320"/>
            <a:ext cx="4754880" cy="365760"/>
          </a:xfrm>
          <a:prstGeom prst="rect">
            <a:avLst/>
          </a:prstGeom>
          <a:noFill/>
        </p:spPr>
        <p:txBody>
          <a:bodyPr wrap="square" lIns="45720" rIns="45720" tIns="27432" bIns="27432" anchor="t">
            <a:spAutoFit/>
          </a:bodyPr>
          <a:lstStyle/>
          <a:p>
            <a:pPr algn="l">
              <a:lnSpc>
                <a:spcPct val="110000"/>
              </a:lnSpc>
              <a:spcAft>
                <a:spcPts val="600"/>
              </a:spcAft>
            </a:pPr>
            <a:r>
              <a:rPr sz="1500" b="1" i="0" lang="vi-VN">
                <a:solidFill>
                  <a:srgbClr val="075289"/>
                </a:solidFill>
                <a:latin typeface="Arial"/>
              </a:rPr>
              <a:t>Ví dụ dự đoán (triệu đồng)</a:t>
            </a:r>
          </a:p>
        </p:txBody>
      </p:sp>
      <p:graphicFrame>
        <p:nvGraphicFramePr>
          <p:cNvPr id="6" name="Table 5"/>
          <p:cNvGraphicFramePr>
            <a:graphicFrameLocks noGrp="1"/>
          </p:cNvGraphicFramePr>
          <p:nvPr/>
        </p:nvGraphicFramePr>
        <p:xfrm>
          <a:off x="6858000" y="1828800"/>
          <a:ext cx="4754880" cy="1645920"/>
        </p:xfrm>
        <a:graphic>
          <a:graphicData uri="http://schemas.openxmlformats.org/drawingml/2006/table">
            <a:tbl>
              <a:tblPr firstRow="0" bandRow="0">
                <a:tableStyleId>{5940675A-B579-460E-94D1-54222C63F5DA}</a:tableStyleId>
              </a:tblPr>
              <a:tblGrid>
                <a:gridCol w="2377440"/>
                <a:gridCol w="822960"/>
                <a:gridCol w="822960"/>
                <a:gridCol w="731520"/>
              </a:tblGrid>
              <a:tr h="548640">
                <a:tc>
                  <a:txBody>
                    <a:bodyPr wrap="square"/>
                    <a:lstStyle/>
                    <a:p>
                      <a:r>
                        <a:rPr sz="1300" b="1" i="0" lang="vi-VN">
                          <a:solidFill>
                            <a:srgbClr val="FFFFFF"/>
                          </a:solidFill>
                          <a:latin typeface="Arial"/>
                        </a:rPr>
                        <a:t>Xe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RF (TV)</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RF (TCĐ)</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1" i="0" lang="vi-VN">
                          <a:solidFill>
                            <a:srgbClr val="FFFFFF"/>
                          </a:solidFill>
                          <a:latin typeface="Arial"/>
                        </a:rPr>
                        <a:t>Ridge</a:t>
                      </a:r>
                    </a:p>
                  </a:txBody>
                  <a:tcPr marL="73152" marR="73152" marT="27432" marB="27432" anchor="ctr">
                    <a:solidFill>
                      <a:srgbClr val="075289"/>
                    </a:solidFill>
                    <a:lnL w="6350">
                      <a:solidFill>
                        <a:srgbClr val="C9D6E3"/>
                      </a:solidFill>
                    </a:lnL>
                    <a:lnR w="6350">
                      <a:solidFill>
                        <a:srgbClr val="C9D6E3"/>
                      </a:solidFill>
                    </a:lnR>
                    <a:lnT w="6350">
                      <a:solidFill>
                        <a:srgbClr val="C9D6E3"/>
                      </a:solidFill>
                    </a:lnT>
                    <a:lnB w="6350">
                      <a:solidFill>
                        <a:srgbClr val="C9D6E3"/>
                      </a:solidFill>
                    </a:lnB>
                  </a:tcPr>
                </a:tc>
              </a:tr>
              <a:tr h="548640">
                <a:tc>
                  <a:txBody>
                    <a:bodyPr wrap="square"/>
                    <a:lstStyle/>
                    <a:p>
                      <a:r>
                        <a:rPr sz="1300" b="1" i="0" lang="vi-VN">
                          <a:solidFill>
                            <a:srgbClr val="1F2937"/>
                          </a:solidFill>
                          <a:latin typeface="Arial"/>
                        </a:rPr>
                        <a:t>Toyota Vios 2018, 80.000 km</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303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303</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281</a:t>
                      </a:r>
                    </a:p>
                  </a:txBody>
                  <a:tcPr marL="73152" marR="73152" marT="27432" marB="27432" anchor="ctr">
                    <a:solidFill>
                      <a:srgbClr val="FFFFFF"/>
                    </a:solidFill>
                    <a:lnL w="6350">
                      <a:solidFill>
                        <a:srgbClr val="C9D6E3"/>
                      </a:solidFill>
                    </a:lnL>
                    <a:lnR w="6350">
                      <a:solidFill>
                        <a:srgbClr val="C9D6E3"/>
                      </a:solidFill>
                    </a:lnR>
                    <a:lnT w="6350">
                      <a:solidFill>
                        <a:srgbClr val="C9D6E3"/>
                      </a:solidFill>
                    </a:lnT>
                    <a:lnB w="6350">
                      <a:solidFill>
                        <a:srgbClr val="C9D6E3"/>
                      </a:solidFill>
                    </a:lnB>
                  </a:tcPr>
                </a:tc>
              </a:tr>
              <a:tr h="548640">
                <a:tc>
                  <a:txBody>
                    <a:bodyPr wrap="square"/>
                    <a:lstStyle/>
                    <a:p>
                      <a:r>
                        <a:rPr sz="1300" b="1" i="0" lang="vi-VN">
                          <a:solidFill>
                            <a:srgbClr val="1F2937"/>
                          </a:solidFill>
                          <a:latin typeface="Arial"/>
                        </a:rPr>
                        <a:t>Ford Ranger 2021, không rõ km</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515</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536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c>
                  <a:txBody>
                    <a:bodyPr wrap="square"/>
                    <a:lstStyle/>
                    <a:p>
                      <a:r>
                        <a:rPr sz="1300" b="0" i="0" lang="vi-VN">
                          <a:solidFill>
                            <a:srgbClr val="1F2937"/>
                          </a:solidFill>
                          <a:latin typeface="Arial"/>
                        </a:rPr>
                        <a:t>596</a:t>
                      </a:r>
                    </a:p>
                  </a:txBody>
                  <a:tcPr marL="73152" marR="73152" marT="27432" marB="27432" anchor="ctr">
                    <a:solidFill>
                      <a:srgbClr val="EAF2FA"/>
                    </a:solidFill>
                    <a:lnL w="6350">
                      <a:solidFill>
                        <a:srgbClr val="C9D6E3"/>
                      </a:solidFill>
                    </a:lnL>
                    <a:lnR w="6350">
                      <a:solidFill>
                        <a:srgbClr val="C9D6E3"/>
                      </a:solidFill>
                    </a:lnR>
                    <a:lnT w="6350">
                      <a:solidFill>
                        <a:srgbClr val="C9D6E3"/>
                      </a:solidFill>
                    </a:lnT>
                    <a:lnB w="6350">
                      <a:solidFill>
                        <a:srgbClr val="C9D6E3"/>
                      </a:solidFill>
                    </a:lnB>
                  </a:tcPr>
                </a:tc>
              </a:tr>
            </a:tbl>
          </a:graphicData>
        </a:graphic>
      </p:graphicFrame>
      <p:sp>
        <p:nvSpPr>
          <p:cNvPr id="7" name="Rounded Rectangle 6"/>
          <p:cNvSpPr/>
          <p:nvPr/>
        </p:nvSpPr>
        <p:spPr>
          <a:xfrm>
            <a:off x="6858000" y="3657600"/>
            <a:ext cx="4754880" cy="173736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0" y="3730752"/>
            <a:ext cx="4480560" cy="1645920"/>
          </a:xfrm>
          <a:prstGeom prst="rect">
            <a:avLst/>
          </a:prstGeom>
          <a:noFill/>
        </p:spPr>
        <p:txBody>
          <a:bodyPr wrap="square" lIns="45720" rIns="45720" tIns="27432" bIns="27432" anchor="t">
            <a:spAutoFit/>
          </a:bodyPr>
          <a:lstStyle/>
          <a:p>
            <a:pPr algn="l" marL="201168" indent="-201168">
              <a:lnSpc>
                <a:spcPct val="110000"/>
              </a:lnSpc>
              <a:spcAft>
                <a:spcPts val="600"/>
              </a:spcAft>
              <a:buClr>
                <a:srgbClr val="075289"/>
              </a:buClr>
              <a:buFont typeface="Arial"/>
              <a:buChar char="•"/>
            </a:pPr>
            <a:r>
              <a:rPr sz="1300" b="0" i="0" lang="vi-VN">
                <a:solidFill>
                  <a:srgbClr val="1F2937"/>
                </a:solidFill>
                <a:latin typeface="Arial"/>
              </a:rPr>
              <a:t>Xe đã dùng không rõ km → điền trung vị km theo năm sản xuất, đánh dấu mileage_missing</a:t>
            </a:r>
          </a:p>
          <a:p>
            <a:pPr algn="l" marL="201168" indent="-201168">
              <a:lnSpc>
                <a:spcPct val="110000"/>
              </a:lnSpc>
              <a:spcAft>
                <a:spcPts val="600"/>
              </a:spcAft>
              <a:buClr>
                <a:srgbClr val="075289"/>
              </a:buClr>
              <a:buFont typeface="Arial"/>
              <a:buChar char="•"/>
            </a:pPr>
            <a:r>
              <a:rPr sz="1300" b="0" i="0" lang="vi-VN">
                <a:solidFill>
                  <a:srgbClr val="1F2937"/>
                </a:solidFill>
                <a:latin typeface="Arial"/>
              </a:rPr>
              <a:t>Dòng xe chưa gặp → lùi về "&lt;hãng&gt; - dòng khác"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274320"/>
            <a:ext cx="9601200" cy="320040"/>
          </a:xfrm>
          <a:prstGeom prst="rect">
            <a:avLst/>
          </a:prstGeom>
          <a:noFill/>
        </p:spPr>
        <p:txBody>
          <a:bodyPr wrap="square" lIns="45720" rIns="45720" tIns="27432" bIns="27432" anchor="t">
            <a:spAutoFit/>
          </a:bodyPr>
          <a:lstStyle/>
          <a:p>
            <a:pPr algn="l">
              <a:lnSpc>
                <a:spcPct val="110000"/>
              </a:lnSpc>
              <a:spcAft>
                <a:spcPts val="600"/>
              </a:spcAft>
            </a:pPr>
            <a:r>
              <a:rPr sz="1200" b="1" i="0" lang="vi-VN">
                <a:solidFill>
                  <a:srgbClr val="EB6834"/>
                </a:solidFill>
                <a:latin typeface="Arial"/>
              </a:rPr>
              <a:t>KẾT LUẬN</a:t>
            </a:r>
          </a:p>
        </p:txBody>
      </p:sp>
      <p:sp>
        <p:nvSpPr>
          <p:cNvPr id="3" name="Title"/>
          <p:cNvSpPr txBox="1"/>
          <p:nvPr/>
        </p:nvSpPr>
        <p:spPr>
          <a:xfrm>
            <a:off x="548640" y="548640"/>
            <a:ext cx="11064240" cy="731520"/>
          </a:xfrm>
          <a:prstGeom prst="rect">
            <a:avLst/>
          </a:prstGeom>
          <a:noFill/>
        </p:spPr>
        <p:txBody>
          <a:bodyPr wrap="square" lIns="45720" rIns="45720" tIns="27432" bIns="27432" anchor="t">
            <a:spAutoFit/>
          </a:bodyPr>
          <a:lstStyle/>
          <a:p>
            <a:pPr algn="l">
              <a:lnSpc>
                <a:spcPct val="110000"/>
              </a:lnSpc>
              <a:spcAft>
                <a:spcPts val="600"/>
              </a:spcAft>
            </a:pPr>
            <a:r>
              <a:rPr sz="2800" b="1" i="0" lang="vi-VN">
                <a:solidFill>
                  <a:srgbClr val="075289"/>
                </a:solidFill>
                <a:latin typeface="Arial"/>
              </a:rPr>
              <a:t>Kết luận, hạn chế và hướng phát triển</a:t>
            </a:r>
          </a:p>
        </p:txBody>
      </p:sp>
      <p:sp>
        <p:nvSpPr>
          <p:cNvPr id="4" name="Rounded Rectangle 3"/>
          <p:cNvSpPr/>
          <p:nvPr/>
        </p:nvSpPr>
        <p:spPr>
          <a:xfrm>
            <a:off x="548640" y="1417320"/>
            <a:ext cx="3474720" cy="1234440"/>
          </a:xfrm>
          <a:prstGeom prst="roundRect">
            <a:avLst>
              <a:gd name="adj" fmla="val 8000"/>
            </a:avLst>
          </a:prstGeom>
          <a:solidFill>
            <a:srgbClr val="0752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463040"/>
            <a:ext cx="3108960" cy="59436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FFD400"/>
                </a:solidFill>
                <a:latin typeface="Arial"/>
              </a:rPr>
              <a:t>15,5%</a:t>
            </a:r>
          </a:p>
        </p:txBody>
      </p:sp>
      <p:sp>
        <p:nvSpPr>
          <p:cNvPr id="6" name="TextBox 5"/>
          <p:cNvSpPr txBox="1"/>
          <p:nvPr/>
        </p:nvSpPr>
        <p:spPr>
          <a:xfrm>
            <a:off x="731520" y="2057400"/>
            <a:ext cx="3154680" cy="5943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FFFFFF"/>
                </a:solidFill>
                <a:latin typeface="Arial"/>
              </a:rPr>
              <a:t>MAPE của Random Forest; 80% xe lệch ≤ 20%</a:t>
            </a:r>
          </a:p>
        </p:txBody>
      </p:sp>
      <p:sp>
        <p:nvSpPr>
          <p:cNvPr id="7" name="Rounded Rectangle 6"/>
          <p:cNvSpPr/>
          <p:nvPr/>
        </p:nvSpPr>
        <p:spPr>
          <a:xfrm>
            <a:off x="4297679" y="1417320"/>
            <a:ext cx="3474720" cy="1234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80559" y="1463040"/>
            <a:ext cx="3108960" cy="59436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EB6834"/>
                </a:solidFill>
                <a:latin typeface="Arial"/>
              </a:rPr>
              <a:t>+3 điểm %</a:t>
            </a:r>
          </a:p>
        </p:txBody>
      </p:sp>
      <p:sp>
        <p:nvSpPr>
          <p:cNvPr id="9" name="TextBox 8"/>
          <p:cNvSpPr txBox="1"/>
          <p:nvPr/>
        </p:nvSpPr>
        <p:spPr>
          <a:xfrm>
            <a:off x="4480559" y="2057400"/>
            <a:ext cx="3154680" cy="5943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tốt hơn Ridge, có ý nghĩa thống kê</a:t>
            </a:r>
          </a:p>
        </p:txBody>
      </p:sp>
      <p:sp>
        <p:nvSpPr>
          <p:cNvPr id="10" name="Rounded Rectangle 9"/>
          <p:cNvSpPr/>
          <p:nvPr/>
        </p:nvSpPr>
        <p:spPr>
          <a:xfrm>
            <a:off x="8046719" y="1417320"/>
            <a:ext cx="3474720" cy="12344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9" y="1463040"/>
            <a:ext cx="3108960" cy="594360"/>
          </a:xfrm>
          <a:prstGeom prst="rect">
            <a:avLst/>
          </a:prstGeom>
          <a:noFill/>
        </p:spPr>
        <p:txBody>
          <a:bodyPr wrap="square" lIns="45720" rIns="45720" tIns="27432" bIns="27432" anchor="t">
            <a:spAutoFit/>
          </a:bodyPr>
          <a:lstStyle/>
          <a:p>
            <a:pPr algn="l">
              <a:lnSpc>
                <a:spcPct val="110000"/>
              </a:lnSpc>
              <a:spcAft>
                <a:spcPts val="600"/>
              </a:spcAft>
            </a:pPr>
            <a:r>
              <a:rPr sz="2600" b="1" i="0" lang="vi-VN">
                <a:solidFill>
                  <a:srgbClr val="EB6834"/>
                </a:solidFill>
                <a:latin typeface="Arial"/>
              </a:rPr>
              <a:t>≈ thư viện</a:t>
            </a:r>
          </a:p>
        </p:txBody>
      </p:sp>
      <p:sp>
        <p:nvSpPr>
          <p:cNvPr id="12" name="TextBox 11"/>
          <p:cNvSpPr txBox="1"/>
          <p:nvPr/>
        </p:nvSpPr>
        <p:spPr>
          <a:xfrm>
            <a:off x="8229599" y="2057400"/>
            <a:ext cx="3154680" cy="594360"/>
          </a:xfrm>
          <a:prstGeom prst="rect">
            <a:avLst/>
          </a:prstGeom>
          <a:noFill/>
        </p:spPr>
        <p:txBody>
          <a:bodyPr wrap="square" lIns="45720" rIns="45720" tIns="27432" bIns="27432" anchor="t">
            <a:spAutoFit/>
          </a:bodyPr>
          <a:lstStyle/>
          <a:p>
            <a:pPr algn="l">
              <a:lnSpc>
                <a:spcPct val="110000"/>
              </a:lnSpc>
              <a:spcAft>
                <a:spcPts val="600"/>
              </a:spcAft>
            </a:pPr>
            <a:r>
              <a:rPr sz="1300" b="0" i="0" lang="vi-VN">
                <a:solidFill>
                  <a:srgbClr val="1F2937"/>
                </a:solidFill>
                <a:latin typeface="Arial"/>
              </a:rPr>
              <a:t>rừng tự cài đặt 15,7%, kiểm chứng ở mức cây và rừng</a:t>
            </a:r>
          </a:p>
        </p:txBody>
      </p:sp>
      <p:sp>
        <p:nvSpPr>
          <p:cNvPr id="13" name="Rounded Rectangle 12"/>
          <p:cNvSpPr/>
          <p:nvPr/>
        </p:nvSpPr>
        <p:spPr>
          <a:xfrm>
            <a:off x="548640" y="2788920"/>
            <a:ext cx="5440680" cy="2148840"/>
          </a:xfrm>
          <a:prstGeom prst="roundRect">
            <a:avLst>
              <a:gd name="adj" fmla="val 8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2852928"/>
            <a:ext cx="502920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Hạn chế</a:t>
            </a:r>
          </a:p>
        </p:txBody>
      </p:sp>
      <p:sp>
        <p:nvSpPr>
          <p:cNvPr id="15" name="TextBox 14"/>
          <p:cNvSpPr txBox="1"/>
          <p:nvPr/>
        </p:nvSpPr>
        <p:spPr>
          <a:xfrm>
            <a:off x="777240" y="3246120"/>
            <a:ext cx="5029200" cy="1645920"/>
          </a:xfrm>
          <a:prstGeom prst="rect">
            <a:avLst/>
          </a:prstGeom>
          <a:noFill/>
        </p:spPr>
        <p:txBody>
          <a:bodyPr wrap="square" lIns="45720" rIns="45720" tIns="27432" bIns="27432" anchor="t">
            <a:spAutoFit/>
          </a:bodyPr>
          <a:lstStyle/>
          <a:p>
            <a:pPr algn="l" marL="201168" indent="-201168">
              <a:lnSpc>
                <a:spcPct val="110000"/>
              </a:lnSpc>
              <a:spcAft>
                <a:spcPts val="500"/>
              </a:spcAft>
              <a:buClr>
                <a:srgbClr val="075289"/>
              </a:buClr>
              <a:buFont typeface="Arial"/>
              <a:buChar char="•"/>
            </a:pPr>
            <a:r>
              <a:rPr sz="1400" b="0" i="0" lang="vi-VN">
                <a:solidFill>
                  <a:srgbClr val="1F2937"/>
                </a:solidFill>
                <a:latin typeface="Arial"/>
              </a:rPr>
              <a:t>Giá rao bán, không phải giá giao dịch</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Chưa lấy phiên bản, số đời chủ, đăng kiểm</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Còn sót giá trả trước; có tin đăng lại</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Ảnh chụp thị trường 10/2026, xe ≤ 10 tỷ</a:t>
            </a:r>
          </a:p>
        </p:txBody>
      </p:sp>
      <p:sp>
        <p:nvSpPr>
          <p:cNvPr id="16" name="Rounded Rectangle 15"/>
          <p:cNvSpPr/>
          <p:nvPr/>
        </p:nvSpPr>
        <p:spPr>
          <a:xfrm>
            <a:off x="6172200" y="2788920"/>
            <a:ext cx="5440680" cy="2148840"/>
          </a:xfrm>
          <a:prstGeom prst="roundRect">
            <a:avLst>
              <a:gd name="adj" fmla="val 8000"/>
            </a:avLst>
          </a:prstGeom>
          <a:solidFill>
            <a:srgbClr val="FFF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0" y="2852928"/>
            <a:ext cx="5029200" cy="365760"/>
          </a:xfrm>
          <a:prstGeom prst="rect">
            <a:avLst/>
          </a:prstGeom>
          <a:noFill/>
        </p:spPr>
        <p:txBody>
          <a:bodyPr wrap="square" lIns="45720" rIns="45720" tIns="27432" bIns="27432" anchor="t">
            <a:spAutoFit/>
          </a:bodyPr>
          <a:lstStyle/>
          <a:p>
            <a:pPr algn="l">
              <a:lnSpc>
                <a:spcPct val="110000"/>
              </a:lnSpc>
              <a:spcAft>
                <a:spcPts val="600"/>
              </a:spcAft>
            </a:pPr>
            <a:r>
              <a:rPr sz="1600" b="1" i="0" lang="vi-VN">
                <a:solidFill>
                  <a:srgbClr val="075289"/>
                </a:solidFill>
                <a:latin typeface="Arial"/>
              </a:rPr>
              <a:t>Hướng phát triển</a:t>
            </a:r>
          </a:p>
        </p:txBody>
      </p:sp>
      <p:sp>
        <p:nvSpPr>
          <p:cNvPr id="18" name="TextBox 17"/>
          <p:cNvSpPr txBox="1"/>
          <p:nvPr/>
        </p:nvSpPr>
        <p:spPr>
          <a:xfrm>
            <a:off x="6400800" y="3246120"/>
            <a:ext cx="5029200" cy="1645920"/>
          </a:xfrm>
          <a:prstGeom prst="rect">
            <a:avLst/>
          </a:prstGeom>
          <a:noFill/>
        </p:spPr>
        <p:txBody>
          <a:bodyPr wrap="square" lIns="45720" rIns="45720" tIns="27432" bIns="27432" anchor="t">
            <a:spAutoFit/>
          </a:bodyPr>
          <a:lstStyle/>
          <a:p>
            <a:pPr algn="l" marL="201168" indent="-201168">
              <a:lnSpc>
                <a:spcPct val="110000"/>
              </a:lnSpc>
              <a:spcAft>
                <a:spcPts val="500"/>
              </a:spcAft>
              <a:buClr>
                <a:srgbClr val="075289"/>
              </a:buClr>
              <a:buFont typeface="Arial"/>
              <a:buChar char="•"/>
            </a:pPr>
            <a:r>
              <a:rPr sz="1400" b="0" i="0" lang="vi-VN">
                <a:solidFill>
                  <a:srgbClr val="1F2937"/>
                </a:solidFill>
                <a:latin typeface="Arial"/>
              </a:rPr>
              <a:t>Crawl tiêu đề, mô tả: phiên bản xe, lọc giá trả trước</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Chia train/test theo nhóm làm đánh giá chính</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Gradient Boosting dùng lại lớp cây tự cài đặt</a:t>
            </a:r>
          </a:p>
          <a:p>
            <a:pPr algn="l" marL="201168" indent="-201168">
              <a:lnSpc>
                <a:spcPct val="110000"/>
              </a:lnSpc>
              <a:spcAft>
                <a:spcPts val="500"/>
              </a:spcAft>
              <a:buClr>
                <a:srgbClr val="075289"/>
              </a:buClr>
              <a:buFont typeface="Arial"/>
              <a:buChar char="•"/>
            </a:pPr>
            <a:r>
              <a:rPr sz="1400" b="0" i="0" lang="vi-VN">
                <a:solidFill>
                  <a:srgbClr val="1F2937"/>
                </a:solidFill>
                <a:latin typeface="Arial"/>
              </a:rPr>
              <a:t>Giao diện web nhập thông tin xe, nhận giá</a:t>
            </a:r>
          </a:p>
        </p:txBody>
      </p:sp>
      <p:sp>
        <p:nvSpPr>
          <p:cNvPr id="19" name="TextBox 18"/>
          <p:cNvSpPr txBox="1"/>
          <p:nvPr/>
        </p:nvSpPr>
        <p:spPr>
          <a:xfrm>
            <a:off x="548640" y="5029200"/>
            <a:ext cx="11064240" cy="411480"/>
          </a:xfrm>
          <a:prstGeom prst="rect">
            <a:avLst/>
          </a:prstGeom>
          <a:noFill/>
        </p:spPr>
        <p:txBody>
          <a:bodyPr wrap="square" lIns="45720" rIns="45720" tIns="27432" bIns="27432" anchor="t">
            <a:spAutoFit/>
          </a:bodyPr>
          <a:lstStyle/>
          <a:p>
            <a:pPr algn="ctr">
              <a:lnSpc>
                <a:spcPct val="110000"/>
              </a:lnSpc>
              <a:spcAft>
                <a:spcPts val="600"/>
              </a:spcAft>
            </a:pPr>
            <a:r>
              <a:rPr sz="1800" b="1" i="0" lang="vi-VN">
                <a:solidFill>
                  <a:srgbClr val="EB6834"/>
                </a:solidFill>
                <a:latin typeface="Arial"/>
              </a:rPr>
              <a:t>Cảm ơn thầy cô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TotalTime>
  <Words>1326</Words>
  <Application>Microsoft Office PowerPoint</Application>
  <PresentationFormat>Widescreen</PresentationFormat>
  <Paragraphs>161</Paragraphs>
  <Slides>15</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15</vt:i4>
      </vt:variant>
    </vt:vector>
  </HeadingPairs>
  <TitlesOfParts>
    <vt:vector size="26" baseType="lpstr">
      <vt:lpstr>American Typewriter</vt:lpstr>
      <vt:lpstr>Arial</vt:lpstr>
      <vt:lpstr>Brush Script MT</vt:lpstr>
      <vt:lpstr>Calibri</vt:lpstr>
      <vt:lpstr>Calibri Light</vt:lpstr>
      <vt:lpstr>Times New Roman</vt:lpstr>
      <vt:lpstr>UTM American Sans</vt:lpstr>
      <vt:lpstr>UTM Neutra</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Ngoc Son-Khoa QLDA</dc:creator>
  <cp:lastModifiedBy>Tran Minh Thang - CTSV</cp:lastModifiedBy>
  <cp:revision>6</cp:revision>
  <dcterms:created xsi:type="dcterms:W3CDTF">2022-10-04T00:50:19Z</dcterms:created>
  <dcterms:modified xsi:type="dcterms:W3CDTF">2025-05-07T00:44:20Z</dcterms:modified>
</cp:coreProperties>
</file>