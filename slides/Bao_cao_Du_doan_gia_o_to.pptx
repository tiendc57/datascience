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 id="2147483690" r:id="rId2"/>
  </p:sldMasterIdLst>
  <p:handoutMasterIdLst>
    <p:handoutMasterId r:id="rId18"/>
  </p:handoutMasterIdLst>
  <p:sldIdLst>
    <p:sldId id="315" r:id="rId3"/>
    <p:sldId id="317" r:id="rId26"/>
    <p:sldId id="318" r:id="rId27"/>
    <p:sldId id="319" r:id="rId28"/>
    <p:sldId id="320" r:id="rId29"/>
    <p:sldId id="321" r:id="rId30"/>
    <p:sldId id="322" r:id="rId31"/>
    <p:sldId id="323" r:id="rId32"/>
    <p:sldId id="324" r:id="rId33"/>
    <p:sldId id="325" r:id="rId34"/>
    <p:sldId id="326" r:id="rId35"/>
    <p:sldId id="327" r:id="rId36"/>
    <p:sldId id="328" r:id="rId37"/>
    <p:sldId id="329" r:id="rId38"/>
    <p:sldId id="330" r:id="rId39"/>
    <p:sldId id="331" r:id="rId40"/>
    <p:sldId id="332" r:id="rId41"/>
    <p:sldId id="333" r:id="rId42"/>
    <p:sldId id="334" r:id="rId43"/>
    <p:sldId id="335" r:id="rId44"/>
    <p:sldId id="336" r:id="rId45"/>
    <p:sldId id="337" r:id="rId46"/>
    <p:sldId id="338" r:id="rId47"/>
    <p:sldId id="339" r:id="rId48"/>
    <p:sldId id="340" r:id="rId49"/>
    <p:sldId id="341" r:id="rId50"/>
    <p:sldId id="342" r:id="rId51"/>
    <p:sldId id="343" r:id="rId52"/>
    <p:sldId id="344" r:id="rId53"/>
    <p:sldId id="345" r:id="rId54"/>
    <p:sldId id="346" r:id="rId55"/>
    <p:sldId id="347" r:id="rId56"/>
    <p:sldId id="348" r:id="rId57"/>
    <p:sldId id="349" r:id="rId58"/>
    <p:sldId id="308" r:id="rId17"/>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985D6A-63F4-5745-AD5D-02BB05467638}">
          <p14:sldIdLst>
            <p14:sldId id="315"/>
            <p14:sldId id="310"/>
            <p14:sldId id="304"/>
            <p14:sldId id="296"/>
            <p14:sldId id="305"/>
            <p14:sldId id="311"/>
            <p14:sldId id="316"/>
            <p14:sldId id="309"/>
            <p14:sldId id="307"/>
            <p14:sldId id="313"/>
            <p14:sldId id="314"/>
            <p14:sldId id="306"/>
            <p14:sldId id="312"/>
            <p14:sldId id="302"/>
            <p14:sldId id="30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DF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C10A7A-CE72-874A-A5D0-1DC6BD16DB28}" v="1" dt="2022-12-19T01:29: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5755"/>
  </p:normalViewPr>
  <p:slideViewPr>
    <p:cSldViewPr snapToGrid="0">
      <p:cViewPr varScale="1">
        <p:scale>
          <a:sx n="111" d="100"/>
          <a:sy n="111" d="100"/>
        </p:scale>
        <p:origin x="558" y="102"/>
      </p:cViewPr>
      <p:guideLst/>
    </p:cSldViewPr>
  </p:slideViewPr>
  <p:notesTextViewPr>
    <p:cViewPr>
      <p:scale>
        <a:sx n="1" d="1"/>
        <a:sy n="1" d="1"/>
      </p:scale>
      <p:origin x="0" y="0"/>
    </p:cViewPr>
  </p:notesTextViewPr>
  <p:notesViewPr>
    <p:cSldViewPr snapToGrid="0">
      <p:cViewPr varScale="1">
        <p:scale>
          <a:sx n="85" d="100"/>
          <a:sy n="85" d="100"/>
        </p:scale>
        <p:origin x="3928"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7" Type="http://schemas.openxmlformats.org/officeDocument/2006/relationships/slide" Target="slides/slide15.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microsoft.com/office/2016/11/relationships/changesInfo" Target="changesInfos/changesInfo1.xml"/><Relationship Id="rId24" Type="http://schemas.microsoft.com/office/2015/10/relationships/revisionInfo" Target="revisionInfo.xml"/><Relationship Id="rId25" Type="http://schemas.openxmlformats.org/officeDocument/2006/relationships/notesMaster" Target="notesMasters/notesMaster1.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uong Ngoc Son-Khoa QLDA" userId="7b6345db-15d8-4fe4-b2ee-53f6fbcd9c18" providerId="ADAL" clId="{92C10A7A-CE72-874A-A5D0-1DC6BD16DB28}"/>
    <pc:docChg chg="custSel addSld modSld sldOrd modMainMaster modSection">
      <pc:chgData name="Truong Ngoc Son-Khoa QLDA" userId="7b6345db-15d8-4fe4-b2ee-53f6fbcd9c18" providerId="ADAL" clId="{92C10A7A-CE72-874A-A5D0-1DC6BD16DB28}" dt="2022-12-19T01:29:59.498" v="8" actId="20578"/>
      <pc:docMkLst>
        <pc:docMk/>
      </pc:docMkLst>
      <pc:sldChg chg="add mod ord modClrScheme chgLayout">
        <pc:chgData name="Truong Ngoc Son-Khoa QLDA" userId="7b6345db-15d8-4fe4-b2ee-53f6fbcd9c18" providerId="ADAL" clId="{92C10A7A-CE72-874A-A5D0-1DC6BD16DB28}" dt="2022-12-19T01:29:59.498" v="8" actId="20578"/>
        <pc:sldMkLst>
          <pc:docMk/>
          <pc:sldMk cId="3783769825" sldId="315"/>
        </pc:sldMkLst>
      </pc:sldChg>
      <pc:sldMasterChg chg="addSldLayout modSldLayout">
        <pc:chgData name="Truong Ngoc Son-Khoa QLDA" userId="7b6345db-15d8-4fe4-b2ee-53f6fbcd9c18" providerId="ADAL" clId="{92C10A7A-CE72-874A-A5D0-1DC6BD16DB28}" dt="2022-12-19T01:29:29.546" v="5" actId="14100"/>
        <pc:sldMasterMkLst>
          <pc:docMk/>
          <pc:sldMasterMk cId="1486776597" sldId="2147483674"/>
        </pc:sldMasterMkLst>
        <pc:sldLayoutChg chg="addSp delSp modSp add mod replId modTransition">
          <pc:chgData name="Truong Ngoc Son-Khoa QLDA" userId="7b6345db-15d8-4fe4-b2ee-53f6fbcd9c18" providerId="ADAL" clId="{92C10A7A-CE72-874A-A5D0-1DC6BD16DB28}" dt="2022-12-19T01:29:29.546" v="5" actId="14100"/>
          <pc:sldLayoutMkLst>
            <pc:docMk/>
            <pc:sldMasterMk cId="1486776597" sldId="2147483674"/>
            <pc:sldLayoutMk cId="859889945" sldId="2147483702"/>
          </pc:sldLayoutMkLst>
          <pc:picChg chg="add mod">
            <ac:chgData name="Truong Ngoc Son-Khoa QLDA" userId="7b6345db-15d8-4fe4-b2ee-53f6fbcd9c18" providerId="ADAL" clId="{92C10A7A-CE72-874A-A5D0-1DC6BD16DB28}" dt="2022-12-19T01:29:29.546" v="5" actId="14100"/>
            <ac:picMkLst>
              <pc:docMk/>
              <pc:sldMasterMk cId="1486776597" sldId="2147483674"/>
              <pc:sldLayoutMk cId="859889945" sldId="2147483702"/>
              <ac:picMk id="6" creationId="{775CBC47-66D8-6B14-3700-5101CA9A86FC}"/>
            </ac:picMkLst>
          </pc:picChg>
          <pc:picChg chg="del">
            <ac:chgData name="Truong Ngoc Son-Khoa QLDA" userId="7b6345db-15d8-4fe4-b2ee-53f6fbcd9c18" providerId="ADAL" clId="{92C10A7A-CE72-874A-A5D0-1DC6BD16DB28}" dt="2022-12-19T01:29:04.391" v="1" actId="478"/>
            <ac:picMkLst>
              <pc:docMk/>
              <pc:sldMasterMk cId="1486776597" sldId="2147483674"/>
              <pc:sldLayoutMk cId="859889945" sldId="2147483702"/>
              <ac:picMk id="7" creationId="{0F5233AE-C293-4240-44B4-C4CCF5306E72}"/>
            </ac:picMkLst>
          </pc:picChg>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F2937"/>
                </a:solidFill>
              </a:rPr>
              <a:t>MAPE (%) - 5-fold CV trên train</a:t>
            </a:r>
          </a:p>
        </c:rich>
      </c:tx>
      <c:layout/>
      <c:overlay val="0"/>
    </c:title>
    <c:autoTitleDeleted val="0"/>
    <c:plotArea>
      <c:barChart>
        <c:barDir val="col"/>
        <c:grouping val="clustered"/>
        <c:ser>
          <c:idx val="0"/>
          <c:order val="0"/>
          <c:tx>
            <c:strRef>
              <c:f>Sheet1!$B$1</c:f>
              <c:strCache>
                <c:ptCount val="1"/>
                <c:pt idx="0">
                  <c:v>Cách cũ</c:v>
                </c:pt>
              </c:strCache>
            </c:strRef>
          </c:tx>
          <c:spPr>
            <a:solidFill>
              <a:srgbClr val="B8C4D2"/>
            </a:solidFill>
          </c:spPr>
          <c:cat>
            <c:strRef>
              <c:f>Sheet1!$A$2:$A$5</c:f>
              <c:strCache>
                <c:ptCount val="4"/>
                <c:pt idx="0">
                  <c:v>Ridge: tổng</c:v>
                </c:pt>
                <c:pt idx="1">
                  <c:v>Ridge: xe &gt; 2 tỷ</c:v>
                </c:pt>
                <c:pt idx="2">
                  <c:v>RF: tổng</c:v>
                </c:pt>
                <c:pt idx="3">
                  <c:v>RF: xe &gt; 2 tỷ</c:v>
                </c:pt>
              </c:strCache>
            </c:strRef>
          </c:cat>
          <c:val>
            <c:numRef>
              <c:f>Sheet1!$B$2:$B$5</c:f>
              <c:numCache>
                <c:formatCode>General</c:formatCode>
                <c:ptCount val="4"/>
                <c:pt idx="0">
                  <c:v>21.9</c:v>
                </c:pt>
                <c:pt idx="1">
                  <c:v>43.0</c:v>
                </c:pt>
                <c:pt idx="2">
                  <c:v>16.3</c:v>
                </c:pt>
                <c:pt idx="3">
                  <c:v>29.2</c:v>
                </c:pt>
              </c:numCache>
            </c:numRef>
          </c:val>
        </c:ser>
        <c:ser>
          <c:idx val="1"/>
          <c:order val="1"/>
          <c:tx>
            <c:strRef>
              <c:f>Sheet1!$C$1</c:f>
              <c:strCache>
                <c:ptCount val="1"/>
                <c:pt idx="0">
                  <c:v>Cách mới (chọn)</c:v>
                </c:pt>
              </c:strCache>
            </c:strRef>
          </c:tx>
          <c:spPr>
            <a:solidFill>
              <a:srgbClr val="075289"/>
            </a:solidFill>
          </c:spPr>
          <c:cat>
            <c:strRef>
              <c:f>Sheet1!$A$2:$A$5</c:f>
              <c:strCache>
                <c:ptCount val="4"/>
                <c:pt idx="0">
                  <c:v>Ridge: tổng</c:v>
                </c:pt>
                <c:pt idx="1">
                  <c:v>Ridge: xe &gt; 2 tỷ</c:v>
                </c:pt>
                <c:pt idx="2">
                  <c:v>RF: tổng</c:v>
                </c:pt>
                <c:pt idx="3">
                  <c:v>RF: xe &gt; 2 tỷ</c:v>
                </c:pt>
              </c:strCache>
            </c:strRef>
          </c:cat>
          <c:val>
            <c:numRef>
              <c:f>Sheet1!$C$2:$C$5</c:f>
              <c:numCache>
                <c:formatCode>General</c:formatCode>
                <c:ptCount val="4"/>
                <c:pt idx="0">
                  <c:v>18.9</c:v>
                </c:pt>
                <c:pt idx="1">
                  <c:v>32.2</c:v>
                </c:pt>
                <c:pt idx="2">
                  <c:v>16.1</c:v>
                </c:pt>
                <c:pt idx="3">
                  <c:v>28.7</c:v>
                </c:pt>
              </c:numCache>
            </c:numRef>
          </c:val>
        </c:ser>
        <c:dLbls>
          <c:numFmt formatCode="0.0" sourceLinked="0"/>
          <c:txPr>
            <a:bodyPr/>
            <a:lstStyle/>
            <a:p>
              <a:pPr>
                <a:defRPr sz="1200">
                  <a:solidFill>
                    <a:srgbClr val="1F2937"/>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FC7D1"/>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8EE"/>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5"/>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F2937"/>
                </a:solidFill>
              </a:rPr>
              <a:t>Số tin theo phân khúc giá (13.937 tin)</a:t>
            </a:r>
          </a:p>
        </c:rich>
      </c:tx>
      <c:layout/>
      <c:overlay val="0"/>
    </c:title>
    <c:autoTitleDeleted val="0"/>
    <c:plotArea>
      <c:barChart>
        <c:barDir val="col"/>
        <c:grouping val="clustered"/>
        <c:ser>
          <c:idx val="0"/>
          <c:order val="0"/>
          <c:tx>
            <c:strRef>
              <c:f>Sheet1!$B$1</c:f>
              <c:strCache>
                <c:ptCount val="1"/>
                <c:pt idx="0">
                  <c:v>Số tin</c:v>
                </c:pt>
              </c:strCache>
            </c:strRef>
          </c:tx>
          <c:spPr>
            <a:solidFill>
              <a:srgbClr val="075289"/>
            </a:solidFill>
          </c:spPr>
          <c:dPt>
            <c:idx val="4"/>
            <c:spPr>
              <a:solidFill>
                <a:srgbClr val="EB6834"/>
              </a:solidFill>
            </c:spPr>
          </c:dPt>
          <c:cat>
            <c:strRef>
              <c:f>Sheet1!$A$2:$A$6</c:f>
              <c:strCache>
                <c:ptCount val="5"/>
                <c:pt idx="0">
                  <c:v>&lt; 200 triệu</c:v>
                </c:pt>
                <c:pt idx="1">
                  <c:v>200-500</c:v>
                </c:pt>
                <c:pt idx="2">
                  <c:v>500-1.000</c:v>
                </c:pt>
                <c:pt idx="3">
                  <c:v>1-2 tỷ</c:v>
                </c:pt>
                <c:pt idx="4">
                  <c:v>&gt; 2 tỷ</c:v>
                </c:pt>
              </c:strCache>
            </c:strRef>
          </c:cat>
          <c:val>
            <c:numRef>
              <c:f>Sheet1!$B$2:$B$6</c:f>
              <c:numCache>
                <c:formatCode>General</c:formatCode>
                <c:ptCount val="5"/>
                <c:pt idx="0">
                  <c:v>1972</c:v>
                </c:pt>
                <c:pt idx="1">
                  <c:v>5907</c:v>
                </c:pt>
                <c:pt idx="2">
                  <c:v>4529</c:v>
                </c:pt>
                <c:pt idx="3">
                  <c:v>1071</c:v>
                </c:pt>
                <c:pt idx="4">
                  <c:v>458</c:v>
                </c:pt>
              </c:numCache>
            </c:numRef>
          </c:val>
        </c:ser>
        <c:dLbls>
          <c:numFmt formatCode="#,##0" sourceLinked="0"/>
          <c:txPr>
            <a:bodyPr/>
            <a:lstStyle/>
            <a:p>
              <a:pPr>
                <a:defRPr sz="1200">
                  <a:solidFill>
                    <a:srgbClr val="1F2937"/>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BFC7D1"/>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8EE"/>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5B6775"/>
          </a:solidFill>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51D253-C8AA-7B05-B17D-8B4AEB9FA80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a:extLst>
              <a:ext uri="{FF2B5EF4-FFF2-40B4-BE49-F238E27FC236}">
                <a16:creationId xmlns:a16="http://schemas.microsoft.com/office/drawing/2014/main" id="{65C9CF16-4BE3-2E51-5FBC-2CC8DCFA4D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68DFF9-D954-4045-A6AB-461DD914726D}" type="datetimeFigureOut">
              <a:rPr lang="en-VN" smtClean="0"/>
              <a:t>05/07/2025</a:t>
            </a:fld>
            <a:endParaRPr lang="en-VN"/>
          </a:p>
        </p:txBody>
      </p:sp>
      <p:sp>
        <p:nvSpPr>
          <p:cNvPr id="4" name="Footer Placeholder 3">
            <a:extLst>
              <a:ext uri="{FF2B5EF4-FFF2-40B4-BE49-F238E27FC236}">
                <a16:creationId xmlns:a16="http://schemas.microsoft.com/office/drawing/2014/main" id="{21AE0FDA-E286-82B3-0E2E-E579D13AA75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5" name="Slide Number Placeholder 4">
            <a:extLst>
              <a:ext uri="{FF2B5EF4-FFF2-40B4-BE49-F238E27FC236}">
                <a16:creationId xmlns:a16="http://schemas.microsoft.com/office/drawing/2014/main" id="{D0940566-724F-7B06-6239-7D233F7AED2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BF37F66-A223-A34D-9E00-842E72031805}" type="slidenum">
              <a:rPr lang="en-VN" smtClean="0"/>
              <a:t>‹#›</a:t>
            </a:fld>
            <a:endParaRPr lang="en-VN"/>
          </a:p>
        </p:txBody>
      </p:sp>
    </p:spTree>
    <p:extLst>
      <p:ext uri="{BB962C8B-B14F-4D97-AF65-F5344CB8AC3E}">
        <p14:creationId xmlns:p14="http://schemas.microsoft.com/office/powerpoint/2010/main" val="41141754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đề tài: xây dựng mô hình học máy từ đầu đến cuối để dự đoán giá rao bán ô tô trên Chợ Tốt, gồm thu thập dữ liệu, tiền xử lý, hai mô hình Ridge và Random Forest (mỗi mô hình có bản thư viện và bản tự cài đặt), đánh giá và diễn giải.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đi theo đúng quy trình một dự án học máy: bài toán, dữ liệu, tiền xử lý, mô hình,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mua và người bán xe cũ đều cần biết một mức giá hợp lý. Đây là bài toán hồi quy: đầu vào là các thuộc tính mà ai cũng thấy trong tin đăng, đầu ra là giá rao bán tính bằng triệu đồng.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bước. Mỗi quyết định ở bước tiền xử lý và mô hình đều được kiểm chứng bằng số liệu, và tập test chỉ dùng một lần ở bước đánh giá.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crawl duyệt 750 trang danh sách mới nhất, vào từng tin, đọc các thẻ HTML có thuộc tính itemprop. Có nghỉ giữa các yêu cầu và cơ chế chạy tiếp khi bị ngắt.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Cột chọn từ danh sách thì sạch, không lỗi chính tả. Hai cột gõ tự do là số km và giá, cũng là hai nguồn lỗi chính cần kiểm tra ở bước tiền xử lý. URL chứa vị trí tin đăng.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Đa số xe 200-800 triệu, một ít xe vài tỷ. Học trên giá gốc thì vài xe đắt lấn át. Log biến sai số tuyệt đối thành sai số tương đối, khớp với thước đo chính MAPE. Phần 5 kiểm chứng bằng số liệu: MAPE 16,2% so với 19,6%.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Giá trung vị tăng đều theo năm sản xuất. Xe sang Đức có giá và độ phân tán cao hơn hẳn xe phổ thông.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bước loại bỏ đều có lý do cụ thể. Không cắt ngoại lệ theo phần trăm máy móc: xe siêu sang giá vài tỷ là thật nên được giữ.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Giá là ô gõ tự do. Một tin ghi tiền trả trước thay vì giá xe làm mô hình bị chấm sai hàng trăm phần trăm. Quy tắc so với chính mẫu xe đó, không dùng một ngưỡng tuyệt đối.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Số km thiếu có cấu trúc: trang tin xe mới không có ô số km, nên điền 0 là đúng bản chất. Điền trung vị sẽ biến xe mới thành xe đã chạy 66.000 km. Kiểu dáng và số chỗ do dòng xe quyết định nên điền theo dòng xe.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cũ dồn mọi dòng hiếm của mọi hãng vào một nhãn 'Dòng khác', chiếm 65% số xe trên 2 tỷ. Cách mới lùi về hãng gần nhất còn đủ mẫu. Ngưỡng 30/10 chọn bằng 5-fold CV trên tập train.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 chỉ cộng các hiệu ứng tuyến tính, nên cần age² và log(km) để biểu diễn khấu hao nhanh những năm đầu. Cây chỉ so sánh ngưỡng, các biến đổi đơn điệu không thay đổi gì.</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Biến mục tiêu liên tục nên không có lớp thiểu số. Mất cân bằng thể hiện ở mật độ dữ liệu: rất nhiều xe 200 triệu - 1 tỷ, rất ít xe trên 2 tỷ. Mô hình tối ưu sai số trung bình sẽ học kém ở vùng thưa.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test không tham gia bất kỳ lựa chọn nào. Không cần tập validation riêng: 5-fold CV ổn định hơn với chỉ khoảng 460 xe trên 2 tỷ.</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MAPE là chính vì lệch 100 triệu là nhỏ với xe 3 tỷ nhưng rất lớn với xe 150 triệu. Luôn báo thêm MAPE theo từng phân khúc giá.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khoảng 278 cột sau one-hot, nhiều cột tương quan mạnh như Toyota và Toyota Vios. Khoản phạt kéo hệ số về gần 0 để mô hình ổn định. Alpha chọn bằng 5-fold CV: 0,56.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Nghiệm đóng giải trực tiếp hệ phương trình tuyến tính. Gradient descent có momentum Nesterov dùng để minh họa quá trình tối ưu và kiểm chứng chéo. K-fold tự viết chọn đúng cùng alpha với GridSearchCV.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cây sâu học thuộc dữ liệu train nên phương sai cao. Rừng huấn luyện mỗi cây trên một mẫu bootstrap, mỗi lần chia nút chỉ xét một phần đặc trưng ngẫu nhiên, rồi lấy trung bình. Khoảng 37% mẫu không được chọn (out-of-bag) dùng để ước lượng sai số.</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Kỹ thuật histogram: chia mỗi đặc trưng thành 32 bin một lần, mỗi nút chỉ cần đếm bằng bincount rồi cộng dồn là có gain của mọi ngưỡng cùng lúc. Kiểm chứng thành phần: một cây tự viết cho kết quả gần như cây của sklearn.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Rừng tự viết chọn tham số bằng OOB trên 6 cấu hình (mỗi cấu hình 30 cây), rồi huấn luyện 100 cây trong khoảng 2 phút. OOB R² 0,892, rất sát bản thư viện 0,896.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hai mô hình vượt xa baseline. Bản tự cài đặt gần như trùng bản thư viện. Đánh giá trên 2.788 tin test, dùng một lần.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khúc 200 triệu - 1 tỷ chiếm khoảng 75% thị trường, sai số khoảng 11%. Xe dưới 200 triệu: chênh vài chục triệu đã là phần trăm lớn. Xe trên 2 tỷ: ít dữ liệu và thiếu thông tin phiên bản, trang bị.</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Lấy mẫu lại tập test 1.000 lần, mỗi lần tính hiệu MAPE của hai mô hình trên cùng các xe. Khoảng tin cậy của hiệu không chứa 0 nghĩa là chênh lệch có ý nghĩa.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Bên trái: Ridge cho biết mỗi thuộc tính làm giá tăng giảm bao nhiêu phần trăm. Hệ số dòng xe là phần chênh so với mức chung của hãng. Bên phải: Random Forest, tuổi xe chiếm khoảng 1/3 độ quan trọng; hộp số cao vì xe số sàn thường là xe cũ, phân khúc thấp.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Cố định mọi thuộc tính, chỉ thay đổi tuổi xe với 15.000 km mỗi năm. Ridge buộc mọi dòng xe mất cùng một tỉ lệ % mỗi năm. Random Forest học được Mercedes C Class mất giá rất nhanh 3-4 năm đầu: đó là tương tác giữa dòng xe và tuổi xe.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giá giảm MAPE từ 19,6% xuống 16,2%. Trọng số mẫu và oversampling giữ nguyên MAPE tổng nhưng giảm sai số xe trên 2 tỷ khoảng 3 điểm %. Undersampling bỏ 22% dữ liệu và làm kết quả kém đi.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bốn ý chính để trả lời câu hỏi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số 15,5% hơi lạc quan do có tin đăng lại: trên nhóm tin không có bản sao trong train, MAPE là 16,2%.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7" name="Picture 6">
            <a:extLst>
              <a:ext uri="{FF2B5EF4-FFF2-40B4-BE49-F238E27FC236}">
                <a16:creationId xmlns:a16="http://schemas.microsoft.com/office/drawing/2014/main" id="{0F5233AE-C293-4240-44B4-C4CCF5306E72}"/>
              </a:ext>
            </a:extLst>
          </p:cNvPr>
          <p:cNvPicPr>
            <a:picLocks noChangeAspect="1"/>
          </p:cNvPicPr>
          <p:nvPr userDrawn="1"/>
        </p:nvPicPr>
        <p:blipFill>
          <a:blip r:embed="rId2"/>
          <a:stretch>
            <a:fillRect/>
          </a:stretch>
        </p:blipFill>
        <p:spPr>
          <a:xfrm>
            <a:off x="148" y="0"/>
            <a:ext cx="12191851" cy="6858084"/>
          </a:xfrm>
          <a:prstGeom prst="rect">
            <a:avLst/>
          </a:prstGeom>
        </p:spPr>
      </p:pic>
    </p:spTree>
    <p:extLst>
      <p:ext uri="{BB962C8B-B14F-4D97-AF65-F5344CB8AC3E}">
        <p14:creationId xmlns:p14="http://schemas.microsoft.com/office/powerpoint/2010/main" val="1801651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6" name="Picture 5" descr="A picture containing calendar&#10;&#10;Description automatically generated">
            <a:extLst>
              <a:ext uri="{FF2B5EF4-FFF2-40B4-BE49-F238E27FC236}">
                <a16:creationId xmlns:a16="http://schemas.microsoft.com/office/drawing/2014/main" id="{775CBC47-66D8-6B14-3700-5101CA9A86FC}"/>
              </a:ext>
            </a:extLst>
          </p:cNvPr>
          <p:cNvPicPr>
            <a:picLocks noChangeAspect="1"/>
          </p:cNvPicPr>
          <p:nvPr userDrawn="1"/>
        </p:nvPicPr>
        <p:blipFill>
          <a:blip r:embed="rId2"/>
          <a:stretch>
            <a:fillRect/>
          </a:stretch>
        </p:blipFill>
        <p:spPr>
          <a:xfrm>
            <a:off x="149" y="0"/>
            <a:ext cx="12191702" cy="6858000"/>
          </a:xfrm>
          <a:prstGeom prst="rect">
            <a:avLst/>
          </a:prstGeom>
        </p:spPr>
      </p:pic>
    </p:spTree>
    <p:extLst>
      <p:ext uri="{BB962C8B-B14F-4D97-AF65-F5344CB8AC3E}">
        <p14:creationId xmlns:p14="http://schemas.microsoft.com/office/powerpoint/2010/main" val="859889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1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94B1C-90AA-693B-D6E2-F6D98D12F7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E21D79-A5C5-6907-425F-1E81D8286D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90E792-172A-833A-6F50-587F56B7BD1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4AC9770-2139-DEAD-D8C8-9D453CF57847}"/>
              </a:ext>
            </a:extLst>
          </p:cNvPr>
          <p:cNvSpPr>
            <a:spLocks noGrp="1"/>
          </p:cNvSpPr>
          <p:nvPr>
            <p:ph type="ftr" sz="quarter" idx="11"/>
          </p:nvPr>
        </p:nvSpPr>
        <p:spPr/>
        <p:txBody>
          <a:bodyPr/>
          <a:lstStyle/>
          <a:p>
            <a:endParaRPr lang="en-US"/>
          </a:p>
        </p:txBody>
      </p:sp>
      <p:pic>
        <p:nvPicPr>
          <p:cNvPr id="9" name="Picture 8">
            <a:extLst>
              <a:ext uri="{FF2B5EF4-FFF2-40B4-BE49-F238E27FC236}">
                <a16:creationId xmlns:a16="http://schemas.microsoft.com/office/drawing/2014/main" id="{9BF1B271-D828-FAD4-2D6E-FE5937471FBB}"/>
              </a:ext>
            </a:extLst>
          </p:cNvPr>
          <p:cNvPicPr>
            <a:picLocks noChangeAspect="1"/>
          </p:cNvPicPr>
          <p:nvPr userDrawn="1"/>
        </p:nvPicPr>
        <p:blipFill>
          <a:blip r:embed="rId2"/>
          <a:stretch>
            <a:fillRect/>
          </a:stretch>
        </p:blipFill>
        <p:spPr>
          <a:xfrm>
            <a:off x="0" y="0"/>
            <a:ext cx="12191851" cy="6858084"/>
          </a:xfrm>
          <a:prstGeom prst="rect">
            <a:avLst/>
          </a:prstGeom>
        </p:spPr>
      </p:pic>
      <p:sp>
        <p:nvSpPr>
          <p:cNvPr id="10" name="Slide Number Placeholder 5">
            <a:extLst>
              <a:ext uri="{FF2B5EF4-FFF2-40B4-BE49-F238E27FC236}">
                <a16:creationId xmlns:a16="http://schemas.microsoft.com/office/drawing/2014/main" id="{2770F933-14CE-2DB1-9EE7-6BD214FCC5AA}"/>
              </a:ext>
            </a:extLst>
          </p:cNvPr>
          <p:cNvSpPr>
            <a:spLocks noGrp="1"/>
          </p:cNvSpPr>
          <p:nvPr>
            <p:ph type="sldNum" sz="quarter" idx="12"/>
          </p:nvPr>
        </p:nvSpPr>
        <p:spPr>
          <a:xfrm>
            <a:off x="4724325" y="6400090"/>
            <a:ext cx="2743200" cy="365125"/>
          </a:xfrm>
        </p:spPr>
        <p:txBody>
          <a:bodyPr/>
          <a:lstStyle>
            <a:lvl1pPr algn="ctr">
              <a:defRPr>
                <a:solidFill>
                  <a:schemeClr val="bg1"/>
                </a:solidFill>
              </a:defRPr>
            </a:lvl1pPr>
          </a:lstStyle>
          <a:p>
            <a:fld id="{44A9A2A8-896A-4908-99A1-F33C2133E199}" type="slidenum">
              <a:rPr lang="en-US" smtClean="0"/>
              <a:pPr/>
              <a:t>‹#›</a:t>
            </a:fld>
            <a:endParaRPr lang="en-US"/>
          </a:p>
        </p:txBody>
      </p:sp>
      <p:sp>
        <p:nvSpPr>
          <p:cNvPr id="11" name="TextBox 10">
            <a:extLst>
              <a:ext uri="{FF2B5EF4-FFF2-40B4-BE49-F238E27FC236}">
                <a16:creationId xmlns:a16="http://schemas.microsoft.com/office/drawing/2014/main" id="{3B883601-79FC-DA84-BAE6-F3073BDC4694}"/>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2" name="Straight Connector 11">
            <a:extLst>
              <a:ext uri="{FF2B5EF4-FFF2-40B4-BE49-F238E27FC236}">
                <a16:creationId xmlns:a16="http://schemas.microsoft.com/office/drawing/2014/main" id="{8D0E39C6-43DA-EECF-23C6-59D63F572700}"/>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3" name="TextBox 12">
            <a:extLst>
              <a:ext uri="{FF2B5EF4-FFF2-40B4-BE49-F238E27FC236}">
                <a16:creationId xmlns:a16="http://schemas.microsoft.com/office/drawing/2014/main" id="{2D06680A-407A-232D-71BD-099E05DE8702}"/>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805645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5AD15-D119-3EC8-CC44-70BEA3B6504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AA86BB-6BC0-9D87-3DB9-785B71EFD3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C3F056-854A-B42C-E05E-FAD8E313A3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260A57-B6F0-C52A-A084-BED79297992B}"/>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6" name="Footer Placeholder 5">
            <a:extLst>
              <a:ext uri="{FF2B5EF4-FFF2-40B4-BE49-F238E27FC236}">
                <a16:creationId xmlns:a16="http://schemas.microsoft.com/office/drawing/2014/main" id="{88BC4353-A360-8F1B-B427-2F470FB6BDCD}"/>
              </a:ext>
            </a:extLst>
          </p:cNvPr>
          <p:cNvSpPr>
            <a:spLocks noGrp="1"/>
          </p:cNvSpPr>
          <p:nvPr>
            <p:ph type="ftr" sz="quarter" idx="11"/>
          </p:nvPr>
        </p:nvSpPr>
        <p:spPr/>
        <p:txBody>
          <a:bodyPr/>
          <a:lstStyle/>
          <a:p>
            <a:endParaRPr lang="en-US"/>
          </a:p>
        </p:txBody>
      </p:sp>
      <p:pic>
        <p:nvPicPr>
          <p:cNvPr id="10" name="Picture 9">
            <a:extLst>
              <a:ext uri="{FF2B5EF4-FFF2-40B4-BE49-F238E27FC236}">
                <a16:creationId xmlns:a16="http://schemas.microsoft.com/office/drawing/2014/main" id="{B51DD0A4-8111-B4A5-8A23-89C6E7C98499}"/>
              </a:ext>
            </a:extLst>
          </p:cNvPr>
          <p:cNvPicPr>
            <a:picLocks noChangeAspect="1"/>
          </p:cNvPicPr>
          <p:nvPr userDrawn="1"/>
        </p:nvPicPr>
        <p:blipFill>
          <a:blip r:embed="rId2"/>
          <a:stretch>
            <a:fillRect/>
          </a:stretch>
        </p:blipFill>
        <p:spPr>
          <a:xfrm>
            <a:off x="148" y="0"/>
            <a:ext cx="12191851" cy="6858084"/>
          </a:xfrm>
          <a:prstGeom prst="rect">
            <a:avLst/>
          </a:prstGeom>
        </p:spPr>
      </p:pic>
      <p:sp>
        <p:nvSpPr>
          <p:cNvPr id="11" name="Slide Number Placeholder 3">
            <a:extLst>
              <a:ext uri="{FF2B5EF4-FFF2-40B4-BE49-F238E27FC236}">
                <a16:creationId xmlns:a16="http://schemas.microsoft.com/office/drawing/2014/main" id="{0E5ECC14-5837-1A2A-4230-80B7946BBE51}"/>
              </a:ext>
            </a:extLst>
          </p:cNvPr>
          <p:cNvSpPr txBox="1">
            <a:spLocks/>
          </p:cNvSpPr>
          <p:nvPr userDrawn="1"/>
        </p:nvSpPr>
        <p:spPr>
          <a:xfrm>
            <a:off x="3400425" y="6488766"/>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A2E9BD3-7155-55B5-DC53-19DEAEE2ACE7}"/>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3" name="Straight Connector 12">
            <a:extLst>
              <a:ext uri="{FF2B5EF4-FFF2-40B4-BE49-F238E27FC236}">
                <a16:creationId xmlns:a16="http://schemas.microsoft.com/office/drawing/2014/main" id="{E45E6485-FA4A-8EEC-5351-59431317D7CB}"/>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4" name="TextBox 13">
            <a:extLst>
              <a:ext uri="{FF2B5EF4-FFF2-40B4-BE49-F238E27FC236}">
                <a16:creationId xmlns:a16="http://schemas.microsoft.com/office/drawing/2014/main" id="{57B06640-5366-A68D-F217-AB17AE3CEB1E}"/>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194854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CHƯƠNG 1: TỔNG QUAN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flipV="1">
            <a:off x="371475" y="494125"/>
            <a:ext cx="2047634" cy="588"/>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1639385"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160499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HƯỚNG DẪN SỬ DỤNG BỘ NHẬN DIỆN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a:off x="371475" y="494713"/>
            <a:ext cx="2743200" cy="0"/>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Quà tặng</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778852"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1373209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64484-B245-9786-96F3-ACCEA902CD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9F73-0429-1113-2FF0-D37AC808DA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124FBF-32A7-F2F3-76F1-0BAEF05B2423}"/>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1E623DC7-77C8-68D3-5521-66F1B89AFD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D42FC1-5327-03BD-A517-DC428CBF85D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10" name="Picture 9" descr="Icon&#10;&#10;Description automatically generated with medium confidence">
            <a:extLst>
              <a:ext uri="{FF2B5EF4-FFF2-40B4-BE49-F238E27FC236}">
                <a16:creationId xmlns:a16="http://schemas.microsoft.com/office/drawing/2014/main" id="{B74BDEF2-764A-5CA4-2205-ABE449F1B7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200417" cy="6858000"/>
          </a:xfrm>
          <a:prstGeom prst="rect">
            <a:avLst/>
          </a:prstGeom>
        </p:spPr>
      </p:pic>
    </p:spTree>
    <p:extLst>
      <p:ext uri="{BB962C8B-B14F-4D97-AF65-F5344CB8AC3E}">
        <p14:creationId xmlns:p14="http://schemas.microsoft.com/office/powerpoint/2010/main" val="490975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E7E74-2157-8156-D04F-4345F80449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B8762B-AC7A-09DA-B823-68098AE1FD3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FF66B2A-EBD2-4E27-D79A-E6E2B45684FC}"/>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69A86395-86D3-03C1-3B7F-E37C1BD6AA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16C12-62D9-196B-F6E4-808B448BB7CB}"/>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a:extLst>
              <a:ext uri="{FF2B5EF4-FFF2-40B4-BE49-F238E27FC236}">
                <a16:creationId xmlns:a16="http://schemas.microsoft.com/office/drawing/2014/main" id="{CB0268BD-9039-7D8F-5503-DC5674B51E0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693" b="11387"/>
          <a:stretch/>
        </p:blipFill>
        <p:spPr>
          <a:xfrm>
            <a:off x="0" y="0"/>
            <a:ext cx="12208745" cy="6857999"/>
          </a:xfrm>
          <a:prstGeom prst="rect">
            <a:avLst/>
          </a:prstGeom>
        </p:spPr>
      </p:pic>
      <p:sp>
        <p:nvSpPr>
          <p:cNvPr id="7" name="Slide Number Placeholder 6">
            <a:extLst>
              <a:ext uri="{FF2B5EF4-FFF2-40B4-BE49-F238E27FC236}">
                <a16:creationId xmlns:a16="http://schemas.microsoft.com/office/drawing/2014/main" id="{4919B322-54B7-818A-16B3-D0BEBF7BBB76}"/>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266109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43FD51-9557-5B71-222D-1EE865B9A20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483093-D493-DBD1-689A-0AFC949EA3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53BEB4-4BA4-2960-22AC-0D3DAB8A833F}"/>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76C07CD8-5FDF-F57C-8028-DF6EFC3DE4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875602-A385-B1CF-A625-E09A8A6EA54D}"/>
              </a:ext>
            </a:extLst>
          </p:cNvPr>
          <p:cNvSpPr>
            <a:spLocks noGrp="1"/>
          </p:cNvSpPr>
          <p:nvPr>
            <p:ph type="sldNum" sz="quarter" idx="12"/>
          </p:nvPr>
        </p:nvSpPr>
        <p:spPr/>
        <p:txBody>
          <a:bodyPr/>
          <a:lstStyle/>
          <a:p>
            <a:fld id="{44A9A2A8-896A-4908-99A1-F33C2133E199}" type="slidenum">
              <a:rPr lang="en-US" smtClean="0"/>
              <a:t>‹#›</a:t>
            </a:fld>
            <a:endParaRPr lang="en-US"/>
          </a:p>
        </p:txBody>
      </p:sp>
    </p:spTree>
    <p:extLst>
      <p:ext uri="{BB962C8B-B14F-4D97-AF65-F5344CB8AC3E}">
        <p14:creationId xmlns:p14="http://schemas.microsoft.com/office/powerpoint/2010/main" val="4187561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C0C4C-2721-EF8A-87FA-DF3697AF10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VN"/>
          </a:p>
        </p:txBody>
      </p:sp>
      <p:sp>
        <p:nvSpPr>
          <p:cNvPr id="3" name="Subtitle 2">
            <a:extLst>
              <a:ext uri="{FF2B5EF4-FFF2-40B4-BE49-F238E27FC236}">
                <a16:creationId xmlns:a16="http://schemas.microsoft.com/office/drawing/2014/main" id="{D7E65CAC-470F-FB10-EF9B-ADF4CBA29D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8BEDB4B1-4694-9F7D-7268-75C4EA5B9A67}"/>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9D25EB09-A3C3-F1A5-F128-F88BEDF1A22D}"/>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77027631-79B9-BB38-EBE9-542AEA474BA8}"/>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6559235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FFC69-B0B5-8B6C-BC84-819A3A454678}"/>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2F262DA-1FEC-4310-5E46-1B04C326D7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0906CCD9-EE5B-D53A-6B43-C9729A7058CD}"/>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3684C1D6-16C3-11C2-7E8D-1BCAE3BC47FB}"/>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EADB73A8-DD30-7C39-4428-0096F34893E2}"/>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2027682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6F02E-2A60-075B-EE80-529C57F98C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9C3FBD82-7586-2BE7-4634-B656885B844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16D4FD-E0D4-FF72-1D72-DDE7020A2CDA}"/>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CB7372A2-CDF4-71B7-02E3-EC66216C76F0}"/>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D4C0BD52-32DC-87F3-F017-EDFB77B4D6B7}"/>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0847431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CD7C9-251A-681F-FE90-F34ADC8B6DB9}"/>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0FDF3CD-9CD1-47EA-478D-273375EB51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2930CBA9-C53B-82AF-7BCD-2815CF244E6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5B996E49-68E5-6D5B-01D2-E2D70F2ABC6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592AF9F3-C662-679D-F399-835AF38B979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CD5EDE3D-A4F3-EB1E-22B4-4117E025173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4971593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0F3F0-A2D0-43BE-1440-E232FC5D8604}"/>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0E7EF7E0-3EA1-4F41-B806-D73ADBD43B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A58570D-AFEB-1AAE-9C9E-975975C97E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8FF40D04-A956-8A5A-B626-B2B932B321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A8101-3C77-8F81-87DF-36657E3A577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291EA63A-D8CF-C7ED-C49D-53AE004C3A28}"/>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8" name="Footer Placeholder 7">
            <a:extLst>
              <a:ext uri="{FF2B5EF4-FFF2-40B4-BE49-F238E27FC236}">
                <a16:creationId xmlns:a16="http://schemas.microsoft.com/office/drawing/2014/main" id="{3E73F494-9142-8A94-C1EB-153339203330}"/>
              </a:ext>
            </a:extLst>
          </p:cNvPr>
          <p:cNvSpPr>
            <a:spLocks noGrp="1"/>
          </p:cNvSpPr>
          <p:nvPr>
            <p:ph type="ftr" sz="quarter" idx="11"/>
          </p:nvPr>
        </p:nvSpPr>
        <p:spPr/>
        <p:txBody>
          <a:bodyPr/>
          <a:lstStyle/>
          <a:p>
            <a:endParaRPr lang="en-VN"/>
          </a:p>
        </p:txBody>
      </p:sp>
      <p:sp>
        <p:nvSpPr>
          <p:cNvPr id="9" name="Slide Number Placeholder 8">
            <a:extLst>
              <a:ext uri="{FF2B5EF4-FFF2-40B4-BE49-F238E27FC236}">
                <a16:creationId xmlns:a16="http://schemas.microsoft.com/office/drawing/2014/main" id="{11181F19-E634-7695-DE81-1B64A6A3A1F6}"/>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9305760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71332-A738-0195-0BE7-1564292BCD00}"/>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A2B8FC58-5A1E-2BDB-489E-9D8723FA342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4" name="Footer Placeholder 3">
            <a:extLst>
              <a:ext uri="{FF2B5EF4-FFF2-40B4-BE49-F238E27FC236}">
                <a16:creationId xmlns:a16="http://schemas.microsoft.com/office/drawing/2014/main" id="{098F07EC-41A4-246E-ADD0-D5E0F29ACD88}"/>
              </a:ext>
            </a:extLst>
          </p:cNvPr>
          <p:cNvSpPr>
            <a:spLocks noGrp="1"/>
          </p:cNvSpPr>
          <p:nvPr>
            <p:ph type="ftr" sz="quarter" idx="11"/>
          </p:nvPr>
        </p:nvSpPr>
        <p:spPr/>
        <p:txBody>
          <a:bodyPr/>
          <a:lstStyle/>
          <a:p>
            <a:endParaRPr lang="en-VN"/>
          </a:p>
        </p:txBody>
      </p:sp>
      <p:sp>
        <p:nvSpPr>
          <p:cNvPr id="5" name="Slide Number Placeholder 4">
            <a:extLst>
              <a:ext uri="{FF2B5EF4-FFF2-40B4-BE49-F238E27FC236}">
                <a16:creationId xmlns:a16="http://schemas.microsoft.com/office/drawing/2014/main" id="{2043DA24-A916-89D0-C915-6FEA840ACDD0}"/>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552666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71A2AA-D5E8-51EE-3DC1-F806D400B78C}"/>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3" name="Footer Placeholder 2">
            <a:extLst>
              <a:ext uri="{FF2B5EF4-FFF2-40B4-BE49-F238E27FC236}">
                <a16:creationId xmlns:a16="http://schemas.microsoft.com/office/drawing/2014/main" id="{66D10BE0-29E0-0DA6-DCD6-A9111C196955}"/>
              </a:ext>
            </a:extLst>
          </p:cNvPr>
          <p:cNvSpPr>
            <a:spLocks noGrp="1"/>
          </p:cNvSpPr>
          <p:nvPr>
            <p:ph type="ftr" sz="quarter" idx="11"/>
          </p:nvPr>
        </p:nvSpPr>
        <p:spPr/>
        <p:txBody>
          <a:bodyPr/>
          <a:lstStyle/>
          <a:p>
            <a:endParaRPr lang="en-VN"/>
          </a:p>
        </p:txBody>
      </p:sp>
      <p:sp>
        <p:nvSpPr>
          <p:cNvPr id="4" name="Slide Number Placeholder 3">
            <a:extLst>
              <a:ext uri="{FF2B5EF4-FFF2-40B4-BE49-F238E27FC236}">
                <a16:creationId xmlns:a16="http://schemas.microsoft.com/office/drawing/2014/main" id="{02619D22-205D-E0A3-D8AD-4C22C55EADE1}"/>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3753633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7BEAE-7329-21A4-6E2B-B246F6022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913B01AD-73BE-8BFE-BF3B-7C0AFADD5E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45550BD2-3126-4882-EBDC-31345AFB0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BEA815-0D22-42C9-B3CC-6202DB707A4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BA2D32BD-D54E-0425-2411-645F3C8A125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D909C717-4274-9731-E543-C526C17A1633}"/>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87134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1E17-C0BA-B98B-C131-02AB417E79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25EC6A9F-A3EB-93C4-42C7-63E9363B33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73A23D5F-97AD-F85D-95FF-D47522B7C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9B80D7-ADD1-3C53-9F2E-EBB92FFB582E}"/>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9EB58B42-9186-334D-EFF9-B4AA839744C1}"/>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57CD31C5-65B6-0F87-CD6F-85FDA42D113E}"/>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1993668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9C922-DFDE-C14F-0F4B-742A1A362028}"/>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B8C028C8-6F83-8C09-F846-4C3F6386F7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3B73228-D08F-4EB8-FE17-E285A27A5462}"/>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CC2E1202-52CC-8C1F-9A8F-2B03A8DD1EE3}"/>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F2430BFF-703A-130E-8C91-B47C65840C4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6936805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139CBB-B51D-946A-0B42-E45B983D843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E0BC03C2-E70E-6F1C-072B-618EAE4E33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B73F999A-F71C-5FEC-8490-FA19564D9BDF}"/>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B20B2F99-75A3-22E7-186D-36F1198C2CDA}"/>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AFF5AF24-1837-7DF1-C937-2917E6AE481C}"/>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425262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theme" Target="../theme/theme2.xml"/><Relationship Id="rId13"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631AEE7-1745-7095-F664-6B95264B05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1A03A21-2772-3828-7AC5-78FFACCBCE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873718-709B-4497-A711-65AA029D60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93290932-8E1F-6DBB-5A0C-DF2410DABE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167DC62-3F95-5ACD-3C31-558A19C8C5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A9A2A8-896A-4908-99A1-F33C2133E199}" type="slidenum">
              <a:rPr lang="en-US" smtClean="0"/>
              <a:t>‹#›</a:t>
            </a:fld>
            <a:endParaRPr lang="en-US"/>
          </a:p>
        </p:txBody>
      </p:sp>
    </p:spTree>
    <p:extLst>
      <p:ext uri="{BB962C8B-B14F-4D97-AF65-F5344CB8AC3E}">
        <p14:creationId xmlns:p14="http://schemas.microsoft.com/office/powerpoint/2010/main" val="1486776597"/>
      </p:ext>
    </p:extLst>
  </p:cSld>
  <p:clrMap bg1="lt1" tx1="dk1" bg2="lt2" tx2="dk2" accent1="accent1" accent2="accent2" accent3="accent3" accent4="accent4" accent5="accent5" accent6="accent6" hlink="hlink" folHlink="folHlink"/>
  <p:sldLayoutIdLst>
    <p:sldLayoutId id="2147483685" r:id="rId1"/>
    <p:sldLayoutId id="2147483702" r:id="rId2"/>
    <p:sldLayoutId id="2147483688" r:id="rId3"/>
    <p:sldLayoutId id="2147483686" r:id="rId4"/>
    <p:sldLayoutId id="2147483676" r:id="rId5"/>
    <p:sldLayoutId id="2147483679" r:id="rId6"/>
    <p:sldLayoutId id="2147483680" r:id="rId7"/>
    <p:sldLayoutId id="2147483681" r:id="rId8"/>
    <p:sldLayoutId id="2147483689"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C7EEC1-4213-8FCF-3A7A-908258F09C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C5B1D829-DE05-9850-6373-B3F86F8854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2E005DE-8349-AD99-ED16-5AFD4E61F5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43E5248B-C816-9A17-B3A8-FF9BC75DD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VN"/>
          </a:p>
        </p:txBody>
      </p:sp>
      <p:sp>
        <p:nvSpPr>
          <p:cNvPr id="6" name="Slide Number Placeholder 5">
            <a:extLst>
              <a:ext uri="{FF2B5EF4-FFF2-40B4-BE49-F238E27FC236}">
                <a16:creationId xmlns:a16="http://schemas.microsoft.com/office/drawing/2014/main" id="{63AD0FF6-0F0C-669D-25BE-9D651C0A38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D346AC3-7438-9240-8346-AC58A05A36AC}" type="slidenum">
              <a:rPr lang="en-VN" smtClean="0"/>
              <a:t>‹#›</a:t>
            </a:fld>
            <a:endParaRPr lang="en-VN"/>
          </a:p>
        </p:txBody>
      </p:sp>
      <p:pic>
        <p:nvPicPr>
          <p:cNvPr id="7" name="Picture 6">
            <a:extLst>
              <a:ext uri="{FF2B5EF4-FFF2-40B4-BE49-F238E27FC236}">
                <a16:creationId xmlns:a16="http://schemas.microsoft.com/office/drawing/2014/main" id="{34FA554B-9BF6-355F-690C-1F3ED34B2FA6}"/>
              </a:ext>
            </a:extLst>
          </p:cNvPr>
          <p:cNvPicPr>
            <a:picLocks noChangeAspect="1"/>
          </p:cNvPicPr>
          <p:nvPr userDrawn="1"/>
        </p:nvPicPr>
        <p:blipFill>
          <a:blip r:embed="rId13"/>
          <a:stretch>
            <a:fillRect/>
          </a:stretch>
        </p:blipFill>
        <p:spPr>
          <a:xfrm>
            <a:off x="0" y="0"/>
            <a:ext cx="12191851" cy="6858084"/>
          </a:xfrm>
          <a:prstGeom prst="rect">
            <a:avLst/>
          </a:prstGeom>
        </p:spPr>
      </p:pic>
      <p:sp>
        <p:nvSpPr>
          <p:cNvPr id="8" name="Slide Number Placeholder 5">
            <a:extLst>
              <a:ext uri="{FF2B5EF4-FFF2-40B4-BE49-F238E27FC236}">
                <a16:creationId xmlns:a16="http://schemas.microsoft.com/office/drawing/2014/main" id="{713A4733-A858-7A28-2A27-78134C3F356D}"/>
              </a:ext>
            </a:extLst>
          </p:cNvPr>
          <p:cNvSpPr txBox="1">
            <a:spLocks/>
          </p:cNvSpPr>
          <p:nvPr userDrawn="1"/>
        </p:nvSpPr>
        <p:spPr>
          <a:xfrm>
            <a:off x="4724325" y="6400090"/>
            <a:ext cx="2743200" cy="365125"/>
          </a:xfrm>
          <a:prstGeom prst="rect">
            <a:avLst/>
          </a:prstGeom>
        </p:spPr>
        <p:txBody>
          <a:bodyPr/>
          <a:lstStyle>
            <a:defPPr>
              <a:defRPr lang="en-VN"/>
            </a:defPPr>
            <a:lvl1pPr marL="0" algn="ctr" defTabSz="914400" rtl="0" eaLnBrk="1" latinLnBrk="0" hangingPunct="1">
              <a:defRPr sz="1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195359915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 Id="rId3" Type="http://schemas.openxmlformats.org/officeDocument/2006/relationships/image" Target="../media/image19.png"/><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9F82E83-E938-C1B8-96ED-164E2023AA3A}"/>
              </a:ext>
            </a:extLst>
          </p:cNvPr>
          <p:cNvSpPr txBox="1"/>
          <p:nvPr/>
        </p:nvSpPr>
        <p:spPr>
          <a:xfrm>
            <a:off x="3841583" y="1807057"/>
            <a:ext cx="7749782" cy="25545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err="1">
                <a:ln>
                  <a:noFill/>
                </a:ln>
                <a:solidFill>
                  <a:prstClr val="white"/>
                </a:solidFill>
                <a:effectLst/>
                <a:uLnTx/>
                <a:uFillTx/>
                <a:latin typeface="UTM Neutra" panose="02040603050506020204" pitchFamily="18" charset="0"/>
                <a:ea typeface="+mn-ea"/>
                <a:cs typeface="+mn-cs"/>
              </a:rPr>
              <a:t>Đề tài môn Khoa học dữ liệu</a:t>
            </a:r>
            <a:endPar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Dự đoán giá ô tô cũ trên Chợ Tốt bằng Ridge Regression và Random Forest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4C57B79-F982-05E7-B239-77BCD5416D65}"/>
              </a:ext>
            </a:extLst>
          </p:cNvPr>
          <p:cNvSpPr txBox="1"/>
          <p:nvPr/>
        </p:nvSpPr>
        <p:spPr>
          <a:xfrm>
            <a:off x="3841583" y="4016857"/>
            <a:ext cx="7749782" cy="13849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olidFill>
                  <a:prstClr val="white"/>
                </a:solidFill>
                <a:latin typeface="UTM Neutra" panose="02040603050506020204" pitchFamily="18" charset="0"/>
              </a:rPr>
              <a:t>SVTH: &lt;Họ tên SV 1&gt; – &lt;Họ tên SV 2&gt;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GVHD: &lt;Tên giảng viên&gt;</a:t>
            </a:r>
            <a:endParaRPr kumimoji="0" lang="en-US" sz="2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837698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39DB71-B88B-13E6-20C9-D445279D6565}"/>
              </a:ext>
            </a:extLst>
          </p:cNvPr>
          <p:cNvSpPr txBox="1"/>
          <p:nvPr/>
        </p:nvSpPr>
        <p:spPr>
          <a:xfrm>
            <a:off x="1584824" y="2646289"/>
            <a:ext cx="3555347" cy="187743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TRÂN TRỌNG</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4000" b="1" dirty="0">
                <a:solidFill>
                  <a:prstClr val="white"/>
                </a:solidFill>
                <a:latin typeface="UTM Neutra" panose="02040603050506020204" pitchFamily="18" charset="0"/>
              </a:rPr>
              <a:t>CẢM ƠN</a:t>
            </a:r>
            <a:endParaRPr kumimoji="0" lang="en-US" sz="40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Rectangle 1">
            <a:extLst>
              <a:ext uri="{FF2B5EF4-FFF2-40B4-BE49-F238E27FC236}">
                <a16:creationId xmlns:a16="http://schemas.microsoft.com/office/drawing/2014/main" id="{9F1140A8-0DEA-4459-9D47-7031037DBACB}"/>
              </a:ext>
            </a:extLst>
          </p:cNvPr>
          <p:cNvSpPr/>
          <p:nvPr/>
        </p:nvSpPr>
        <p:spPr>
          <a:xfrm>
            <a:off x="514017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1968214"/>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NỘI DUNG TRÌNH BÀY</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Năm phần của bài báo cáo</a:t>
            </a:r>
          </a:p>
        </p:txBody>
      </p:sp>
      <p:sp>
        <p:nvSpPr>
          <p:cNvPr id="4" name="Oval 3"/>
          <p:cNvSpPr/>
          <p:nvPr/>
        </p:nvSpPr>
        <p:spPr>
          <a:xfrm>
            <a:off x="1097280" y="1463040"/>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01</a:t>
            </a:r>
          </a:p>
        </p:txBody>
      </p:sp>
      <p:sp>
        <p:nvSpPr>
          <p:cNvPr id="5" name="TextBox 4"/>
          <p:cNvSpPr txBox="1"/>
          <p:nvPr/>
        </p:nvSpPr>
        <p:spPr>
          <a:xfrm>
            <a:off x="1920240" y="1444752"/>
            <a:ext cx="77724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Giới thiệu đề tài</a:t>
            </a:r>
          </a:p>
        </p:txBody>
      </p:sp>
      <p:sp>
        <p:nvSpPr>
          <p:cNvPr id="6" name="TextBox 5"/>
          <p:cNvSpPr txBox="1"/>
          <p:nvPr/>
        </p:nvSpPr>
        <p:spPr>
          <a:xfrm>
            <a:off x="1920240" y="1792224"/>
            <a:ext cx="77724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Bài toán, mục tiêu và quy trình thực hiện</a:t>
            </a:r>
          </a:p>
        </p:txBody>
      </p:sp>
      <p:sp>
        <p:nvSpPr>
          <p:cNvPr id="7" name="Oval 6"/>
          <p:cNvSpPr/>
          <p:nvPr/>
        </p:nvSpPr>
        <p:spPr>
          <a:xfrm>
            <a:off x="1097280" y="2267712"/>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02</a:t>
            </a:r>
          </a:p>
        </p:txBody>
      </p:sp>
      <p:sp>
        <p:nvSpPr>
          <p:cNvPr id="8" name="TextBox 7"/>
          <p:cNvSpPr txBox="1"/>
          <p:nvPr/>
        </p:nvSpPr>
        <p:spPr>
          <a:xfrm>
            <a:off x="1920240" y="2249424"/>
            <a:ext cx="77724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Thu thập dữ liệu</a:t>
            </a:r>
          </a:p>
        </p:txBody>
      </p:sp>
      <p:sp>
        <p:nvSpPr>
          <p:cNvPr id="9" name="TextBox 8"/>
          <p:cNvSpPr txBox="1"/>
          <p:nvPr/>
        </p:nvSpPr>
        <p:spPr>
          <a:xfrm>
            <a:off x="1920240" y="2596896"/>
            <a:ext cx="77724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Crawl 14.835 tin rao bán ô tô từ Chợ Tốt</a:t>
            </a:r>
          </a:p>
        </p:txBody>
      </p:sp>
      <p:sp>
        <p:nvSpPr>
          <p:cNvPr id="10" name="Oval 9"/>
          <p:cNvSpPr/>
          <p:nvPr/>
        </p:nvSpPr>
        <p:spPr>
          <a:xfrm>
            <a:off x="1097280" y="3072384"/>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03</a:t>
            </a:r>
          </a:p>
        </p:txBody>
      </p:sp>
      <p:sp>
        <p:nvSpPr>
          <p:cNvPr id="11" name="TextBox 10"/>
          <p:cNvSpPr txBox="1"/>
          <p:nvPr/>
        </p:nvSpPr>
        <p:spPr>
          <a:xfrm>
            <a:off x="1920240" y="3054096"/>
            <a:ext cx="77724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Tiền xử lý dữ liệu</a:t>
            </a:r>
          </a:p>
        </p:txBody>
      </p:sp>
      <p:sp>
        <p:nvSpPr>
          <p:cNvPr id="12" name="TextBox 11"/>
          <p:cNvSpPr txBox="1"/>
          <p:nvPr/>
        </p:nvSpPr>
        <p:spPr>
          <a:xfrm>
            <a:off x="1920240" y="3401568"/>
            <a:ext cx="77724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Làm sạch, điền thiếu, gộp nhãn, đặc trưng, mất cân bằng</a:t>
            </a:r>
          </a:p>
        </p:txBody>
      </p:sp>
      <p:sp>
        <p:nvSpPr>
          <p:cNvPr id="13" name="Oval 12"/>
          <p:cNvSpPr/>
          <p:nvPr/>
        </p:nvSpPr>
        <p:spPr>
          <a:xfrm>
            <a:off x="1097280" y="3877056"/>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04</a:t>
            </a:r>
          </a:p>
        </p:txBody>
      </p:sp>
      <p:sp>
        <p:nvSpPr>
          <p:cNvPr id="14" name="TextBox 13"/>
          <p:cNvSpPr txBox="1"/>
          <p:nvPr/>
        </p:nvSpPr>
        <p:spPr>
          <a:xfrm>
            <a:off x="1920240" y="3858768"/>
            <a:ext cx="77724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Xây dựng mô hình</a:t>
            </a:r>
          </a:p>
        </p:txBody>
      </p:sp>
      <p:sp>
        <p:nvSpPr>
          <p:cNvPr id="15" name="TextBox 14"/>
          <p:cNvSpPr txBox="1"/>
          <p:nvPr/>
        </p:nvSpPr>
        <p:spPr>
          <a:xfrm>
            <a:off x="1920240" y="4206240"/>
            <a:ext cx="77724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Ridge Regression và Random Forest: thư viện và tự cài đặt</a:t>
            </a:r>
          </a:p>
        </p:txBody>
      </p:sp>
      <p:sp>
        <p:nvSpPr>
          <p:cNvPr id="16" name="Oval 15"/>
          <p:cNvSpPr/>
          <p:nvPr/>
        </p:nvSpPr>
        <p:spPr>
          <a:xfrm>
            <a:off x="1097280" y="4681728"/>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05</a:t>
            </a:r>
          </a:p>
        </p:txBody>
      </p:sp>
      <p:sp>
        <p:nvSpPr>
          <p:cNvPr id="17" name="TextBox 16"/>
          <p:cNvSpPr txBox="1"/>
          <p:nvPr/>
        </p:nvSpPr>
        <p:spPr>
          <a:xfrm>
            <a:off x="1920240" y="4663440"/>
            <a:ext cx="77724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Kết quả và kết luận</a:t>
            </a:r>
          </a:p>
        </p:txBody>
      </p:sp>
      <p:sp>
        <p:nvSpPr>
          <p:cNvPr id="18" name="TextBox 17"/>
          <p:cNvSpPr txBox="1"/>
          <p:nvPr/>
        </p:nvSpPr>
        <p:spPr>
          <a:xfrm>
            <a:off x="1920240" y="5010912"/>
            <a:ext cx="77724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Đánh giá trên tập test, diễn giải, hạn chế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4" name="TextBox 3">
            <a:extLst>
              <a:ext uri="{FF2B5EF4-FFF2-40B4-BE49-F238E27FC236}">
                <a16:creationId xmlns:a16="http://schemas.microsoft.com/office/drawing/2014/main" id="{6439DB71-B88B-13E6-20C9-D445279D6565}"/>
              </a:ext>
            </a:extLst>
          </p:cNvPr>
          <p:cNvSpPr txBox="1"/>
          <p:nvPr/>
        </p:nvSpPr>
        <p:spPr>
          <a:xfrm>
            <a:off x="1474901" y="2363900"/>
            <a:ext cx="4846320" cy="24314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PHẦN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8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rPr>
              <a:t>GIỚI THIỆU ĐỀ TÀI</a:t>
            </a:r>
          </a:p>
        </p:txBody>
      </p:sp>
      <p:sp>
        <p:nvSpPr>
          <p:cNvPr id="2" name="Rectangle 1">
            <a:extLst>
              <a:ext uri="{FF2B5EF4-FFF2-40B4-BE49-F238E27FC236}">
                <a16:creationId xmlns:a16="http://schemas.microsoft.com/office/drawing/2014/main" id="{9F1140A8-0DEA-4459-9D47-7031037DBACB}"/>
              </a:ext>
            </a:extLst>
          </p:cNvPr>
          <p:cNvSpPr/>
          <p:nvPr/>
        </p:nvSpPr>
        <p:spPr>
          <a:xfrm>
            <a:off x="650410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Bài toán: ước lượng giá một chiếc xe từ thông tin trong tin đăng</a:t>
            </a:r>
          </a:p>
        </p:txBody>
      </p:sp>
      <p:sp>
        <p:nvSpPr>
          <p:cNvPr id="4" name="Rounded Rectangle 3"/>
          <p:cNvSpPr/>
          <p:nvPr/>
        </p:nvSpPr>
        <p:spPr>
          <a:xfrm>
            <a:off x="548640" y="1508760"/>
            <a:ext cx="4572000" cy="3886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645920"/>
            <a:ext cx="42062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Đầu vào: thông tin trong tin đăng</a:t>
            </a:r>
          </a:p>
        </p:txBody>
      </p:sp>
      <p:sp>
        <p:nvSpPr>
          <p:cNvPr id="6" name="TextBox 5"/>
          <p:cNvSpPr txBox="1"/>
          <p:nvPr/>
        </p:nvSpPr>
        <p:spPr>
          <a:xfrm>
            <a:off x="777240" y="2103120"/>
            <a:ext cx="4206240" cy="320040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600" b="0" i="0" lang="vi-VN">
                <a:solidFill>
                  <a:srgbClr val="1F2937"/>
                </a:solidFill>
                <a:latin typeface="Arial"/>
              </a:rPr>
              <a:t>Hãng, dòng xe</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Năm sản xuất, số km đã đi</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Hộp số, nhiên liệu</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Kiểu dáng, số chỗ</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Xuất xứ, tình trạng (mới / đã dùng)</a:t>
            </a:r>
          </a:p>
        </p:txBody>
      </p:sp>
      <p:sp>
        <p:nvSpPr>
          <p:cNvPr id="7" name="Right Arrow 6"/>
          <p:cNvSpPr/>
          <p:nvPr/>
        </p:nvSpPr>
        <p:spPr>
          <a:xfrm>
            <a:off x="5349240" y="3154680"/>
            <a:ext cx="822960" cy="54864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0" y="1508760"/>
            <a:ext cx="5212080" cy="17830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645920"/>
            <a:ext cx="47548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FFD400"/>
                </a:solidFill>
                <a:latin typeface="Arial"/>
              </a:rPr>
              <a:t>Đầu ra</a:t>
            </a:r>
          </a:p>
        </p:txBody>
      </p:sp>
      <p:sp>
        <p:nvSpPr>
          <p:cNvPr id="10" name="TextBox 9"/>
          <p:cNvSpPr txBox="1"/>
          <p:nvPr/>
        </p:nvSpPr>
        <p:spPr>
          <a:xfrm>
            <a:off x="6629400" y="2011680"/>
            <a:ext cx="4754880" cy="118872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FFFFFF"/>
                </a:solidFill>
                <a:latin typeface="Arial"/>
              </a:rPr>
              <a:t>Giá rao bán</a:t>
            </a:r>
          </a:p>
          <a:p>
            <a:pPr algn="l">
              <a:lnSpc>
                <a:spcPct val="110000"/>
              </a:lnSpc>
              <a:spcAft>
                <a:spcPts val="600"/>
              </a:spcAft>
            </a:pPr>
            <a:r>
              <a:rPr sz="1500" b="0" i="0" lang="vi-VN">
                <a:solidFill>
                  <a:srgbClr val="FFFFFF"/>
                </a:solidFill>
                <a:latin typeface="Arial"/>
              </a:rPr>
              <a:t>(triệu đồng) - bài toán hồi quy có giám sát</a:t>
            </a:r>
          </a:p>
        </p:txBody>
      </p:sp>
      <p:sp>
        <p:nvSpPr>
          <p:cNvPr id="11" name="Rounded Rectangle 10"/>
          <p:cNvSpPr/>
          <p:nvPr/>
        </p:nvSpPr>
        <p:spPr>
          <a:xfrm>
            <a:off x="6400800" y="3520440"/>
            <a:ext cx="5212080" cy="1874519"/>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629400" y="3639312"/>
            <a:ext cx="47548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Mục tiêu của đề tài</a:t>
            </a:r>
          </a:p>
        </p:txBody>
      </p:sp>
      <p:sp>
        <p:nvSpPr>
          <p:cNvPr id="13" name="TextBox 12"/>
          <p:cNvSpPr txBox="1"/>
          <p:nvPr/>
        </p:nvSpPr>
        <p:spPr>
          <a:xfrm>
            <a:off x="6629400" y="4023360"/>
            <a:ext cx="4846320" cy="1371600"/>
          </a:xfrm>
          <a:prstGeom prst="rect">
            <a:avLst/>
          </a:prstGeom>
          <a:noFill/>
        </p:spPr>
        <p:txBody>
          <a:bodyPr wrap="square" lIns="45720" rIns="45720" tIns="27432" bIns="27432" anchor="t">
            <a:spAutoFit/>
          </a:bodyPr>
          <a:lstStyle/>
          <a:p>
            <a:pPr algn="l" marL="201168" indent="-201168">
              <a:lnSpc>
                <a:spcPct val="110000"/>
              </a:lnSpc>
              <a:spcAft>
                <a:spcPts val="500"/>
              </a:spcAft>
              <a:buClr>
                <a:srgbClr val="075289"/>
              </a:buClr>
              <a:buFont typeface="Arial"/>
              <a:buChar char="•"/>
            </a:pPr>
            <a:r>
              <a:rPr sz="1400" b="0" i="0" lang="vi-VN">
                <a:solidFill>
                  <a:srgbClr val="1F2937"/>
                </a:solidFill>
                <a:latin typeface="Arial"/>
              </a:rPr>
              <a:t>Xây dựng mô hình từ đầu đến cuối, có thước đo đánh giá</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Tự cài đặt 2 mô hình, kiểm chứng với thư viện</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Xử lý dữ liệu mất cân bằng theo phân khúc giá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Quy trình thực hiện</a:t>
            </a:r>
          </a:p>
        </p:txBody>
      </p:sp>
      <p:sp>
        <p:nvSpPr>
          <p:cNvPr id="4" name="Rounded Rectangle 3"/>
          <p:cNvSpPr/>
          <p:nvPr/>
        </p:nvSpPr>
        <p:spPr>
          <a:xfrm>
            <a:off x="548640" y="182880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88719" y="201168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1</a:t>
            </a:r>
          </a:p>
        </p:txBody>
      </p:sp>
      <p:sp>
        <p:nvSpPr>
          <p:cNvPr id="6" name="TextBox 5"/>
          <p:cNvSpPr txBox="1"/>
          <p:nvPr/>
        </p:nvSpPr>
        <p:spPr>
          <a:xfrm>
            <a:off x="640080" y="278892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Thu thập</a:t>
            </a:r>
          </a:p>
        </p:txBody>
      </p:sp>
      <p:sp>
        <p:nvSpPr>
          <p:cNvPr id="7" name="TextBox 6"/>
          <p:cNvSpPr txBox="1"/>
          <p:nvPr/>
        </p:nvSpPr>
        <p:spPr>
          <a:xfrm>
            <a:off x="640080" y="324612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Crawl Chợ Tốt</a:t>
            </a:r>
          </a:p>
          <a:p>
            <a:pPr algn="ctr">
              <a:lnSpc>
                <a:spcPct val="110000"/>
              </a:lnSpc>
              <a:spcAft>
                <a:spcPts val="200"/>
              </a:spcAft>
            </a:pPr>
            <a:r>
              <a:rPr sz="1300" b="0" i="0" lang="vi-VN">
                <a:solidFill>
                  <a:srgbClr val="1F2937"/>
                </a:solidFill>
                <a:latin typeface="Arial"/>
              </a:rPr>
              <a:t>14.835 tin</a:t>
            </a:r>
          </a:p>
        </p:txBody>
      </p:sp>
      <p:sp>
        <p:nvSpPr>
          <p:cNvPr id="8" name="Right Arrow 7"/>
          <p:cNvSpPr/>
          <p:nvPr/>
        </p:nvSpPr>
        <p:spPr>
          <a:xfrm>
            <a:off x="2496312" y="283464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34640" y="182880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474720" y="201168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2</a:t>
            </a:r>
          </a:p>
        </p:txBody>
      </p:sp>
      <p:sp>
        <p:nvSpPr>
          <p:cNvPr id="11" name="TextBox 10"/>
          <p:cNvSpPr txBox="1"/>
          <p:nvPr/>
        </p:nvSpPr>
        <p:spPr>
          <a:xfrm>
            <a:off x="2926080" y="278892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Tiền xử lý</a:t>
            </a:r>
          </a:p>
        </p:txBody>
      </p:sp>
      <p:sp>
        <p:nvSpPr>
          <p:cNvPr id="12" name="TextBox 11"/>
          <p:cNvSpPr txBox="1"/>
          <p:nvPr/>
        </p:nvSpPr>
        <p:spPr>
          <a:xfrm>
            <a:off x="2926080" y="324612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Làm sạch, điền thiếu</a:t>
            </a:r>
          </a:p>
          <a:p>
            <a:pPr algn="ctr">
              <a:lnSpc>
                <a:spcPct val="110000"/>
              </a:lnSpc>
              <a:spcAft>
                <a:spcPts val="200"/>
              </a:spcAft>
            </a:pPr>
            <a:r>
              <a:rPr sz="1300" b="0" i="0" lang="vi-VN">
                <a:solidFill>
                  <a:srgbClr val="1F2937"/>
                </a:solidFill>
                <a:latin typeface="Arial"/>
              </a:rPr>
              <a:t>13.937 tin</a:t>
            </a:r>
          </a:p>
        </p:txBody>
      </p:sp>
      <p:sp>
        <p:nvSpPr>
          <p:cNvPr id="13" name="Right Arrow 12"/>
          <p:cNvSpPr/>
          <p:nvPr/>
        </p:nvSpPr>
        <p:spPr>
          <a:xfrm>
            <a:off x="4782312" y="283464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82880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760720" y="201168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3</a:t>
            </a:r>
          </a:p>
        </p:txBody>
      </p:sp>
      <p:sp>
        <p:nvSpPr>
          <p:cNvPr id="16" name="TextBox 15"/>
          <p:cNvSpPr txBox="1"/>
          <p:nvPr/>
        </p:nvSpPr>
        <p:spPr>
          <a:xfrm>
            <a:off x="5212079" y="278892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Mô hình</a:t>
            </a:r>
          </a:p>
        </p:txBody>
      </p:sp>
      <p:sp>
        <p:nvSpPr>
          <p:cNvPr id="17" name="TextBox 16"/>
          <p:cNvSpPr txBox="1"/>
          <p:nvPr/>
        </p:nvSpPr>
        <p:spPr>
          <a:xfrm>
            <a:off x="5212079" y="324612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Ridge, Random Forest</a:t>
            </a:r>
          </a:p>
          <a:p>
            <a:pPr algn="ctr">
              <a:lnSpc>
                <a:spcPct val="110000"/>
              </a:lnSpc>
              <a:spcAft>
                <a:spcPts val="200"/>
              </a:spcAft>
            </a:pPr>
            <a:r>
              <a:rPr sz="1300" b="0" i="0" lang="vi-VN">
                <a:solidFill>
                  <a:srgbClr val="1F2937"/>
                </a:solidFill>
                <a:latin typeface="Arial"/>
              </a:rPr>
              <a:t>thư viện + tự cài đặt</a:t>
            </a:r>
          </a:p>
        </p:txBody>
      </p:sp>
      <p:sp>
        <p:nvSpPr>
          <p:cNvPr id="18" name="Right Arrow 17"/>
          <p:cNvSpPr/>
          <p:nvPr/>
        </p:nvSpPr>
        <p:spPr>
          <a:xfrm>
            <a:off x="7068312" y="283464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06640" y="182880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46719" y="201168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4</a:t>
            </a:r>
          </a:p>
        </p:txBody>
      </p:sp>
      <p:sp>
        <p:nvSpPr>
          <p:cNvPr id="21" name="TextBox 20"/>
          <p:cNvSpPr txBox="1"/>
          <p:nvPr/>
        </p:nvSpPr>
        <p:spPr>
          <a:xfrm>
            <a:off x="7498079" y="278892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Đánh giá</a:t>
            </a:r>
          </a:p>
        </p:txBody>
      </p:sp>
      <p:sp>
        <p:nvSpPr>
          <p:cNvPr id="22" name="TextBox 21"/>
          <p:cNvSpPr txBox="1"/>
          <p:nvPr/>
        </p:nvSpPr>
        <p:spPr>
          <a:xfrm>
            <a:off x="7498079" y="324612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MAPE, R², ±20%</a:t>
            </a:r>
          </a:p>
          <a:p>
            <a:pPr algn="ctr">
              <a:lnSpc>
                <a:spcPct val="110000"/>
              </a:lnSpc>
              <a:spcAft>
                <a:spcPts val="200"/>
              </a:spcAft>
            </a:pPr>
            <a:r>
              <a:rPr sz="1300" b="0" i="0" lang="vi-VN">
                <a:solidFill>
                  <a:srgbClr val="1F2937"/>
                </a:solidFill>
                <a:latin typeface="Arial"/>
              </a:rPr>
              <a:t>theo phân khúc</a:t>
            </a:r>
          </a:p>
        </p:txBody>
      </p:sp>
      <p:sp>
        <p:nvSpPr>
          <p:cNvPr id="23" name="Right Arrow 22"/>
          <p:cNvSpPr/>
          <p:nvPr/>
        </p:nvSpPr>
        <p:spPr>
          <a:xfrm>
            <a:off x="9354312" y="283464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692640" y="182880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332719" y="201168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5</a:t>
            </a:r>
          </a:p>
        </p:txBody>
      </p:sp>
      <p:sp>
        <p:nvSpPr>
          <p:cNvPr id="26" name="TextBox 25"/>
          <p:cNvSpPr txBox="1"/>
          <p:nvPr/>
        </p:nvSpPr>
        <p:spPr>
          <a:xfrm>
            <a:off x="9784080" y="278892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Triển khai</a:t>
            </a:r>
          </a:p>
        </p:txBody>
      </p:sp>
      <p:sp>
        <p:nvSpPr>
          <p:cNvPr id="27" name="TextBox 26"/>
          <p:cNvSpPr txBox="1"/>
          <p:nvPr/>
        </p:nvSpPr>
        <p:spPr>
          <a:xfrm>
            <a:off x="9784080" y="324612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Lưu mô hình</a:t>
            </a:r>
          </a:p>
          <a:p>
            <a:pPr algn="ctr">
              <a:lnSpc>
                <a:spcPct val="110000"/>
              </a:lnSpc>
              <a:spcAft>
                <a:spcPts val="200"/>
              </a:spcAft>
            </a:pPr>
            <a:r>
              <a:rPr sz="1300" b="0" i="0" lang="vi-VN">
                <a:solidFill>
                  <a:srgbClr val="1F2937"/>
                </a:solidFill>
                <a:latin typeface="Arial"/>
              </a:rPr>
              <a:t>price_model.py</a:t>
            </a:r>
          </a:p>
        </p:txBody>
      </p:sp>
      <p:sp>
        <p:nvSpPr>
          <p:cNvPr id="28" name="TextBox 27"/>
          <p:cNvSpPr txBox="1"/>
          <p:nvPr/>
        </p:nvSpPr>
        <p:spPr>
          <a:xfrm>
            <a:off x="548640" y="4526280"/>
            <a:ext cx="10972800" cy="8229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Nguyên tắc chống rò rỉ dữ liệu: </a:t>
            </a:r>
            <a:r>
              <a:rPr sz="1500" b="0" i="0" lang="vi-VN">
                <a:solidFill>
                  <a:srgbClr val="1F2937"/>
                </a:solidFill>
                <a:latin typeface="Arial"/>
              </a:rPr>
              <a:t>mọi lựa chọn (tham số, biến đổi biến mục tiêu, kỹ thuật cân bằng) đều quyết định bằng cross-validation hoặc OOB trên tập train. Tập test chỉ dùng một lần để báo cáo kết quả cuối.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4" name="TextBox 3">
            <a:extLst>
              <a:ext uri="{FF2B5EF4-FFF2-40B4-BE49-F238E27FC236}">
                <a16:creationId xmlns:a16="http://schemas.microsoft.com/office/drawing/2014/main" id="{6439DB71-B88B-13E6-20C9-D445279D6565}"/>
              </a:ext>
            </a:extLst>
          </p:cNvPr>
          <p:cNvSpPr txBox="1"/>
          <p:nvPr/>
        </p:nvSpPr>
        <p:spPr>
          <a:xfrm>
            <a:off x="1474901" y="2363900"/>
            <a:ext cx="4846320" cy="24314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PHẦN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8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rPr>
              <a:t>THU THẬP DỮ LIỆU</a:t>
            </a:r>
          </a:p>
        </p:txBody>
      </p:sp>
      <p:sp>
        <p:nvSpPr>
          <p:cNvPr id="2" name="Rectangle 1">
            <a:extLst>
              <a:ext uri="{FF2B5EF4-FFF2-40B4-BE49-F238E27FC236}">
                <a16:creationId xmlns:a16="http://schemas.microsoft.com/office/drawing/2014/main" id="{9F1140A8-0DEA-4459-9D47-7031037DBACB}"/>
              </a:ext>
            </a:extLst>
          </p:cNvPr>
          <p:cNvSpPr/>
          <p:nvPr/>
        </p:nvSpPr>
        <p:spPr>
          <a:xfrm>
            <a:off x="650410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Crawl 14.835 tin rao bán ô tô từ Chợ Tốt</a:t>
            </a:r>
          </a:p>
        </p:txBody>
      </p:sp>
      <p:sp>
        <p:nvSpPr>
          <p:cNvPr id="4" name="Rounded Rectangle 3"/>
          <p:cNvSpPr/>
          <p:nvPr/>
        </p:nvSpPr>
        <p:spPr>
          <a:xfrm>
            <a:off x="548640" y="1463040"/>
            <a:ext cx="25603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536192"/>
            <a:ext cx="2560320" cy="685800"/>
          </a:xfrm>
          <a:prstGeom prst="rect">
            <a:avLst/>
          </a:prstGeom>
          <a:noFill/>
        </p:spPr>
        <p:txBody>
          <a:bodyPr wrap="square" lIns="45720" rIns="45720" tIns="27432" bIns="27432" anchor="t">
            <a:spAutoFit/>
          </a:bodyPr>
          <a:lstStyle/>
          <a:p>
            <a:pPr algn="ctr">
              <a:lnSpc>
                <a:spcPct val="110000"/>
              </a:lnSpc>
              <a:spcAft>
                <a:spcPts val="600"/>
              </a:spcAft>
            </a:pPr>
            <a:r>
              <a:rPr sz="3200" b="1" i="0" lang="vi-VN">
                <a:solidFill>
                  <a:srgbClr val="075289"/>
                </a:solidFill>
                <a:latin typeface="Arial"/>
              </a:rPr>
              <a:t>750</a:t>
            </a:r>
          </a:p>
        </p:txBody>
      </p:sp>
      <p:sp>
        <p:nvSpPr>
          <p:cNvPr id="6" name="TextBox 5"/>
          <p:cNvSpPr txBox="1"/>
          <p:nvPr/>
        </p:nvSpPr>
        <p:spPr>
          <a:xfrm>
            <a:off x="548640" y="2212848"/>
            <a:ext cx="25603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5B6775"/>
                </a:solidFill>
                <a:latin typeface="Arial"/>
              </a:rPr>
              <a:t>trang danh sách</a:t>
            </a:r>
          </a:p>
        </p:txBody>
      </p:sp>
      <p:sp>
        <p:nvSpPr>
          <p:cNvPr id="7" name="Rounded Rectangle 6"/>
          <p:cNvSpPr/>
          <p:nvPr/>
        </p:nvSpPr>
        <p:spPr>
          <a:xfrm>
            <a:off x="3337560" y="1463040"/>
            <a:ext cx="2560320" cy="13258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7560" y="1536192"/>
            <a:ext cx="2560320" cy="685800"/>
          </a:xfrm>
          <a:prstGeom prst="rect">
            <a:avLst/>
          </a:prstGeom>
          <a:noFill/>
        </p:spPr>
        <p:txBody>
          <a:bodyPr wrap="square" lIns="45720" rIns="45720" tIns="27432" bIns="27432" anchor="t">
            <a:spAutoFit/>
          </a:bodyPr>
          <a:lstStyle/>
          <a:p>
            <a:pPr algn="ctr">
              <a:lnSpc>
                <a:spcPct val="110000"/>
              </a:lnSpc>
              <a:spcAft>
                <a:spcPts val="600"/>
              </a:spcAft>
            </a:pPr>
            <a:r>
              <a:rPr sz="3200" b="1" i="0" lang="vi-VN">
                <a:solidFill>
                  <a:srgbClr val="FFFFFF"/>
                </a:solidFill>
                <a:latin typeface="Arial"/>
              </a:rPr>
              <a:t>14.835</a:t>
            </a:r>
          </a:p>
        </p:txBody>
      </p:sp>
      <p:sp>
        <p:nvSpPr>
          <p:cNvPr id="9" name="TextBox 8"/>
          <p:cNvSpPr txBox="1"/>
          <p:nvPr/>
        </p:nvSpPr>
        <p:spPr>
          <a:xfrm>
            <a:off x="3337560" y="2212848"/>
            <a:ext cx="25603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tin rao bán</a:t>
            </a:r>
          </a:p>
        </p:txBody>
      </p:sp>
      <p:sp>
        <p:nvSpPr>
          <p:cNvPr id="10" name="Rounded Rectangle 9"/>
          <p:cNvSpPr/>
          <p:nvPr/>
        </p:nvSpPr>
        <p:spPr>
          <a:xfrm>
            <a:off x="6126479" y="1463040"/>
            <a:ext cx="25603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26479" y="1536192"/>
            <a:ext cx="2560320" cy="685800"/>
          </a:xfrm>
          <a:prstGeom prst="rect">
            <a:avLst/>
          </a:prstGeom>
          <a:noFill/>
        </p:spPr>
        <p:txBody>
          <a:bodyPr wrap="square" lIns="45720" rIns="45720" tIns="27432" bIns="27432" anchor="t">
            <a:spAutoFit/>
          </a:bodyPr>
          <a:lstStyle/>
          <a:p>
            <a:pPr algn="ctr">
              <a:lnSpc>
                <a:spcPct val="110000"/>
              </a:lnSpc>
              <a:spcAft>
                <a:spcPts val="600"/>
              </a:spcAft>
            </a:pPr>
            <a:r>
              <a:rPr sz="3200" b="1" i="0" lang="vi-VN">
                <a:solidFill>
                  <a:srgbClr val="075289"/>
                </a:solidFill>
                <a:latin typeface="Arial"/>
              </a:rPr>
              <a:t>12</a:t>
            </a:r>
          </a:p>
        </p:txBody>
      </p:sp>
      <p:sp>
        <p:nvSpPr>
          <p:cNvPr id="12" name="TextBox 11"/>
          <p:cNvSpPr txBox="1"/>
          <p:nvPr/>
        </p:nvSpPr>
        <p:spPr>
          <a:xfrm>
            <a:off x="6126479" y="2212848"/>
            <a:ext cx="25603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5B6775"/>
                </a:solidFill>
                <a:latin typeface="Arial"/>
              </a:rPr>
              <a:t>thuộc tính mỗi tin</a:t>
            </a:r>
          </a:p>
        </p:txBody>
      </p:sp>
      <p:sp>
        <p:nvSpPr>
          <p:cNvPr id="13" name="Rounded Rectangle 12"/>
          <p:cNvSpPr/>
          <p:nvPr/>
        </p:nvSpPr>
        <p:spPr>
          <a:xfrm>
            <a:off x="8915399" y="1463040"/>
            <a:ext cx="25603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15399" y="1536192"/>
            <a:ext cx="2560320" cy="685800"/>
          </a:xfrm>
          <a:prstGeom prst="rect">
            <a:avLst/>
          </a:prstGeom>
          <a:noFill/>
        </p:spPr>
        <p:txBody>
          <a:bodyPr wrap="square" lIns="45720" rIns="45720" tIns="27432" bIns="27432" anchor="t">
            <a:spAutoFit/>
          </a:bodyPr>
          <a:lstStyle/>
          <a:p>
            <a:pPr algn="ctr">
              <a:lnSpc>
                <a:spcPct val="110000"/>
              </a:lnSpc>
              <a:spcAft>
                <a:spcPts val="600"/>
              </a:spcAft>
            </a:pPr>
            <a:r>
              <a:rPr sz="3200" b="1" i="0" lang="vi-VN">
                <a:solidFill>
                  <a:srgbClr val="075289"/>
                </a:solidFill>
                <a:latin typeface="Arial"/>
              </a:rPr>
              <a:t>25/10/2026</a:t>
            </a:r>
          </a:p>
        </p:txBody>
      </p:sp>
      <p:sp>
        <p:nvSpPr>
          <p:cNvPr id="15" name="TextBox 14"/>
          <p:cNvSpPr txBox="1"/>
          <p:nvPr/>
        </p:nvSpPr>
        <p:spPr>
          <a:xfrm>
            <a:off x="8915399" y="2212848"/>
            <a:ext cx="25603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5B6775"/>
                </a:solidFill>
                <a:latin typeface="Arial"/>
              </a:rPr>
              <a:t>ngày thu thập</a:t>
            </a:r>
          </a:p>
        </p:txBody>
      </p:sp>
      <p:sp>
        <p:nvSpPr>
          <p:cNvPr id="16" name="TextBox 15"/>
          <p:cNvSpPr txBox="1"/>
          <p:nvPr/>
        </p:nvSpPr>
        <p:spPr>
          <a:xfrm>
            <a:off x="548640" y="3063240"/>
            <a:ext cx="5486400" cy="36576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Cách thu thập</a:t>
            </a:r>
          </a:p>
        </p:txBody>
      </p:sp>
      <p:sp>
        <p:nvSpPr>
          <p:cNvPr id="17" name="TextBox 16"/>
          <p:cNvSpPr txBox="1"/>
          <p:nvPr/>
        </p:nvSpPr>
        <p:spPr>
          <a:xfrm>
            <a:off x="548640" y="3474720"/>
            <a:ext cx="5486400" cy="210312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500" b="0" i="0" lang="vi-VN">
                <a:solidFill>
                  <a:srgbClr val="1F2937"/>
                </a:solidFill>
                <a:latin typeface="Arial"/>
              </a:rPr>
              <a:t>requests + BeautifulSoup đọc thẻ itemprop của từng tin</a:t>
            </a:r>
          </a:p>
          <a:p>
            <a:pPr algn="l" marL="201168" indent="-201168">
              <a:lnSpc>
                <a:spcPct val="110000"/>
              </a:lnSpc>
              <a:spcAft>
                <a:spcPts val="600"/>
              </a:spcAft>
              <a:buClr>
                <a:srgbClr val="075289"/>
              </a:buClr>
              <a:buFont typeface="Arial"/>
              <a:buChar char="•"/>
            </a:pPr>
            <a:r>
              <a:rPr sz="1500" b="0" i="0" lang="vi-VN">
                <a:solidFill>
                  <a:srgbClr val="1F2937"/>
                </a:solidFill>
                <a:latin typeface="Arial"/>
              </a:rPr>
              <a:t>Bỏ URL trùng (tin ưu tiên lặp lại ở mọi trang)</a:t>
            </a:r>
          </a:p>
          <a:p>
            <a:pPr algn="l" marL="201168" indent="-201168">
              <a:lnSpc>
                <a:spcPct val="110000"/>
              </a:lnSpc>
              <a:spcAft>
                <a:spcPts val="600"/>
              </a:spcAft>
              <a:buClr>
                <a:srgbClr val="075289"/>
              </a:buClr>
              <a:buFont typeface="Arial"/>
              <a:buChar char="•"/>
            </a:pPr>
            <a:r>
              <a:rPr sz="1500" b="0" i="0" lang="vi-VN">
                <a:solidFill>
                  <a:srgbClr val="1F2937"/>
                </a:solidFill>
                <a:latin typeface="Arial"/>
              </a:rPr>
              <a:t>Chạy tiếp được khi bị ngắt (bỏ qua URL đã có)</a:t>
            </a:r>
          </a:p>
        </p:txBody>
      </p:sp>
      <p:sp>
        <p:nvSpPr>
          <p:cNvPr id="18" name="TextBox 17"/>
          <p:cNvSpPr txBox="1"/>
          <p:nvPr/>
        </p:nvSpPr>
        <p:spPr>
          <a:xfrm>
            <a:off x="6309360" y="3063240"/>
            <a:ext cx="5303520" cy="36576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Thu thập có trách nhiệm</a:t>
            </a:r>
          </a:p>
        </p:txBody>
      </p:sp>
      <p:sp>
        <p:nvSpPr>
          <p:cNvPr id="19" name="TextBox 18"/>
          <p:cNvSpPr txBox="1"/>
          <p:nvPr/>
        </p:nvSpPr>
        <p:spPr>
          <a:xfrm>
            <a:off x="6309360" y="3474720"/>
            <a:ext cx="5303520" cy="210312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500" b="0" i="0" lang="vi-VN">
                <a:solidFill>
                  <a:srgbClr val="1F2937"/>
                </a:solidFill>
                <a:latin typeface="Arial"/>
              </a:rPr>
              <a:t>Nghỉ 0,5 giây mỗi tin, 1 giây mỗi trang</a:t>
            </a:r>
          </a:p>
          <a:p>
            <a:pPr algn="l" marL="201168" indent="-201168">
              <a:lnSpc>
                <a:spcPct val="110000"/>
              </a:lnSpc>
              <a:spcAft>
                <a:spcPts val="600"/>
              </a:spcAft>
              <a:buClr>
                <a:srgbClr val="075289"/>
              </a:buClr>
              <a:buFont typeface="Arial"/>
              <a:buChar char="•"/>
            </a:pPr>
            <a:r>
              <a:rPr sz="1500" b="0" i="0" lang="vi-VN">
                <a:solidFill>
                  <a:srgbClr val="1F2937"/>
                </a:solidFill>
                <a:latin typeface="Arial"/>
              </a:rPr>
              <a:t>Tự lùi thời gian khi bị trả mã 403 / 429</a:t>
            </a:r>
          </a:p>
          <a:p>
            <a:pPr algn="l" marL="201168" indent="-201168">
              <a:lnSpc>
                <a:spcPct val="110000"/>
              </a:lnSpc>
              <a:spcAft>
                <a:spcPts val="600"/>
              </a:spcAft>
              <a:buClr>
                <a:srgbClr val="075289"/>
              </a:buClr>
              <a:buFont typeface="Arial"/>
              <a:buChar char="•"/>
            </a:pPr>
            <a:r>
              <a:rPr sz="1500" b="0" i="0" lang="vi-VN">
                <a:solidFill>
                  <a:srgbClr val="1F2937"/>
                </a:solidFill>
                <a:latin typeface="Arial"/>
              </a:rPr>
              <a:t>Chỉ lấy thông tin công khai, không lấy liên hệ người bán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Từ điển dữ liệu: biết cột nào người bán gõ tự do</a:t>
            </a:r>
          </a:p>
        </p:txBody>
      </p:sp>
      <p:graphicFrame>
        <p:nvGraphicFramePr>
          <p:cNvPr id="4" name="Table 3"/>
          <p:cNvGraphicFramePr>
            <a:graphicFrameLocks noGrp="1"/>
          </p:cNvGraphicFramePr>
          <p:nvPr/>
        </p:nvGraphicFramePr>
        <p:xfrm>
          <a:off x="548640" y="1417320"/>
          <a:ext cx="11064240" cy="4123944"/>
        </p:xfrm>
        <a:graphic>
          <a:graphicData uri="http://schemas.openxmlformats.org/drawingml/2006/table">
            <a:tbl>
              <a:tblPr firstRow="0" bandRow="0">
                <a:tableStyleId>{5940675A-B579-460E-94D1-54222C63F5DA}</a:tableStyleId>
              </a:tblPr>
              <a:tblGrid>
                <a:gridCol w="2468880"/>
                <a:gridCol w="2468880"/>
                <a:gridCol w="2834640"/>
                <a:gridCol w="3291840"/>
              </a:tblGrid>
              <a:tr h="374904">
                <a:tc>
                  <a:txBody>
                    <a:bodyPr wrap="square"/>
                    <a:lstStyle/>
                    <a:p>
                      <a:r>
                        <a:rPr sz="1300" b="1" i="0" lang="vi-VN">
                          <a:solidFill>
                            <a:srgbClr val="FFFFFF"/>
                          </a:solidFill>
                          <a:latin typeface="Arial"/>
                        </a:rPr>
                        <a:t>Cột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Ý nghĩa</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Người bán nhập</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Xử lý</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carbrand / carmodel</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Hãng / dòng xe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từ danh sách</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gộp nhãn hiếm theo cấp</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mfdate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Năm sản xuất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(có "trước 1980")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 tuổi xe = 2026 − năm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mileage_v2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Số km đã đi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EB6834"/>
                          </a:solidFill>
                          <a:latin typeface="Arial"/>
                        </a:rPr>
                        <a:t>gõ tự do</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kiểm tra km vô lý, điền thiếu</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gearbox / fuel</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Hộp số / nhiên liệu</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(3 / 4 giá trị)</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one-hot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cartype / carseats</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Kiểu dáng / số chỗ</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không bắt buộc</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điền theo dòng xe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carorigin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Xuất xứ</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không bắt buộc</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thiếu 40% → "Không rõ"</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condition_ad</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Tình trạng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Mới / Đã sử dụng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sửa xe "Mới" quá 3 năm tuổi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veh_warranty_policy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Bảo hành</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một giá trị duy nhất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bỏ cột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price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Giá rao bán (đồng)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EB6834"/>
                          </a:solidFill>
                          <a:latin typeface="Arial"/>
                        </a:rPr>
                        <a:t>gõ tự do</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biến mục tiêu, loại giá sai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url</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Đường dẫn tin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tự sinh, chứa tỉnh/thành</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trích tỉnh/thành rồi bỏ</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4" name="TextBox 3">
            <a:extLst>
              <a:ext uri="{FF2B5EF4-FFF2-40B4-BE49-F238E27FC236}">
                <a16:creationId xmlns:a16="http://schemas.microsoft.com/office/drawing/2014/main" id="{6439DB71-B88B-13E6-20C9-D445279D6565}"/>
              </a:ext>
            </a:extLst>
          </p:cNvPr>
          <p:cNvSpPr txBox="1"/>
          <p:nvPr/>
        </p:nvSpPr>
        <p:spPr>
          <a:xfrm>
            <a:off x="1474901" y="2363900"/>
            <a:ext cx="4846320" cy="24314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PHẦN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8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rPr>
              <a:t>TIỀN XỬ LÝ DỮ LIỆU</a:t>
            </a:r>
          </a:p>
        </p:txBody>
      </p:sp>
      <p:sp>
        <p:nvSpPr>
          <p:cNvPr id="2" name="Rectangle 1">
            <a:extLst>
              <a:ext uri="{FF2B5EF4-FFF2-40B4-BE49-F238E27FC236}">
                <a16:creationId xmlns:a16="http://schemas.microsoft.com/office/drawing/2014/main" id="{9F1140A8-0DEA-4459-9D47-7031037DBACB}"/>
              </a:ext>
            </a:extLst>
          </p:cNvPr>
          <p:cNvSpPr/>
          <p:nvPr/>
        </p:nvSpPr>
        <p:spPr>
          <a:xfrm>
            <a:off x="650410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KHÁM PHÁ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Giá lệch phải mạnh nên mô hình học trên log(giá)</a:t>
            </a:r>
          </a:p>
        </p:txBody>
      </p:sp>
      <p:pic>
        <p:nvPicPr>
          <p:cNvPr id="4" name="Picture 3" descr="04_phan_bo_gia.png"/>
          <p:cNvPicPr>
            <a:picLocks noChangeAspect="1"/>
          </p:cNvPicPr>
          <p:nvPr/>
        </p:nvPicPr>
        <p:blipFill>
          <a:blip r:embed="rId3"/>
          <a:stretch>
            <a:fillRect/>
          </a:stretch>
        </p:blipFill>
        <p:spPr>
          <a:xfrm>
            <a:off x="548640" y="1737651"/>
            <a:ext cx="6035040" cy="3382697"/>
          </a:xfrm>
          <a:prstGeom prst="rect">
            <a:avLst/>
          </a:prstGeom>
        </p:spPr>
      </p:pic>
      <p:sp>
        <p:nvSpPr>
          <p:cNvPr id="5" name="Rounded Rectangle 4"/>
          <p:cNvSpPr/>
          <p:nvPr/>
        </p:nvSpPr>
        <p:spPr>
          <a:xfrm>
            <a:off x="6949440" y="1463040"/>
            <a:ext cx="4663440" cy="13716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0" y="1536192"/>
            <a:ext cx="4663440" cy="640080"/>
          </a:xfrm>
          <a:prstGeom prst="rect">
            <a:avLst/>
          </a:prstGeom>
          <a:noFill/>
        </p:spPr>
        <p:txBody>
          <a:bodyPr wrap="square" lIns="45720" rIns="45720" tIns="27432" bIns="27432" anchor="t">
            <a:spAutoFit/>
          </a:bodyPr>
          <a:lstStyle/>
          <a:p>
            <a:pPr algn="ctr">
              <a:lnSpc>
                <a:spcPct val="110000"/>
              </a:lnSpc>
              <a:spcAft>
                <a:spcPts val="600"/>
              </a:spcAft>
            </a:pPr>
            <a:r>
              <a:rPr sz="3000" b="1" i="0" lang="vi-VN">
                <a:solidFill>
                  <a:srgbClr val="FFD400"/>
                </a:solidFill>
                <a:latin typeface="Arial"/>
              </a:rPr>
              <a:t>5,08  →  −0,20</a:t>
            </a:r>
          </a:p>
        </p:txBody>
      </p:sp>
      <p:sp>
        <p:nvSpPr>
          <p:cNvPr id="7" name="TextBox 6"/>
          <p:cNvSpPr txBox="1"/>
          <p:nvPr/>
        </p:nvSpPr>
        <p:spPr>
          <a:xfrm>
            <a:off x="6949440" y="2194560"/>
            <a:ext cx="4663440" cy="45720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độ lệch của giá trước và sau khi lấy log</a:t>
            </a:r>
          </a:p>
        </p:txBody>
      </p:sp>
      <p:sp>
        <p:nvSpPr>
          <p:cNvPr id="8" name="TextBox 7"/>
          <p:cNvSpPr txBox="1"/>
          <p:nvPr/>
        </p:nvSpPr>
        <p:spPr>
          <a:xfrm>
            <a:off x="6949440" y="3063240"/>
            <a:ext cx="4663440" cy="2468880"/>
          </a:xfrm>
          <a:prstGeom prst="rect">
            <a:avLst/>
          </a:prstGeom>
          <a:noFill/>
        </p:spPr>
        <p:txBody>
          <a:bodyPr wrap="square" lIns="45720" rIns="45720" tIns="27432" bIns="27432" anchor="t">
            <a:spAutoFit/>
          </a:bodyPr>
          <a:lstStyle/>
          <a:p>
            <a:pPr algn="l" marL="201168" indent="-201168">
              <a:lnSpc>
                <a:spcPct val="110000"/>
              </a:lnSpc>
              <a:spcAft>
                <a:spcPts val="1000"/>
              </a:spcAft>
              <a:buClr>
                <a:srgbClr val="075289"/>
              </a:buClr>
              <a:buFont typeface="Arial"/>
              <a:buChar char="•"/>
            </a:pPr>
            <a:r>
              <a:rPr sz="1500" b="0" i="0" lang="vi-VN">
                <a:solidFill>
                  <a:srgbClr val="1F2937"/>
                </a:solidFill>
                <a:latin typeface="Arial"/>
              </a:rPr>
              <a:t>Mô hình học ln(giá), dự đoán xong dùng exp() để ra triệu đồng</a:t>
            </a:r>
          </a:p>
          <a:p>
            <a:pPr algn="l" marL="201168" indent="-201168">
              <a:lnSpc>
                <a:spcPct val="110000"/>
              </a:lnSpc>
              <a:spcAft>
                <a:spcPts val="1000"/>
              </a:spcAft>
              <a:buClr>
                <a:srgbClr val="075289"/>
              </a:buClr>
              <a:buFont typeface="Arial"/>
              <a:buChar char="•"/>
            </a:pPr>
            <a:r>
              <a:rPr sz="1500" b="0" i="0" lang="vi-VN">
                <a:solidFill>
                  <a:srgbClr val="1F2937"/>
                </a:solidFill>
                <a:latin typeface="Arial"/>
              </a:rPr>
              <a:t>Lệch 10% ở xe 200 triệu và ở xe 2 tỷ được phạt như nhau</a:t>
            </a:r>
          </a:p>
          <a:p>
            <a:pPr algn="l" marL="201168" indent="-201168">
              <a:lnSpc>
                <a:spcPct val="110000"/>
              </a:lnSpc>
              <a:spcAft>
                <a:spcPts val="1000"/>
              </a:spcAft>
              <a:buClr>
                <a:srgbClr val="075289"/>
              </a:buClr>
              <a:buFont typeface="Arial"/>
              <a:buChar char="•"/>
            </a:pPr>
            <a:r>
              <a:rPr sz="1500" b="0" i="0" lang="vi-VN">
                <a:solidFill>
                  <a:srgbClr val="1F2937"/>
                </a:solidFill>
                <a:latin typeface="Arial"/>
              </a:rPr>
              <a:t>Mọi thước đo vẫn tính trên giá thật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KHÁM PHÁ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Tuổi xe và thương hiệu quyết định phần lớn giá</a:t>
            </a:r>
          </a:p>
        </p:txBody>
      </p:sp>
      <p:pic>
        <p:nvPicPr>
          <p:cNvPr id="4" name="Picture 3" descr="08_gia_theo_nam.png"/>
          <p:cNvPicPr>
            <a:picLocks noChangeAspect="1"/>
          </p:cNvPicPr>
          <p:nvPr/>
        </p:nvPicPr>
        <p:blipFill>
          <a:blip r:embed="rId3"/>
          <a:stretch>
            <a:fillRect/>
          </a:stretch>
        </p:blipFill>
        <p:spPr>
          <a:xfrm>
            <a:off x="457200" y="1641790"/>
            <a:ext cx="5577840" cy="2842899"/>
          </a:xfrm>
          <a:prstGeom prst="rect">
            <a:avLst/>
          </a:prstGeom>
        </p:spPr>
      </p:pic>
      <p:pic>
        <p:nvPicPr>
          <p:cNvPr id="5" name="Picture 4" descr="05_gia_theo_hang.png"/>
          <p:cNvPicPr>
            <a:picLocks noChangeAspect="1"/>
          </p:cNvPicPr>
          <p:nvPr/>
        </p:nvPicPr>
        <p:blipFill>
          <a:blip r:embed="rId4"/>
          <a:stretch>
            <a:fillRect/>
          </a:stretch>
        </p:blipFill>
        <p:spPr>
          <a:xfrm>
            <a:off x="6172200" y="1477941"/>
            <a:ext cx="5577840" cy="3170596"/>
          </a:xfrm>
          <a:prstGeom prst="rect">
            <a:avLst/>
          </a:prstGeom>
        </p:spPr>
      </p:pic>
      <p:sp>
        <p:nvSpPr>
          <p:cNvPr id="6" name="TextBox 5"/>
          <p:cNvSpPr txBox="1"/>
          <p:nvPr/>
        </p:nvSpPr>
        <p:spPr>
          <a:xfrm>
            <a:off x="548640" y="4846320"/>
            <a:ext cx="5394960" cy="73152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Xe đời 2001 trung vị khoảng 73 triệu, xe đời 2026 khoảng 624 triệu</a:t>
            </a:r>
          </a:p>
        </p:txBody>
      </p:sp>
      <p:sp>
        <p:nvSpPr>
          <p:cNvPr id="7" name="TextBox 6"/>
          <p:cNvSpPr txBox="1"/>
          <p:nvPr/>
        </p:nvSpPr>
        <p:spPr>
          <a:xfrm>
            <a:off x="6263640" y="4846320"/>
            <a:ext cx="5394960" cy="73152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BMW, Mercedes đắt và phân tán rộng; Suzuki, Chevrolet rẻ và tập trung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LÀM SẠCH</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Từ 14.835 tin thô còn 13.937 tin sạch (giữ 93,9%)</a:t>
            </a:r>
          </a:p>
        </p:txBody>
      </p:sp>
      <p:sp>
        <p:nvSpPr>
          <p:cNvPr id="4" name="Rounded Rectangle 3"/>
          <p:cNvSpPr/>
          <p:nvPr/>
        </p:nvSpPr>
        <p:spPr>
          <a:xfrm>
            <a:off x="548640" y="1691640"/>
            <a:ext cx="1645920" cy="21031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800" b="1" i="0" lang="vi-VN">
                <a:solidFill>
                  <a:srgbClr val="FFD400"/>
                </a:solidFill>
                <a:latin typeface="Arial"/>
              </a:rPr>
              <a:t>14.835</a:t>
            </a:r>
          </a:p>
        </p:txBody>
      </p:sp>
      <p:sp>
        <p:nvSpPr>
          <p:cNvPr id="6" name="TextBox 5"/>
          <p:cNvSpPr txBox="1"/>
          <p:nvPr/>
        </p:nvSpPr>
        <p:spPr>
          <a:xfrm>
            <a:off x="594360"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FFFFFF"/>
                </a:solidFill>
                <a:latin typeface="Arial"/>
              </a:rPr>
              <a:t>tin thô</a:t>
            </a:r>
          </a:p>
        </p:txBody>
      </p:sp>
      <p:sp>
        <p:nvSpPr>
          <p:cNvPr id="7" name="Right Arrow 6"/>
          <p:cNvSpPr/>
          <p:nvPr/>
        </p:nvSpPr>
        <p:spPr>
          <a:xfrm>
            <a:off x="2212848" y="2606040"/>
            <a:ext cx="201168" cy="27432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23160" y="1691640"/>
            <a:ext cx="1645920" cy="21031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23160"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600" b="1" i="0" lang="vi-VN">
                <a:solidFill>
                  <a:srgbClr val="EB6834"/>
                </a:solidFill>
                <a:latin typeface="Arial"/>
              </a:rPr>
              <a:t>−691</a:t>
            </a:r>
          </a:p>
        </p:txBody>
      </p:sp>
      <p:sp>
        <p:nvSpPr>
          <p:cNvPr id="10" name="TextBox 9"/>
          <p:cNvSpPr txBox="1"/>
          <p:nvPr/>
        </p:nvSpPr>
        <p:spPr>
          <a:xfrm>
            <a:off x="2468879"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1F2937"/>
                </a:solidFill>
                <a:latin typeface="Arial"/>
              </a:rPr>
              <a:t>tin trùng lặp</a:t>
            </a:r>
          </a:p>
          <a:p>
            <a:pPr algn="ctr">
              <a:lnSpc>
                <a:spcPct val="110000"/>
              </a:lnSpc>
              <a:spcAft>
                <a:spcPts val="0"/>
              </a:spcAft>
            </a:pPr>
            <a:r>
              <a:rPr sz="1300" b="0" i="0" lang="vi-VN">
                <a:solidFill>
                  <a:srgbClr val="1F2937"/>
                </a:solidFill>
                <a:latin typeface="Arial"/>
              </a:rPr>
              <a:t>(đăng lại, đại lý)</a:t>
            </a:r>
          </a:p>
        </p:txBody>
      </p:sp>
      <p:sp>
        <p:nvSpPr>
          <p:cNvPr id="11" name="Right Arrow 10"/>
          <p:cNvSpPr/>
          <p:nvPr/>
        </p:nvSpPr>
        <p:spPr>
          <a:xfrm>
            <a:off x="4087368" y="2606040"/>
            <a:ext cx="201168" cy="27432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79" y="1691640"/>
            <a:ext cx="1645920" cy="21031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79"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600" b="1" i="0" lang="vi-VN">
                <a:solidFill>
                  <a:srgbClr val="EB6834"/>
                </a:solidFill>
                <a:latin typeface="Arial"/>
              </a:rPr>
              <a:t>−64</a:t>
            </a:r>
          </a:p>
        </p:txBody>
      </p:sp>
      <p:sp>
        <p:nvSpPr>
          <p:cNvPr id="14" name="TextBox 13"/>
          <p:cNvSpPr txBox="1"/>
          <p:nvPr/>
        </p:nvSpPr>
        <p:spPr>
          <a:xfrm>
            <a:off x="4343399"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1F2937"/>
                </a:solidFill>
                <a:latin typeface="Arial"/>
              </a:rPr>
              <a:t>giá thiếu, &lt; 20 triệu</a:t>
            </a:r>
          </a:p>
          <a:p>
            <a:pPr algn="ctr">
              <a:lnSpc>
                <a:spcPct val="110000"/>
              </a:lnSpc>
              <a:spcAft>
                <a:spcPts val="0"/>
              </a:spcAft>
            </a:pPr>
            <a:r>
              <a:rPr sz="1300" b="0" i="0" lang="vi-VN">
                <a:solidFill>
                  <a:srgbClr val="1F2937"/>
                </a:solidFill>
                <a:latin typeface="Arial"/>
              </a:rPr>
              <a:t>hoặc &gt; 10 tỷ</a:t>
            </a:r>
          </a:p>
        </p:txBody>
      </p:sp>
      <p:sp>
        <p:nvSpPr>
          <p:cNvPr id="15" name="Right Arrow 14"/>
          <p:cNvSpPr/>
          <p:nvPr/>
        </p:nvSpPr>
        <p:spPr>
          <a:xfrm>
            <a:off x="5961888" y="2606040"/>
            <a:ext cx="201168" cy="27432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199" y="1691640"/>
            <a:ext cx="1645920" cy="21031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72199"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600" b="1" i="0" lang="vi-VN">
                <a:solidFill>
                  <a:srgbClr val="EB6834"/>
                </a:solidFill>
                <a:latin typeface="Arial"/>
              </a:rPr>
              <a:t>−14</a:t>
            </a:r>
          </a:p>
        </p:txBody>
      </p:sp>
      <p:sp>
        <p:nvSpPr>
          <p:cNvPr id="18" name="TextBox 17"/>
          <p:cNvSpPr txBox="1"/>
          <p:nvPr/>
        </p:nvSpPr>
        <p:spPr>
          <a:xfrm>
            <a:off x="6217919"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1F2937"/>
                </a:solidFill>
                <a:latin typeface="Arial"/>
              </a:rPr>
              <a:t>giá giả</a:t>
            </a:r>
          </a:p>
          <a:p>
            <a:pPr algn="ctr">
              <a:lnSpc>
                <a:spcPct val="110000"/>
              </a:lnSpc>
              <a:spcAft>
                <a:spcPts val="0"/>
              </a:spcAft>
            </a:pPr>
            <a:r>
              <a:rPr sz="1300" b="0" i="0" lang="vi-VN">
                <a:solidFill>
                  <a:srgbClr val="1F2937"/>
                </a:solidFill>
                <a:latin typeface="Arial"/>
              </a:rPr>
              <a:t>123.456.789</a:t>
            </a:r>
          </a:p>
        </p:txBody>
      </p:sp>
      <p:sp>
        <p:nvSpPr>
          <p:cNvPr id="19" name="Right Arrow 18"/>
          <p:cNvSpPr/>
          <p:nvPr/>
        </p:nvSpPr>
        <p:spPr>
          <a:xfrm>
            <a:off x="7836407" y="2606040"/>
            <a:ext cx="201168" cy="27432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19" y="1691640"/>
            <a:ext cx="1645920" cy="21031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19"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600" b="1" i="0" lang="vi-VN">
                <a:solidFill>
                  <a:srgbClr val="EB6834"/>
                </a:solidFill>
                <a:latin typeface="Arial"/>
              </a:rPr>
              <a:t>−129</a:t>
            </a:r>
          </a:p>
        </p:txBody>
      </p:sp>
      <p:sp>
        <p:nvSpPr>
          <p:cNvPr id="22" name="TextBox 21"/>
          <p:cNvSpPr txBox="1"/>
          <p:nvPr/>
        </p:nvSpPr>
        <p:spPr>
          <a:xfrm>
            <a:off x="8092440"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1F2937"/>
                </a:solidFill>
                <a:latin typeface="Arial"/>
              </a:rPr>
              <a:t>giá trả trước</a:t>
            </a:r>
          </a:p>
          <a:p>
            <a:pPr algn="ctr">
              <a:lnSpc>
                <a:spcPct val="110000"/>
              </a:lnSpc>
              <a:spcAft>
                <a:spcPts val="0"/>
              </a:spcAft>
            </a:pPr>
            <a:r>
              <a:rPr sz="1300" b="0" i="0" lang="vi-VN">
                <a:solidFill>
                  <a:srgbClr val="1F2937"/>
                </a:solidFill>
                <a:latin typeface="Arial"/>
              </a:rPr>
              <a:t>/ đặt cọc</a:t>
            </a:r>
          </a:p>
        </p:txBody>
      </p:sp>
      <p:sp>
        <p:nvSpPr>
          <p:cNvPr id="23" name="Right Arrow 22"/>
          <p:cNvSpPr/>
          <p:nvPr/>
        </p:nvSpPr>
        <p:spPr>
          <a:xfrm>
            <a:off x="9710928" y="2606040"/>
            <a:ext cx="201168" cy="27432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921240" y="1691640"/>
            <a:ext cx="1645920" cy="21031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21240" y="1874519"/>
            <a:ext cx="1645920" cy="640080"/>
          </a:xfrm>
          <a:prstGeom prst="rect">
            <a:avLst/>
          </a:prstGeom>
          <a:noFill/>
        </p:spPr>
        <p:txBody>
          <a:bodyPr wrap="square" lIns="45720" rIns="45720" tIns="27432" bIns="27432" anchor="t">
            <a:spAutoFit/>
          </a:bodyPr>
          <a:lstStyle/>
          <a:p>
            <a:pPr algn="ctr">
              <a:lnSpc>
                <a:spcPct val="110000"/>
              </a:lnSpc>
              <a:spcAft>
                <a:spcPts val="600"/>
              </a:spcAft>
            </a:pPr>
            <a:r>
              <a:rPr sz="2800" b="1" i="0" lang="vi-VN">
                <a:solidFill>
                  <a:srgbClr val="FFD400"/>
                </a:solidFill>
                <a:latin typeface="Arial"/>
              </a:rPr>
              <a:t>13.937</a:t>
            </a:r>
          </a:p>
        </p:txBody>
      </p:sp>
      <p:sp>
        <p:nvSpPr>
          <p:cNvPr id="26" name="TextBox 25"/>
          <p:cNvSpPr txBox="1"/>
          <p:nvPr/>
        </p:nvSpPr>
        <p:spPr>
          <a:xfrm>
            <a:off x="9966960" y="2606040"/>
            <a:ext cx="1554480" cy="1005840"/>
          </a:xfrm>
          <a:prstGeom prst="rect">
            <a:avLst/>
          </a:prstGeom>
          <a:noFill/>
        </p:spPr>
        <p:txBody>
          <a:bodyPr wrap="square" lIns="45720" rIns="45720" tIns="27432" bIns="27432" anchor="t">
            <a:spAutoFit/>
          </a:bodyPr>
          <a:lstStyle/>
          <a:p>
            <a:pPr algn="ctr">
              <a:lnSpc>
                <a:spcPct val="110000"/>
              </a:lnSpc>
              <a:spcAft>
                <a:spcPts val="0"/>
              </a:spcAft>
            </a:pPr>
            <a:r>
              <a:rPr sz="1300" b="0" i="0" lang="vi-VN">
                <a:solidFill>
                  <a:srgbClr val="FFFFFF"/>
                </a:solidFill>
                <a:latin typeface="Arial"/>
              </a:rPr>
              <a:t>tin sạch</a:t>
            </a:r>
          </a:p>
        </p:txBody>
      </p:sp>
      <p:sp>
        <p:nvSpPr>
          <p:cNvPr id="27" name="TextBox 26"/>
          <p:cNvSpPr txBox="1"/>
          <p:nvPr/>
        </p:nvSpPr>
        <p:spPr>
          <a:xfrm>
            <a:off x="548640" y="4114800"/>
            <a:ext cx="11064240"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Không xóa dòng, chỉ sửa giá trị</a:t>
            </a:r>
          </a:p>
        </p:txBody>
      </p:sp>
      <p:sp>
        <p:nvSpPr>
          <p:cNvPr id="28" name="TextBox 27"/>
          <p:cNvSpPr txBox="1"/>
          <p:nvPr/>
        </p:nvSpPr>
        <p:spPr>
          <a:xfrm>
            <a:off x="548640" y="4526280"/>
            <a:ext cx="11064240" cy="109728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500" b="0" i="0" lang="vi-VN">
                <a:solidFill>
                  <a:srgbClr val="1F2937"/>
                </a:solidFill>
                <a:latin typeface="Arial"/>
              </a:rPr>
              <a:t>578 giá trị km vô lý (&gt; 500.000 km, &lt; 100 km ở xe ≥ 2 tuổi, &gt; 100.000 km/năm) → coi là thiếu rồi điền lại</a:t>
            </a:r>
          </a:p>
          <a:p>
            <a:pPr algn="l" marL="201168" indent="-201168">
              <a:lnSpc>
                <a:spcPct val="110000"/>
              </a:lnSpc>
              <a:spcAft>
                <a:spcPts val="600"/>
              </a:spcAft>
              <a:buClr>
                <a:srgbClr val="075289"/>
              </a:buClr>
              <a:buFont typeface="Arial"/>
              <a:buChar char="•"/>
            </a:pPr>
            <a:r>
              <a:rPr sz="1500" b="0" i="0" lang="vi-VN">
                <a:solidFill>
                  <a:srgbClr val="1F2937"/>
                </a:solidFill>
                <a:latin typeface="Arial"/>
              </a:rPr>
              <a:t>6 xe ghi "Mới" nhưng hơn 3 năm tuổi (ví dụ Tucson 2011) → đổi thành "Đã sử dụng"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LÀM SẠCH</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Biến mục tiêu sai là lỗi nguy hiểm nhất</a:t>
            </a:r>
          </a:p>
        </p:txBody>
      </p:sp>
      <p:sp>
        <p:nvSpPr>
          <p:cNvPr id="4" name="Rounded Rectangle 3"/>
          <p:cNvSpPr/>
          <p:nvPr/>
        </p:nvSpPr>
        <p:spPr>
          <a:xfrm>
            <a:off x="548640" y="1463040"/>
            <a:ext cx="3474720" cy="25146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600200"/>
            <a:ext cx="3017520" cy="640080"/>
          </a:xfrm>
          <a:prstGeom prst="rect">
            <a:avLst/>
          </a:prstGeom>
          <a:noFill/>
        </p:spPr>
        <p:txBody>
          <a:bodyPr wrap="square" lIns="45720" rIns="45720" tIns="27432" bIns="27432" anchor="t">
            <a:spAutoFit/>
          </a:bodyPr>
          <a:lstStyle/>
          <a:p>
            <a:pPr algn="l">
              <a:lnSpc>
                <a:spcPct val="110000"/>
              </a:lnSpc>
              <a:spcAft>
                <a:spcPts val="600"/>
              </a:spcAft>
            </a:pPr>
            <a:r>
              <a:rPr sz="3000" b="1" i="0" lang="vi-VN">
                <a:solidFill>
                  <a:srgbClr val="EB6834"/>
                </a:solidFill>
                <a:latin typeface="Arial"/>
              </a:rPr>
              <a:t>64 tin</a:t>
            </a:r>
          </a:p>
        </p:txBody>
      </p:sp>
      <p:sp>
        <p:nvSpPr>
          <p:cNvPr id="6" name="TextBox 5"/>
          <p:cNvSpPr txBox="1"/>
          <p:nvPr/>
        </p:nvSpPr>
        <p:spPr>
          <a:xfrm>
            <a:off x="777240" y="2240280"/>
            <a:ext cx="3017520" cy="41148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Lỗi nhập liệu</a:t>
            </a:r>
          </a:p>
        </p:txBody>
      </p:sp>
      <p:sp>
        <p:nvSpPr>
          <p:cNvPr id="7" name="TextBox 6"/>
          <p:cNvSpPr txBox="1"/>
          <p:nvPr/>
        </p:nvSpPr>
        <p:spPr>
          <a:xfrm>
            <a:off x="777240" y="2697480"/>
            <a:ext cx="3063240" cy="123444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Giá thiếu, dưới 20 triệu hoặc trên 10 tỷ: gõ thiếu / thừa số 0. Không biết giá đúng nên loại.</a:t>
            </a:r>
          </a:p>
        </p:txBody>
      </p:sp>
      <p:sp>
        <p:nvSpPr>
          <p:cNvPr id="8" name="Rounded Rectangle 7"/>
          <p:cNvSpPr/>
          <p:nvPr/>
        </p:nvSpPr>
        <p:spPr>
          <a:xfrm>
            <a:off x="4297679" y="1463040"/>
            <a:ext cx="3474720" cy="25146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26279" y="1600200"/>
            <a:ext cx="3017520" cy="640080"/>
          </a:xfrm>
          <a:prstGeom prst="rect">
            <a:avLst/>
          </a:prstGeom>
          <a:noFill/>
        </p:spPr>
        <p:txBody>
          <a:bodyPr wrap="square" lIns="45720" rIns="45720" tIns="27432" bIns="27432" anchor="t">
            <a:spAutoFit/>
          </a:bodyPr>
          <a:lstStyle/>
          <a:p>
            <a:pPr algn="l">
              <a:lnSpc>
                <a:spcPct val="110000"/>
              </a:lnSpc>
              <a:spcAft>
                <a:spcPts val="600"/>
              </a:spcAft>
            </a:pPr>
            <a:r>
              <a:rPr sz="3000" b="1" i="0" lang="vi-VN">
                <a:solidFill>
                  <a:srgbClr val="EB6834"/>
                </a:solidFill>
                <a:latin typeface="Arial"/>
              </a:rPr>
              <a:t>14 tin</a:t>
            </a:r>
          </a:p>
        </p:txBody>
      </p:sp>
      <p:sp>
        <p:nvSpPr>
          <p:cNvPr id="10" name="TextBox 9"/>
          <p:cNvSpPr txBox="1"/>
          <p:nvPr/>
        </p:nvSpPr>
        <p:spPr>
          <a:xfrm>
            <a:off x="4526279" y="2240280"/>
            <a:ext cx="3017520" cy="41148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Giá giả</a:t>
            </a:r>
          </a:p>
        </p:txBody>
      </p:sp>
      <p:sp>
        <p:nvSpPr>
          <p:cNvPr id="11" name="TextBox 10"/>
          <p:cNvSpPr txBox="1"/>
          <p:nvPr/>
        </p:nvSpPr>
        <p:spPr>
          <a:xfrm>
            <a:off x="4526279" y="2697480"/>
            <a:ext cx="3063240" cy="123444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Dãy số liên tiếp 123.456.789: người bán không muốn công khai giá. Giữ 399.999.999 (định giá tâm lý).</a:t>
            </a:r>
          </a:p>
        </p:txBody>
      </p:sp>
      <p:sp>
        <p:nvSpPr>
          <p:cNvPr id="12" name="Rounded Rectangle 11"/>
          <p:cNvSpPr/>
          <p:nvPr/>
        </p:nvSpPr>
        <p:spPr>
          <a:xfrm>
            <a:off x="8046719" y="1463040"/>
            <a:ext cx="3474720" cy="25146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75319" y="1600200"/>
            <a:ext cx="3017520" cy="640080"/>
          </a:xfrm>
          <a:prstGeom prst="rect">
            <a:avLst/>
          </a:prstGeom>
          <a:noFill/>
        </p:spPr>
        <p:txBody>
          <a:bodyPr wrap="square" lIns="45720" rIns="45720" tIns="27432" bIns="27432" anchor="t">
            <a:spAutoFit/>
          </a:bodyPr>
          <a:lstStyle/>
          <a:p>
            <a:pPr algn="l">
              <a:lnSpc>
                <a:spcPct val="110000"/>
              </a:lnSpc>
              <a:spcAft>
                <a:spcPts val="600"/>
              </a:spcAft>
            </a:pPr>
            <a:r>
              <a:rPr sz="3000" b="1" i="0" lang="vi-VN">
                <a:solidFill>
                  <a:srgbClr val="EB6834"/>
                </a:solidFill>
                <a:latin typeface="Arial"/>
              </a:rPr>
              <a:t>129 tin</a:t>
            </a:r>
          </a:p>
        </p:txBody>
      </p:sp>
      <p:sp>
        <p:nvSpPr>
          <p:cNvPr id="14" name="TextBox 13"/>
          <p:cNvSpPr txBox="1"/>
          <p:nvPr/>
        </p:nvSpPr>
        <p:spPr>
          <a:xfrm>
            <a:off x="8275319" y="2240280"/>
            <a:ext cx="3017520" cy="41148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Giá trả trước / đặt cọc</a:t>
            </a:r>
          </a:p>
        </p:txBody>
      </p:sp>
      <p:sp>
        <p:nvSpPr>
          <p:cNvPr id="15" name="TextBox 14"/>
          <p:cNvSpPr txBox="1"/>
          <p:nvPr/>
        </p:nvSpPr>
        <p:spPr>
          <a:xfrm>
            <a:off x="8275319" y="2697480"/>
            <a:ext cx="3063240" cy="123444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Giá &lt; 30% trung vị của xe cùng hãng, dòng, năm (nhóm ≥ 3 xe). 94% số tin này có giá &lt; 200 triệu.</a:t>
            </a:r>
          </a:p>
        </p:txBody>
      </p:sp>
      <p:sp>
        <p:nvSpPr>
          <p:cNvPr id="16" name="Rounded Rectangle 15"/>
          <p:cNvSpPr/>
          <p:nvPr/>
        </p:nvSpPr>
        <p:spPr>
          <a:xfrm>
            <a:off x="548640" y="4206240"/>
            <a:ext cx="11064240" cy="91440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279392"/>
            <a:ext cx="10607040" cy="777240"/>
          </a:xfrm>
          <a:prstGeom prst="rect">
            <a:avLst/>
          </a:prstGeom>
          <a:noFill/>
        </p:spPr>
        <p:txBody>
          <a:bodyPr wrap="square" lIns="45720" rIns="45720" tIns="27432" bIns="27432" anchor="ctr">
            <a:spAutoFit/>
          </a:bodyPr>
          <a:lstStyle/>
          <a:p>
            <a:pPr algn="l">
              <a:lnSpc>
                <a:spcPct val="110000"/>
              </a:lnSpc>
              <a:spcAft>
                <a:spcPts val="600"/>
              </a:spcAft>
            </a:pPr>
            <a:r>
              <a:rPr sz="1500" b="1" i="0" lang="vi-VN">
                <a:solidFill>
                  <a:srgbClr val="075289"/>
                </a:solidFill>
                <a:latin typeface="Arial"/>
              </a:rPr>
              <a:t>Ví dụ: </a:t>
            </a:r>
            <a:r>
              <a:rPr sz="1500" b="0" i="0" lang="vi-VN">
                <a:solidFill>
                  <a:srgbClr val="1F2937"/>
                </a:solidFill>
                <a:latin typeface="Arial"/>
              </a:rPr>
              <a:t>Toyota Fortuner 2026 "mới" rao 125 triệu, trong khi trung vị của xe cùng đời là 1.249 triệu. Đây là tiền trả trước, không phải giá xe.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GIÁ TRỊ THIẾU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Hiểu vì sao thiếu trước khi điền</a:t>
            </a:r>
          </a:p>
        </p:txBody>
      </p:sp>
      <p:graphicFrame>
        <p:nvGraphicFramePr>
          <p:cNvPr id="4" name="Table 3"/>
          <p:cNvGraphicFramePr>
            <a:graphicFrameLocks noGrp="1"/>
          </p:cNvGraphicFramePr>
          <p:nvPr/>
        </p:nvGraphicFramePr>
        <p:xfrm>
          <a:off x="548640" y="1463040"/>
          <a:ext cx="11064240" cy="3401568"/>
        </p:xfrm>
        <a:graphic>
          <a:graphicData uri="http://schemas.openxmlformats.org/drawingml/2006/table">
            <a:tbl>
              <a:tblPr firstRow="0" bandRow="0">
                <a:tableStyleId>{5940675A-B579-460E-94D1-54222C63F5DA}</a:tableStyleId>
              </a:tblPr>
              <a:tblGrid>
                <a:gridCol w="1463040"/>
                <a:gridCol w="1097280"/>
                <a:gridCol w="2926080"/>
                <a:gridCol w="5577840"/>
              </a:tblGrid>
              <a:tr h="566928">
                <a:tc>
                  <a:txBody>
                    <a:bodyPr wrap="square"/>
                    <a:lstStyle/>
                    <a:p>
                      <a:r>
                        <a:rPr sz="1400" b="1" i="0" lang="vi-VN">
                          <a:solidFill>
                            <a:srgbClr val="FFFFFF"/>
                          </a:solidFill>
                          <a:latin typeface="Arial"/>
                        </a:rPr>
                        <a:t>Cột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 thiếu</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Vì sao thiếu</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Cách xử lý</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566928">
                <a:tc>
                  <a:txBody>
                    <a:bodyPr wrap="square"/>
                    <a:lstStyle/>
                    <a:p>
                      <a:r>
                        <a:rPr sz="1400" b="1" i="0" lang="vi-VN">
                          <a:solidFill>
                            <a:srgbClr val="1F2937"/>
                          </a:solidFill>
                          <a:latin typeface="Arial"/>
                        </a:rPr>
                        <a:t>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12,2%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Xe mới không có ô 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Xe mới = 0 km; 814 xe cũ: trung vị theo năm SX + cột đánh dấu mileage_missing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566928">
                <a:tc>
                  <a:txBody>
                    <a:bodyPr wrap="square"/>
                    <a:lstStyle/>
                    <a:p>
                      <a:r>
                        <a:rPr sz="1400" b="1" i="0" lang="vi-VN">
                          <a:solidFill>
                            <a:srgbClr val="1F2937"/>
                          </a:solidFill>
                          <a:latin typeface="Arial"/>
                        </a:rPr>
                        <a:t>Kiểu dáng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32,9%</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Không bắt buộc nhập</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Mode theo hãng + dòng xe (4.336 tin); không suy ra được → "Không rõ" (243)</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566928">
                <a:tc>
                  <a:txBody>
                    <a:bodyPr wrap="square"/>
                    <a:lstStyle/>
                    <a:p>
                      <a:r>
                        <a:rPr sz="1400" b="1" i="0" lang="vi-VN">
                          <a:solidFill>
                            <a:srgbClr val="1F2937"/>
                          </a:solidFill>
                          <a:latin typeface="Arial"/>
                        </a:rPr>
                        <a:t>Số chỗ</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24,9%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Không bắt buộc nhập</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Mode theo dòng xe, rồi theo hãng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566928">
                <a:tc>
                  <a:txBody>
                    <a:bodyPr wrap="square"/>
                    <a:lstStyle/>
                    <a:p>
                      <a:r>
                        <a:rPr sz="1400" b="1" i="0" lang="vi-VN">
                          <a:solidFill>
                            <a:srgbClr val="1F2937"/>
                          </a:solidFill>
                          <a:latin typeface="Arial"/>
                        </a:rPr>
                        <a:t>Xuất xứ</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40,5%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Không bắt buộc, quá nhiều</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Giữ nhãn riêng "Không rõ", không đoán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566928">
                <a:tc>
                  <a:txBody>
                    <a:bodyPr wrap="square"/>
                    <a:lstStyle/>
                    <a:p>
                      <a:r>
                        <a:rPr sz="1400" b="1" i="0" lang="vi-VN">
                          <a:solidFill>
                            <a:srgbClr val="1F2937"/>
                          </a:solidFill>
                          <a:latin typeface="Arial"/>
                        </a:rPr>
                        <a:t>Giá</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 tin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Biến mục tiêu</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Xóa dòng, không bao giờ điền đáp án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5" name="TextBox 4"/>
          <p:cNvSpPr txBox="1"/>
          <p:nvPr/>
        </p:nvSpPr>
        <p:spPr>
          <a:xfrm>
            <a:off x="548640" y="5029200"/>
            <a:ext cx="11064240" cy="54864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Vì sao kiểu dáng không lùi về hãng: </a:t>
            </a:r>
            <a:r>
              <a:rPr sz="1400" b="0" i="0" lang="vi-VN">
                <a:solidFill>
                  <a:srgbClr val="1F2937"/>
                </a:solidFill>
                <a:latin typeface="Arial"/>
              </a:rPr>
              <a:t>một hãng bán cả sedan, SUV, bán tải; đoán theo hãng là đoán mò.</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GỘP NHÃN HIẾM</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Gộp nhãn hiếm theo cấp: dòng xe → hãng → nhóm hãng</a:t>
            </a:r>
          </a:p>
        </p:txBody>
      </p:sp>
      <p:sp>
        <p:nvSpPr>
          <p:cNvPr id="4" name="Oval 3"/>
          <p:cNvSpPr/>
          <p:nvPr/>
        </p:nvSpPr>
        <p:spPr>
          <a:xfrm>
            <a:off x="548640" y="160020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1</a:t>
            </a:r>
          </a:p>
        </p:txBody>
      </p:sp>
      <p:sp>
        <p:nvSpPr>
          <p:cNvPr id="5" name="Rounded Rectangle 4"/>
          <p:cNvSpPr/>
          <p:nvPr/>
        </p:nvSpPr>
        <p:spPr>
          <a:xfrm>
            <a:off x="1234440" y="1463040"/>
            <a:ext cx="420624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1508760"/>
            <a:ext cx="4023360" cy="41148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Dòng xe ≥ 10 tin </a:t>
            </a:r>
            <a:r>
              <a:rPr sz="1500" b="0" i="0" lang="vi-VN">
                <a:solidFill>
                  <a:srgbClr val="1F2937"/>
                </a:solidFill>
                <a:latin typeface="Arial"/>
              </a:rPr>
              <a:t>giữ nguyên</a:t>
            </a:r>
          </a:p>
        </p:txBody>
      </p:sp>
      <p:sp>
        <p:nvSpPr>
          <p:cNvPr id="7" name="TextBox 6"/>
          <p:cNvSpPr txBox="1"/>
          <p:nvPr/>
        </p:nvSpPr>
        <p:spPr>
          <a:xfrm>
            <a:off x="1371600" y="1920240"/>
            <a:ext cx="402336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Ví dụ: Toyota Vios</a:t>
            </a:r>
          </a:p>
        </p:txBody>
      </p:sp>
      <p:sp>
        <p:nvSpPr>
          <p:cNvPr id="8" name="Oval 7"/>
          <p:cNvSpPr/>
          <p:nvPr/>
        </p:nvSpPr>
        <p:spPr>
          <a:xfrm>
            <a:off x="548640" y="2697479"/>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2</a:t>
            </a:r>
          </a:p>
        </p:txBody>
      </p:sp>
      <p:sp>
        <p:nvSpPr>
          <p:cNvPr id="9" name="Rounded Rectangle 8"/>
          <p:cNvSpPr/>
          <p:nvPr/>
        </p:nvSpPr>
        <p:spPr>
          <a:xfrm>
            <a:off x="1234440" y="2560320"/>
            <a:ext cx="420624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71600" y="2606039"/>
            <a:ext cx="4023360" cy="41148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Dòng xe hiếm </a:t>
            </a:r>
            <a:r>
              <a:rPr sz="1500" b="0" i="0" lang="vi-VN">
                <a:solidFill>
                  <a:srgbClr val="1F2937"/>
                </a:solidFill>
                <a:latin typeface="Arial"/>
              </a:rPr>
              <a:t>→ "&lt;Hãng&gt; - dòng khác"</a:t>
            </a:r>
          </a:p>
        </p:txBody>
      </p:sp>
      <p:sp>
        <p:nvSpPr>
          <p:cNvPr id="11" name="TextBox 10"/>
          <p:cNvSpPr txBox="1"/>
          <p:nvPr/>
        </p:nvSpPr>
        <p:spPr>
          <a:xfrm>
            <a:off x="1371600" y="3017520"/>
            <a:ext cx="402336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Ví dụ: Mercedes Benz - dòng khác</a:t>
            </a:r>
          </a:p>
        </p:txBody>
      </p:sp>
      <p:sp>
        <p:nvSpPr>
          <p:cNvPr id="12" name="Oval 11"/>
          <p:cNvSpPr/>
          <p:nvPr/>
        </p:nvSpPr>
        <p:spPr>
          <a:xfrm>
            <a:off x="548640" y="379476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3</a:t>
            </a:r>
          </a:p>
        </p:txBody>
      </p:sp>
      <p:sp>
        <p:nvSpPr>
          <p:cNvPr id="13" name="Rounded Rectangle 12"/>
          <p:cNvSpPr/>
          <p:nvPr/>
        </p:nvSpPr>
        <p:spPr>
          <a:xfrm>
            <a:off x="1234440" y="3657600"/>
            <a:ext cx="420624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71600" y="3703320"/>
            <a:ext cx="4023360" cy="41148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Hãng &lt; 30 tin </a:t>
            </a:r>
            <a:r>
              <a:rPr sz="1500" b="0" i="0" lang="vi-VN">
                <a:solidFill>
                  <a:srgbClr val="1F2937"/>
                </a:solidFill>
                <a:latin typeface="Arial"/>
              </a:rPr>
              <a:t>→ nhóm cao cấp / phổ thông</a:t>
            </a:r>
          </a:p>
        </p:txBody>
      </p:sp>
      <p:sp>
        <p:nvSpPr>
          <p:cNvPr id="15" name="TextBox 14"/>
          <p:cNvSpPr txBox="1"/>
          <p:nvPr/>
        </p:nvSpPr>
        <p:spPr>
          <a:xfrm>
            <a:off x="1371600" y="4114800"/>
            <a:ext cx="402336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Ví dụ: Bentley → Hãng cao cấp khác</a:t>
            </a:r>
          </a:p>
        </p:txBody>
      </p:sp>
      <p:sp>
        <p:nvSpPr>
          <p:cNvPr id="16" name="TextBox 15"/>
          <p:cNvSpPr txBox="1"/>
          <p:nvPr/>
        </p:nvSpPr>
        <p:spPr>
          <a:xfrm>
            <a:off x="548640" y="4846320"/>
            <a:ext cx="4937760" cy="73152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69 hãng → 28 nhóm;  509 dòng → 214 nhóm</a:t>
            </a:r>
          </a:p>
        </p:txBody>
      </p:sp>
      <p:graphicFrame>
        <p:nvGraphicFramePr>
          <p:cNvPr id="17" name="Chart 16"/>
          <p:cNvGraphicFramePr>
            <a:graphicFrameLocks noGrp="1"/>
          </p:cNvGraphicFramePr>
          <p:nvPr/>
        </p:nvGraphicFramePr>
        <p:xfrm>
          <a:off x="5760720" y="1371600"/>
          <a:ext cx="5852160" cy="411480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ĐẶC TRƯNG</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Đặc trưng đầu vào: biến đổi theo bản chất từng mô hình</a:t>
            </a:r>
          </a:p>
        </p:txBody>
      </p:sp>
      <p:graphicFrame>
        <p:nvGraphicFramePr>
          <p:cNvPr id="4" name="Table 3"/>
          <p:cNvGraphicFramePr>
            <a:graphicFrameLocks noGrp="1"/>
          </p:cNvGraphicFramePr>
          <p:nvPr/>
        </p:nvGraphicFramePr>
        <p:xfrm>
          <a:off x="548640" y="1463040"/>
          <a:ext cx="11064240" cy="3200400"/>
        </p:xfrm>
        <a:graphic>
          <a:graphicData uri="http://schemas.openxmlformats.org/drawingml/2006/table">
            <a:tbl>
              <a:tblPr firstRow="0" bandRow="0">
                <a:tableStyleId>{5940675A-B579-460E-94D1-54222C63F5DA}</a:tableStyleId>
              </a:tblPr>
              <a:tblGrid>
                <a:gridCol w="2560320"/>
                <a:gridCol w="4846320"/>
                <a:gridCol w="3657600"/>
              </a:tblGrid>
              <a:tr h="457200">
                <a:tc>
                  <a:txBody>
                    <a:bodyPr wrap="square"/>
                    <a:lstStyle/>
                    <a:p>
                      <a:r>
                        <a:rPr sz="1400" b="1" i="0" lang="vi-VN">
                          <a:solidFill>
                            <a:srgbClr val="FFFFFF"/>
                          </a:solidFill>
                          <a:latin typeface="Arial"/>
                        </a:rPr>
                        <a:t>Nhóm đặc trưng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Ridge Regression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Random Forest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Phân loại (one-hot)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hãng, dòng xe, xuất xứ, tình trạng, hộp số, nhiên liệu, kiểu dáng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giống Ridge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Tuổi xe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tuổi, tuổi²</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tuổi</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log(1+km), log(1+km/năm)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km, km/năm (giữ nguyên)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Khác</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số chỗ, mileage_missing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số chỗ, mileage_missing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Chuẩn hóa</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StandardScaler (phạt L2 công bằng)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không cần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cột sau mã hóa</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278</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277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5" name="Rounded Rectangle 4"/>
          <p:cNvSpPr/>
          <p:nvPr/>
        </p:nvSpPr>
        <p:spPr>
          <a:xfrm>
            <a:off x="548640" y="4846320"/>
            <a:ext cx="11064240" cy="7315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4892040"/>
            <a:ext cx="10607040" cy="640080"/>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Không dùng: </a:t>
            </a:r>
            <a:r>
              <a:rPr sz="1400" b="0" i="0" lang="vi-VN">
                <a:solidFill>
                  <a:srgbClr val="1F2937"/>
                </a:solidFill>
                <a:latin typeface="Arial"/>
              </a:rPr>
              <a:t>giá (đáp án), năm SX (trùng tuổi xe), tỉnh/thành (CV cho thấy gần như không cải thiện: MAPE RF 16,10% → 16,04%).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MẤT CÂN BẰNG</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Dữ liệu mất cân bằng theo phân khúc giá</a:t>
            </a:r>
          </a:p>
        </p:txBody>
      </p:sp>
      <p:graphicFrame>
        <p:nvGraphicFramePr>
          <p:cNvPr id="4" name="Chart 3"/>
          <p:cNvGraphicFramePr>
            <a:graphicFrameLocks noGrp="1"/>
          </p:cNvGraphicFramePr>
          <p:nvPr/>
        </p:nvGraphicFramePr>
        <p:xfrm>
          <a:off x="457200" y="1371600"/>
          <a:ext cx="6583680" cy="4206240"/>
        </p:xfrm>
        <a:graphic>
          <a:graphicData uri="http://schemas.openxmlformats.org/drawingml/2006/chart">
            <c:chart xmlns:c="http://schemas.openxmlformats.org/drawingml/2006/chart" r:id="rId3"/>
          </a:graphicData>
        </a:graphic>
      </p:graphicFrame>
      <p:sp>
        <p:nvSpPr>
          <p:cNvPr id="5" name="Rounded Rectangle 4"/>
          <p:cNvSpPr/>
          <p:nvPr/>
        </p:nvSpPr>
        <p:spPr>
          <a:xfrm>
            <a:off x="7406640" y="1463040"/>
            <a:ext cx="4206240" cy="13716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406640" y="1536192"/>
            <a:ext cx="4206240" cy="685800"/>
          </a:xfrm>
          <a:prstGeom prst="rect">
            <a:avLst/>
          </a:prstGeom>
          <a:noFill/>
        </p:spPr>
        <p:txBody>
          <a:bodyPr wrap="square" lIns="45720" rIns="45720" tIns="27432" bIns="27432" anchor="t">
            <a:spAutoFit/>
          </a:bodyPr>
          <a:lstStyle/>
          <a:p>
            <a:pPr algn="ctr">
              <a:lnSpc>
                <a:spcPct val="110000"/>
              </a:lnSpc>
              <a:spcAft>
                <a:spcPts val="600"/>
              </a:spcAft>
            </a:pPr>
            <a:r>
              <a:rPr sz="3200" b="1" i="0" lang="vi-VN">
                <a:solidFill>
                  <a:srgbClr val="FFD400"/>
                </a:solidFill>
                <a:latin typeface="Arial"/>
              </a:rPr>
              <a:t>12,9 lần</a:t>
            </a:r>
          </a:p>
        </p:txBody>
      </p:sp>
      <p:sp>
        <p:nvSpPr>
          <p:cNvPr id="7" name="TextBox 6"/>
          <p:cNvSpPr txBox="1"/>
          <p:nvPr/>
        </p:nvSpPr>
        <p:spPr>
          <a:xfrm>
            <a:off x="7498079" y="2212848"/>
            <a:ext cx="4023360" cy="548640"/>
          </a:xfrm>
          <a:prstGeom prst="rect">
            <a:avLst/>
          </a:prstGeom>
          <a:noFill/>
        </p:spPr>
        <p:txBody>
          <a:bodyPr wrap="square" lIns="45720" rIns="45720" tIns="27432" bIns="27432" anchor="t">
            <a:spAutoFit/>
          </a:bodyPr>
          <a:lstStyle/>
          <a:p>
            <a:pPr algn="ctr">
              <a:lnSpc>
                <a:spcPct val="110000"/>
              </a:lnSpc>
              <a:spcAft>
                <a:spcPts val="600"/>
              </a:spcAft>
            </a:pPr>
            <a:r>
              <a:rPr sz="1300" b="0" i="0" lang="vi-VN">
                <a:solidFill>
                  <a:srgbClr val="FFFFFF"/>
                </a:solidFill>
                <a:latin typeface="Arial"/>
              </a:rPr>
              <a:t>phân khúc đông nhất so với xe trên 2 tỷ (3,3%)</a:t>
            </a:r>
          </a:p>
        </p:txBody>
      </p:sp>
      <p:sp>
        <p:nvSpPr>
          <p:cNvPr id="8" name="TextBox 7"/>
          <p:cNvSpPr txBox="1"/>
          <p:nvPr/>
        </p:nvSpPr>
        <p:spPr>
          <a:xfrm>
            <a:off x="7406640" y="3063240"/>
            <a:ext cx="4206240"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Cách xử lý</a:t>
            </a:r>
          </a:p>
        </p:txBody>
      </p:sp>
      <p:sp>
        <p:nvSpPr>
          <p:cNvPr id="9" name="TextBox 8"/>
          <p:cNvSpPr txBox="1"/>
          <p:nvPr/>
        </p:nvSpPr>
        <p:spPr>
          <a:xfrm>
            <a:off x="7406640" y="3474720"/>
            <a:ext cx="4206240" cy="210312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400" b="0" i="0" lang="vi-VN">
                <a:solidFill>
                  <a:srgbClr val="1F2937"/>
                </a:solidFill>
                <a:latin typeface="Arial"/>
              </a:rPr>
              <a:t>Học trên log(giá) để giảm lệch</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Chia train/test phân tầng theo phân khúc</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Thử trọng số mẫu, oversampling, undersampling: chỉ trong phần train của từng fold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4" name="TextBox 3">
            <a:extLst>
              <a:ext uri="{FF2B5EF4-FFF2-40B4-BE49-F238E27FC236}">
                <a16:creationId xmlns:a16="http://schemas.microsoft.com/office/drawing/2014/main" id="{6439DB71-B88B-13E6-20C9-D445279D6565}"/>
              </a:ext>
            </a:extLst>
          </p:cNvPr>
          <p:cNvSpPr txBox="1"/>
          <p:nvPr/>
        </p:nvSpPr>
        <p:spPr>
          <a:xfrm>
            <a:off x="1474901" y="2363900"/>
            <a:ext cx="4846320" cy="24314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PHẦN 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8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rPr>
              <a:t>XÂY DỰNG MÔ HÌNH</a:t>
            </a:r>
          </a:p>
        </p:txBody>
      </p:sp>
      <p:sp>
        <p:nvSpPr>
          <p:cNvPr id="2" name="Rectangle 1">
            <a:extLst>
              <a:ext uri="{FF2B5EF4-FFF2-40B4-BE49-F238E27FC236}">
                <a16:creationId xmlns:a16="http://schemas.microsoft.com/office/drawing/2014/main" id="{9F1140A8-0DEA-4459-9D47-7031037DBACB}"/>
              </a:ext>
            </a:extLst>
          </p:cNvPr>
          <p:cNvSpPr/>
          <p:nvPr/>
        </p:nvSpPr>
        <p:spPr>
          <a:xfrm>
            <a:off x="650410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THIẾT KẾ THỰC NGHIỆM</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Chia dữ liệu và chọn tham số không dùng tập test</a:t>
            </a:r>
          </a:p>
        </p:txBody>
      </p:sp>
      <p:pic>
        <p:nvPicPr>
          <p:cNvPr id="4" name="Picture 3" descr="m01_chia_train_test.png"/>
          <p:cNvPicPr>
            <a:picLocks noChangeAspect="1"/>
          </p:cNvPicPr>
          <p:nvPr/>
        </p:nvPicPr>
        <p:blipFill>
          <a:blip r:embed="rId3"/>
          <a:stretch>
            <a:fillRect/>
          </a:stretch>
        </p:blipFill>
        <p:spPr>
          <a:xfrm>
            <a:off x="457200" y="1466625"/>
            <a:ext cx="6309359" cy="3010348"/>
          </a:xfrm>
          <a:prstGeom prst="rect">
            <a:avLst/>
          </a:prstGeom>
        </p:spPr>
      </p:pic>
      <p:sp>
        <p:nvSpPr>
          <p:cNvPr id="5" name="TextBox 4"/>
          <p:cNvSpPr txBox="1"/>
          <p:nvPr/>
        </p:nvSpPr>
        <p:spPr>
          <a:xfrm>
            <a:off x="548640" y="4663440"/>
            <a:ext cx="612648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Chia phân tầng: mỗi phân khúc giá có cùng tỉ lệ ở train (11.149 tin) và test (2.788 tin)</a:t>
            </a:r>
          </a:p>
        </p:txBody>
      </p:sp>
      <p:sp>
        <p:nvSpPr>
          <p:cNvPr id="6" name="Oval 5"/>
          <p:cNvSpPr/>
          <p:nvPr/>
        </p:nvSpPr>
        <p:spPr>
          <a:xfrm>
            <a:off x="7132320" y="150876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1</a:t>
            </a:r>
          </a:p>
        </p:txBody>
      </p:sp>
      <p:sp>
        <p:nvSpPr>
          <p:cNvPr id="7" name="TextBox 6"/>
          <p:cNvSpPr txBox="1"/>
          <p:nvPr/>
        </p:nvSpPr>
        <p:spPr>
          <a:xfrm>
            <a:off x="7863840" y="1463039"/>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Train 80%</a:t>
            </a:r>
          </a:p>
        </p:txBody>
      </p:sp>
      <p:sp>
        <p:nvSpPr>
          <p:cNvPr id="8" name="TextBox 7"/>
          <p:cNvSpPr txBox="1"/>
          <p:nvPr/>
        </p:nvSpPr>
        <p:spPr>
          <a:xfrm>
            <a:off x="7863840" y="1856231"/>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học mô hình, chọn tham số bằng 5-fold CV (Ridge) hoặc OOB (rừng tự viết)</a:t>
            </a:r>
          </a:p>
        </p:txBody>
      </p:sp>
      <p:sp>
        <p:nvSpPr>
          <p:cNvPr id="9" name="Oval 8"/>
          <p:cNvSpPr/>
          <p:nvPr/>
        </p:nvSpPr>
        <p:spPr>
          <a:xfrm>
            <a:off x="7132320" y="2834639"/>
            <a:ext cx="548640" cy="5486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2</a:t>
            </a:r>
          </a:p>
        </p:txBody>
      </p:sp>
      <p:sp>
        <p:nvSpPr>
          <p:cNvPr id="10" name="TextBox 9"/>
          <p:cNvSpPr txBox="1"/>
          <p:nvPr/>
        </p:nvSpPr>
        <p:spPr>
          <a:xfrm>
            <a:off x="7863840" y="2788920"/>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Test 20%</a:t>
            </a:r>
          </a:p>
        </p:txBody>
      </p:sp>
      <p:sp>
        <p:nvSpPr>
          <p:cNvPr id="11" name="TextBox 10"/>
          <p:cNvSpPr txBox="1"/>
          <p:nvPr/>
        </p:nvSpPr>
        <p:spPr>
          <a:xfrm>
            <a:off x="7863840" y="3182111"/>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dùng đúng một lần để báo cáo kết quả cuối</a:t>
            </a:r>
          </a:p>
        </p:txBody>
      </p:sp>
      <p:sp>
        <p:nvSpPr>
          <p:cNvPr id="12" name="Oval 11"/>
          <p:cNvSpPr/>
          <p:nvPr/>
        </p:nvSpPr>
        <p:spPr>
          <a:xfrm>
            <a:off x="7132320" y="416052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3</a:t>
            </a:r>
          </a:p>
        </p:txBody>
      </p:sp>
      <p:sp>
        <p:nvSpPr>
          <p:cNvPr id="13" name="TextBox 12"/>
          <p:cNvSpPr txBox="1"/>
          <p:nvPr/>
        </p:nvSpPr>
        <p:spPr>
          <a:xfrm>
            <a:off x="7863840" y="4114800"/>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Hai bản cài đặt</a:t>
            </a:r>
          </a:p>
        </p:txBody>
      </p:sp>
      <p:sp>
        <p:nvSpPr>
          <p:cNvPr id="14" name="TextBox 13"/>
          <p:cNvSpPr txBox="1"/>
          <p:nvPr/>
        </p:nvSpPr>
        <p:spPr>
          <a:xfrm>
            <a:off x="7863840" y="4507992"/>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thư viện scikit-learn làm chuẩn; bản tự viết bằng NumPy được kiểm chứng với nó</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THƯỚC ĐO</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Sáu thước đo, MAPE là thước đo chính</a:t>
            </a:r>
          </a:p>
        </p:txBody>
      </p:sp>
      <p:sp>
        <p:nvSpPr>
          <p:cNvPr id="4" name="Rounded Rectangle 3"/>
          <p:cNvSpPr/>
          <p:nvPr/>
        </p:nvSpPr>
        <p:spPr>
          <a:xfrm>
            <a:off x="548640" y="1463040"/>
            <a:ext cx="3474720" cy="16002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6002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FFD400"/>
                </a:solidFill>
                <a:latin typeface="Arial"/>
              </a:rPr>
              <a:t>MAPE</a:t>
            </a:r>
          </a:p>
        </p:txBody>
      </p:sp>
      <p:sp>
        <p:nvSpPr>
          <p:cNvPr id="6" name="TextBox 5"/>
          <p:cNvSpPr txBox="1"/>
          <p:nvPr/>
        </p:nvSpPr>
        <p:spPr>
          <a:xfrm>
            <a:off x="777240" y="21945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FFFFFF"/>
                </a:solidFill>
                <a:latin typeface="Arial"/>
              </a:rPr>
              <a:t>Sai số phần trăm trung bình. Thước đo chính</a:t>
            </a:r>
          </a:p>
        </p:txBody>
      </p:sp>
      <p:sp>
        <p:nvSpPr>
          <p:cNvPr id="7" name="Rounded Rectangle 6"/>
          <p:cNvSpPr/>
          <p:nvPr/>
        </p:nvSpPr>
        <p:spPr>
          <a:xfrm>
            <a:off x="4297679" y="1463040"/>
            <a:ext cx="347472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26279" y="16002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MedAPE</a:t>
            </a:r>
          </a:p>
        </p:txBody>
      </p:sp>
      <p:sp>
        <p:nvSpPr>
          <p:cNvPr id="9" name="TextBox 8"/>
          <p:cNvSpPr txBox="1"/>
          <p:nvPr/>
        </p:nvSpPr>
        <p:spPr>
          <a:xfrm>
            <a:off x="4526279" y="21945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Trung vị sai số %: sai số "điển hình"</a:t>
            </a:r>
          </a:p>
        </p:txBody>
      </p:sp>
      <p:sp>
        <p:nvSpPr>
          <p:cNvPr id="10" name="Rounded Rectangle 9"/>
          <p:cNvSpPr/>
          <p:nvPr/>
        </p:nvSpPr>
        <p:spPr>
          <a:xfrm>
            <a:off x="8046719" y="1463040"/>
            <a:ext cx="347472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75319" y="16002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MAE</a:t>
            </a:r>
          </a:p>
        </p:txBody>
      </p:sp>
      <p:sp>
        <p:nvSpPr>
          <p:cNvPr id="12" name="TextBox 11"/>
          <p:cNvSpPr txBox="1"/>
          <p:nvPr/>
        </p:nvSpPr>
        <p:spPr>
          <a:xfrm>
            <a:off x="8275319" y="21945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Trung bình đoán lệch bao nhiêu triệu</a:t>
            </a:r>
          </a:p>
        </p:txBody>
      </p:sp>
      <p:sp>
        <p:nvSpPr>
          <p:cNvPr id="13" name="Rounded Rectangle 12"/>
          <p:cNvSpPr/>
          <p:nvPr/>
        </p:nvSpPr>
        <p:spPr>
          <a:xfrm>
            <a:off x="548640" y="3291840"/>
            <a:ext cx="347472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4290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RMSE</a:t>
            </a:r>
          </a:p>
        </p:txBody>
      </p:sp>
      <p:sp>
        <p:nvSpPr>
          <p:cNvPr id="15" name="TextBox 14"/>
          <p:cNvSpPr txBox="1"/>
          <p:nvPr/>
        </p:nvSpPr>
        <p:spPr>
          <a:xfrm>
            <a:off x="777240" y="40233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Phạt nặng lỗi lớn (thường ở xe sang)</a:t>
            </a:r>
          </a:p>
        </p:txBody>
      </p:sp>
      <p:sp>
        <p:nvSpPr>
          <p:cNvPr id="16" name="Rounded Rectangle 15"/>
          <p:cNvSpPr/>
          <p:nvPr/>
        </p:nvSpPr>
        <p:spPr>
          <a:xfrm>
            <a:off x="4297679" y="3291840"/>
            <a:ext cx="347472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26279" y="34290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R² (log)</a:t>
            </a:r>
          </a:p>
        </p:txBody>
      </p:sp>
      <p:sp>
        <p:nvSpPr>
          <p:cNvPr id="18" name="TextBox 17"/>
          <p:cNvSpPr txBox="1"/>
          <p:nvPr/>
        </p:nvSpPr>
        <p:spPr>
          <a:xfrm>
            <a:off x="4526279" y="40233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Tỉ lệ biến thiên log giá được giải thích</a:t>
            </a:r>
          </a:p>
        </p:txBody>
      </p:sp>
      <p:sp>
        <p:nvSpPr>
          <p:cNvPr id="19" name="Rounded Rectangle 18"/>
          <p:cNvSpPr/>
          <p:nvPr/>
        </p:nvSpPr>
        <p:spPr>
          <a:xfrm>
            <a:off x="8046719" y="3291840"/>
            <a:ext cx="347472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75319" y="3429000"/>
            <a:ext cx="301752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±10% / ±20%</a:t>
            </a:r>
          </a:p>
        </p:txBody>
      </p:sp>
      <p:sp>
        <p:nvSpPr>
          <p:cNvPr id="21" name="TextBox 20"/>
          <p:cNvSpPr txBox="1"/>
          <p:nvPr/>
        </p:nvSpPr>
        <p:spPr>
          <a:xfrm>
            <a:off x="8275319" y="4023360"/>
            <a:ext cx="3063240" cy="8229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Tỉ lệ xe được định giá lệch không quá 10% / 20%</a:t>
            </a:r>
          </a:p>
        </p:txBody>
      </p:sp>
      <p:sp>
        <p:nvSpPr>
          <p:cNvPr id="22" name="TextBox 21"/>
          <p:cNvSpPr txBox="1"/>
          <p:nvPr/>
        </p:nvSpPr>
        <p:spPr>
          <a:xfrm>
            <a:off x="548640" y="5166360"/>
            <a:ext cx="11064240" cy="41148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Mốc so sánh (baseline): </a:t>
            </a:r>
            <a:r>
              <a:rPr sz="1400" b="0" i="0" lang="vi-VN">
                <a:solidFill>
                  <a:srgbClr val="1F2937"/>
                </a:solidFill>
                <a:latin typeface="Arial"/>
              </a:rPr>
              <a:t>luôn đoán giá trung vị của tập train. Mô hình phải tốt hơn hẳn mức này mới có ý nghĩa.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1</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Ridge Regression: hồi quy tuyến tính có phạt L2</a:t>
            </a:r>
          </a:p>
        </p:txBody>
      </p:sp>
      <p:sp>
        <p:nvSpPr>
          <p:cNvPr id="4" name="Rounded Rectangle 3"/>
          <p:cNvSpPr/>
          <p:nvPr/>
        </p:nvSpPr>
        <p:spPr>
          <a:xfrm>
            <a:off x="548640" y="1463040"/>
            <a:ext cx="5486400" cy="14630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54480"/>
            <a:ext cx="51206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Hàm mất mát</a:t>
            </a:r>
          </a:p>
        </p:txBody>
      </p:sp>
      <p:sp>
        <p:nvSpPr>
          <p:cNvPr id="6" name="TextBox 5"/>
          <p:cNvSpPr txBox="1"/>
          <p:nvPr/>
        </p:nvSpPr>
        <p:spPr>
          <a:xfrm>
            <a:off x="731520" y="1965960"/>
            <a:ext cx="5120640" cy="822960"/>
          </a:xfrm>
          <a:prstGeom prst="rect">
            <a:avLst/>
          </a:prstGeom>
          <a:noFill/>
        </p:spPr>
        <p:txBody>
          <a:bodyPr wrap="square" lIns="45720" rIns="45720" tIns="27432" bIns="27432" anchor="t">
            <a:spAutoFit/>
          </a:bodyPr>
          <a:lstStyle/>
          <a:p>
            <a:pPr algn="l">
              <a:lnSpc>
                <a:spcPct val="110000"/>
              </a:lnSpc>
              <a:spcAft>
                <a:spcPts val="600"/>
              </a:spcAft>
            </a:pPr>
            <a:r>
              <a:rPr sz="2000" b="0" i="0" lang="vi-VN">
                <a:solidFill>
                  <a:srgbClr val="1F2937"/>
                </a:solidFill>
                <a:latin typeface="Arial"/>
              </a:rPr>
              <a:t>J(w) = </a:t>
            </a:r>
            <a:r>
              <a:rPr sz="2000" b="1" i="0" lang="vi-VN">
                <a:solidFill>
                  <a:srgbClr val="1F2937"/>
                </a:solidFill>
                <a:latin typeface="Arial"/>
              </a:rPr>
              <a:t>(1/2n) Σ (yᵢ − ŷᵢ)²</a:t>
            </a:r>
            <a:r>
              <a:rPr sz="2000" b="0" i="0" lang="vi-VN">
                <a:solidFill>
                  <a:srgbClr val="1F2937"/>
                </a:solidFill>
                <a:latin typeface="Arial"/>
              </a:rPr>
              <a:t>  +  </a:t>
            </a:r>
            <a:r>
              <a:rPr sz="2000" b="1" i="0" lang="vi-VN">
                <a:solidFill>
                  <a:srgbClr val="EB6834"/>
                </a:solidFill>
                <a:latin typeface="Arial"/>
              </a:rPr>
              <a:t>(α/2) Σ wⱼ²</a:t>
            </a:r>
          </a:p>
          <a:p>
            <a:pPr algn="l">
              <a:lnSpc>
                <a:spcPct val="110000"/>
              </a:lnSpc>
              <a:spcAft>
                <a:spcPts val="600"/>
              </a:spcAft>
            </a:pPr>
            <a:r>
              <a:rPr sz="1200" b="0" i="0" lang="vi-VN">
                <a:solidFill>
                  <a:srgbClr val="5B6775"/>
                </a:solidFill>
                <a:latin typeface="Arial"/>
              </a:rPr>
              <a:t>sai số dự đoán            khoản phạt trọng số</a:t>
            </a:r>
          </a:p>
        </p:txBody>
      </p:sp>
      <p:sp>
        <p:nvSpPr>
          <p:cNvPr id="7" name="TextBox 6"/>
          <p:cNvSpPr txBox="1"/>
          <p:nvPr/>
        </p:nvSpPr>
        <p:spPr>
          <a:xfrm>
            <a:off x="548640" y="3154680"/>
            <a:ext cx="5486400" cy="2377440"/>
          </a:xfrm>
          <a:prstGeom prst="rect">
            <a:avLst/>
          </a:prstGeom>
          <a:noFill/>
        </p:spPr>
        <p:txBody>
          <a:bodyPr wrap="square" lIns="45720" rIns="45720" tIns="27432" bIns="27432" anchor="t">
            <a:spAutoFit/>
          </a:bodyPr>
          <a:lstStyle/>
          <a:p>
            <a:pPr algn="l" marL="201168" indent="-201168">
              <a:lnSpc>
                <a:spcPct val="110000"/>
              </a:lnSpc>
              <a:spcAft>
                <a:spcPts val="900"/>
              </a:spcAft>
              <a:buClr>
                <a:srgbClr val="075289"/>
              </a:buClr>
              <a:buFont typeface="Arial"/>
              <a:buChar char="•"/>
            </a:pPr>
            <a:r>
              <a:rPr sz="1500" b="0" i="0" lang="vi-VN">
                <a:solidFill>
                  <a:srgbClr val="1F2937"/>
                </a:solidFill>
                <a:latin typeface="Arial"/>
              </a:rPr>
              <a:t>ŷ = w₀ + w₁x₁ + … + wₚxₚ, dự đoán log giá</a:t>
            </a:r>
          </a:p>
          <a:p>
            <a:pPr algn="l" marL="201168" indent="-201168">
              <a:lnSpc>
                <a:spcPct val="110000"/>
              </a:lnSpc>
              <a:spcAft>
                <a:spcPts val="900"/>
              </a:spcAft>
              <a:buClr>
                <a:srgbClr val="075289"/>
              </a:buClr>
              <a:buFont typeface="Arial"/>
              <a:buChar char="•"/>
            </a:pPr>
            <a:r>
              <a:rPr sz="1500" b="0" i="0" lang="vi-VN">
                <a:solidFill>
                  <a:srgbClr val="1F2937"/>
                </a:solidFill>
                <a:latin typeface="Arial"/>
              </a:rPr>
              <a:t>α nhỏ: gần như không phạt, dễ overfit; α lớn: hệ số bị ép về 0, underfit</a:t>
            </a:r>
          </a:p>
          <a:p>
            <a:pPr algn="l" marL="201168" indent="-201168">
              <a:lnSpc>
                <a:spcPct val="110000"/>
              </a:lnSpc>
              <a:spcAft>
                <a:spcPts val="900"/>
              </a:spcAft>
              <a:buClr>
                <a:srgbClr val="075289"/>
              </a:buClr>
              <a:buFont typeface="Arial"/>
              <a:buChar char="•"/>
            </a:pPr>
            <a:r>
              <a:rPr sz="1500" b="0" i="0" lang="vi-VN">
                <a:solidFill>
                  <a:srgbClr val="1F2937"/>
                </a:solidFill>
                <a:latin typeface="Arial"/>
              </a:rPr>
              <a:t>Diễn giải: hệ số w nghĩa là giá thay đổi khoảng (eʷ − 1) × 100%</a:t>
            </a:r>
          </a:p>
        </p:txBody>
      </p:sp>
      <p:pic>
        <p:nvPicPr>
          <p:cNvPr id="8" name="Picture 7" descr="m02_ridge_chon_alpha.png"/>
          <p:cNvPicPr>
            <a:picLocks noChangeAspect="1"/>
          </p:cNvPicPr>
          <p:nvPr/>
        </p:nvPicPr>
        <p:blipFill>
          <a:blip r:embed="rId3"/>
          <a:stretch>
            <a:fillRect/>
          </a:stretch>
        </p:blipFill>
        <p:spPr>
          <a:xfrm>
            <a:off x="6309360" y="1939681"/>
            <a:ext cx="5394960" cy="2978637"/>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1</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Ridge tự cài đặt: hai cách giải, trùng khớp thư viện</a:t>
            </a:r>
          </a:p>
        </p:txBody>
      </p:sp>
      <p:sp>
        <p:nvSpPr>
          <p:cNvPr id="4" name="Rounded Rectangle 3"/>
          <p:cNvSpPr/>
          <p:nvPr/>
        </p:nvSpPr>
        <p:spPr>
          <a:xfrm>
            <a:off x="548640" y="1463040"/>
            <a:ext cx="3566160" cy="13716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36192"/>
            <a:ext cx="32918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1. Nghiệm đóng</a:t>
            </a:r>
          </a:p>
        </p:txBody>
      </p:sp>
      <p:sp>
        <p:nvSpPr>
          <p:cNvPr id="6" name="TextBox 5"/>
          <p:cNvSpPr txBox="1"/>
          <p:nvPr/>
        </p:nvSpPr>
        <p:spPr>
          <a:xfrm>
            <a:off x="731520" y="1920240"/>
            <a:ext cx="3291840" cy="822960"/>
          </a:xfrm>
          <a:prstGeom prst="rect">
            <a:avLst/>
          </a:prstGeom>
          <a:noFill/>
        </p:spPr>
        <p:txBody>
          <a:bodyPr wrap="square" lIns="45720" rIns="45720" tIns="27432" bIns="27432" anchor="t">
            <a:spAutoFit/>
          </a:bodyPr>
          <a:lstStyle/>
          <a:p>
            <a:pPr algn="l">
              <a:lnSpc>
                <a:spcPct val="110000"/>
              </a:lnSpc>
              <a:spcAft>
                <a:spcPts val="200"/>
              </a:spcAft>
            </a:pPr>
            <a:r>
              <a:rPr sz="1400" b="0" i="0" lang="vi-VN">
                <a:solidFill>
                  <a:srgbClr val="1F2937"/>
                </a:solidFill>
                <a:latin typeface="Arial"/>
              </a:rPr>
              <a:t>(AᵀA/n + αI′) w = Aᵀy/n</a:t>
            </a:r>
          </a:p>
          <a:p>
            <a:pPr algn="l">
              <a:lnSpc>
                <a:spcPct val="110000"/>
              </a:lnSpc>
              <a:spcAft>
                <a:spcPts val="200"/>
              </a:spcAft>
            </a:pPr>
            <a:r>
              <a:rPr sz="1400" b="0" i="0" lang="vi-VN">
                <a:solidFill>
                  <a:srgbClr val="1F2937"/>
                </a:solidFill>
                <a:latin typeface="Arial"/>
              </a:rPr>
              <a:t>giải một lần, chính xác</a:t>
            </a:r>
          </a:p>
        </p:txBody>
      </p:sp>
      <p:sp>
        <p:nvSpPr>
          <p:cNvPr id="7" name="Rounded Rectangle 6"/>
          <p:cNvSpPr/>
          <p:nvPr/>
        </p:nvSpPr>
        <p:spPr>
          <a:xfrm>
            <a:off x="548640" y="3017520"/>
            <a:ext cx="3566160" cy="13716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090672"/>
            <a:ext cx="32918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2. Gradient descent</a:t>
            </a:r>
          </a:p>
        </p:txBody>
      </p:sp>
      <p:sp>
        <p:nvSpPr>
          <p:cNvPr id="9" name="TextBox 8"/>
          <p:cNvSpPr txBox="1"/>
          <p:nvPr/>
        </p:nvSpPr>
        <p:spPr>
          <a:xfrm>
            <a:off x="731520" y="3474720"/>
            <a:ext cx="3291840" cy="822960"/>
          </a:xfrm>
          <a:prstGeom prst="rect">
            <a:avLst/>
          </a:prstGeom>
          <a:noFill/>
        </p:spPr>
        <p:txBody>
          <a:bodyPr wrap="square" lIns="45720" rIns="45720" tIns="27432" bIns="27432" anchor="t">
            <a:spAutoFit/>
          </a:bodyPr>
          <a:lstStyle/>
          <a:p>
            <a:pPr algn="l">
              <a:lnSpc>
                <a:spcPct val="110000"/>
              </a:lnSpc>
              <a:spcAft>
                <a:spcPts val="200"/>
              </a:spcAft>
            </a:pPr>
            <a:r>
              <a:rPr sz="1400" b="0" i="0" lang="vi-VN">
                <a:solidFill>
                  <a:srgbClr val="1F2937"/>
                </a:solidFill>
                <a:latin typeface="Arial"/>
              </a:rPr>
              <a:t>momentum Nesterov, bước học 1/L</a:t>
            </a:r>
          </a:p>
          <a:p>
            <a:pPr algn="l">
              <a:lnSpc>
                <a:spcPct val="110000"/>
              </a:lnSpc>
              <a:spcAft>
                <a:spcPts val="200"/>
              </a:spcAft>
            </a:pPr>
            <a:r>
              <a:rPr sz="1400" b="0" i="0" lang="vi-VN">
                <a:solidFill>
                  <a:srgbClr val="1F2937"/>
                </a:solidFill>
                <a:latin typeface="Arial"/>
              </a:rPr>
              <a:t>5.000 vòng lặp, 23 giây</a:t>
            </a:r>
          </a:p>
        </p:txBody>
      </p:sp>
      <p:sp>
        <p:nvSpPr>
          <p:cNvPr id="10" name="Rounded Rectangle 9"/>
          <p:cNvSpPr/>
          <p:nvPr/>
        </p:nvSpPr>
        <p:spPr>
          <a:xfrm>
            <a:off x="548640" y="4572000"/>
            <a:ext cx="3566160" cy="9601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4617720"/>
            <a:ext cx="3291840" cy="868680"/>
          </a:xfrm>
          <a:prstGeom prst="rect">
            <a:avLst/>
          </a:prstGeom>
          <a:noFill/>
        </p:spPr>
        <p:txBody>
          <a:bodyPr wrap="square" lIns="45720" rIns="45720" tIns="27432" bIns="27432" anchor="ctr">
            <a:spAutoFit/>
          </a:bodyPr>
          <a:lstStyle/>
          <a:p>
            <a:pPr algn="l">
              <a:lnSpc>
                <a:spcPct val="110000"/>
              </a:lnSpc>
              <a:spcAft>
                <a:spcPts val="200"/>
              </a:spcAft>
            </a:pPr>
            <a:r>
              <a:rPr sz="1400" b="0" i="0" lang="vi-VN">
                <a:solidFill>
                  <a:srgbClr val="FFFFFF"/>
                </a:solidFill>
                <a:latin typeface="Arial"/>
              </a:rPr>
              <a:t>Lệch hệ số so với sklearn: </a:t>
            </a:r>
            <a:r>
              <a:rPr sz="1400" b="1" i="0" lang="vi-VN">
                <a:solidFill>
                  <a:srgbClr val="FFD400"/>
                </a:solidFill>
                <a:latin typeface="Arial"/>
              </a:rPr>
              <a:t>2,8 × 10⁻¹¹</a:t>
            </a:r>
          </a:p>
          <a:p>
            <a:pPr algn="l">
              <a:lnSpc>
                <a:spcPct val="110000"/>
              </a:lnSpc>
              <a:spcAft>
                <a:spcPts val="200"/>
              </a:spcAft>
            </a:pPr>
            <a:r>
              <a:rPr sz="1400" b="0" i="0" lang="vi-VN">
                <a:solidFill>
                  <a:srgbClr val="FFFFFF"/>
                </a:solidFill>
                <a:latin typeface="Arial"/>
              </a:rPr>
              <a:t>MAPE test: 18,5% cả hai bản</a:t>
            </a:r>
          </a:p>
        </p:txBody>
      </p:sp>
      <p:pic>
        <p:nvPicPr>
          <p:cNvPr id="12" name="Picture 11" descr="m03_ridge_kiem_chung.png"/>
          <p:cNvPicPr>
            <a:picLocks noChangeAspect="1"/>
          </p:cNvPicPr>
          <p:nvPr/>
        </p:nvPicPr>
        <p:blipFill>
          <a:blip r:embed="rId3"/>
          <a:stretch>
            <a:fillRect/>
          </a:stretch>
        </p:blipFill>
        <p:spPr>
          <a:xfrm>
            <a:off x="4389120" y="2400040"/>
            <a:ext cx="7315200" cy="214935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2</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lấy trung bình nhiều cây khác nhau</a:t>
            </a:r>
          </a:p>
        </p:txBody>
      </p:sp>
      <p:sp>
        <p:nvSpPr>
          <p:cNvPr id="4" name="Rounded Rectangle 3"/>
          <p:cNvSpPr/>
          <p:nvPr/>
        </p:nvSpPr>
        <p:spPr>
          <a:xfrm>
            <a:off x="548640" y="2103120"/>
            <a:ext cx="1737360" cy="10515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130552"/>
            <a:ext cx="1737360" cy="1005840"/>
          </a:xfrm>
          <a:prstGeom prst="rect">
            <a:avLst/>
          </a:prstGeom>
          <a:noFill/>
        </p:spPr>
        <p:txBody>
          <a:bodyPr wrap="square" lIns="45720" rIns="45720" tIns="27432" bIns="27432" anchor="ctr">
            <a:spAutoFit/>
          </a:bodyPr>
          <a:lstStyle/>
          <a:p>
            <a:pPr algn="ctr">
              <a:lnSpc>
                <a:spcPct val="110000"/>
              </a:lnSpc>
              <a:spcAft>
                <a:spcPts val="200"/>
              </a:spcAft>
            </a:pPr>
            <a:r>
              <a:rPr sz="1500" b="1" i="0" lang="vi-VN">
                <a:solidFill>
                  <a:srgbClr val="FFFFFF"/>
                </a:solidFill>
                <a:latin typeface="Arial"/>
              </a:rPr>
              <a:t>Tập train</a:t>
            </a:r>
          </a:p>
          <a:p>
            <a:pPr algn="ctr">
              <a:lnSpc>
                <a:spcPct val="110000"/>
              </a:lnSpc>
              <a:spcAft>
                <a:spcPts val="200"/>
              </a:spcAft>
            </a:pPr>
            <a:r>
              <a:rPr sz="1500" b="1" i="0" lang="vi-VN">
                <a:solidFill>
                  <a:srgbClr val="FFFFFF"/>
                </a:solidFill>
                <a:latin typeface="Arial"/>
              </a:rPr>
              <a:t>11.149 xe</a:t>
            </a:r>
          </a:p>
        </p:txBody>
      </p:sp>
      <p:sp>
        <p:nvSpPr>
          <p:cNvPr id="6" name="Right Arrow 5"/>
          <p:cNvSpPr/>
          <p:nvPr/>
        </p:nvSpPr>
        <p:spPr>
          <a:xfrm>
            <a:off x="2377440" y="1536192"/>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926080" y="1417320"/>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1435608"/>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1</a:t>
            </a:r>
          </a:p>
        </p:txBody>
      </p:sp>
      <p:sp>
        <p:nvSpPr>
          <p:cNvPr id="9" name="Right Arrow 8"/>
          <p:cNvSpPr/>
          <p:nvPr/>
        </p:nvSpPr>
        <p:spPr>
          <a:xfrm>
            <a:off x="4754880" y="1536192"/>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0" y="1417320"/>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12080" y="1435608"/>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1</a:t>
            </a:r>
          </a:p>
        </p:txBody>
      </p:sp>
      <p:sp>
        <p:nvSpPr>
          <p:cNvPr id="12" name="Right Arrow 11"/>
          <p:cNvSpPr/>
          <p:nvPr/>
        </p:nvSpPr>
        <p:spPr>
          <a:xfrm>
            <a:off x="2377440" y="2157984"/>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26080" y="2039112"/>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26080" y="2057400"/>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2</a:t>
            </a:r>
          </a:p>
        </p:txBody>
      </p:sp>
      <p:sp>
        <p:nvSpPr>
          <p:cNvPr id="15" name="Right Arrow 14"/>
          <p:cNvSpPr/>
          <p:nvPr/>
        </p:nvSpPr>
        <p:spPr>
          <a:xfrm>
            <a:off x="4754880" y="2157984"/>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2039112"/>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12080" y="2057400"/>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2</a:t>
            </a:r>
          </a:p>
        </p:txBody>
      </p:sp>
      <p:sp>
        <p:nvSpPr>
          <p:cNvPr id="18" name="Right Arrow 17"/>
          <p:cNvSpPr/>
          <p:nvPr/>
        </p:nvSpPr>
        <p:spPr>
          <a:xfrm>
            <a:off x="2377440" y="2779776"/>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26080" y="2660904"/>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926080" y="2679192"/>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a:t>
            </a:r>
          </a:p>
        </p:txBody>
      </p:sp>
      <p:sp>
        <p:nvSpPr>
          <p:cNvPr id="21" name="Right Arrow 20"/>
          <p:cNvSpPr/>
          <p:nvPr/>
        </p:nvSpPr>
        <p:spPr>
          <a:xfrm>
            <a:off x="4754880" y="2779776"/>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0" y="2660904"/>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12080" y="2679192"/>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a:t>
            </a:r>
          </a:p>
        </p:txBody>
      </p:sp>
      <p:sp>
        <p:nvSpPr>
          <p:cNvPr id="24" name="Right Arrow 23"/>
          <p:cNvSpPr/>
          <p:nvPr/>
        </p:nvSpPr>
        <p:spPr>
          <a:xfrm>
            <a:off x="2377440" y="3401568"/>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926080" y="3282696"/>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926080" y="3300984"/>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N</a:t>
            </a:r>
          </a:p>
        </p:txBody>
      </p:sp>
      <p:sp>
        <p:nvSpPr>
          <p:cNvPr id="27" name="Right Arrow 26"/>
          <p:cNvSpPr/>
          <p:nvPr/>
        </p:nvSpPr>
        <p:spPr>
          <a:xfrm>
            <a:off x="4754880" y="3401568"/>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212080" y="3282696"/>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12080" y="3300984"/>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N</a:t>
            </a:r>
          </a:p>
        </p:txBody>
      </p:sp>
      <p:sp>
        <p:nvSpPr>
          <p:cNvPr id="30" name="Right Arrow 29"/>
          <p:cNvSpPr/>
          <p:nvPr/>
        </p:nvSpPr>
        <p:spPr>
          <a:xfrm>
            <a:off x="6995160" y="2423160"/>
            <a:ext cx="457200" cy="41148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589520" y="2103120"/>
            <a:ext cx="1737360" cy="105156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589520" y="2130552"/>
            <a:ext cx="1737360" cy="1005840"/>
          </a:xfrm>
          <a:prstGeom prst="rect">
            <a:avLst/>
          </a:prstGeom>
          <a:noFill/>
        </p:spPr>
        <p:txBody>
          <a:bodyPr wrap="square" lIns="45720" rIns="45720" tIns="27432" bIns="27432" anchor="ctr">
            <a:spAutoFit/>
          </a:bodyPr>
          <a:lstStyle/>
          <a:p>
            <a:pPr algn="ctr">
              <a:lnSpc>
                <a:spcPct val="110000"/>
              </a:lnSpc>
              <a:spcAft>
                <a:spcPts val="200"/>
              </a:spcAft>
            </a:pPr>
            <a:r>
              <a:rPr sz="1500" b="1" i="0" lang="vi-VN">
                <a:solidFill>
                  <a:srgbClr val="FFFFFF"/>
                </a:solidFill>
                <a:latin typeface="Arial"/>
              </a:rPr>
              <a:t>Lấy trung bình</a:t>
            </a:r>
          </a:p>
          <a:p>
            <a:pPr algn="ctr">
              <a:lnSpc>
                <a:spcPct val="110000"/>
              </a:lnSpc>
              <a:spcAft>
                <a:spcPts val="200"/>
              </a:spcAft>
            </a:pPr>
            <a:r>
              <a:rPr sz="1500" b="1" i="0" lang="vi-VN">
                <a:solidFill>
                  <a:srgbClr val="FFFFFF"/>
                </a:solidFill>
                <a:latin typeface="Arial"/>
              </a:rPr>
              <a:t>dự đoán</a:t>
            </a:r>
          </a:p>
        </p:txBody>
      </p:sp>
      <p:sp>
        <p:nvSpPr>
          <p:cNvPr id="33" name="TextBox 32"/>
          <p:cNvSpPr txBox="1"/>
          <p:nvPr/>
        </p:nvSpPr>
        <p:spPr>
          <a:xfrm>
            <a:off x="9601200" y="1463040"/>
            <a:ext cx="2103120" cy="2377440"/>
          </a:xfrm>
          <a:prstGeom prst="rect">
            <a:avLst/>
          </a:prstGeom>
          <a:noFill/>
        </p:spPr>
        <p:txBody>
          <a:bodyPr wrap="square" lIns="45720" rIns="45720" tIns="27432" bIns="27432" anchor="t">
            <a:spAutoFit/>
          </a:bodyPr>
          <a:lstStyle/>
          <a:p>
            <a:pPr algn="l">
              <a:lnSpc>
                <a:spcPct val="110000"/>
              </a:lnSpc>
              <a:spcAft>
                <a:spcPts val="800"/>
              </a:spcAft>
            </a:pPr>
            <a:r>
              <a:rPr sz="1300" b="1" i="0" lang="vi-VN">
                <a:solidFill>
                  <a:srgbClr val="075289"/>
                </a:solidFill>
                <a:latin typeface="Arial"/>
              </a:rPr>
              <a:t>Mỗi nút: </a:t>
            </a:r>
            <a:r>
              <a:rPr sz="1300" b="0" i="0" lang="vi-VN">
                <a:solidFill>
                  <a:srgbClr val="1F2937"/>
                </a:solidFill>
                <a:latin typeface="Arial"/>
              </a:rPr>
              <a:t>chọn đặc trưng và ngưỡng giảm SSE nhiều nhất</a:t>
            </a:r>
          </a:p>
          <a:p>
            <a:pPr algn="l">
              <a:lnSpc>
                <a:spcPct val="110000"/>
              </a:lnSpc>
              <a:spcAft>
                <a:spcPts val="800"/>
              </a:spcAft>
            </a:pPr>
            <a:r>
              <a:rPr sz="1300" b="1" i="0" lang="vi-VN">
                <a:solidFill>
                  <a:srgbClr val="1F2937"/>
                </a:solidFill>
                <a:latin typeface="Arial"/>
              </a:rPr>
              <a:t>gain = S²ₗ/nₗ + S²ᵣ/nᵣ − S²/n</a:t>
            </a:r>
          </a:p>
        </p:txBody>
      </p:sp>
      <p:graphicFrame>
        <p:nvGraphicFramePr>
          <p:cNvPr id="34" name="Table 33"/>
          <p:cNvGraphicFramePr>
            <a:graphicFrameLocks noGrp="1"/>
          </p:cNvGraphicFramePr>
          <p:nvPr/>
        </p:nvGraphicFramePr>
        <p:xfrm>
          <a:off x="548640" y="4069080"/>
          <a:ext cx="11064240" cy="1463040"/>
        </p:xfrm>
        <a:graphic>
          <a:graphicData uri="http://schemas.openxmlformats.org/drawingml/2006/table">
            <a:tbl>
              <a:tblPr firstRow="0" bandRow="0">
                <a:tableStyleId>{5940675A-B579-460E-94D1-54222C63F5DA}</a:tableStyleId>
              </a:tblPr>
              <a:tblGrid>
                <a:gridCol w="2377440"/>
                <a:gridCol w="5943600"/>
                <a:gridCol w="2743200"/>
              </a:tblGrid>
              <a:tr h="292608">
                <a:tc>
                  <a:txBody>
                    <a:bodyPr wrap="square"/>
                    <a:lstStyle/>
                    <a:p>
                      <a:r>
                        <a:rPr sz="1300" b="1" i="0" lang="vi-VN">
                          <a:solidFill>
                            <a:srgbClr val="FFFFFF"/>
                          </a:solidFill>
                          <a:latin typeface="Arial"/>
                        </a:rPr>
                        <a:t>Tham số</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Tác dụng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Giá trị chọn (thư viện)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292608">
                <a:tc>
                  <a:txBody>
                    <a:bodyPr wrap="square"/>
                    <a:lstStyle/>
                    <a:p>
                      <a:r>
                        <a:rPr sz="1300" b="1" i="0" lang="vi-VN">
                          <a:solidFill>
                            <a:srgbClr val="1F2937"/>
                          </a:solidFill>
                          <a:latin typeface="Arial"/>
                        </a:rPr>
                        <a:t>n_estimators</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số cây; nhiều hơn thì ổn định hơn rồi bão hòa</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292608">
                <a:tc>
                  <a:txBody>
                    <a:bodyPr wrap="square"/>
                    <a:lstStyle/>
                    <a:p>
                      <a:r>
                        <a:rPr sz="1300" b="1" i="0" lang="vi-VN">
                          <a:solidFill>
                            <a:srgbClr val="1F2937"/>
                          </a:solidFill>
                          <a:latin typeface="Arial"/>
                        </a:rPr>
                        <a:t>max_depth</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độ sâu tối đa của cây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292608">
                <a:tc>
                  <a:txBody>
                    <a:bodyPr wrap="square"/>
                    <a:lstStyle/>
                    <a:p>
                      <a:r>
                        <a:rPr sz="1300" b="1" i="0" lang="vi-VN">
                          <a:solidFill>
                            <a:srgbClr val="1F2937"/>
                          </a:solidFill>
                          <a:latin typeface="Arial"/>
                        </a:rPr>
                        <a:t>min_samples_leaf</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số mẫu tối thiểu ở mỗi lá</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292608">
                <a:tc>
                  <a:txBody>
                    <a:bodyPr wrap="square"/>
                    <a:lstStyle/>
                    <a:p>
                      <a:r>
                        <a:rPr sz="1300" b="1" i="0" lang="vi-VN">
                          <a:solidFill>
                            <a:srgbClr val="1F2937"/>
                          </a:solidFill>
                          <a:latin typeface="Arial"/>
                        </a:rPr>
                        <a:t>max_features</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tỉ lệ đặc trưng xét mỗi lần chia</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0,5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2</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tự cài đặt bằng NumPy</a:t>
            </a:r>
          </a:p>
        </p:txBody>
      </p:sp>
      <p:sp>
        <p:nvSpPr>
          <p:cNvPr id="4" name="Rounded Rectangle 3"/>
          <p:cNvSpPr/>
          <p:nvPr/>
        </p:nvSpPr>
        <p:spPr>
          <a:xfrm>
            <a:off x="548640" y="1463040"/>
            <a:ext cx="548640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08760"/>
            <a:ext cx="52120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Binner</a:t>
            </a:r>
          </a:p>
        </p:txBody>
      </p:sp>
      <p:sp>
        <p:nvSpPr>
          <p:cNvPr id="6" name="TextBox 5"/>
          <p:cNvSpPr txBox="1"/>
          <p:nvPr/>
        </p:nvSpPr>
        <p:spPr>
          <a:xfrm>
            <a:off x="731520" y="1874520"/>
            <a:ext cx="521208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chia đặc trưng thành 32 bin theo phân vị</a:t>
            </a:r>
          </a:p>
        </p:txBody>
      </p:sp>
      <p:sp>
        <p:nvSpPr>
          <p:cNvPr id="7" name="Rounded Rectangle 6"/>
          <p:cNvSpPr/>
          <p:nvPr/>
        </p:nvSpPr>
        <p:spPr>
          <a:xfrm>
            <a:off x="548640" y="2423160"/>
            <a:ext cx="548640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468880"/>
            <a:ext cx="52120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RegressionTreeScratch</a:t>
            </a:r>
          </a:p>
        </p:txBody>
      </p:sp>
      <p:sp>
        <p:nvSpPr>
          <p:cNvPr id="9" name="TextBox 8"/>
          <p:cNvSpPr txBox="1"/>
          <p:nvPr/>
        </p:nvSpPr>
        <p:spPr>
          <a:xfrm>
            <a:off x="731520" y="2834640"/>
            <a:ext cx="521208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cây CART: tìm phép chia giảm SSE lớn nhất bằng histogram</a:t>
            </a:r>
          </a:p>
        </p:txBody>
      </p:sp>
      <p:sp>
        <p:nvSpPr>
          <p:cNvPr id="10" name="Rounded Rectangle 9"/>
          <p:cNvSpPr/>
          <p:nvPr/>
        </p:nvSpPr>
        <p:spPr>
          <a:xfrm>
            <a:off x="548640" y="3383280"/>
            <a:ext cx="548640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3429000"/>
            <a:ext cx="52120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RandomForestScratch</a:t>
            </a:r>
          </a:p>
        </p:txBody>
      </p:sp>
      <p:sp>
        <p:nvSpPr>
          <p:cNvPr id="12" name="TextBox 11"/>
          <p:cNvSpPr txBox="1"/>
          <p:nvPr/>
        </p:nvSpPr>
        <p:spPr>
          <a:xfrm>
            <a:off x="731520" y="3794760"/>
            <a:ext cx="521208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bootstrap + chọn ngẫu nhiên đặc trưng + trung bình, có OOB và độ quan trọng</a:t>
            </a:r>
          </a:p>
        </p:txBody>
      </p:sp>
      <p:sp>
        <p:nvSpPr>
          <p:cNvPr id="13" name="TextBox 12"/>
          <p:cNvSpPr txBox="1"/>
          <p:nvPr/>
        </p:nvSpPr>
        <p:spPr>
          <a:xfrm>
            <a:off x="548640" y="4434840"/>
            <a:ext cx="5486400" cy="109728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Kiểm chứng: </a:t>
            </a:r>
            <a:r>
              <a:rPr sz="1400" b="0" i="0" lang="vi-VN">
                <a:solidFill>
                  <a:srgbClr val="1F2937"/>
                </a:solidFill>
                <a:latin typeface="Arial"/>
              </a:rPr>
              <a:t>dựng cây đơn cùng tham số (lá ≥ 5 mẫu, không giới hạn độ sâu) với cả hai bản, so số nút và R² trên cùng dữ liệu.</a:t>
            </a:r>
          </a:p>
        </p:txBody>
      </p:sp>
      <p:sp>
        <p:nvSpPr>
          <p:cNvPr id="14" name="TextBox 13"/>
          <p:cNvSpPr txBox="1"/>
          <p:nvPr/>
        </p:nvSpPr>
        <p:spPr>
          <a:xfrm>
            <a:off x="6400800" y="1463040"/>
            <a:ext cx="52120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Một cây: tự cài đặt so với thư viện</a:t>
            </a:r>
          </a:p>
        </p:txBody>
      </p:sp>
      <p:graphicFrame>
        <p:nvGraphicFramePr>
          <p:cNvPr id="15" name="Table 14"/>
          <p:cNvGraphicFramePr>
            <a:graphicFrameLocks noGrp="1"/>
          </p:cNvGraphicFramePr>
          <p:nvPr/>
        </p:nvGraphicFramePr>
        <p:xfrm>
          <a:off x="6400800" y="1920240"/>
          <a:ext cx="5212080" cy="2743200"/>
        </p:xfrm>
        <a:graphic>
          <a:graphicData uri="http://schemas.openxmlformats.org/drawingml/2006/table">
            <a:tbl>
              <a:tblPr firstRow="0" bandRow="0">
                <a:tableStyleId>{5940675A-B579-460E-94D1-54222C63F5DA}</a:tableStyleId>
              </a:tblPr>
              <a:tblGrid>
                <a:gridCol w="2103120"/>
                <a:gridCol w="1554480"/>
                <a:gridCol w="1554480"/>
              </a:tblGrid>
              <a:tr h="457200">
                <a:tc>
                  <a:txBody>
                    <a:bodyPr wrap="square"/>
                    <a:lstStyle/>
                    <a:p>
                      <a:r>
                        <a:rPr sz="1400" b="1" i="0" lang="vi-VN">
                          <a:solidFill>
                            <a:srgbClr val="FFFFFF"/>
                          </a:solidFill>
                          <a:latin typeface="Arial"/>
                        </a:rPr>
                        <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Thư viện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Tự cài đặt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nút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3.481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3.429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R² (log) train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0,929</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0,927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R² (log) test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0,842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0,851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MAPE test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19,6%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18,6%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Thời gian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0,3 giây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1,7 giây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16" name="TextBox 15"/>
          <p:cNvSpPr txBox="1"/>
          <p:nvPr/>
        </p:nvSpPr>
        <p:spPr>
          <a:xfrm>
            <a:off x="6400800" y="4800600"/>
            <a:ext cx="5212080" cy="73152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R² train cao hơn hẳn R² test: một cây có phương sai cao, đó là lý do cần rừng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2</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Từ một cây đến một rừng: sai số giảm 24%</a:t>
            </a:r>
          </a:p>
        </p:txBody>
      </p:sp>
      <p:pic>
        <p:nvPicPr>
          <p:cNvPr id="4" name="Picture 3" descr="m05_rf_so_cay.png"/>
          <p:cNvPicPr>
            <a:picLocks noChangeAspect="1"/>
          </p:cNvPicPr>
          <p:nvPr/>
        </p:nvPicPr>
        <p:blipFill>
          <a:blip r:embed="rId3"/>
          <a:stretch>
            <a:fillRect/>
          </a:stretch>
        </p:blipFill>
        <p:spPr>
          <a:xfrm>
            <a:off x="457200" y="1624723"/>
            <a:ext cx="6949440" cy="3608553"/>
          </a:xfrm>
          <a:prstGeom prst="rect">
            <a:avLst/>
          </a:prstGeom>
        </p:spPr>
      </p:pic>
      <p:sp>
        <p:nvSpPr>
          <p:cNvPr id="5" name="Rounded Rectangle 4"/>
          <p:cNvSpPr/>
          <p:nvPr/>
        </p:nvSpPr>
        <p:spPr>
          <a:xfrm>
            <a:off x="7680960" y="1463040"/>
            <a:ext cx="3931920" cy="11430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20" y="1536192"/>
            <a:ext cx="365760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FFD400"/>
                </a:solidFill>
                <a:latin typeface="Arial"/>
              </a:rPr>
              <a:t>0,346 → 0,263</a:t>
            </a:r>
          </a:p>
        </p:txBody>
      </p:sp>
      <p:sp>
        <p:nvSpPr>
          <p:cNvPr id="7" name="TextBox 6"/>
          <p:cNvSpPr txBox="1"/>
          <p:nvPr/>
        </p:nvSpPr>
        <p:spPr>
          <a:xfrm>
            <a:off x="7818120" y="2084832"/>
            <a:ext cx="365760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OOB RMSE: 1 cây → 100 cây</a:t>
            </a:r>
          </a:p>
        </p:txBody>
      </p:sp>
      <p:sp>
        <p:nvSpPr>
          <p:cNvPr id="8" name="Rounded Rectangle 7"/>
          <p:cNvSpPr/>
          <p:nvPr/>
        </p:nvSpPr>
        <p:spPr>
          <a:xfrm>
            <a:off x="7680960" y="2788920"/>
            <a:ext cx="393192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18120" y="2862072"/>
            <a:ext cx="365760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0,892</a:t>
            </a:r>
          </a:p>
        </p:txBody>
      </p:sp>
      <p:sp>
        <p:nvSpPr>
          <p:cNvPr id="10" name="TextBox 9"/>
          <p:cNvSpPr txBox="1"/>
          <p:nvPr/>
        </p:nvSpPr>
        <p:spPr>
          <a:xfrm>
            <a:off x="7818120" y="3410712"/>
            <a:ext cx="365760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OOB R² tự cài đặt (thư viện: 0,896)</a:t>
            </a:r>
          </a:p>
        </p:txBody>
      </p:sp>
      <p:sp>
        <p:nvSpPr>
          <p:cNvPr id="11" name="Rounded Rectangle 10"/>
          <p:cNvSpPr/>
          <p:nvPr/>
        </p:nvSpPr>
        <p:spPr>
          <a:xfrm>
            <a:off x="7680960" y="4114800"/>
            <a:ext cx="393192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18120" y="4187952"/>
            <a:ext cx="3657600" cy="548640"/>
          </a:xfrm>
          <a:prstGeom prst="rect">
            <a:avLst/>
          </a:prstGeom>
          <a:noFill/>
        </p:spPr>
        <p:txBody>
          <a:bodyPr wrap="square" lIns="45720" rIns="45720" tIns="27432" bIns="27432" anchor="t">
            <a:spAutoFit/>
          </a:bodyPr>
          <a:lstStyle/>
          <a:p>
            <a:pPr algn="l">
              <a:lnSpc>
                <a:spcPct val="110000"/>
              </a:lnSpc>
              <a:spcAft>
                <a:spcPts val="600"/>
              </a:spcAft>
            </a:pPr>
            <a:r>
              <a:rPr sz="2400" b="1" i="0" lang="vi-VN">
                <a:solidFill>
                  <a:srgbClr val="075289"/>
                </a:solidFill>
                <a:latin typeface="Arial"/>
              </a:rPr>
              <a:t>30 / 2 / 0,5</a:t>
            </a:r>
          </a:p>
        </p:txBody>
      </p:sp>
      <p:sp>
        <p:nvSpPr>
          <p:cNvPr id="13" name="TextBox 12"/>
          <p:cNvSpPr txBox="1"/>
          <p:nvPr/>
        </p:nvSpPr>
        <p:spPr>
          <a:xfrm>
            <a:off x="7818120" y="4736592"/>
            <a:ext cx="365760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độ sâu / lá tối thiểu / tỉ lệ đặc trưng (chọn bằng OOB)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4" name="TextBox 3">
            <a:extLst>
              <a:ext uri="{FF2B5EF4-FFF2-40B4-BE49-F238E27FC236}">
                <a16:creationId xmlns:a16="http://schemas.microsoft.com/office/drawing/2014/main" id="{6439DB71-B88B-13E6-20C9-D445279D6565}"/>
              </a:ext>
            </a:extLst>
          </p:cNvPr>
          <p:cNvSpPr txBox="1"/>
          <p:nvPr/>
        </p:nvSpPr>
        <p:spPr>
          <a:xfrm>
            <a:off x="1474901" y="2363900"/>
            <a:ext cx="4846320" cy="24314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PHẦN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800" b="1" i="0" u="none" strike="noStrike" kern="1200" cap="none" spc="0" normalizeH="0" baseline="0" noProof="0" dirty="0">
                <a:ln>
                  <a:noFill/>
                </a:ln>
                <a:solidFill>
                  <a:srgbClr val="FFF106"/>
                </a:solidFill>
                <a:effectLst/>
                <a:uLnTx/>
                <a:uFillTx/>
                <a:latin typeface="UTM Neutra" panose="02040603050506020204" pitchFamily="18" charset="0"/>
                <a:ea typeface="+mn-ea"/>
                <a:cs typeface="+mn-cs"/>
              </a:rPr>
              <a:t>KẾT QUẢ VÀ ĐÁNH GIÁ</a:t>
            </a:r>
          </a:p>
        </p:txBody>
      </p:sp>
      <p:sp>
        <p:nvSpPr>
          <p:cNvPr id="2" name="Rectangle 1">
            <a:extLst>
              <a:ext uri="{FF2B5EF4-FFF2-40B4-BE49-F238E27FC236}">
                <a16:creationId xmlns:a16="http://schemas.microsoft.com/office/drawing/2014/main" id="{9F1140A8-0DEA-4459-9D47-7031037DBACB}"/>
              </a:ext>
            </a:extLst>
          </p:cNvPr>
          <p:cNvSpPr/>
          <p:nvPr/>
        </p:nvSpPr>
        <p:spPr>
          <a:xfrm>
            <a:off x="6504101" y="2183906"/>
            <a:ext cx="51215" cy="2032987"/>
          </a:xfrm>
          <a:prstGeom prst="rect">
            <a:avLst/>
          </a:prstGeom>
          <a:solidFill>
            <a:srgbClr val="FFF106"/>
          </a:solidFill>
          <a:ln>
            <a:solidFill>
              <a:srgbClr val="08518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sai số 15,5%, 80% xe lệch không quá 20%</a:t>
            </a:r>
          </a:p>
        </p:txBody>
      </p:sp>
      <p:sp>
        <p:nvSpPr>
          <p:cNvPr id="4" name="Rounded Rectangle 3"/>
          <p:cNvSpPr/>
          <p:nvPr/>
        </p:nvSpPr>
        <p:spPr>
          <a:xfrm>
            <a:off x="548640" y="1417320"/>
            <a:ext cx="3474720" cy="1325880"/>
          </a:xfrm>
          <a:prstGeom prst="roundRect">
            <a:avLst>
              <a:gd name="adj" fmla="val 8000"/>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463040"/>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83,5%</a:t>
            </a:r>
          </a:p>
        </p:txBody>
      </p:sp>
      <p:sp>
        <p:nvSpPr>
          <p:cNvPr id="6" name="TextBox 5"/>
          <p:cNvSpPr txBox="1"/>
          <p:nvPr/>
        </p:nvSpPr>
        <p:spPr>
          <a:xfrm>
            <a:off x="548640" y="219456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Baseline · MAPE</a:t>
            </a:r>
          </a:p>
        </p:txBody>
      </p:sp>
      <p:sp>
        <p:nvSpPr>
          <p:cNvPr id="7" name="Rounded Rectangle 6"/>
          <p:cNvSpPr/>
          <p:nvPr/>
        </p:nvSpPr>
        <p:spPr>
          <a:xfrm>
            <a:off x="4297679" y="1417320"/>
            <a:ext cx="3474720" cy="13258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297679" y="1463040"/>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18,5%</a:t>
            </a:r>
          </a:p>
        </p:txBody>
      </p:sp>
      <p:sp>
        <p:nvSpPr>
          <p:cNvPr id="9" name="TextBox 8"/>
          <p:cNvSpPr txBox="1"/>
          <p:nvPr/>
        </p:nvSpPr>
        <p:spPr>
          <a:xfrm>
            <a:off x="4297679" y="219456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Ridge · MAPE</a:t>
            </a:r>
          </a:p>
        </p:txBody>
      </p:sp>
      <p:sp>
        <p:nvSpPr>
          <p:cNvPr id="10" name="Rounded Rectangle 9"/>
          <p:cNvSpPr/>
          <p:nvPr/>
        </p:nvSpPr>
        <p:spPr>
          <a:xfrm>
            <a:off x="8046719" y="1417320"/>
            <a:ext cx="3474720" cy="132588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9" y="1463040"/>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15,5%</a:t>
            </a:r>
          </a:p>
        </p:txBody>
      </p:sp>
      <p:sp>
        <p:nvSpPr>
          <p:cNvPr id="12" name="TextBox 11"/>
          <p:cNvSpPr txBox="1"/>
          <p:nvPr/>
        </p:nvSpPr>
        <p:spPr>
          <a:xfrm>
            <a:off x="8046719" y="219456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Random Forest · MAPE</a:t>
            </a:r>
          </a:p>
        </p:txBody>
      </p:sp>
      <p:graphicFrame>
        <p:nvGraphicFramePr>
          <p:cNvPr id="13" name="Table 12"/>
          <p:cNvGraphicFramePr>
            <a:graphicFrameLocks noGrp="1"/>
          </p:cNvGraphicFramePr>
          <p:nvPr/>
        </p:nvGraphicFramePr>
        <p:xfrm>
          <a:off x="548640" y="2971800"/>
          <a:ext cx="11064240" cy="2523744"/>
        </p:xfrm>
        <a:graphic>
          <a:graphicData uri="http://schemas.openxmlformats.org/drawingml/2006/table">
            <a:tbl>
              <a:tblPr firstRow="0" bandRow="0">
                <a:tableStyleId>{5940675A-B579-460E-94D1-54222C63F5DA}</a:tableStyleId>
              </a:tblPr>
              <a:tblGrid>
                <a:gridCol w="3108960"/>
                <a:gridCol w="1188720"/>
                <a:gridCol w="1280160"/>
                <a:gridCol w="1463040"/>
                <a:gridCol w="1188720"/>
                <a:gridCol w="1371600"/>
                <a:gridCol w="1463040"/>
              </a:tblGrid>
              <a:tr h="420624">
                <a:tc>
                  <a:txBody>
                    <a:bodyPr wrap="square"/>
                    <a:lstStyle/>
                    <a:p>
                      <a:r>
                        <a:rPr sz="1400" b="1" i="0" lang="vi-VN">
                          <a:solidFill>
                            <a:srgbClr val="FFFFFF"/>
                          </a:solidFill>
                          <a:latin typeface="Arial"/>
                        </a:rPr>
                        <a:t>Mô hình</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MAPE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MedAPE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MAE (triệu)</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R² (log)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Lệch ≤ 20%</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Huấn luyện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20624">
                <a:tc>
                  <a:txBody>
                    <a:bodyPr wrap="square"/>
                    <a:lstStyle/>
                    <a:p>
                      <a:r>
                        <a:rPr sz="1400" b="1" i="0" lang="vi-VN">
                          <a:solidFill>
                            <a:srgbClr val="1F2937"/>
                          </a:solidFill>
                          <a:latin typeface="Arial"/>
                        </a:rPr>
                        <a:t>Baseline (trung vị)</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83,5%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40,0%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337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20624">
                <a:tc>
                  <a:txBody>
                    <a:bodyPr wrap="square"/>
                    <a:lstStyle/>
                    <a:p>
                      <a:r>
                        <a:rPr sz="1400" b="1" i="0" lang="vi-VN">
                          <a:solidFill>
                            <a:srgbClr val="1F2937"/>
                          </a:solidFill>
                          <a:latin typeface="Arial"/>
                        </a:rPr>
                        <a:t>Ridge - thư viện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18,5%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120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0,873</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75%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0,04 giây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20624">
                <a:tc>
                  <a:txBody>
                    <a:bodyPr wrap="square"/>
                    <a:lstStyle/>
                    <a:p>
                      <a:r>
                        <a:rPr sz="1400" b="1" i="0" lang="vi-VN">
                          <a:solidFill>
                            <a:srgbClr val="1F2937"/>
                          </a:solidFill>
                          <a:latin typeface="Arial"/>
                        </a:rPr>
                        <a:t>Ridge - tự cài đặt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18,5%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120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0,873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75%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0,03 giây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20624">
                <a:tc>
                  <a:txBody>
                    <a:bodyPr wrap="square"/>
                    <a:lstStyle/>
                    <a:p>
                      <a:r>
                        <a:rPr sz="1400" b="1" i="0" lang="vi-VN">
                          <a:solidFill>
                            <a:srgbClr val="EB6834"/>
                          </a:solidFill>
                          <a:latin typeface="Arial"/>
                        </a:rPr>
                        <a:t>Random Forest - thư viện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1F2937"/>
                          </a:solidFill>
                          <a:latin typeface="Arial"/>
                        </a:rPr>
                        <a:t>15,5%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102</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0,891</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 giây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20624">
                <a:tc>
                  <a:txBody>
                    <a:bodyPr wrap="square"/>
                    <a:lstStyle/>
                    <a:p>
                      <a:r>
                        <a:rPr sz="1400" b="1" i="0" lang="vi-VN">
                          <a:solidFill>
                            <a:srgbClr val="1F2937"/>
                          </a:solidFill>
                          <a:latin typeface="Arial"/>
                        </a:rPr>
                        <a:t>Random Forest - tự cài đặt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15,7%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0,887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 phút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Mô hình tốt ở phân khúc giữa, kém ở hai đầu thang giá</a:t>
            </a:r>
          </a:p>
        </p:txBody>
      </p:sp>
      <p:pic>
        <p:nvPicPr>
          <p:cNvPr id="4" name="Picture 3" descr="m07_mape_phan_khuc.png"/>
          <p:cNvPicPr>
            <a:picLocks noChangeAspect="1"/>
          </p:cNvPicPr>
          <p:nvPr/>
        </p:nvPicPr>
        <p:blipFill>
          <a:blip r:embed="rId3"/>
          <a:stretch>
            <a:fillRect/>
          </a:stretch>
        </p:blipFill>
        <p:spPr>
          <a:xfrm>
            <a:off x="2234702" y="1371600"/>
            <a:ext cx="7692114" cy="3291840"/>
          </a:xfrm>
          <a:prstGeom prst="rect">
            <a:avLst/>
          </a:prstGeom>
        </p:spPr>
      </p:pic>
      <p:sp>
        <p:nvSpPr>
          <p:cNvPr id="5" name="Rounded Rectangle 4"/>
          <p:cNvSpPr/>
          <p:nvPr/>
        </p:nvSpPr>
        <p:spPr>
          <a:xfrm>
            <a:off x="548640"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~11%</a:t>
            </a:r>
          </a:p>
        </p:txBody>
      </p:sp>
      <p:sp>
        <p:nvSpPr>
          <p:cNvPr id="7" name="TextBox 6"/>
          <p:cNvSpPr txBox="1"/>
          <p:nvPr/>
        </p:nvSpPr>
        <p:spPr>
          <a:xfrm>
            <a:off x="1783080"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sai số ở phân khúc 200 triệu - 1 tỷ (75% thị trường)</a:t>
            </a:r>
          </a:p>
        </p:txBody>
      </p:sp>
      <p:sp>
        <p:nvSpPr>
          <p:cNvPr id="8" name="Rounded Rectangle 7"/>
          <p:cNvSpPr/>
          <p:nvPr/>
        </p:nvSpPr>
        <p:spPr>
          <a:xfrm>
            <a:off x="429767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34840"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35%</a:t>
            </a:r>
          </a:p>
        </p:txBody>
      </p:sp>
      <p:sp>
        <p:nvSpPr>
          <p:cNvPr id="10" name="TextBox 9"/>
          <p:cNvSpPr txBox="1"/>
          <p:nvPr/>
        </p:nvSpPr>
        <p:spPr>
          <a:xfrm>
            <a:off x="5532119"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xe dưới 200 triệu: giá thấp, tình trạng xe cũ rất khác nhau</a:t>
            </a:r>
          </a:p>
        </p:txBody>
      </p:sp>
      <p:sp>
        <p:nvSpPr>
          <p:cNvPr id="11" name="Rounded Rectangle 10"/>
          <p:cNvSpPr/>
          <p:nvPr/>
        </p:nvSpPr>
        <p:spPr>
          <a:xfrm>
            <a:off x="804671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83879"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27%</a:t>
            </a:r>
          </a:p>
        </p:txBody>
      </p:sp>
      <p:sp>
        <p:nvSpPr>
          <p:cNvPr id="13" name="TextBox 12"/>
          <p:cNvSpPr txBox="1"/>
          <p:nvPr/>
        </p:nvSpPr>
        <p:spPr>
          <a:xfrm>
            <a:off x="9281159"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xe trên 2 tỷ: chỉ 3% dữ liệu, thiếu phiên bản / trang bị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Chênh lệch có ý nghĩa thống kê không? Bootstrap ghép cặp</a:t>
            </a:r>
          </a:p>
        </p:txBody>
      </p:sp>
      <p:pic>
        <p:nvPicPr>
          <p:cNvPr id="4" name="Picture 3" descr="m10_khoang_tin_cay.png"/>
          <p:cNvPicPr>
            <a:picLocks noChangeAspect="1"/>
          </p:cNvPicPr>
          <p:nvPr/>
        </p:nvPicPr>
        <p:blipFill>
          <a:blip r:embed="rId3"/>
          <a:stretch>
            <a:fillRect/>
          </a:stretch>
        </p:blipFill>
        <p:spPr>
          <a:xfrm>
            <a:off x="365760" y="1633356"/>
            <a:ext cx="6857999" cy="2951206"/>
          </a:xfrm>
          <a:prstGeom prst="rect">
            <a:avLst/>
          </a:prstGeom>
        </p:spPr>
      </p:pic>
      <p:sp>
        <p:nvSpPr>
          <p:cNvPr id="5" name="TextBox 4"/>
          <p:cNvSpPr txBox="1"/>
          <p:nvPr/>
        </p:nvSpPr>
        <p:spPr>
          <a:xfrm>
            <a:off x="548640" y="4800600"/>
            <a:ext cx="6583680" cy="73152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Khoảng tin cậy 95% của MAPE từng mô hình. Hai khoảng chồng nhau một chút, nên cần so hiệu ghép cặp (bên phải) mới kết luận đúng.</a:t>
            </a:r>
          </a:p>
        </p:txBody>
      </p:sp>
      <p:sp>
        <p:nvSpPr>
          <p:cNvPr id="6" name="Rounded Rectangle 5"/>
          <p:cNvSpPr/>
          <p:nvPr/>
        </p:nvSpPr>
        <p:spPr>
          <a:xfrm>
            <a:off x="7406640" y="1463040"/>
            <a:ext cx="4206240" cy="11887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20" y="1517904"/>
            <a:ext cx="384048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FFFFFF"/>
                </a:solidFill>
                <a:latin typeface="Arial"/>
              </a:rPr>
              <a:t>RF tốt hơn Ridge</a:t>
            </a:r>
          </a:p>
        </p:txBody>
      </p:sp>
      <p:sp>
        <p:nvSpPr>
          <p:cNvPr id="8" name="TextBox 7"/>
          <p:cNvSpPr txBox="1"/>
          <p:nvPr/>
        </p:nvSpPr>
        <p:spPr>
          <a:xfrm>
            <a:off x="7589520" y="1874520"/>
            <a:ext cx="1920240" cy="50292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FFD400"/>
                </a:solidFill>
                <a:latin typeface="Arial"/>
              </a:rPr>
              <a:t>3,0 điểm %</a:t>
            </a:r>
          </a:p>
        </p:txBody>
      </p:sp>
      <p:sp>
        <p:nvSpPr>
          <p:cNvPr id="9" name="TextBox 8"/>
          <p:cNvSpPr txBox="1"/>
          <p:nvPr/>
        </p:nvSpPr>
        <p:spPr>
          <a:xfrm>
            <a:off x="9464040" y="1892808"/>
            <a:ext cx="2103120" cy="685800"/>
          </a:xfrm>
          <a:prstGeom prst="rect">
            <a:avLst/>
          </a:prstGeom>
          <a:noFill/>
        </p:spPr>
        <p:txBody>
          <a:bodyPr wrap="square" lIns="45720" rIns="45720" tIns="27432" bIns="27432" anchor="t">
            <a:spAutoFit/>
          </a:bodyPr>
          <a:lstStyle/>
          <a:p>
            <a:pPr algn="l">
              <a:lnSpc>
                <a:spcPct val="110000"/>
              </a:lnSpc>
              <a:spcAft>
                <a:spcPts val="0"/>
              </a:spcAft>
            </a:pPr>
            <a:r>
              <a:rPr sz="1200" b="0" i="0" lang="vi-VN">
                <a:solidFill>
                  <a:srgbClr val="FFFFFF"/>
                </a:solidFill>
                <a:latin typeface="Arial"/>
              </a:rPr>
              <a:t>KTC 95%: 2,1 → 4,0</a:t>
            </a:r>
          </a:p>
          <a:p>
            <a:pPr algn="l">
              <a:lnSpc>
                <a:spcPct val="110000"/>
              </a:lnSpc>
              <a:spcAft>
                <a:spcPts val="0"/>
              </a:spcAft>
            </a:pPr>
            <a:r>
              <a:rPr sz="1200" b="0" i="0" lang="vi-VN">
                <a:solidFill>
                  <a:srgbClr val="FFFFFF"/>
                </a:solidFill>
                <a:latin typeface="Arial"/>
              </a:rPr>
              <a:t>có ý nghĩa</a:t>
            </a:r>
          </a:p>
        </p:txBody>
      </p:sp>
      <p:sp>
        <p:nvSpPr>
          <p:cNvPr id="10" name="Rounded Rectangle 9"/>
          <p:cNvSpPr/>
          <p:nvPr/>
        </p:nvSpPr>
        <p:spPr>
          <a:xfrm>
            <a:off x="7406640" y="2834640"/>
            <a:ext cx="420624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0" y="2889504"/>
            <a:ext cx="384048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RF tự cài đặt − thư viện</a:t>
            </a:r>
          </a:p>
        </p:txBody>
      </p:sp>
      <p:sp>
        <p:nvSpPr>
          <p:cNvPr id="12" name="TextBox 11"/>
          <p:cNvSpPr txBox="1"/>
          <p:nvPr/>
        </p:nvSpPr>
        <p:spPr>
          <a:xfrm>
            <a:off x="7589520" y="3246120"/>
            <a:ext cx="1920240" cy="50292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EB6834"/>
                </a:solidFill>
                <a:latin typeface="Arial"/>
              </a:rPr>
              <a:t>0,19 điểm %</a:t>
            </a:r>
          </a:p>
        </p:txBody>
      </p:sp>
      <p:sp>
        <p:nvSpPr>
          <p:cNvPr id="13" name="TextBox 12"/>
          <p:cNvSpPr txBox="1"/>
          <p:nvPr/>
        </p:nvSpPr>
        <p:spPr>
          <a:xfrm>
            <a:off x="9464040" y="3264408"/>
            <a:ext cx="2103120" cy="685800"/>
          </a:xfrm>
          <a:prstGeom prst="rect">
            <a:avLst/>
          </a:prstGeom>
          <a:noFill/>
        </p:spPr>
        <p:txBody>
          <a:bodyPr wrap="square" lIns="45720" rIns="45720" tIns="27432" bIns="27432" anchor="t">
            <a:spAutoFit/>
          </a:bodyPr>
          <a:lstStyle/>
          <a:p>
            <a:pPr algn="l">
              <a:lnSpc>
                <a:spcPct val="110000"/>
              </a:lnSpc>
              <a:spcAft>
                <a:spcPts val="0"/>
              </a:spcAft>
            </a:pPr>
            <a:r>
              <a:rPr sz="1200" b="0" i="0" lang="vi-VN">
                <a:solidFill>
                  <a:srgbClr val="1F2937"/>
                </a:solidFill>
                <a:latin typeface="Arial"/>
              </a:rPr>
              <a:t>KTC 95%: −0,04 → 0,46</a:t>
            </a:r>
          </a:p>
          <a:p>
            <a:pPr algn="l">
              <a:lnSpc>
                <a:spcPct val="110000"/>
              </a:lnSpc>
              <a:spcAft>
                <a:spcPts val="0"/>
              </a:spcAft>
            </a:pPr>
            <a:r>
              <a:rPr sz="1200" b="0" i="0" lang="vi-VN">
                <a:solidFill>
                  <a:srgbClr val="1F2937"/>
                </a:solidFill>
                <a:latin typeface="Arial"/>
              </a:rPr>
              <a:t>không khác biệt</a:t>
            </a:r>
          </a:p>
        </p:txBody>
      </p:sp>
      <p:sp>
        <p:nvSpPr>
          <p:cNvPr id="14" name="Rounded Rectangle 13"/>
          <p:cNvSpPr/>
          <p:nvPr/>
        </p:nvSpPr>
        <p:spPr>
          <a:xfrm>
            <a:off x="7406640" y="4206240"/>
            <a:ext cx="420624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89520" y="4261103"/>
            <a:ext cx="384048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Ridge tự cài đặt − thư viện</a:t>
            </a:r>
          </a:p>
        </p:txBody>
      </p:sp>
      <p:sp>
        <p:nvSpPr>
          <p:cNvPr id="16" name="TextBox 15"/>
          <p:cNvSpPr txBox="1"/>
          <p:nvPr/>
        </p:nvSpPr>
        <p:spPr>
          <a:xfrm>
            <a:off x="7589520" y="4617720"/>
            <a:ext cx="1920240" cy="50292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EB6834"/>
                </a:solidFill>
                <a:latin typeface="Arial"/>
              </a:rPr>
              <a:t>0</a:t>
            </a:r>
          </a:p>
        </p:txBody>
      </p:sp>
      <p:sp>
        <p:nvSpPr>
          <p:cNvPr id="17" name="TextBox 16"/>
          <p:cNvSpPr txBox="1"/>
          <p:nvPr/>
        </p:nvSpPr>
        <p:spPr>
          <a:xfrm>
            <a:off x="9464040" y="4636007"/>
            <a:ext cx="2103120" cy="685800"/>
          </a:xfrm>
          <a:prstGeom prst="rect">
            <a:avLst/>
          </a:prstGeom>
          <a:noFill/>
        </p:spPr>
        <p:txBody>
          <a:bodyPr wrap="square" lIns="45720" rIns="45720" tIns="27432" bIns="27432" anchor="t">
            <a:spAutoFit/>
          </a:bodyPr>
          <a:lstStyle/>
          <a:p>
            <a:pPr algn="l">
              <a:lnSpc>
                <a:spcPct val="110000"/>
              </a:lnSpc>
              <a:spcAft>
                <a:spcPts val="0"/>
              </a:spcAft>
            </a:pPr>
            <a:r>
              <a:rPr sz="1200" b="0" i="0" lang="vi-VN">
                <a:solidFill>
                  <a:srgbClr val="1F2937"/>
                </a:solidFill>
                <a:latin typeface="Arial"/>
              </a:rPr>
              <a:t>cùng một nghiệm</a:t>
            </a:r>
          </a:p>
          <a:p>
            <a:pPr algn="l">
              <a:lnSpc>
                <a:spcPct val="110000"/>
              </a:lnSpc>
              <a:spcAft>
                <a:spcPts val="0"/>
              </a:spcAft>
            </a:pPr>
            <a:r>
              <a:rPr sz="1200" b="0" i="0" lang="vi-VN">
                <a:solidFill>
                  <a:srgbClr val="1F2937"/>
                </a:solidFill>
                <a:latin typeface="Arial"/>
              </a:rPr>
              <a:t>trùng khớp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Mô hình học được gì về giá xe?</a:t>
            </a:r>
          </a:p>
        </p:txBody>
      </p:sp>
      <p:pic>
        <p:nvPicPr>
          <p:cNvPr id="4" name="Picture 3" descr="m04_ridge_he_so.png"/>
          <p:cNvPicPr>
            <a:picLocks noChangeAspect="1"/>
          </p:cNvPicPr>
          <p:nvPr/>
        </p:nvPicPr>
        <p:blipFill>
          <a:blip r:embed="rId3"/>
          <a:stretch>
            <a:fillRect/>
          </a:stretch>
        </p:blipFill>
        <p:spPr>
          <a:xfrm>
            <a:off x="365760" y="1586835"/>
            <a:ext cx="5669280" cy="3455729"/>
          </a:xfrm>
          <a:prstGeom prst="rect">
            <a:avLst/>
          </a:prstGeom>
        </p:spPr>
      </p:pic>
      <p:pic>
        <p:nvPicPr>
          <p:cNvPr id="5" name="Picture 4" descr="m12_do_quan_trong.png"/>
          <p:cNvPicPr>
            <a:picLocks noChangeAspect="1"/>
          </p:cNvPicPr>
          <p:nvPr/>
        </p:nvPicPr>
        <p:blipFill>
          <a:blip r:embed="rId4"/>
          <a:stretch>
            <a:fillRect/>
          </a:stretch>
        </p:blipFill>
        <p:spPr>
          <a:xfrm>
            <a:off x="6126480" y="1715942"/>
            <a:ext cx="5669280" cy="3197515"/>
          </a:xfrm>
          <a:prstGeom prst="rect">
            <a:avLst/>
          </a:prstGeom>
        </p:spPr>
      </p:pic>
      <p:sp>
        <p:nvSpPr>
          <p:cNvPr id="6" name="TextBox 5"/>
          <p:cNvSpPr txBox="1"/>
          <p:nvPr/>
        </p:nvSpPr>
        <p:spPr>
          <a:xfrm>
            <a:off x="548640" y="5303520"/>
            <a:ext cx="530352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Ridge: Land Cruiser, Alphard +250-300%; VinFast VF2 −65%</a:t>
            </a:r>
          </a:p>
        </p:txBody>
      </p:sp>
      <p:sp>
        <p:nvSpPr>
          <p:cNvPr id="7" name="TextBox 6"/>
          <p:cNvSpPr txBox="1"/>
          <p:nvPr/>
        </p:nvSpPr>
        <p:spPr>
          <a:xfrm>
            <a:off x="6217920" y="5303520"/>
            <a:ext cx="5486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RF: tuổi xe 31%, hộp số 18%, hãng 16%, dòng xe 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học được mỗi dòng xe khấu hao khác nhau</a:t>
            </a:r>
          </a:p>
        </p:txBody>
      </p:sp>
      <p:pic>
        <p:nvPicPr>
          <p:cNvPr id="4" name="Picture 3" descr="m13_duong_khau_hao.png"/>
          <p:cNvPicPr>
            <a:picLocks noChangeAspect="1"/>
          </p:cNvPicPr>
          <p:nvPr/>
        </p:nvPicPr>
        <p:blipFill>
          <a:blip r:embed="rId3"/>
          <a:stretch>
            <a:fillRect/>
          </a:stretch>
        </p:blipFill>
        <p:spPr>
          <a:xfrm>
            <a:off x="457200" y="1662748"/>
            <a:ext cx="11247120" cy="2846703"/>
          </a:xfrm>
          <a:prstGeom prst="rect">
            <a:avLst/>
          </a:prstGeom>
        </p:spPr>
      </p:pic>
      <p:sp>
        <p:nvSpPr>
          <p:cNvPr id="5" name="TextBox 4"/>
          <p:cNvSpPr txBox="1"/>
          <p:nvPr/>
        </p:nvSpPr>
        <p:spPr>
          <a:xfrm>
            <a:off x="548640" y="4892040"/>
            <a:ext cx="11064240" cy="68580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Vì sao Random Forest chính xác hơn: </a:t>
            </a:r>
            <a:r>
              <a:rPr sz="1500" b="0" i="0" lang="vi-VN">
                <a:solidFill>
                  <a:srgbClr val="1F2937"/>
                </a:solidFill>
                <a:latin typeface="Arial"/>
              </a:rPr>
              <a:t>giá phụ thuộc phi tuyến và có tương tác giữa các đặc trưng. Mức chênh 3 điểm % MAPE chính là phần mô hình tuyến tính bỏ lỡ.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THÍ NGHIỆM</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Log giá và xử lý mất cân bằng: kiểm chứng bằng CV trên train</a:t>
            </a:r>
          </a:p>
        </p:txBody>
      </p:sp>
      <p:pic>
        <p:nvPicPr>
          <p:cNvPr id="4" name="Picture 3" descr="m14_log_va_mat_can_bang.png"/>
          <p:cNvPicPr>
            <a:picLocks noChangeAspect="1"/>
          </p:cNvPicPr>
          <p:nvPr/>
        </p:nvPicPr>
        <p:blipFill>
          <a:blip r:embed="rId3"/>
          <a:stretch>
            <a:fillRect/>
          </a:stretch>
        </p:blipFill>
        <p:spPr>
          <a:xfrm>
            <a:off x="457200" y="1418282"/>
            <a:ext cx="11247120" cy="3152755"/>
          </a:xfrm>
          <a:prstGeom prst="rect">
            <a:avLst/>
          </a:prstGeom>
        </p:spPr>
      </p:pic>
      <p:sp>
        <p:nvSpPr>
          <p:cNvPr id="5" name="Rounded Rectangle 4"/>
          <p:cNvSpPr/>
          <p:nvPr/>
        </p:nvSpPr>
        <p:spPr>
          <a:xfrm>
            <a:off x="548640" y="4709160"/>
            <a:ext cx="3474720" cy="8229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Log giá</a:t>
            </a:r>
          </a:p>
        </p:txBody>
      </p:sp>
      <p:sp>
        <p:nvSpPr>
          <p:cNvPr id="7" name="TextBox 6"/>
          <p:cNvSpPr txBox="1"/>
          <p:nvPr/>
        </p:nvSpPr>
        <p:spPr>
          <a:xfrm>
            <a:off x="731520"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19,6% → 16,2% MAPE tổng</a:t>
            </a:r>
          </a:p>
        </p:txBody>
      </p:sp>
      <p:sp>
        <p:nvSpPr>
          <p:cNvPr id="8" name="Rounded Rectangle 7"/>
          <p:cNvSpPr/>
          <p:nvPr/>
        </p:nvSpPr>
        <p:spPr>
          <a:xfrm>
            <a:off x="429767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0559"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Oversampling</a:t>
            </a:r>
          </a:p>
        </p:txBody>
      </p:sp>
      <p:sp>
        <p:nvSpPr>
          <p:cNvPr id="10" name="TextBox 9"/>
          <p:cNvSpPr txBox="1"/>
          <p:nvPr/>
        </p:nvSpPr>
        <p:spPr>
          <a:xfrm>
            <a:off x="4480559"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xe &gt; 2 tỷ: 27,4% → 24,5%</a:t>
            </a:r>
          </a:p>
        </p:txBody>
      </p:sp>
      <p:sp>
        <p:nvSpPr>
          <p:cNvPr id="11" name="Rounded Rectangle 10"/>
          <p:cNvSpPr/>
          <p:nvPr/>
        </p:nvSpPr>
        <p:spPr>
          <a:xfrm>
            <a:off x="804671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9"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Undersampling</a:t>
            </a:r>
          </a:p>
        </p:txBody>
      </p:sp>
      <p:sp>
        <p:nvSpPr>
          <p:cNvPr id="13" name="TextBox 12"/>
          <p:cNvSpPr txBox="1"/>
          <p:nvPr/>
        </p:nvSpPr>
        <p:spPr>
          <a:xfrm>
            <a:off x="8229599"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mất 22% dữ liệu, MAPE 16,8%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KẾT LUẬN</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Kết luận</a:t>
            </a:r>
          </a:p>
        </p:txBody>
      </p:sp>
      <p:sp>
        <p:nvSpPr>
          <p:cNvPr id="4" name="Rounded Rectangle 3"/>
          <p:cNvSpPr/>
          <p:nvPr/>
        </p:nvSpPr>
        <p:spPr>
          <a:xfrm>
            <a:off x="548640" y="1463040"/>
            <a:ext cx="5440680" cy="17830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572768"/>
            <a:ext cx="4937760" cy="59436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FFD400"/>
                </a:solidFill>
                <a:latin typeface="Arial"/>
              </a:rPr>
              <a:t>15,5%</a:t>
            </a:r>
          </a:p>
        </p:txBody>
      </p:sp>
      <p:sp>
        <p:nvSpPr>
          <p:cNvPr id="6" name="TextBox 5"/>
          <p:cNvSpPr txBox="1"/>
          <p:nvPr/>
        </p:nvSpPr>
        <p:spPr>
          <a:xfrm>
            <a:off x="777240" y="2212848"/>
            <a:ext cx="5029200" cy="96012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FFFFFF"/>
                </a:solidFill>
                <a:latin typeface="Arial"/>
              </a:rPr>
              <a:t>Random Forest dự đoán giá với MAPE 15,5%; 80% xe lệch không quá 20%; tốt hơn Ridge có ý nghĩa thống kê</a:t>
            </a:r>
          </a:p>
        </p:txBody>
      </p:sp>
      <p:sp>
        <p:nvSpPr>
          <p:cNvPr id="7" name="Rounded Rectangle 6"/>
          <p:cNvSpPr/>
          <p:nvPr/>
        </p:nvSpPr>
        <p:spPr>
          <a:xfrm>
            <a:off x="6172200" y="1463040"/>
            <a:ext cx="5440680" cy="17830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0" y="1572768"/>
            <a:ext cx="4937760" cy="59436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EB6834"/>
                </a:solidFill>
                <a:latin typeface="Arial"/>
              </a:rPr>
              <a:t>3 điểm %</a:t>
            </a:r>
          </a:p>
        </p:txBody>
      </p:sp>
      <p:sp>
        <p:nvSpPr>
          <p:cNvPr id="9" name="TextBox 8"/>
          <p:cNvSpPr txBox="1"/>
          <p:nvPr/>
        </p:nvSpPr>
        <p:spPr>
          <a:xfrm>
            <a:off x="6400800" y="2212848"/>
            <a:ext cx="5029200" cy="96012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Quan hệ phi tuyến và tương tác (mỗi dòng xe khấu hao khác nhau) là phần Ridge bỏ lỡ</a:t>
            </a:r>
          </a:p>
        </p:txBody>
      </p:sp>
      <p:sp>
        <p:nvSpPr>
          <p:cNvPr id="10" name="Rounded Rectangle 9"/>
          <p:cNvSpPr/>
          <p:nvPr/>
        </p:nvSpPr>
        <p:spPr>
          <a:xfrm>
            <a:off x="548640" y="3474720"/>
            <a:ext cx="5440680" cy="17830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584448"/>
            <a:ext cx="4937760" cy="59436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EB6834"/>
                </a:solidFill>
                <a:latin typeface="Arial"/>
              </a:rPr>
              <a:t>≈ thư viện</a:t>
            </a:r>
          </a:p>
        </p:txBody>
      </p:sp>
      <p:sp>
        <p:nvSpPr>
          <p:cNvPr id="12" name="TextBox 11"/>
          <p:cNvSpPr txBox="1"/>
          <p:nvPr/>
        </p:nvSpPr>
        <p:spPr>
          <a:xfrm>
            <a:off x="777240" y="4224528"/>
            <a:ext cx="5029200" cy="96012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Hai mô hình tự cài đặt cho kết quả tương đương thư viện; khác biệt lớn nhất là tốc độ</a:t>
            </a:r>
          </a:p>
        </p:txBody>
      </p:sp>
      <p:sp>
        <p:nvSpPr>
          <p:cNvPr id="13" name="Rounded Rectangle 12"/>
          <p:cNvSpPr/>
          <p:nvPr/>
        </p:nvSpPr>
        <p:spPr>
          <a:xfrm>
            <a:off x="6172200" y="3474720"/>
            <a:ext cx="5440680" cy="17830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3584448"/>
            <a:ext cx="4937760" cy="59436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EB6834"/>
                </a:solidFill>
                <a:latin typeface="Arial"/>
              </a:rPr>
              <a:t>CV trên train</a:t>
            </a:r>
          </a:p>
        </p:txBody>
      </p:sp>
      <p:sp>
        <p:nvSpPr>
          <p:cNvPr id="15" name="TextBox 14"/>
          <p:cNvSpPr txBox="1"/>
          <p:nvPr/>
        </p:nvSpPr>
        <p:spPr>
          <a:xfrm>
            <a:off x="6400800" y="4224528"/>
            <a:ext cx="5029200" cy="960120"/>
          </a:xfrm>
          <a:prstGeom prst="rect">
            <a:avLst/>
          </a:prstGeom>
          <a:noFill/>
        </p:spPr>
        <p:txBody>
          <a:bodyPr wrap="square" lIns="45720" rIns="45720" tIns="27432" bIns="27432" anchor="t">
            <a:spAutoFit/>
          </a:bodyPr>
          <a:lstStyle/>
          <a:p>
            <a:pPr algn="l">
              <a:lnSpc>
                <a:spcPct val="110000"/>
              </a:lnSpc>
              <a:spcAft>
                <a:spcPts val="600"/>
              </a:spcAft>
            </a:pPr>
            <a:r>
              <a:rPr sz="1500" b="0" i="0" lang="vi-VN">
                <a:solidFill>
                  <a:srgbClr val="1F2937"/>
                </a:solidFill>
                <a:latin typeface="Arial"/>
              </a:rPr>
              <a:t>Mọi quyết định đều kiểm chứng bằng số liệu: log giá, gộp nhãn, xử lý mất cân bằng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KẾT LUẬN</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Hạn chế và hướng phát triển</a:t>
            </a:r>
          </a:p>
        </p:txBody>
      </p:sp>
      <p:sp>
        <p:nvSpPr>
          <p:cNvPr id="4" name="Rounded Rectangle 3"/>
          <p:cNvSpPr/>
          <p:nvPr/>
        </p:nvSpPr>
        <p:spPr>
          <a:xfrm>
            <a:off x="548640" y="1463040"/>
            <a:ext cx="5440680" cy="35661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572768"/>
            <a:ext cx="5029200" cy="41148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Hạn chế</a:t>
            </a:r>
          </a:p>
        </p:txBody>
      </p:sp>
      <p:sp>
        <p:nvSpPr>
          <p:cNvPr id="6" name="TextBox 5"/>
          <p:cNvSpPr txBox="1"/>
          <p:nvPr/>
        </p:nvSpPr>
        <p:spPr>
          <a:xfrm>
            <a:off x="777240" y="2057400"/>
            <a:ext cx="5029200" cy="3383280"/>
          </a:xfrm>
          <a:prstGeom prst="rect">
            <a:avLst/>
          </a:prstGeom>
          <a:noFill/>
        </p:spPr>
        <p:txBody>
          <a:bodyPr wrap="square" lIns="45720" rIns="45720" tIns="27432" bIns="27432" anchor="t">
            <a:spAutoFit/>
          </a:bodyPr>
          <a:lstStyle/>
          <a:p>
            <a:pPr algn="l" marL="201168" indent="-201168">
              <a:lnSpc>
                <a:spcPct val="110000"/>
              </a:lnSpc>
              <a:spcAft>
                <a:spcPts val="1200"/>
              </a:spcAft>
              <a:buClr>
                <a:srgbClr val="075289"/>
              </a:buClr>
              <a:buFont typeface="Arial"/>
              <a:buChar char="•"/>
            </a:pPr>
            <a:r>
              <a:rPr sz="1600" b="0" i="0" lang="vi-VN">
                <a:solidFill>
                  <a:srgbClr val="1F2937"/>
                </a:solidFill>
                <a:latin typeface="Arial"/>
              </a:rPr>
              <a:t>Giá rao bán, không phải giá giao dịch thực</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14% tin test có bản sao (tin đăng lại) trong train: MAPE trên nhóm còn lại 16,2%</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Thiếu phiên bản, trang bị, tình trạng thân vỏ, số đời chủ</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Giá trả trước nhận diện bằng quy tắc, có thể còn sót</a:t>
            </a:r>
          </a:p>
        </p:txBody>
      </p:sp>
      <p:sp>
        <p:nvSpPr>
          <p:cNvPr id="7" name="Rounded Rectangle 6"/>
          <p:cNvSpPr/>
          <p:nvPr/>
        </p:nvSpPr>
        <p:spPr>
          <a:xfrm>
            <a:off x="6172200" y="1463040"/>
            <a:ext cx="5440680" cy="356616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0" y="1572768"/>
            <a:ext cx="5029200" cy="41148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Hướng phát triển</a:t>
            </a:r>
          </a:p>
        </p:txBody>
      </p:sp>
      <p:sp>
        <p:nvSpPr>
          <p:cNvPr id="9" name="TextBox 8"/>
          <p:cNvSpPr txBox="1"/>
          <p:nvPr/>
        </p:nvSpPr>
        <p:spPr>
          <a:xfrm>
            <a:off x="6400800" y="2057400"/>
            <a:ext cx="5029200" cy="3383280"/>
          </a:xfrm>
          <a:prstGeom prst="rect">
            <a:avLst/>
          </a:prstGeom>
          <a:noFill/>
        </p:spPr>
        <p:txBody>
          <a:bodyPr wrap="square" lIns="45720" rIns="45720" tIns="27432" bIns="27432" anchor="t">
            <a:spAutoFit/>
          </a:bodyPr>
          <a:lstStyle/>
          <a:p>
            <a:pPr algn="l" marL="201168" indent="-201168">
              <a:lnSpc>
                <a:spcPct val="110000"/>
              </a:lnSpc>
              <a:spcAft>
                <a:spcPts val="1200"/>
              </a:spcAft>
              <a:buClr>
                <a:srgbClr val="075289"/>
              </a:buClr>
              <a:buFont typeface="Arial"/>
              <a:buChar char="•"/>
            </a:pPr>
            <a:r>
              <a:rPr sz="1600" b="0" i="0" lang="vi-VN">
                <a:solidFill>
                  <a:srgbClr val="1F2937"/>
                </a:solidFill>
                <a:latin typeface="Arial"/>
              </a:rPr>
              <a:t>Crawl thêm mô tả tin đăng: lọc giá cọc theo từ khóa, lấy phiên bản xe</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Chia train/test theo nhóm để mọi bản đăng của một xe nằm cùng phía</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Gradient Boosting: dùng lại lớp cây đã tự cài đặt</a:t>
            </a:r>
          </a:p>
          <a:p>
            <a:pPr algn="l" marL="201168" indent="-201168">
              <a:lnSpc>
                <a:spcPct val="110000"/>
              </a:lnSpc>
              <a:spcAft>
                <a:spcPts val="1200"/>
              </a:spcAft>
              <a:buClr>
                <a:srgbClr val="075289"/>
              </a:buClr>
              <a:buFont typeface="Arial"/>
              <a:buChar char="•"/>
            </a:pPr>
            <a:r>
              <a:rPr sz="1600" b="0" i="0" lang="vi-VN">
                <a:solidFill>
                  <a:srgbClr val="1F2937"/>
                </a:solidFill>
                <a:latin typeface="Arial"/>
              </a:rPr>
              <a:t>Dùng oversampling nếu ưu tiên định giá xe sang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109</TotalTime>
  <Words>1326</Words>
  <Application>Microsoft Office PowerPoint</Application>
  <PresentationFormat>Widescreen</PresentationFormat>
  <Paragraphs>161</Paragraphs>
  <Slides>15</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15</vt:i4>
      </vt:variant>
    </vt:vector>
  </HeadingPairs>
  <TitlesOfParts>
    <vt:vector size="26" baseType="lpstr">
      <vt:lpstr>American Typewriter</vt:lpstr>
      <vt:lpstr>Arial</vt:lpstr>
      <vt:lpstr>Brush Script MT</vt:lpstr>
      <vt:lpstr>Calibri</vt:lpstr>
      <vt:lpstr>Calibri Light</vt:lpstr>
      <vt:lpstr>Times New Roman</vt:lpstr>
      <vt:lpstr>UTM American Sans</vt:lpstr>
      <vt:lpstr>UTM Neutra</vt:lpstr>
      <vt:lpstr>Wingdings</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Truong Ngoc Son-Khoa QLDA</dc:creator>
  <cp:lastModifiedBy>Tran Minh Thang - CTSV</cp:lastModifiedBy>
  <cp:revision>6</cp:revision>
  <dcterms:created xsi:type="dcterms:W3CDTF">2022-10-04T00:50:19Z</dcterms:created>
  <dcterms:modified xsi:type="dcterms:W3CDTF">2025-05-07T00:44:20Z</dcterms:modified>
</cp:coreProperties>
</file>