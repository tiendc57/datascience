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4" r:id="rId1"/>
    <p:sldMasterId id="2147483690" r:id="rId2"/>
  </p:sldMasterIdLst>
  <p:notesMasterIdLst>
    <p:notesMasterId r:id="rId44"/>
  </p:notesMasterIdLst>
  <p:handoutMasterIdLst>
    <p:handoutMasterId r:id="rId45"/>
  </p:handoutMasterIdLst>
  <p:sldIdLst>
    <p:sldId id="315" r:id="rId3"/>
    <p:sldId id="317" r:id="rId4"/>
    <p:sldId id="318" r:id="rId5"/>
    <p:sldId id="319" r:id="rId6"/>
    <p:sldId id="320" r:id="rId7"/>
    <p:sldId id="321" r:id="rId8"/>
    <p:sldId id="322" r:id="rId9"/>
    <p:sldId id="323" r:id="rId10"/>
    <p:sldId id="324" r:id="rId11"/>
    <p:sldId id="325" r:id="rId12"/>
    <p:sldId id="326" r:id="rId13"/>
    <p:sldId id="327" r:id="rId14"/>
    <p:sldId id="328" r:id="rId15"/>
    <p:sldId id="329" r:id="rId16"/>
    <p:sldId id="330" r:id="rId17"/>
    <p:sldId id="331" r:id="rId18"/>
    <p:sldId id="332" r:id="rId19"/>
    <p:sldId id="333" r:id="rId20"/>
    <p:sldId id="334" r:id="rId21"/>
    <p:sldId id="335" r:id="rId22"/>
    <p:sldId id="336" r:id="rId23"/>
    <p:sldId id="337" r:id="rId24"/>
    <p:sldId id="338" r:id="rId25"/>
    <p:sldId id="339" r:id="rId26"/>
    <p:sldId id="340" r:id="rId27"/>
    <p:sldId id="341" r:id="rId28"/>
    <p:sldId id="342" r:id="rId29"/>
    <p:sldId id="343" r:id="rId30"/>
    <p:sldId id="344" r:id="rId31"/>
    <p:sldId id="345" r:id="rId32"/>
    <p:sldId id="346" r:id="rId33"/>
    <p:sldId id="347" r:id="rId34"/>
    <p:sldId id="348" r:id="rId35"/>
    <p:sldId id="349" r:id="rId36"/>
    <p:sldId id="350" r:id="rId37"/>
    <p:sldId id="351" r:id="rId38"/>
    <p:sldId id="352" r:id="rId39"/>
    <p:sldId id="353" r:id="rId40"/>
    <p:sldId id="354" r:id="rId41"/>
    <p:sldId id="355" r:id="rId42"/>
    <p:sldId id="356" r:id="rId43"/>
  </p:sldIdLst>
  <p:sldSz cx="12192000" cy="6858000"/>
  <p:notesSz cx="6858000" cy="9144000"/>
  <p:defaultText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78985D6A-63F4-5745-AD5D-02BB05467638}">
          <p14:sldIdLst>
            <p14:sldId id="315"/>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DF0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2C10A7A-CE72-874A-A5D0-1DC6BD16DB28}" v="1" dt="2022-12-19T01:29:24.4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0"/>
    <p:restoredTop sz="95755"/>
  </p:normalViewPr>
  <p:slideViewPr>
    <p:cSldViewPr snapToGrid="0">
      <p:cViewPr varScale="1">
        <p:scale>
          <a:sx n="79" d="100"/>
          <a:sy n="79" d="100"/>
        </p:scale>
        <p:origin x="821" y="77"/>
      </p:cViewPr>
      <p:guideLst/>
    </p:cSldViewPr>
  </p:slideViewPr>
  <p:notesTextViewPr>
    <p:cViewPr>
      <p:scale>
        <a:sx n="1" d="1"/>
        <a:sy n="1" d="1"/>
      </p:scale>
      <p:origin x="0" y="0"/>
    </p:cViewPr>
  </p:notesTextViewPr>
  <p:notesViewPr>
    <p:cSldViewPr snapToGrid="0">
      <p:cViewPr varScale="1">
        <p:scale>
          <a:sx n="85" d="100"/>
          <a:sy n="85" d="100"/>
        </p:scale>
        <p:origin x="3928" y="16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viewProps" Target="viewProps.xml"/><Relationship Id="rId50" Type="http://schemas.microsoft.com/office/2016/11/relationships/changesInfo" Target="changesInfos/changesInfo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handoutMaster" Target="handoutMasters/handout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theme" Target="theme/theme1.xml"/><Relationship Id="rId8" Type="http://schemas.openxmlformats.org/officeDocument/2006/relationships/slide" Target="slides/slide6.xml"/><Relationship Id="rId51" Type="http://schemas.microsoft.com/office/2015/10/relationships/revisionInfo" Target="revisionInfo.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presProps" Target="presProps.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ruong Ngoc Son-Khoa QLDA" userId="7b6345db-15d8-4fe4-b2ee-53f6fbcd9c18" providerId="ADAL" clId="{92C10A7A-CE72-874A-A5D0-1DC6BD16DB28}"/>
    <pc:docChg chg="custSel addSld modSld sldOrd modMainMaster modSection">
      <pc:chgData name="Truong Ngoc Son-Khoa QLDA" userId="7b6345db-15d8-4fe4-b2ee-53f6fbcd9c18" providerId="ADAL" clId="{92C10A7A-CE72-874A-A5D0-1DC6BD16DB28}" dt="2022-12-19T01:29:59.498" v="8" actId="20578"/>
      <pc:docMkLst>
        <pc:docMk/>
      </pc:docMkLst>
      <pc:sldChg chg="add mod ord modClrScheme chgLayout">
        <pc:chgData name="Truong Ngoc Son-Khoa QLDA" userId="7b6345db-15d8-4fe4-b2ee-53f6fbcd9c18" providerId="ADAL" clId="{92C10A7A-CE72-874A-A5D0-1DC6BD16DB28}" dt="2022-12-19T01:29:59.498" v="8" actId="20578"/>
        <pc:sldMkLst>
          <pc:docMk/>
          <pc:sldMk cId="3783769825" sldId="315"/>
        </pc:sldMkLst>
      </pc:sldChg>
      <pc:sldMasterChg chg="addSldLayout modSldLayout">
        <pc:chgData name="Truong Ngoc Son-Khoa QLDA" userId="7b6345db-15d8-4fe4-b2ee-53f6fbcd9c18" providerId="ADAL" clId="{92C10A7A-CE72-874A-A5D0-1DC6BD16DB28}" dt="2022-12-19T01:29:29.546" v="5" actId="14100"/>
        <pc:sldMasterMkLst>
          <pc:docMk/>
          <pc:sldMasterMk cId="1486776597" sldId="2147483674"/>
        </pc:sldMasterMkLst>
        <pc:sldLayoutChg chg="addSp delSp modSp add mod replId modTransition">
          <pc:chgData name="Truong Ngoc Son-Khoa QLDA" userId="7b6345db-15d8-4fe4-b2ee-53f6fbcd9c18" providerId="ADAL" clId="{92C10A7A-CE72-874A-A5D0-1DC6BD16DB28}" dt="2022-12-19T01:29:29.546" v="5" actId="14100"/>
          <pc:sldLayoutMkLst>
            <pc:docMk/>
            <pc:sldMasterMk cId="1486776597" sldId="2147483674"/>
            <pc:sldLayoutMk cId="859889945" sldId="2147483702"/>
          </pc:sldLayoutMkLst>
          <pc:picChg chg="add mod">
            <ac:chgData name="Truong Ngoc Son-Khoa QLDA" userId="7b6345db-15d8-4fe4-b2ee-53f6fbcd9c18" providerId="ADAL" clId="{92C10A7A-CE72-874A-A5D0-1DC6BD16DB28}" dt="2022-12-19T01:29:29.546" v="5" actId="14100"/>
            <ac:picMkLst>
              <pc:docMk/>
              <pc:sldMasterMk cId="1486776597" sldId="2147483674"/>
              <pc:sldLayoutMk cId="859889945" sldId="2147483702"/>
              <ac:picMk id="6" creationId="{775CBC47-66D8-6B14-3700-5101CA9A86FC}"/>
            </ac:picMkLst>
          </pc:picChg>
          <pc:picChg chg="del">
            <ac:chgData name="Truong Ngoc Son-Khoa QLDA" userId="7b6345db-15d8-4fe4-b2ee-53f6fbcd9c18" providerId="ADAL" clId="{92C10A7A-CE72-874A-A5D0-1DC6BD16DB28}" dt="2022-12-19T01:29:04.391" v="1" actId="478"/>
            <ac:picMkLst>
              <pc:docMk/>
              <pc:sldMasterMk cId="1486776597" sldId="2147483674"/>
              <pc:sldLayoutMk cId="859889945" sldId="2147483702"/>
              <ac:picMk id="7" creationId="{0F5233AE-C293-4240-44B4-C4CCF5306E72}"/>
            </ac:picMkLst>
          </pc:pic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251D253-C8AA-7B05-B17D-8B4AEB9FA80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VN"/>
          </a:p>
        </p:txBody>
      </p:sp>
      <p:sp>
        <p:nvSpPr>
          <p:cNvPr id="3" name="Date Placeholder 2">
            <a:extLst>
              <a:ext uri="{FF2B5EF4-FFF2-40B4-BE49-F238E27FC236}">
                <a16:creationId xmlns:a16="http://schemas.microsoft.com/office/drawing/2014/main" id="{65C9CF16-4BE3-2E51-5FBC-2CC8DCFA4D5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268DFF9-D954-4045-A6AB-461DD914726D}" type="datetimeFigureOut">
              <a:rPr lang="en-VN" smtClean="0"/>
              <a:t>10/31/2026</a:t>
            </a:fld>
            <a:endParaRPr lang="en-VN"/>
          </a:p>
        </p:txBody>
      </p:sp>
      <p:sp>
        <p:nvSpPr>
          <p:cNvPr id="4" name="Footer Placeholder 3">
            <a:extLst>
              <a:ext uri="{FF2B5EF4-FFF2-40B4-BE49-F238E27FC236}">
                <a16:creationId xmlns:a16="http://schemas.microsoft.com/office/drawing/2014/main" id="{21AE0FDA-E286-82B3-0E2E-E579D13AA75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VN"/>
          </a:p>
        </p:txBody>
      </p:sp>
      <p:sp>
        <p:nvSpPr>
          <p:cNvPr id="5" name="Slide Number Placeholder 4">
            <a:extLst>
              <a:ext uri="{FF2B5EF4-FFF2-40B4-BE49-F238E27FC236}">
                <a16:creationId xmlns:a16="http://schemas.microsoft.com/office/drawing/2014/main" id="{D0940566-724F-7B06-6239-7D233F7AED2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BF37F66-A223-A34D-9E00-842E72031805}" type="slidenum">
              <a:rPr lang="en-VN" smtClean="0"/>
              <a:t>‹#›</a:t>
            </a:fld>
            <a:endParaRPr lang="en-VN"/>
          </a:p>
        </p:txBody>
      </p:sp>
    </p:spTree>
    <p:extLst>
      <p:ext uri="{BB962C8B-B14F-4D97-AF65-F5344CB8AC3E}">
        <p14:creationId xmlns:p14="http://schemas.microsoft.com/office/powerpoint/2010/main" val="411417541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008594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Chào thầy cô. Nhóm em trình bày đề tài dự đoán giá rao bán ô tô trên Chợ Tốt. Mô hình được phân tích kỹ là Random Forest, làm hai bản: dùng thư viện scikit-learn và tự cài đặt bằng NumPy. Ridge Regression chỉ dùng làm mốc so sánh.</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Bài trình bày đi theo đúng quy trình một dự án học máy từ đầu đến cuối.</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Người mua và người bán xe cũ đều cần một mốc giá hợp lý. Đây là bài toán hồi quy có giám sát: đầu vào là các thuộc tính ai cũng thấy trong tin đăng, đầu ra là giá rao bán tính bằng triệu đồng.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Năm bước, mỗi bước một notebook. Tiền xử lý chỉ dùng quy tắc cứng; mọi bước học thống kê từ dữ liệu (điền thiếu, gộp nhãn, lọc nhãn sai) làm sau khi chia train/test và chỉ học từ train. Tập test chỉ dùng một lần ở bước đánh giá.</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Bước 1 (ảnh trái): duyệt 750 trang danh sách mới nhất mua-ban-oto?page=1..750, lấy link từng tin, bỏ link trùng (tin ưu tiên lặp lại ở mọi trang). Bước 2 (ảnh phải): vào trang chi tiết, đọc các thẻ HTML có thuộc tính itemprop; khung cam là thẻ itemprop='mileage_v2' chứa số km 44.000. Dùng requests + BeautifulSoup, nghỉ 0,5 giây mỗi tin và 1 giây mỗi trang, tự lùi thời gian khi bị trả mã 403/429, chạy tiếp được khi bị ngắt. Chỉ lấy thông tin công khai, không lấy thông tin liên hệ người bán (tên và số điện thoại trong ảnh đã được che). Khung xanh: trang còn các mục số đời chủ, còn hạn đăng kiểm mà code chưa lấy; đây là hướng phát triển.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Cột chọn từ danh sách thì sạch, không lỗi chính tả. Hai cột gõ tự do là số km và giá, cũng là hai nguồn lỗi chính cần kiểm tra ở bước tiền xử lý. URL chứa vị trí tin đăng.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Trên 13 đặc trưng, chỉ 4 cột có thiếu đáng kể: xuất xứ 40,5%, kiểu dáng 32,9%, số chỗ 24,9%, số km 12,2%; giá chỉ thiếu 1 tin. 8 cột còn lại đầy đủ vì là ô bắt buộc. Hình phải tách theo tình trạng xe: xe mới thiếu số km 100% vì trang xe mới không có ô km, xe đã dùng chỉ 1,8%, nên đây là thiếu có cấu trúc, điền 0 km. Chỉ 37% số tin đầy đủ mọi ô, nên phải điền chứ không xóa dòng.</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Mỗi thanh là phần trăm số tin của một giá trị, thanh xám là phần thiếu. Kiểu dáng: SUV và Sedan chiếm phần lớn, Coupe và Mui trần dưới 0,5%. Số chỗ: gần như chỉ 5 chỗ và 7 chỗ. Xuất xứ: phần thiếu 40,5% còn lớn hơn cả Việt Nam 28,8%. Kiểu dáng và số chỗ do dòng xe quyết định nên điền theo dòng xe; xuất xứ không suy được nên để nhãn Không rõ.</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Giá trung vị gần như đứng yên 3 năm đầu (khoảng 600-620 triệu) rồi giảm đều: 498 triệu ở 5 năm, 335 ở 10 năm, 205 ở 15 năm. Trên thang log, giảm đều nghĩa là mất giá theo tỉ lệ % gần như cố định mỗi năm, nên học trên log giá. Ba hãng sang Lexus, BMW, Mercedes có giá trung vị gấp 2-4 lần nhóm phổ thông.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Tương quan Pearson với log giá: tuổi xe −0,60, số km −0,38, số chỗ 0,09. Tuổi và số km tương quan 0,54 nên mang trùng một phần thông tin; vì vậy khi đọc độ quan trọng đặc trưng phải kiểm tra thêm bằng permutation. Giá trung vị: SUV 600 triệu, bán tải 565, Sedan 387, Hatchback 250; số sàn 210 so với tự động 515 (xe số sàn phần lớn là xe cũ).</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Hiểu code crawl giúp biết mỗi loại lỗi đến từ đâu. Ví dụ N/A là do code không tìm thấy thẻ, tức người bán bỏ trống, còn 'Khác' là lựa chọn thật của người bán nên phải giữ.</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Câu hỏi then chốt cho mỗi bước: bước này có học con số nào từ dữ liệu không? Không học gì (quy tắc cứng, hằng số, công thức) thì làm trên toàn bộ dữ liệu ở preprocess_data. Có học (trung vị, mode, tần suất, trung vị giá) thì chia train/test trước, fit trên train rồi áp nguyên lên test ở process_data. Nếu làm ngược lại, xe trong tập test góp phần tạo ra tham số, và điểm đánh giá không còn là ước lượng cho dữ liệu mới. Tham số chỉ đi một chiều từ train sang test.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Bước đầu tiên đưa dữ liệu về đúng kiểu: chuỗi '1.095.000.000' thành số, N/A thành thiếu thật. Tin trùng hoàn toàn (cùng mọi thuộc tính và giá) bị loại vì nếu một bản ở train, một bản ở test thì điểm đánh giá cao ảo.</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Không cắt ngoại lệ theo phần trăm máy móc: ngưỡng lấy từ hiểu biết thực tế nên không học gì từ dữ liệu, làm được trên toàn bộ dữ liệu. Hình trái: giá ngoài 20 triệu - 10 tỷ bị loại (gõ thiếu / thừa số 0). Hình phải: số km xe đã dùng trên 500.000, trên 100.000 km/năm, hoặc dưới 100 km khi xe từ 2 tuổi (nhập theo nghìn km) được chuyển thành thiếu, rồi điền ở bước sau. Xe sang thật dù là ngoại lệ thống kê vẫn giữ.</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Xe mới thiếu số km vì trang không có ô km: điền 0 là quy tắc nghiệp vụ, làm ngay ở tiền xử lý; xuất xứ thiếu 41% nên gán nhãn hằng "Không rõ". Ba cột còn lại cần thống kê: số km xe cũ (trung vị theo đời xe), kiểu dáng và số chỗ (mode theo dòng xe). Các thống kê này được CarImputer học trên train ở process_data rồi áp lên test, nên file preprocess_data.csv cố ý còn giá trị thiếu.</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Chia 80/20 phân tầng theo phân khúc giá để tập test có đủ xe sang: chia ngẫu nhiên thường có thể để test gần như không có xe trên 2 tỷ. Bước chia nằm đầu process_data, trước mọi bước học tham số. Không tách tập validation riêng vì chỉ có khoảng 460 xe trên 2 tỷ; CV dùng lần lượt mọi phần của train làm validation nên ổn định hơn.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Nhiều tin ghi số tiền trả trước thay vì giá xe. Ngưỡng tuyệt đối không bắt được: 100 triệu hợp lý với xe 20 năm tuổi nhưng vô lý với xe 1 năm tuổi, nên so với chính mẫu xe đó. Trung vị giá là tham số học từ biến mục tiêu, nên chỉ tính trên train rồi áp lên cả hai tập. Vẫn xóa ở tập test vì đây là sửa nhãn sai: để nhãn sai trong test thì MAPE không còn đo đúng chất lượng mô hình. Sửa thêm một lỗi: bỏ nhóm "Dòng khác" khỏi bảng tham chiếu vì nhóm này trộn nhiều xe không liên quan.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Kiểm tra 1: cơ cấu kiểu dáng và số chỗ ở train trước khi điền (chỉ phần đã khai) và sau khi điền gần như trùng nhau, không bị dồn về một giá trị như khi điền bằng mode toàn cục. Kiểm tra 2: train_data.csv được điền bằng thống kê của toàn bộ train, nên khi CV trên train, phần validation của mỗi fold góp phần tạo giá trị điền. Thí nghiệm đối chứng đặt CarImputer vào Pipeline để fit lại trong từng fold: MAPE chỉ chênh 0,04 điểm %, nên cách điền sẵn dùng được.</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69 hãng và hơn 500 dòng xe, nhiều dòng chỉ 1-5 tin: one-hot nguyên vẹn sinh hàng trăm cột thưa. Gộp theo cấp: dòng xe dưới 10 tin lùi về "&lt;hãng&gt; - dòng khác" (vẫn biết là Mercedes), hãng dưới 30 tin lùi về nhóm cao cấp hoặc phổ thông theo định vị thương hiệu, không dùng giá. Đếm tần suất là học từ dữ liệu nên BrandModelGrouper chỉ đếm trên train; hãng chưa gặp ở test tự rơi về nhóm "khác". So 3 phương án bằng 5-fold CV: gộp theo cấp 30/10 tốt nhất ở cả hai mô hình, rõ nhất với Ridge và xe trên 2 tỷ.</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Giá lệch phải rất mạnh (skewness 5,1); log đưa về gần đối xứng (−0,26) và biến sai số tuyệt đối thành sai số tương đối, khớp với MAPE. Log là công thức tất định nên làm ở tiền xử lý. Biến mục tiêu liên tục nên không có lớp thiểu số; mất cân bằng thể hiện ở mật độ dữ liệu: xe trên 2 tỷ chỉ 3,3%, ít hơn phân khúc đông nhất gần 13 lần.</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Tiền xử lý bằng quy tắc cứng giữ 94,8% số tin. Sau khi chia tập, lọc giá đặt cọc bằng bảng của train loại thêm 99 tin train và 17 tin test. Hai file train_data.csv, test_data.csv không còn giá trị thiếu ở đặc trưng; tham số xử lý (trung vị, danh sách nhãn) lưu trong data_transformers.joblib để định giá xe mới đúng như lúc huấn luyện. File chỉ chứa dữ liệu thật, không ghi mẫu nhân bản.</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MAPE là thước đo chính vì lệch 100 triệu là nhỏ với xe 3 tỷ nhưng rất lớn với xe 150 triệu. Không chỉ số nào tốt khi đứng một mình: luôn so với baseline luôn đoán giá trung vị. Thang MAPE là quy ước tham khảo trong dự báo (Lewis, 1982).</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One-hot sinh 258 cột 0/1; mã số thứ tự chỉ 12 cột nhưng thứ tự các nhãn là tùy ý. Với one-hot, một phép chia tách thẳng một dòng xe; với mã số, xe sang và xe rẻ xếp xen kẽ theo bảng chữ cái nên cây phải chia nhiều lần. Kết quả: one-hot tốt nhất, rõ nhất ở xe trên 2 tỷ.</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Đây là một cây thật độ sâu 2 học từ tập train. Câu hỏi đầu tiên là tuổi xe ≤ 12,5 năm, rồi đến hộp số sàn ở cả hai nhánh. Mỗi nút chọn câu hỏi làm giảm tổng bình phương sai số nhiều nhất; lá dự đoán bằng trung bình log giá của các xe trong lá.</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Bootstrap: mỗi cây học trên mẫu lấy có hoàn lại, chứa khoảng 63% số xe khác nhau. Mỗi lần chia nút chỉ xét một phần đặc trưng ngẫu nhiên để các cây ít giống nhau. Trung bình nhiều cây ít tương quan có phương sai nhỏ hơn hẳn một cây. Khoảng 37% xe không được chọn (out-of-bag) dùng để ước lượng sai số mà không cần tập validation.</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RandomizedSearchCV thử 12 cấu hình ngẫu nhiên, 300 cây, 3-fold CV phân tầng theo phân khúc giá. Các cấu hình tốt đều có cây sâu, lá nhỏ: dữ liệu có nhiều tổ hợp hãng-dòng-đời xe riêng biệt; việc lấy trung bình 300 cây đã kiểm soát phương sai.</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Cách cơ bản phải sắp xếp từng cột ở mỗi nút, rất chậm trong Python. Kỹ thuật histogram (giống LightGBM): chia mỗi đặc trưng thành 32 bin một lần; ở mỗi nút chỉ cần np.bincount đếm số xe và tổng log giá theo bin, rồi np.cumsum cộng dồn là có gain của mọi ngưỡng cùng lúc.</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Bước 1: dựng một cây cùng tham số với DecisionTreeRegressor, so số nút và R². Bước 2: so dự đoán của cả rừng trên từng xe trong tập test. Tập test ở đây chỉ dùng để kiểm tra tính đúng của code, không để chọn tham số.</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Bản tự viết chọn tham số bằng OOB (6 cấu hình, mỗi cấu hình 30 cây, chỉ huấn luyện một lần), rồi huấn luyện 100 cây trong khoảng 1,5 phút. OOB RMSE giảm nhanh trong vài chục cây đầu rồi bão hòa. Trên test, rừng giảm MAPE từ khoảng 18-18,5% của một cây xuống 15,1-15,7%. OOB chỉ dùng để so sánh cấu hình: bộ mã hóa và Binner đã fit trên toàn bộ train nên OOB không hoàn toàn độc lập.</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Ridge là mô hình tuyến tính tốt nhất có thể trên cùng dữ liệu: đã có age² và log(km) để biểu diễn khấu hao cong, và được tinh chỉnh bằng CV như rừng. Vì vậy phần chênh lệch giữa Ridge và Random Forest chính là đóng góp của quan hệ phi tuyến và tương tác. Ridge chỉ dùng thư viện.</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Đánh giá trên 2.797 tin test, dùng một lần; tập test không góp phần vào bất kỳ tham số nào. Random Forest vượt xa baseline và tốt hơn Ridge 3,3 điểm %. MedAPE 8,8% thấp hơn MAPE nhiều: xe điển hình chỉ lệch khoảng 9%, một nhóm nhỏ xe sai nặng kéo trung bình lên. RMSE gấp 3 lần MAE cho thấy có vài lỗi rất lớn, chủ yếu xe sang.</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Phân khúc 200 triệu - 1 tỷ chiếm khoảng 75% thị trường, sai số khoảng 11-12%. Xe dưới 200 triệu: chênh vài chục triệu đã là phần trăm lớn, và còn sót tin ghi giá trả trước. Xe trên 2 tỷ: ít dữ liệu và thiếu thông tin phiên bản, trang bị.</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Mỗi điểm là một xe test; trục thang log nên khoảng cách tới đường chéo là sai số phần trăm. Vùng xám là ±20%. Phần dư đối xứng quanh 0 nên mô hình không đoán lệch hệ thống; Random Forest có phân bố hẹp hơn Ridge.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Khoảng tin cậy 95% cho biết MAPE có thể dao động trong khoảng nào nếu đánh giá trên tập test khác. Cách tính: bốc lại 2.797 xe test có hoàn lại, tính MAPE, lặp 1.000 lần, bỏ 2,5% mỗi đầu. So hai mô hình: tính hiệu MAPE trên cùng các xe trong mỗi lần bốc. Khoảng của hiệu không chứa 0 nghĩa là chênh lệch có ý nghĩa.</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Impurity cộng mức giảm sai số khi học, nhưng bị lệch khi đặc trưng tương quan. Permutation xáo trộn từng đặc trưng trên tập test rồi đo MAPE tăng bao nhiêu. Hộp số tụt từ hạng 2 xuống hạng 4 vì trùng thông tin với tuổi xe: xe số sàn thường là xe cũ.</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Cố định mọi thuộc tính, chỉ thay đổi tuổi xe với 15.000 km mỗi năm. Ridge buộc mọi dòng xe mất cùng một tỉ lệ % mỗi năm. Random Forest học được Mercedes C Class mất giá rất nhanh 3-4 năm đầu: đó là tương tác giữa dòng xe và tuổi xe.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Log giá giảm MAPE từ 20,0% xuống 16,6%. Trọng số mẫu và oversampling không cải thiện MAPE tổng nhưng giảm sai số xe trên 2 tỷ khoảng 3 điểm %. Undersampling bỏ 22% dữ liệu và làm kết quả kém đi. Cân bằng chỉ làm trong phần train của từng fold; đánh giá bằng CV vì oversampling làm OOB sai.</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Tin đăng lại làm điểm hơi lạc quan: chia theo nhóm (mọi bản đăng của một xe cùng một phía) làm MAPE CV tăng 0,3 điểm %. Ngược lại, nhiều xe bị đoán sai nhất thực ra là tin ghi giá trả trước còn sót: mô hình đoán hợp lý hơn giá rao.</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Bản cũ điền thiếu, gộp nhãn và lọc giá đặt cọc trên toàn bộ dữ liệu rồi mới chia tập. Bản mới chia tập trước, mọi tham số học từ train. Phần chênh do thống kê chỉ học từ train đo bằng thí nghiệm đối chứng: 0,04 điểm %. Phần còn lại do tập test được chia lại khác đi (bỏ lọc ở tiền xử lý làm số dòng trước khi chia thay đổi), nằm trong khoảng tin cậy bootstrap khoảng ±1 điểm %. Mọi kết luận giữ nguyên: thứ hạng mô hình, log giá, one-hot, cân bằng, tuổi xe quan trọng nhất.</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Mô hình được lưu trong thư mục model/. Hàm predict_price nhận thông tin thô (hãng, dòng, năm, km...), tự gộp nhãn, điền km thiếu bằng đúng tham số đã học từ train (lưu trong metadata.json) và dựng đặc trưng như lúc huấn luyện. Nạp lại cho dự đoán trùng notebook đến 10⁻¹¹ triệu, kể cả rừng tự cài đặt.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Tóm tắt kết quả, nêu rõ hạn chế và hướng phát triển. Cảm ơn thầy cô đã lắng nghe, nhóm em sẵn sàng trả lời câu hỏi.</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08E8A80-BEDD-3B8B-E0AD-2A4B196EDDE7}"/>
              </a:ext>
            </a:extLst>
          </p:cNvPr>
          <p:cNvSpPr>
            <a:spLocks noGrp="1"/>
          </p:cNvSpPr>
          <p:nvPr>
            <p:ph type="dt" sz="half" idx="10"/>
          </p:nvPr>
        </p:nvSpPr>
        <p:spPr/>
        <p:txBody>
          <a:bodyPr/>
          <a:lstStyle/>
          <a:p>
            <a:fld id="{6909B663-BDC2-451F-9FFD-E3F973D4142A}" type="datetimeFigureOut">
              <a:rPr lang="en-US" smtClean="0"/>
              <a:t>10/31/2026</a:t>
            </a:fld>
            <a:endParaRPr lang="en-US"/>
          </a:p>
        </p:txBody>
      </p:sp>
      <p:sp>
        <p:nvSpPr>
          <p:cNvPr id="3" name="Footer Placeholder 2">
            <a:extLst>
              <a:ext uri="{FF2B5EF4-FFF2-40B4-BE49-F238E27FC236}">
                <a16:creationId xmlns:a16="http://schemas.microsoft.com/office/drawing/2014/main" id="{3F0F12E3-C460-CFF0-2397-9891E413AC6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14D2489-055A-4040-3BD6-71CE92E3A455}"/>
              </a:ext>
            </a:extLst>
          </p:cNvPr>
          <p:cNvSpPr>
            <a:spLocks noGrp="1"/>
          </p:cNvSpPr>
          <p:nvPr>
            <p:ph type="sldNum" sz="quarter" idx="12"/>
          </p:nvPr>
        </p:nvSpPr>
        <p:spPr/>
        <p:txBody>
          <a:bodyPr/>
          <a:lstStyle/>
          <a:p>
            <a:fld id="{44A9A2A8-896A-4908-99A1-F33C2133E199}" type="slidenum">
              <a:rPr lang="en-US" smtClean="0"/>
              <a:t>‹#›</a:t>
            </a:fld>
            <a:endParaRPr lang="en-US"/>
          </a:p>
        </p:txBody>
      </p:sp>
      <p:pic>
        <p:nvPicPr>
          <p:cNvPr id="7" name="Picture 6">
            <a:extLst>
              <a:ext uri="{FF2B5EF4-FFF2-40B4-BE49-F238E27FC236}">
                <a16:creationId xmlns:a16="http://schemas.microsoft.com/office/drawing/2014/main" id="{0F5233AE-C293-4240-44B4-C4CCF5306E72}"/>
              </a:ext>
            </a:extLst>
          </p:cNvPr>
          <p:cNvPicPr>
            <a:picLocks noChangeAspect="1"/>
          </p:cNvPicPr>
          <p:nvPr userDrawn="1"/>
        </p:nvPicPr>
        <p:blipFill>
          <a:blip r:embed="rId2"/>
          <a:stretch>
            <a:fillRect/>
          </a:stretch>
        </p:blipFill>
        <p:spPr>
          <a:xfrm>
            <a:off x="148" y="0"/>
            <a:ext cx="12191851" cy="6858084"/>
          </a:xfrm>
          <a:prstGeom prst="rect">
            <a:avLst/>
          </a:prstGeom>
        </p:spPr>
      </p:pic>
    </p:spTree>
    <p:extLst>
      <p:ext uri="{BB962C8B-B14F-4D97-AF65-F5344CB8AC3E}">
        <p14:creationId xmlns:p14="http://schemas.microsoft.com/office/powerpoint/2010/main" val="18016518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1_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08E8A80-BEDD-3B8B-E0AD-2A4B196EDDE7}"/>
              </a:ext>
            </a:extLst>
          </p:cNvPr>
          <p:cNvSpPr>
            <a:spLocks noGrp="1"/>
          </p:cNvSpPr>
          <p:nvPr>
            <p:ph type="dt" sz="half" idx="10"/>
          </p:nvPr>
        </p:nvSpPr>
        <p:spPr/>
        <p:txBody>
          <a:bodyPr/>
          <a:lstStyle/>
          <a:p>
            <a:fld id="{6909B663-BDC2-451F-9FFD-E3F973D4142A}" type="datetimeFigureOut">
              <a:rPr lang="en-US" smtClean="0"/>
              <a:t>10/31/2026</a:t>
            </a:fld>
            <a:endParaRPr lang="en-US"/>
          </a:p>
        </p:txBody>
      </p:sp>
      <p:sp>
        <p:nvSpPr>
          <p:cNvPr id="3" name="Footer Placeholder 2">
            <a:extLst>
              <a:ext uri="{FF2B5EF4-FFF2-40B4-BE49-F238E27FC236}">
                <a16:creationId xmlns:a16="http://schemas.microsoft.com/office/drawing/2014/main" id="{3F0F12E3-C460-CFF0-2397-9891E413AC6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14D2489-055A-4040-3BD6-71CE92E3A455}"/>
              </a:ext>
            </a:extLst>
          </p:cNvPr>
          <p:cNvSpPr>
            <a:spLocks noGrp="1"/>
          </p:cNvSpPr>
          <p:nvPr>
            <p:ph type="sldNum" sz="quarter" idx="12"/>
          </p:nvPr>
        </p:nvSpPr>
        <p:spPr/>
        <p:txBody>
          <a:bodyPr/>
          <a:lstStyle/>
          <a:p>
            <a:fld id="{44A9A2A8-896A-4908-99A1-F33C2133E199}" type="slidenum">
              <a:rPr lang="en-US" smtClean="0"/>
              <a:t>‹#›</a:t>
            </a:fld>
            <a:endParaRPr lang="en-US"/>
          </a:p>
        </p:txBody>
      </p:sp>
      <p:pic>
        <p:nvPicPr>
          <p:cNvPr id="6" name="Picture 5" descr="A picture containing calendar&#10;&#10;Description automatically generated">
            <a:extLst>
              <a:ext uri="{FF2B5EF4-FFF2-40B4-BE49-F238E27FC236}">
                <a16:creationId xmlns:a16="http://schemas.microsoft.com/office/drawing/2014/main" id="{775CBC47-66D8-6B14-3700-5101CA9A86FC}"/>
              </a:ext>
            </a:extLst>
          </p:cNvPr>
          <p:cNvPicPr>
            <a:picLocks noChangeAspect="1"/>
          </p:cNvPicPr>
          <p:nvPr userDrawn="1"/>
        </p:nvPicPr>
        <p:blipFill>
          <a:blip r:embed="rId2"/>
          <a:stretch>
            <a:fillRect/>
          </a:stretch>
        </p:blipFill>
        <p:spPr>
          <a:xfrm>
            <a:off x="149" y="0"/>
            <a:ext cx="12191702" cy="6858000"/>
          </a:xfrm>
          <a:prstGeom prst="rect">
            <a:avLst/>
          </a:prstGeom>
        </p:spPr>
      </p:pic>
    </p:spTree>
    <p:extLst>
      <p:ext uri="{BB962C8B-B14F-4D97-AF65-F5344CB8AC3E}">
        <p14:creationId xmlns:p14="http://schemas.microsoft.com/office/powerpoint/2010/main" val="8598899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x" preserve="1">
  <p:cSld name="1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A94B1C-90AA-693B-D6E2-F6D98D12F7F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6E21D79-A5C5-6907-425F-1E81D8286DE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090E792-172A-833A-6F50-587F56B7BD17}"/>
              </a:ext>
            </a:extLst>
          </p:cNvPr>
          <p:cNvSpPr>
            <a:spLocks noGrp="1"/>
          </p:cNvSpPr>
          <p:nvPr>
            <p:ph type="dt" sz="half" idx="10"/>
          </p:nvPr>
        </p:nvSpPr>
        <p:spPr/>
        <p:txBody>
          <a:bodyPr/>
          <a:lstStyle/>
          <a:p>
            <a:fld id="{6909B663-BDC2-451F-9FFD-E3F973D4142A}" type="datetimeFigureOut">
              <a:rPr lang="en-US" smtClean="0"/>
              <a:t>10/31/2026</a:t>
            </a:fld>
            <a:endParaRPr lang="en-US"/>
          </a:p>
        </p:txBody>
      </p:sp>
      <p:sp>
        <p:nvSpPr>
          <p:cNvPr id="5" name="Footer Placeholder 4">
            <a:extLst>
              <a:ext uri="{FF2B5EF4-FFF2-40B4-BE49-F238E27FC236}">
                <a16:creationId xmlns:a16="http://schemas.microsoft.com/office/drawing/2014/main" id="{54AC9770-2139-DEAD-D8C8-9D453CF57847}"/>
              </a:ext>
            </a:extLst>
          </p:cNvPr>
          <p:cNvSpPr>
            <a:spLocks noGrp="1"/>
          </p:cNvSpPr>
          <p:nvPr>
            <p:ph type="ftr" sz="quarter" idx="11"/>
          </p:nvPr>
        </p:nvSpPr>
        <p:spPr/>
        <p:txBody>
          <a:bodyPr/>
          <a:lstStyle/>
          <a:p>
            <a:endParaRPr lang="en-US"/>
          </a:p>
        </p:txBody>
      </p:sp>
      <p:pic>
        <p:nvPicPr>
          <p:cNvPr id="9" name="Picture 8">
            <a:extLst>
              <a:ext uri="{FF2B5EF4-FFF2-40B4-BE49-F238E27FC236}">
                <a16:creationId xmlns:a16="http://schemas.microsoft.com/office/drawing/2014/main" id="{9BF1B271-D828-FAD4-2D6E-FE5937471FBB}"/>
              </a:ext>
            </a:extLst>
          </p:cNvPr>
          <p:cNvPicPr>
            <a:picLocks noChangeAspect="1"/>
          </p:cNvPicPr>
          <p:nvPr userDrawn="1"/>
        </p:nvPicPr>
        <p:blipFill>
          <a:blip r:embed="rId2"/>
          <a:stretch>
            <a:fillRect/>
          </a:stretch>
        </p:blipFill>
        <p:spPr>
          <a:xfrm>
            <a:off x="0" y="0"/>
            <a:ext cx="12191851" cy="6858084"/>
          </a:xfrm>
          <a:prstGeom prst="rect">
            <a:avLst/>
          </a:prstGeom>
        </p:spPr>
      </p:pic>
      <p:sp>
        <p:nvSpPr>
          <p:cNvPr id="10" name="Slide Number Placeholder 5">
            <a:extLst>
              <a:ext uri="{FF2B5EF4-FFF2-40B4-BE49-F238E27FC236}">
                <a16:creationId xmlns:a16="http://schemas.microsoft.com/office/drawing/2014/main" id="{2770F933-14CE-2DB1-9EE7-6BD214FCC5AA}"/>
              </a:ext>
            </a:extLst>
          </p:cNvPr>
          <p:cNvSpPr>
            <a:spLocks noGrp="1"/>
          </p:cNvSpPr>
          <p:nvPr>
            <p:ph type="sldNum" sz="quarter" idx="12"/>
          </p:nvPr>
        </p:nvSpPr>
        <p:spPr>
          <a:xfrm>
            <a:off x="4724325" y="6400090"/>
            <a:ext cx="2743200" cy="365125"/>
          </a:xfrm>
        </p:spPr>
        <p:txBody>
          <a:bodyPr/>
          <a:lstStyle>
            <a:lvl1pPr algn="ctr">
              <a:defRPr>
                <a:solidFill>
                  <a:schemeClr val="bg1"/>
                </a:solidFill>
              </a:defRPr>
            </a:lvl1pPr>
          </a:lstStyle>
          <a:p>
            <a:fld id="{44A9A2A8-896A-4908-99A1-F33C2133E199}" type="slidenum">
              <a:rPr lang="en-US" smtClean="0"/>
              <a:pPr/>
              <a:t>‹#›</a:t>
            </a:fld>
            <a:endParaRPr lang="en-US"/>
          </a:p>
        </p:txBody>
      </p:sp>
      <p:sp>
        <p:nvSpPr>
          <p:cNvPr id="11" name="TextBox 10">
            <a:extLst>
              <a:ext uri="{FF2B5EF4-FFF2-40B4-BE49-F238E27FC236}">
                <a16:creationId xmlns:a16="http://schemas.microsoft.com/office/drawing/2014/main" id="{3B883601-79FC-DA84-BAE6-F3073BDC4694}"/>
              </a:ext>
            </a:extLst>
          </p:cNvPr>
          <p:cNvSpPr txBox="1"/>
          <p:nvPr userDrawn="1"/>
        </p:nvSpPr>
        <p:spPr>
          <a:xfrm>
            <a:off x="282121" y="155571"/>
            <a:ext cx="3855358" cy="338554"/>
          </a:xfrm>
          <a:prstGeom prst="rect">
            <a:avLst/>
          </a:prstGeom>
          <a:noFill/>
        </p:spPr>
        <p:txBody>
          <a:bodyPr wrap="square" rtlCol="0">
            <a:spAutoFit/>
          </a:bodyPr>
          <a:lstStyle/>
          <a:p>
            <a:r>
              <a:rPr lang="en-US" sz="1600" dirty="0">
                <a:solidFill>
                  <a:schemeClr val="bg1">
                    <a:lumMod val="50000"/>
                  </a:schemeClr>
                </a:solidFill>
                <a:latin typeface="UTM Neutra" panose="02040603050506020204" pitchFamily="18" charset="0"/>
              </a:rPr>
              <a:t>CHƯƠNG 1: TỔNG QUAN</a:t>
            </a:r>
          </a:p>
        </p:txBody>
      </p:sp>
      <p:cxnSp>
        <p:nvCxnSpPr>
          <p:cNvPr id="12" name="Straight Connector 11">
            <a:extLst>
              <a:ext uri="{FF2B5EF4-FFF2-40B4-BE49-F238E27FC236}">
                <a16:creationId xmlns:a16="http://schemas.microsoft.com/office/drawing/2014/main" id="{8D0E39C6-43DA-EECF-23C6-59D63F572700}"/>
              </a:ext>
            </a:extLst>
          </p:cNvPr>
          <p:cNvCxnSpPr>
            <a:cxnSpLocks/>
          </p:cNvCxnSpPr>
          <p:nvPr userDrawn="1"/>
        </p:nvCxnSpPr>
        <p:spPr>
          <a:xfrm>
            <a:off x="371475" y="501012"/>
            <a:ext cx="2335149" cy="0"/>
          </a:xfrm>
          <a:prstGeom prst="line">
            <a:avLst/>
          </a:prstGeom>
          <a:ln w="28575">
            <a:solidFill>
              <a:schemeClr val="bg2">
                <a:lumMod val="50000"/>
              </a:schemeClr>
            </a:solidFill>
          </a:ln>
        </p:spPr>
        <p:style>
          <a:lnRef idx="1">
            <a:schemeClr val="accent3"/>
          </a:lnRef>
          <a:fillRef idx="0">
            <a:schemeClr val="accent3"/>
          </a:fillRef>
          <a:effectRef idx="0">
            <a:schemeClr val="accent3"/>
          </a:effectRef>
          <a:fontRef idx="minor">
            <a:schemeClr val="tx1"/>
          </a:fontRef>
        </p:style>
      </p:cxnSp>
      <p:sp>
        <p:nvSpPr>
          <p:cNvPr id="13" name="TextBox 12">
            <a:extLst>
              <a:ext uri="{FF2B5EF4-FFF2-40B4-BE49-F238E27FC236}">
                <a16:creationId xmlns:a16="http://schemas.microsoft.com/office/drawing/2014/main" id="{2D06680A-407A-232D-71BD-099E05DE8702}"/>
              </a:ext>
            </a:extLst>
          </p:cNvPr>
          <p:cNvSpPr txBox="1"/>
          <p:nvPr userDrawn="1"/>
        </p:nvSpPr>
        <p:spPr>
          <a:xfrm>
            <a:off x="282121" y="524902"/>
            <a:ext cx="3855358" cy="276999"/>
          </a:xfrm>
          <a:prstGeom prst="rect">
            <a:avLst/>
          </a:prstGeom>
          <a:noFill/>
        </p:spPr>
        <p:txBody>
          <a:bodyPr wrap="square" rtlCol="0">
            <a:spAutoFit/>
          </a:bodyPr>
          <a:lstStyle/>
          <a:p>
            <a:r>
              <a:rPr lang="en-US" sz="1200" dirty="0">
                <a:solidFill>
                  <a:srgbClr val="085189"/>
                </a:solidFill>
                <a:latin typeface="UTM Neutra" panose="02040603050506020204" pitchFamily="18" charset="0"/>
              </a:rPr>
              <a:t>1.1 ĐỀ CƯƠNG CHI TIẾT</a:t>
            </a:r>
          </a:p>
        </p:txBody>
      </p:sp>
    </p:spTree>
    <p:extLst>
      <p:ext uri="{BB962C8B-B14F-4D97-AF65-F5344CB8AC3E}">
        <p14:creationId xmlns:p14="http://schemas.microsoft.com/office/powerpoint/2010/main" val="18056454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45AD15-D119-3EC8-CC44-70BEA3B6504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0AA86BB-6BC0-9D87-3DB9-785B71EFD3D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AC3F056-854A-B42C-E05E-FAD8E313A39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1260A57-B6F0-C52A-A084-BED79297992B}"/>
              </a:ext>
            </a:extLst>
          </p:cNvPr>
          <p:cNvSpPr>
            <a:spLocks noGrp="1"/>
          </p:cNvSpPr>
          <p:nvPr>
            <p:ph type="dt" sz="half" idx="10"/>
          </p:nvPr>
        </p:nvSpPr>
        <p:spPr/>
        <p:txBody>
          <a:bodyPr/>
          <a:lstStyle/>
          <a:p>
            <a:fld id="{6909B663-BDC2-451F-9FFD-E3F973D4142A}" type="datetimeFigureOut">
              <a:rPr lang="en-US" smtClean="0"/>
              <a:t>10/31/2026</a:t>
            </a:fld>
            <a:endParaRPr lang="en-US"/>
          </a:p>
        </p:txBody>
      </p:sp>
      <p:sp>
        <p:nvSpPr>
          <p:cNvPr id="6" name="Footer Placeholder 5">
            <a:extLst>
              <a:ext uri="{FF2B5EF4-FFF2-40B4-BE49-F238E27FC236}">
                <a16:creationId xmlns:a16="http://schemas.microsoft.com/office/drawing/2014/main" id="{88BC4353-A360-8F1B-B427-2F470FB6BDCD}"/>
              </a:ext>
            </a:extLst>
          </p:cNvPr>
          <p:cNvSpPr>
            <a:spLocks noGrp="1"/>
          </p:cNvSpPr>
          <p:nvPr>
            <p:ph type="ftr" sz="quarter" idx="11"/>
          </p:nvPr>
        </p:nvSpPr>
        <p:spPr/>
        <p:txBody>
          <a:bodyPr/>
          <a:lstStyle/>
          <a:p>
            <a:endParaRPr lang="en-US"/>
          </a:p>
        </p:txBody>
      </p:sp>
      <p:pic>
        <p:nvPicPr>
          <p:cNvPr id="10" name="Picture 9">
            <a:extLst>
              <a:ext uri="{FF2B5EF4-FFF2-40B4-BE49-F238E27FC236}">
                <a16:creationId xmlns:a16="http://schemas.microsoft.com/office/drawing/2014/main" id="{B51DD0A4-8111-B4A5-8A23-89C6E7C98499}"/>
              </a:ext>
            </a:extLst>
          </p:cNvPr>
          <p:cNvPicPr>
            <a:picLocks noChangeAspect="1"/>
          </p:cNvPicPr>
          <p:nvPr userDrawn="1"/>
        </p:nvPicPr>
        <p:blipFill>
          <a:blip r:embed="rId2"/>
          <a:stretch>
            <a:fillRect/>
          </a:stretch>
        </p:blipFill>
        <p:spPr>
          <a:xfrm>
            <a:off x="148" y="0"/>
            <a:ext cx="12191851" cy="6858084"/>
          </a:xfrm>
          <a:prstGeom prst="rect">
            <a:avLst/>
          </a:prstGeom>
        </p:spPr>
      </p:pic>
      <p:sp>
        <p:nvSpPr>
          <p:cNvPr id="11" name="Slide Number Placeholder 3">
            <a:extLst>
              <a:ext uri="{FF2B5EF4-FFF2-40B4-BE49-F238E27FC236}">
                <a16:creationId xmlns:a16="http://schemas.microsoft.com/office/drawing/2014/main" id="{0E5ECC14-5837-1A2A-4230-80B7946BBE51}"/>
              </a:ext>
            </a:extLst>
          </p:cNvPr>
          <p:cNvSpPr txBox="1">
            <a:spLocks/>
          </p:cNvSpPr>
          <p:nvPr userDrawn="1"/>
        </p:nvSpPr>
        <p:spPr>
          <a:xfrm>
            <a:off x="3400425" y="6488766"/>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4A9A2A8-896A-4908-99A1-F33C2133E199}" type="slidenum">
              <a:rPr lang="en-US" smtClean="0">
                <a:solidFill>
                  <a:schemeClr val="bg1"/>
                </a:solidFill>
              </a:rPr>
              <a:pPr/>
              <a:t>‹#›</a:t>
            </a:fld>
            <a:endParaRPr lang="en-US" dirty="0">
              <a:solidFill>
                <a:schemeClr val="bg1"/>
              </a:solidFill>
            </a:endParaRPr>
          </a:p>
        </p:txBody>
      </p:sp>
      <p:sp>
        <p:nvSpPr>
          <p:cNvPr id="12" name="TextBox 11">
            <a:extLst>
              <a:ext uri="{FF2B5EF4-FFF2-40B4-BE49-F238E27FC236}">
                <a16:creationId xmlns:a16="http://schemas.microsoft.com/office/drawing/2014/main" id="{2A2E9BD3-7155-55B5-DC53-19DEAEE2ACE7}"/>
              </a:ext>
            </a:extLst>
          </p:cNvPr>
          <p:cNvSpPr txBox="1"/>
          <p:nvPr userDrawn="1"/>
        </p:nvSpPr>
        <p:spPr>
          <a:xfrm>
            <a:off x="282121" y="155571"/>
            <a:ext cx="3855358" cy="338554"/>
          </a:xfrm>
          <a:prstGeom prst="rect">
            <a:avLst/>
          </a:prstGeom>
          <a:noFill/>
        </p:spPr>
        <p:txBody>
          <a:bodyPr wrap="square" rtlCol="0">
            <a:spAutoFit/>
          </a:bodyPr>
          <a:lstStyle/>
          <a:p>
            <a:r>
              <a:rPr lang="en-US" sz="1600" dirty="0">
                <a:solidFill>
                  <a:schemeClr val="bg1">
                    <a:lumMod val="50000"/>
                  </a:schemeClr>
                </a:solidFill>
                <a:latin typeface="UTM Neutra" panose="02040603050506020204" pitchFamily="18" charset="0"/>
              </a:rPr>
              <a:t>CHƯƠNG 1: TỔNG QUAN</a:t>
            </a:r>
          </a:p>
        </p:txBody>
      </p:sp>
      <p:cxnSp>
        <p:nvCxnSpPr>
          <p:cNvPr id="13" name="Straight Connector 12">
            <a:extLst>
              <a:ext uri="{FF2B5EF4-FFF2-40B4-BE49-F238E27FC236}">
                <a16:creationId xmlns:a16="http://schemas.microsoft.com/office/drawing/2014/main" id="{E45E6485-FA4A-8EEC-5351-59431317D7CB}"/>
              </a:ext>
            </a:extLst>
          </p:cNvPr>
          <p:cNvCxnSpPr>
            <a:cxnSpLocks/>
          </p:cNvCxnSpPr>
          <p:nvPr userDrawn="1"/>
        </p:nvCxnSpPr>
        <p:spPr>
          <a:xfrm>
            <a:off x="371475" y="501012"/>
            <a:ext cx="2335149" cy="0"/>
          </a:xfrm>
          <a:prstGeom prst="line">
            <a:avLst/>
          </a:prstGeom>
          <a:ln w="28575">
            <a:solidFill>
              <a:schemeClr val="bg2">
                <a:lumMod val="50000"/>
              </a:schemeClr>
            </a:solidFill>
          </a:ln>
        </p:spPr>
        <p:style>
          <a:lnRef idx="1">
            <a:schemeClr val="accent3"/>
          </a:lnRef>
          <a:fillRef idx="0">
            <a:schemeClr val="accent3"/>
          </a:fillRef>
          <a:effectRef idx="0">
            <a:schemeClr val="accent3"/>
          </a:effectRef>
          <a:fontRef idx="minor">
            <a:schemeClr val="tx1"/>
          </a:fontRef>
        </p:style>
      </p:cxnSp>
      <p:sp>
        <p:nvSpPr>
          <p:cNvPr id="14" name="TextBox 13">
            <a:extLst>
              <a:ext uri="{FF2B5EF4-FFF2-40B4-BE49-F238E27FC236}">
                <a16:creationId xmlns:a16="http://schemas.microsoft.com/office/drawing/2014/main" id="{57B06640-5366-A68D-F217-AB17AE3CEB1E}"/>
              </a:ext>
            </a:extLst>
          </p:cNvPr>
          <p:cNvSpPr txBox="1"/>
          <p:nvPr userDrawn="1"/>
        </p:nvSpPr>
        <p:spPr>
          <a:xfrm>
            <a:off x="282121" y="524902"/>
            <a:ext cx="3855358" cy="276999"/>
          </a:xfrm>
          <a:prstGeom prst="rect">
            <a:avLst/>
          </a:prstGeom>
          <a:noFill/>
        </p:spPr>
        <p:txBody>
          <a:bodyPr wrap="square" rtlCol="0">
            <a:spAutoFit/>
          </a:bodyPr>
          <a:lstStyle/>
          <a:p>
            <a:r>
              <a:rPr lang="en-US" sz="1200" dirty="0">
                <a:solidFill>
                  <a:srgbClr val="085189"/>
                </a:solidFill>
                <a:latin typeface="UTM Neutra" panose="02040603050506020204" pitchFamily="18" charset="0"/>
              </a:rPr>
              <a:t>1.1 ĐỀ CƯƠNG CHI TIẾT</a:t>
            </a:r>
          </a:p>
        </p:txBody>
      </p:sp>
    </p:spTree>
    <p:extLst>
      <p:ext uri="{BB962C8B-B14F-4D97-AF65-F5344CB8AC3E}">
        <p14:creationId xmlns:p14="http://schemas.microsoft.com/office/powerpoint/2010/main" val="1194854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932B175-B3D0-2F50-4BE0-5C1C5BFAC857}"/>
              </a:ext>
            </a:extLst>
          </p:cNvPr>
          <p:cNvSpPr>
            <a:spLocks noGrp="1"/>
          </p:cNvSpPr>
          <p:nvPr>
            <p:ph type="dt" sz="half" idx="10"/>
          </p:nvPr>
        </p:nvSpPr>
        <p:spPr/>
        <p:txBody>
          <a:bodyPr/>
          <a:lstStyle/>
          <a:p>
            <a:fld id="{6909B663-BDC2-451F-9FFD-E3F973D4142A}" type="datetimeFigureOut">
              <a:rPr lang="en-US" smtClean="0"/>
              <a:t>10/31/2026</a:t>
            </a:fld>
            <a:endParaRPr lang="en-US"/>
          </a:p>
        </p:txBody>
      </p:sp>
      <p:sp>
        <p:nvSpPr>
          <p:cNvPr id="5" name="Footer Placeholder 4">
            <a:extLst>
              <a:ext uri="{FF2B5EF4-FFF2-40B4-BE49-F238E27FC236}">
                <a16:creationId xmlns:a16="http://schemas.microsoft.com/office/drawing/2014/main" id="{5784F3EE-651B-C7A4-7C4B-F86E5D1791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DCEE28-EB67-1727-82A8-9EB50F933EAC}"/>
              </a:ext>
            </a:extLst>
          </p:cNvPr>
          <p:cNvSpPr>
            <a:spLocks noGrp="1"/>
          </p:cNvSpPr>
          <p:nvPr>
            <p:ph type="sldNum" sz="quarter" idx="12"/>
          </p:nvPr>
        </p:nvSpPr>
        <p:spPr/>
        <p:txBody>
          <a:bodyPr/>
          <a:lstStyle/>
          <a:p>
            <a:fld id="{44A9A2A8-896A-4908-99A1-F33C2133E199}" type="slidenum">
              <a:rPr lang="en-US" smtClean="0"/>
              <a:t>‹#›</a:t>
            </a:fld>
            <a:endParaRPr lang="en-US"/>
          </a:p>
        </p:txBody>
      </p:sp>
      <p:pic>
        <p:nvPicPr>
          <p:cNvPr id="8" name="Picture 7" descr="Shape&#10;&#10;Description automatically generated with low confidence">
            <a:extLst>
              <a:ext uri="{FF2B5EF4-FFF2-40B4-BE49-F238E27FC236}">
                <a16:creationId xmlns:a16="http://schemas.microsoft.com/office/drawing/2014/main" id="{BC4DE8E7-D11B-BA5E-7E38-EDDC2AA8FF9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5457371"/>
            <a:ext cx="12192000" cy="1400629"/>
          </a:xfrm>
          <a:prstGeom prst="rect">
            <a:avLst/>
          </a:prstGeom>
        </p:spPr>
      </p:pic>
      <p:sp>
        <p:nvSpPr>
          <p:cNvPr id="11" name="Slide Number Placeholder 3">
            <a:extLst>
              <a:ext uri="{FF2B5EF4-FFF2-40B4-BE49-F238E27FC236}">
                <a16:creationId xmlns:a16="http://schemas.microsoft.com/office/drawing/2014/main" id="{7C9DFFF3-6EF9-386C-317D-6AFECFF277C3}"/>
              </a:ext>
            </a:extLst>
          </p:cNvPr>
          <p:cNvSpPr txBox="1">
            <a:spLocks/>
          </p:cNvSpPr>
          <p:nvPr userDrawn="1"/>
        </p:nvSpPr>
        <p:spPr>
          <a:xfrm>
            <a:off x="92964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4A9A2A8-896A-4908-99A1-F33C2133E199}" type="slidenum">
              <a:rPr lang="en-US" smtClean="0">
                <a:solidFill>
                  <a:schemeClr val="bg1"/>
                </a:solidFill>
              </a:rPr>
              <a:pPr/>
              <a:t>‹#›</a:t>
            </a:fld>
            <a:endParaRPr lang="en-US">
              <a:solidFill>
                <a:schemeClr val="bg1"/>
              </a:solidFill>
            </a:endParaRPr>
          </a:p>
        </p:txBody>
      </p:sp>
      <p:sp>
        <p:nvSpPr>
          <p:cNvPr id="12" name="TextBox 11">
            <a:extLst>
              <a:ext uri="{FF2B5EF4-FFF2-40B4-BE49-F238E27FC236}">
                <a16:creationId xmlns:a16="http://schemas.microsoft.com/office/drawing/2014/main" id="{2D2460D0-200A-937A-8A2A-B7A97F2A8D23}"/>
              </a:ext>
            </a:extLst>
          </p:cNvPr>
          <p:cNvSpPr txBox="1"/>
          <p:nvPr userDrawn="1"/>
        </p:nvSpPr>
        <p:spPr>
          <a:xfrm>
            <a:off x="297543" y="217714"/>
            <a:ext cx="3855358" cy="276999"/>
          </a:xfrm>
          <a:prstGeom prst="rect">
            <a:avLst/>
          </a:prstGeom>
          <a:noFill/>
        </p:spPr>
        <p:txBody>
          <a:bodyPr wrap="square" rtlCol="0">
            <a:spAutoFit/>
          </a:bodyPr>
          <a:lstStyle/>
          <a:p>
            <a:r>
              <a:rPr lang="en-US" sz="1200" dirty="0">
                <a:solidFill>
                  <a:schemeClr val="bg1">
                    <a:lumMod val="50000"/>
                  </a:schemeClr>
                </a:solidFill>
                <a:latin typeface="UTM Neutra" panose="02040603050506020204" pitchFamily="18" charset="0"/>
              </a:rPr>
              <a:t>CHƯƠNG 1: TỔNG QUAN</a:t>
            </a:r>
          </a:p>
        </p:txBody>
      </p:sp>
      <p:cxnSp>
        <p:nvCxnSpPr>
          <p:cNvPr id="14" name="Straight Connector 13">
            <a:extLst>
              <a:ext uri="{FF2B5EF4-FFF2-40B4-BE49-F238E27FC236}">
                <a16:creationId xmlns:a16="http://schemas.microsoft.com/office/drawing/2014/main" id="{B83E8B11-B11E-4836-9E0A-CCECE2E44E66}"/>
              </a:ext>
            </a:extLst>
          </p:cNvPr>
          <p:cNvCxnSpPr>
            <a:cxnSpLocks/>
          </p:cNvCxnSpPr>
          <p:nvPr userDrawn="1"/>
        </p:nvCxnSpPr>
        <p:spPr>
          <a:xfrm flipV="1">
            <a:off x="371475" y="494125"/>
            <a:ext cx="2047634" cy="588"/>
          </a:xfrm>
          <a:prstGeom prst="line">
            <a:avLst/>
          </a:prstGeom>
          <a:ln w="12700"/>
        </p:spPr>
        <p:style>
          <a:lnRef idx="1">
            <a:schemeClr val="accent3"/>
          </a:lnRef>
          <a:fillRef idx="0">
            <a:schemeClr val="accent3"/>
          </a:fillRef>
          <a:effectRef idx="0">
            <a:schemeClr val="accent3"/>
          </a:effectRef>
          <a:fontRef idx="minor">
            <a:schemeClr val="tx1"/>
          </a:fontRef>
        </p:style>
      </p:cxnSp>
      <p:sp>
        <p:nvSpPr>
          <p:cNvPr id="16" name="TextBox 15">
            <a:extLst>
              <a:ext uri="{FF2B5EF4-FFF2-40B4-BE49-F238E27FC236}">
                <a16:creationId xmlns:a16="http://schemas.microsoft.com/office/drawing/2014/main" id="{D2BEE2CC-74A1-111D-2E46-E975A15F4E03}"/>
              </a:ext>
            </a:extLst>
          </p:cNvPr>
          <p:cNvSpPr txBox="1"/>
          <p:nvPr userDrawn="1"/>
        </p:nvSpPr>
        <p:spPr>
          <a:xfrm>
            <a:off x="3402693" y="217126"/>
            <a:ext cx="3855358" cy="276999"/>
          </a:xfrm>
          <a:prstGeom prst="rect">
            <a:avLst/>
          </a:prstGeom>
          <a:noFill/>
        </p:spPr>
        <p:txBody>
          <a:bodyPr wrap="square" rtlCol="0">
            <a:spAutoFit/>
          </a:bodyPr>
          <a:lstStyle/>
          <a:p>
            <a:r>
              <a:rPr lang="en-US" sz="1200" dirty="0">
                <a:solidFill>
                  <a:srgbClr val="085189"/>
                </a:solidFill>
                <a:latin typeface="UTM Neutra" panose="02040603050506020204" pitchFamily="18" charset="0"/>
              </a:rPr>
              <a:t>1.1 ĐỀ CƯƠNG CHI TIẾT</a:t>
            </a:r>
          </a:p>
        </p:txBody>
      </p:sp>
      <p:cxnSp>
        <p:nvCxnSpPr>
          <p:cNvPr id="17" name="Straight Connector 16">
            <a:extLst>
              <a:ext uri="{FF2B5EF4-FFF2-40B4-BE49-F238E27FC236}">
                <a16:creationId xmlns:a16="http://schemas.microsoft.com/office/drawing/2014/main" id="{CB6DB47C-4FFB-0B52-97E8-CFD46BF2D6FC}"/>
              </a:ext>
            </a:extLst>
          </p:cNvPr>
          <p:cNvCxnSpPr>
            <a:cxnSpLocks/>
          </p:cNvCxnSpPr>
          <p:nvPr userDrawn="1"/>
        </p:nvCxnSpPr>
        <p:spPr>
          <a:xfrm>
            <a:off x="3476625" y="494125"/>
            <a:ext cx="1639385" cy="0"/>
          </a:xfrm>
          <a:prstGeom prst="line">
            <a:avLst/>
          </a:prstGeom>
          <a:ln w="12700">
            <a:solidFill>
              <a:srgbClr val="085189"/>
            </a:solidFill>
          </a:ln>
        </p:spPr>
        <p:style>
          <a:lnRef idx="1">
            <a:schemeClr val="accent3"/>
          </a:lnRef>
          <a:fillRef idx="0">
            <a:schemeClr val="accent3"/>
          </a:fillRef>
          <a:effectRef idx="0">
            <a:schemeClr val="accent3"/>
          </a:effectRef>
          <a:fontRef idx="minor">
            <a:schemeClr val="tx1"/>
          </a:fontRef>
        </p:style>
      </p:cxnSp>
    </p:spTree>
    <p:extLst>
      <p:ext uri="{BB962C8B-B14F-4D97-AF65-F5344CB8AC3E}">
        <p14:creationId xmlns:p14="http://schemas.microsoft.com/office/powerpoint/2010/main" val="31604997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Title Slide">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932B175-B3D0-2F50-4BE0-5C1C5BFAC857}"/>
              </a:ext>
            </a:extLst>
          </p:cNvPr>
          <p:cNvSpPr>
            <a:spLocks noGrp="1"/>
          </p:cNvSpPr>
          <p:nvPr>
            <p:ph type="dt" sz="half" idx="10"/>
          </p:nvPr>
        </p:nvSpPr>
        <p:spPr/>
        <p:txBody>
          <a:bodyPr/>
          <a:lstStyle/>
          <a:p>
            <a:fld id="{6909B663-BDC2-451F-9FFD-E3F973D4142A}" type="datetimeFigureOut">
              <a:rPr lang="en-US" smtClean="0"/>
              <a:t>10/31/2026</a:t>
            </a:fld>
            <a:endParaRPr lang="en-US"/>
          </a:p>
        </p:txBody>
      </p:sp>
      <p:sp>
        <p:nvSpPr>
          <p:cNvPr id="5" name="Footer Placeholder 4">
            <a:extLst>
              <a:ext uri="{FF2B5EF4-FFF2-40B4-BE49-F238E27FC236}">
                <a16:creationId xmlns:a16="http://schemas.microsoft.com/office/drawing/2014/main" id="{5784F3EE-651B-C7A4-7C4B-F86E5D1791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DCEE28-EB67-1727-82A8-9EB50F933EAC}"/>
              </a:ext>
            </a:extLst>
          </p:cNvPr>
          <p:cNvSpPr>
            <a:spLocks noGrp="1"/>
          </p:cNvSpPr>
          <p:nvPr>
            <p:ph type="sldNum" sz="quarter" idx="12"/>
          </p:nvPr>
        </p:nvSpPr>
        <p:spPr/>
        <p:txBody>
          <a:bodyPr/>
          <a:lstStyle/>
          <a:p>
            <a:fld id="{44A9A2A8-896A-4908-99A1-F33C2133E199}" type="slidenum">
              <a:rPr lang="en-US" smtClean="0"/>
              <a:t>‹#›</a:t>
            </a:fld>
            <a:endParaRPr lang="en-US"/>
          </a:p>
        </p:txBody>
      </p:sp>
      <p:pic>
        <p:nvPicPr>
          <p:cNvPr id="8" name="Picture 7" descr="Shape&#10;&#10;Description automatically generated with low confidence">
            <a:extLst>
              <a:ext uri="{FF2B5EF4-FFF2-40B4-BE49-F238E27FC236}">
                <a16:creationId xmlns:a16="http://schemas.microsoft.com/office/drawing/2014/main" id="{BC4DE8E7-D11B-BA5E-7E38-EDDC2AA8FF9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5457371"/>
            <a:ext cx="12192000" cy="1400629"/>
          </a:xfrm>
          <a:prstGeom prst="rect">
            <a:avLst/>
          </a:prstGeom>
        </p:spPr>
      </p:pic>
      <p:sp>
        <p:nvSpPr>
          <p:cNvPr id="11" name="Slide Number Placeholder 3">
            <a:extLst>
              <a:ext uri="{FF2B5EF4-FFF2-40B4-BE49-F238E27FC236}">
                <a16:creationId xmlns:a16="http://schemas.microsoft.com/office/drawing/2014/main" id="{7C9DFFF3-6EF9-386C-317D-6AFECFF277C3}"/>
              </a:ext>
            </a:extLst>
          </p:cNvPr>
          <p:cNvSpPr txBox="1">
            <a:spLocks/>
          </p:cNvSpPr>
          <p:nvPr userDrawn="1"/>
        </p:nvSpPr>
        <p:spPr>
          <a:xfrm>
            <a:off x="92964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4A9A2A8-896A-4908-99A1-F33C2133E199}" type="slidenum">
              <a:rPr lang="en-US" smtClean="0">
                <a:solidFill>
                  <a:schemeClr val="bg1"/>
                </a:solidFill>
              </a:rPr>
              <a:pPr/>
              <a:t>‹#›</a:t>
            </a:fld>
            <a:endParaRPr lang="en-US" dirty="0">
              <a:solidFill>
                <a:schemeClr val="bg1"/>
              </a:solidFill>
            </a:endParaRPr>
          </a:p>
        </p:txBody>
      </p:sp>
      <p:sp>
        <p:nvSpPr>
          <p:cNvPr id="12" name="TextBox 11">
            <a:extLst>
              <a:ext uri="{FF2B5EF4-FFF2-40B4-BE49-F238E27FC236}">
                <a16:creationId xmlns:a16="http://schemas.microsoft.com/office/drawing/2014/main" id="{2D2460D0-200A-937A-8A2A-B7A97F2A8D23}"/>
              </a:ext>
            </a:extLst>
          </p:cNvPr>
          <p:cNvSpPr txBox="1"/>
          <p:nvPr userDrawn="1"/>
        </p:nvSpPr>
        <p:spPr>
          <a:xfrm>
            <a:off x="297543" y="217714"/>
            <a:ext cx="3855358" cy="276999"/>
          </a:xfrm>
          <a:prstGeom prst="rect">
            <a:avLst/>
          </a:prstGeom>
          <a:noFill/>
        </p:spPr>
        <p:txBody>
          <a:bodyPr wrap="square" rtlCol="0">
            <a:spAutoFit/>
          </a:bodyPr>
          <a:lstStyle/>
          <a:p>
            <a:r>
              <a:rPr lang="en-US" sz="1200" dirty="0">
                <a:solidFill>
                  <a:schemeClr val="bg1">
                    <a:lumMod val="50000"/>
                  </a:schemeClr>
                </a:solidFill>
                <a:latin typeface="UTM Neutra" panose="02040603050506020204" pitchFamily="18" charset="0"/>
              </a:rPr>
              <a:t>HƯỚNG DẪN SỬ DỤNG BỘ NHẬN DIỆN</a:t>
            </a:r>
          </a:p>
        </p:txBody>
      </p:sp>
      <p:cxnSp>
        <p:nvCxnSpPr>
          <p:cNvPr id="14" name="Straight Connector 13">
            <a:extLst>
              <a:ext uri="{FF2B5EF4-FFF2-40B4-BE49-F238E27FC236}">
                <a16:creationId xmlns:a16="http://schemas.microsoft.com/office/drawing/2014/main" id="{B83E8B11-B11E-4836-9E0A-CCECE2E44E66}"/>
              </a:ext>
            </a:extLst>
          </p:cNvPr>
          <p:cNvCxnSpPr>
            <a:cxnSpLocks/>
          </p:cNvCxnSpPr>
          <p:nvPr userDrawn="1"/>
        </p:nvCxnSpPr>
        <p:spPr>
          <a:xfrm>
            <a:off x="371475" y="494713"/>
            <a:ext cx="2743200" cy="0"/>
          </a:xfrm>
          <a:prstGeom prst="line">
            <a:avLst/>
          </a:prstGeom>
          <a:ln w="12700"/>
        </p:spPr>
        <p:style>
          <a:lnRef idx="1">
            <a:schemeClr val="accent3"/>
          </a:lnRef>
          <a:fillRef idx="0">
            <a:schemeClr val="accent3"/>
          </a:fillRef>
          <a:effectRef idx="0">
            <a:schemeClr val="accent3"/>
          </a:effectRef>
          <a:fontRef idx="minor">
            <a:schemeClr val="tx1"/>
          </a:fontRef>
        </p:style>
      </p:cxnSp>
      <p:sp>
        <p:nvSpPr>
          <p:cNvPr id="16" name="TextBox 15">
            <a:extLst>
              <a:ext uri="{FF2B5EF4-FFF2-40B4-BE49-F238E27FC236}">
                <a16:creationId xmlns:a16="http://schemas.microsoft.com/office/drawing/2014/main" id="{D2BEE2CC-74A1-111D-2E46-E975A15F4E03}"/>
              </a:ext>
            </a:extLst>
          </p:cNvPr>
          <p:cNvSpPr txBox="1"/>
          <p:nvPr userDrawn="1"/>
        </p:nvSpPr>
        <p:spPr>
          <a:xfrm>
            <a:off x="3402693" y="217126"/>
            <a:ext cx="3855358" cy="276999"/>
          </a:xfrm>
          <a:prstGeom prst="rect">
            <a:avLst/>
          </a:prstGeom>
          <a:noFill/>
        </p:spPr>
        <p:txBody>
          <a:bodyPr wrap="square" rtlCol="0">
            <a:spAutoFit/>
          </a:bodyPr>
          <a:lstStyle/>
          <a:p>
            <a:r>
              <a:rPr lang="en-US" sz="1200" dirty="0">
                <a:solidFill>
                  <a:srgbClr val="085189"/>
                </a:solidFill>
                <a:latin typeface="UTM Neutra" panose="02040603050506020204" pitchFamily="18" charset="0"/>
              </a:rPr>
              <a:t>Quà tặng</a:t>
            </a:r>
          </a:p>
        </p:txBody>
      </p:sp>
      <p:cxnSp>
        <p:nvCxnSpPr>
          <p:cNvPr id="17" name="Straight Connector 16">
            <a:extLst>
              <a:ext uri="{FF2B5EF4-FFF2-40B4-BE49-F238E27FC236}">
                <a16:creationId xmlns:a16="http://schemas.microsoft.com/office/drawing/2014/main" id="{CB6DB47C-4FFB-0B52-97E8-CFD46BF2D6FC}"/>
              </a:ext>
            </a:extLst>
          </p:cNvPr>
          <p:cNvCxnSpPr>
            <a:cxnSpLocks/>
          </p:cNvCxnSpPr>
          <p:nvPr userDrawn="1"/>
        </p:nvCxnSpPr>
        <p:spPr>
          <a:xfrm>
            <a:off x="3476625" y="494125"/>
            <a:ext cx="778852" cy="0"/>
          </a:xfrm>
          <a:prstGeom prst="line">
            <a:avLst/>
          </a:prstGeom>
          <a:ln w="12700">
            <a:solidFill>
              <a:srgbClr val="085189"/>
            </a:solidFill>
          </a:ln>
        </p:spPr>
        <p:style>
          <a:lnRef idx="1">
            <a:schemeClr val="accent3"/>
          </a:lnRef>
          <a:fillRef idx="0">
            <a:schemeClr val="accent3"/>
          </a:fillRef>
          <a:effectRef idx="0">
            <a:schemeClr val="accent3"/>
          </a:effectRef>
          <a:fontRef idx="minor">
            <a:schemeClr val="tx1"/>
          </a:fontRef>
        </p:style>
      </p:cxnSp>
    </p:spTree>
    <p:extLst>
      <p:ext uri="{BB962C8B-B14F-4D97-AF65-F5344CB8AC3E}">
        <p14:creationId xmlns:p14="http://schemas.microsoft.com/office/powerpoint/2010/main" val="13732098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464484-B245-9786-96F3-ACCEA902CDA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4BE9F73-0429-1113-2FF0-D37AC808DAB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3124FBF-32A7-F2F3-76F1-0BAEF05B2423}"/>
              </a:ext>
            </a:extLst>
          </p:cNvPr>
          <p:cNvSpPr>
            <a:spLocks noGrp="1"/>
          </p:cNvSpPr>
          <p:nvPr>
            <p:ph type="dt" sz="half" idx="10"/>
          </p:nvPr>
        </p:nvSpPr>
        <p:spPr/>
        <p:txBody>
          <a:bodyPr/>
          <a:lstStyle/>
          <a:p>
            <a:fld id="{6909B663-BDC2-451F-9FFD-E3F973D4142A}" type="datetimeFigureOut">
              <a:rPr lang="en-US" smtClean="0"/>
              <a:t>10/31/2026</a:t>
            </a:fld>
            <a:endParaRPr lang="en-US"/>
          </a:p>
        </p:txBody>
      </p:sp>
      <p:sp>
        <p:nvSpPr>
          <p:cNvPr id="5" name="Footer Placeholder 4">
            <a:extLst>
              <a:ext uri="{FF2B5EF4-FFF2-40B4-BE49-F238E27FC236}">
                <a16:creationId xmlns:a16="http://schemas.microsoft.com/office/drawing/2014/main" id="{1E623DC7-77C8-68D3-5521-66F1B89AFDB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D42FC1-5327-03BD-A517-DC428CBF85D5}"/>
              </a:ext>
            </a:extLst>
          </p:cNvPr>
          <p:cNvSpPr>
            <a:spLocks noGrp="1"/>
          </p:cNvSpPr>
          <p:nvPr>
            <p:ph type="sldNum" sz="quarter" idx="12"/>
          </p:nvPr>
        </p:nvSpPr>
        <p:spPr/>
        <p:txBody>
          <a:bodyPr/>
          <a:lstStyle/>
          <a:p>
            <a:fld id="{44A9A2A8-896A-4908-99A1-F33C2133E199}" type="slidenum">
              <a:rPr lang="en-US" smtClean="0"/>
              <a:t>‹#›</a:t>
            </a:fld>
            <a:endParaRPr lang="en-US"/>
          </a:p>
        </p:txBody>
      </p:sp>
      <p:pic>
        <p:nvPicPr>
          <p:cNvPr id="10" name="Picture 9" descr="Icon&#10;&#10;Description automatically generated with medium confidence">
            <a:extLst>
              <a:ext uri="{FF2B5EF4-FFF2-40B4-BE49-F238E27FC236}">
                <a16:creationId xmlns:a16="http://schemas.microsoft.com/office/drawing/2014/main" id="{B74BDEF2-764A-5CA4-2205-ABE449F1B72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200417" cy="6858000"/>
          </a:xfrm>
          <a:prstGeom prst="rect">
            <a:avLst/>
          </a:prstGeom>
        </p:spPr>
      </p:pic>
    </p:spTree>
    <p:extLst>
      <p:ext uri="{BB962C8B-B14F-4D97-AF65-F5344CB8AC3E}">
        <p14:creationId xmlns:p14="http://schemas.microsoft.com/office/powerpoint/2010/main" val="4909758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DE7E74-2157-8156-D04F-4345F804492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8B8762B-AC7A-09DA-B823-68098AE1FD3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FF66B2A-EBD2-4E27-D79A-E6E2B45684FC}"/>
              </a:ext>
            </a:extLst>
          </p:cNvPr>
          <p:cNvSpPr>
            <a:spLocks noGrp="1"/>
          </p:cNvSpPr>
          <p:nvPr>
            <p:ph type="dt" sz="half" idx="10"/>
          </p:nvPr>
        </p:nvSpPr>
        <p:spPr/>
        <p:txBody>
          <a:bodyPr/>
          <a:lstStyle/>
          <a:p>
            <a:fld id="{6909B663-BDC2-451F-9FFD-E3F973D4142A}" type="datetimeFigureOut">
              <a:rPr lang="en-US" smtClean="0"/>
              <a:t>10/31/2026</a:t>
            </a:fld>
            <a:endParaRPr lang="en-US"/>
          </a:p>
        </p:txBody>
      </p:sp>
      <p:sp>
        <p:nvSpPr>
          <p:cNvPr id="5" name="Footer Placeholder 4">
            <a:extLst>
              <a:ext uri="{FF2B5EF4-FFF2-40B4-BE49-F238E27FC236}">
                <a16:creationId xmlns:a16="http://schemas.microsoft.com/office/drawing/2014/main" id="{69A86395-86D3-03C1-3B7F-E37C1BD6AA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016C12-62D9-196B-F6E4-808B448BB7CB}"/>
              </a:ext>
            </a:extLst>
          </p:cNvPr>
          <p:cNvSpPr>
            <a:spLocks noGrp="1"/>
          </p:cNvSpPr>
          <p:nvPr>
            <p:ph type="sldNum" sz="quarter" idx="12"/>
          </p:nvPr>
        </p:nvSpPr>
        <p:spPr/>
        <p:txBody>
          <a:bodyPr/>
          <a:lstStyle/>
          <a:p>
            <a:fld id="{44A9A2A8-896A-4908-99A1-F33C2133E199}" type="slidenum">
              <a:rPr lang="en-US" smtClean="0"/>
              <a:t>‹#›</a:t>
            </a:fld>
            <a:endParaRPr lang="en-US"/>
          </a:p>
        </p:txBody>
      </p:sp>
      <p:pic>
        <p:nvPicPr>
          <p:cNvPr id="8" name="Picture 7" descr="Shape&#10;&#10;Description automatically generated">
            <a:extLst>
              <a:ext uri="{FF2B5EF4-FFF2-40B4-BE49-F238E27FC236}">
                <a16:creationId xmlns:a16="http://schemas.microsoft.com/office/drawing/2014/main" id="{CB0268BD-9039-7D8F-5503-DC5674B51E04}"/>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693" b="11387"/>
          <a:stretch/>
        </p:blipFill>
        <p:spPr>
          <a:xfrm>
            <a:off x="0" y="0"/>
            <a:ext cx="12208745" cy="6857999"/>
          </a:xfrm>
          <a:prstGeom prst="rect">
            <a:avLst/>
          </a:prstGeom>
        </p:spPr>
      </p:pic>
      <p:sp>
        <p:nvSpPr>
          <p:cNvPr id="7" name="Slide Number Placeholder 6">
            <a:extLst>
              <a:ext uri="{FF2B5EF4-FFF2-40B4-BE49-F238E27FC236}">
                <a16:creationId xmlns:a16="http://schemas.microsoft.com/office/drawing/2014/main" id="{4919B322-54B7-818A-16B3-D0BEBF7BBB76}"/>
              </a:ext>
            </a:extLst>
          </p:cNvPr>
          <p:cNvSpPr txBox="1">
            <a:spLocks/>
          </p:cNvSpPr>
          <p:nvPr userDrawn="1"/>
        </p:nvSpPr>
        <p:spPr>
          <a:xfrm>
            <a:off x="8763000" y="6508750"/>
            <a:ext cx="2743200" cy="365125"/>
          </a:xfrm>
          <a:prstGeom prst="rect">
            <a:avLst/>
          </a:prstGeom>
        </p:spPr>
        <p:txBody>
          <a:bodyPr vert="horz" lIns="91440" tIns="45720" rIns="91440" bIns="45720" rtlCol="0" anchor="ctr"/>
          <a:lstStyle>
            <a:defPPr>
              <a:defRPr lang="en-V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4A9A2A8-896A-4908-99A1-F33C2133E199}" type="slidenum">
              <a:rPr lang="en-US" smtClean="0"/>
              <a:pPr/>
              <a:t>‹#›</a:t>
            </a:fld>
            <a:endParaRPr lang="en-US"/>
          </a:p>
        </p:txBody>
      </p:sp>
    </p:spTree>
    <p:extLst>
      <p:ext uri="{BB962C8B-B14F-4D97-AF65-F5344CB8AC3E}">
        <p14:creationId xmlns:p14="http://schemas.microsoft.com/office/powerpoint/2010/main" val="2661094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E43FD51-9557-5B71-222D-1EE865B9A20F}"/>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7483093-D493-DBD1-689A-0AFC949EA33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053BEB4-4BA4-2960-22AC-0D3DAB8A833F}"/>
              </a:ext>
            </a:extLst>
          </p:cNvPr>
          <p:cNvSpPr>
            <a:spLocks noGrp="1"/>
          </p:cNvSpPr>
          <p:nvPr>
            <p:ph type="dt" sz="half" idx="10"/>
          </p:nvPr>
        </p:nvSpPr>
        <p:spPr/>
        <p:txBody>
          <a:bodyPr/>
          <a:lstStyle/>
          <a:p>
            <a:fld id="{6909B663-BDC2-451F-9FFD-E3F973D4142A}" type="datetimeFigureOut">
              <a:rPr lang="en-US" smtClean="0"/>
              <a:t>10/31/2026</a:t>
            </a:fld>
            <a:endParaRPr lang="en-US"/>
          </a:p>
        </p:txBody>
      </p:sp>
      <p:sp>
        <p:nvSpPr>
          <p:cNvPr id="5" name="Footer Placeholder 4">
            <a:extLst>
              <a:ext uri="{FF2B5EF4-FFF2-40B4-BE49-F238E27FC236}">
                <a16:creationId xmlns:a16="http://schemas.microsoft.com/office/drawing/2014/main" id="{76C07CD8-5FDF-F57C-8028-DF6EFC3DE4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875602-A385-B1CF-A625-E09A8A6EA54D}"/>
              </a:ext>
            </a:extLst>
          </p:cNvPr>
          <p:cNvSpPr>
            <a:spLocks noGrp="1"/>
          </p:cNvSpPr>
          <p:nvPr>
            <p:ph type="sldNum" sz="quarter" idx="12"/>
          </p:nvPr>
        </p:nvSpPr>
        <p:spPr/>
        <p:txBody>
          <a:bodyPr/>
          <a:lstStyle/>
          <a:p>
            <a:fld id="{44A9A2A8-896A-4908-99A1-F33C2133E199}" type="slidenum">
              <a:rPr lang="en-US" smtClean="0"/>
              <a:t>‹#›</a:t>
            </a:fld>
            <a:endParaRPr lang="en-US"/>
          </a:p>
        </p:txBody>
      </p:sp>
    </p:spTree>
    <p:extLst>
      <p:ext uri="{BB962C8B-B14F-4D97-AF65-F5344CB8AC3E}">
        <p14:creationId xmlns:p14="http://schemas.microsoft.com/office/powerpoint/2010/main" val="41875612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AC0C4C-2721-EF8A-87FA-DF3697AF107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VN"/>
          </a:p>
        </p:txBody>
      </p:sp>
      <p:sp>
        <p:nvSpPr>
          <p:cNvPr id="3" name="Subtitle 2">
            <a:extLst>
              <a:ext uri="{FF2B5EF4-FFF2-40B4-BE49-F238E27FC236}">
                <a16:creationId xmlns:a16="http://schemas.microsoft.com/office/drawing/2014/main" id="{D7E65CAC-470F-FB10-EF9B-ADF4CBA29D8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VN"/>
          </a:p>
        </p:txBody>
      </p:sp>
      <p:sp>
        <p:nvSpPr>
          <p:cNvPr id="4" name="Date Placeholder 3">
            <a:extLst>
              <a:ext uri="{FF2B5EF4-FFF2-40B4-BE49-F238E27FC236}">
                <a16:creationId xmlns:a16="http://schemas.microsoft.com/office/drawing/2014/main" id="{8BEDB4B1-4694-9F7D-7268-75C4EA5B9A67}"/>
              </a:ext>
            </a:extLst>
          </p:cNvPr>
          <p:cNvSpPr>
            <a:spLocks noGrp="1"/>
          </p:cNvSpPr>
          <p:nvPr>
            <p:ph type="dt" sz="half" idx="10"/>
          </p:nvPr>
        </p:nvSpPr>
        <p:spPr/>
        <p:txBody>
          <a:bodyPr/>
          <a:lstStyle/>
          <a:p>
            <a:fld id="{A8E83637-48B6-A043-8832-174EC4489555}" type="datetimeFigureOut">
              <a:rPr lang="en-VN" smtClean="0"/>
              <a:t>10/31/2026</a:t>
            </a:fld>
            <a:endParaRPr lang="en-VN"/>
          </a:p>
        </p:txBody>
      </p:sp>
      <p:sp>
        <p:nvSpPr>
          <p:cNvPr id="5" name="Footer Placeholder 4">
            <a:extLst>
              <a:ext uri="{FF2B5EF4-FFF2-40B4-BE49-F238E27FC236}">
                <a16:creationId xmlns:a16="http://schemas.microsoft.com/office/drawing/2014/main" id="{9D25EB09-A3C3-F1A5-F128-F88BEDF1A22D}"/>
              </a:ext>
            </a:extLst>
          </p:cNvPr>
          <p:cNvSpPr>
            <a:spLocks noGrp="1"/>
          </p:cNvSpPr>
          <p:nvPr>
            <p:ph type="ftr" sz="quarter" idx="11"/>
          </p:nvPr>
        </p:nvSpPr>
        <p:spPr/>
        <p:txBody>
          <a:bodyPr/>
          <a:lstStyle/>
          <a:p>
            <a:endParaRPr lang="en-VN"/>
          </a:p>
        </p:txBody>
      </p:sp>
      <p:sp>
        <p:nvSpPr>
          <p:cNvPr id="6" name="Slide Number Placeholder 5">
            <a:extLst>
              <a:ext uri="{FF2B5EF4-FFF2-40B4-BE49-F238E27FC236}">
                <a16:creationId xmlns:a16="http://schemas.microsoft.com/office/drawing/2014/main" id="{77027631-79B9-BB38-EBE9-542AEA474BA8}"/>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26559235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FFC69-B0B5-8B6C-BC84-819A3A454678}"/>
              </a:ext>
            </a:extLst>
          </p:cNvPr>
          <p:cNvSpPr>
            <a:spLocks noGrp="1"/>
          </p:cNvSpPr>
          <p:nvPr>
            <p:ph type="title"/>
          </p:nvPr>
        </p:nvSpPr>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52F262DA-1FEC-4310-5E46-1B04C326D71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0906CCD9-EE5B-D53A-6B43-C9729A7058CD}"/>
              </a:ext>
            </a:extLst>
          </p:cNvPr>
          <p:cNvSpPr>
            <a:spLocks noGrp="1"/>
          </p:cNvSpPr>
          <p:nvPr>
            <p:ph type="dt" sz="half" idx="10"/>
          </p:nvPr>
        </p:nvSpPr>
        <p:spPr/>
        <p:txBody>
          <a:bodyPr/>
          <a:lstStyle/>
          <a:p>
            <a:fld id="{A8E83637-48B6-A043-8832-174EC4489555}" type="datetimeFigureOut">
              <a:rPr lang="en-VN" smtClean="0"/>
              <a:t>10/31/2026</a:t>
            </a:fld>
            <a:endParaRPr lang="en-VN"/>
          </a:p>
        </p:txBody>
      </p:sp>
      <p:sp>
        <p:nvSpPr>
          <p:cNvPr id="5" name="Footer Placeholder 4">
            <a:extLst>
              <a:ext uri="{FF2B5EF4-FFF2-40B4-BE49-F238E27FC236}">
                <a16:creationId xmlns:a16="http://schemas.microsoft.com/office/drawing/2014/main" id="{3684C1D6-16C3-11C2-7E8D-1BCAE3BC47FB}"/>
              </a:ext>
            </a:extLst>
          </p:cNvPr>
          <p:cNvSpPr>
            <a:spLocks noGrp="1"/>
          </p:cNvSpPr>
          <p:nvPr>
            <p:ph type="ftr" sz="quarter" idx="11"/>
          </p:nvPr>
        </p:nvSpPr>
        <p:spPr/>
        <p:txBody>
          <a:bodyPr/>
          <a:lstStyle/>
          <a:p>
            <a:endParaRPr lang="en-VN"/>
          </a:p>
        </p:txBody>
      </p:sp>
      <p:sp>
        <p:nvSpPr>
          <p:cNvPr id="6" name="Slide Number Placeholder 5">
            <a:extLst>
              <a:ext uri="{FF2B5EF4-FFF2-40B4-BE49-F238E27FC236}">
                <a16:creationId xmlns:a16="http://schemas.microsoft.com/office/drawing/2014/main" id="{EADB73A8-DD30-7C39-4428-0096F34893E2}"/>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32027682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46F02E-2A60-075B-EE80-529C57F98C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9C3FBD82-7586-2BE7-4634-B656885B844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616D4FD-E0D4-FF72-1D72-DDE7020A2CDA}"/>
              </a:ext>
            </a:extLst>
          </p:cNvPr>
          <p:cNvSpPr>
            <a:spLocks noGrp="1"/>
          </p:cNvSpPr>
          <p:nvPr>
            <p:ph type="dt" sz="half" idx="10"/>
          </p:nvPr>
        </p:nvSpPr>
        <p:spPr/>
        <p:txBody>
          <a:bodyPr/>
          <a:lstStyle/>
          <a:p>
            <a:fld id="{A8E83637-48B6-A043-8832-174EC4489555}" type="datetimeFigureOut">
              <a:rPr lang="en-VN" smtClean="0"/>
              <a:t>10/31/2026</a:t>
            </a:fld>
            <a:endParaRPr lang="en-VN"/>
          </a:p>
        </p:txBody>
      </p:sp>
      <p:sp>
        <p:nvSpPr>
          <p:cNvPr id="5" name="Footer Placeholder 4">
            <a:extLst>
              <a:ext uri="{FF2B5EF4-FFF2-40B4-BE49-F238E27FC236}">
                <a16:creationId xmlns:a16="http://schemas.microsoft.com/office/drawing/2014/main" id="{CB7372A2-CDF4-71B7-02E3-EC66216C76F0}"/>
              </a:ext>
            </a:extLst>
          </p:cNvPr>
          <p:cNvSpPr>
            <a:spLocks noGrp="1"/>
          </p:cNvSpPr>
          <p:nvPr>
            <p:ph type="ftr" sz="quarter" idx="11"/>
          </p:nvPr>
        </p:nvSpPr>
        <p:spPr/>
        <p:txBody>
          <a:bodyPr/>
          <a:lstStyle/>
          <a:p>
            <a:endParaRPr lang="en-VN"/>
          </a:p>
        </p:txBody>
      </p:sp>
      <p:sp>
        <p:nvSpPr>
          <p:cNvPr id="6" name="Slide Number Placeholder 5">
            <a:extLst>
              <a:ext uri="{FF2B5EF4-FFF2-40B4-BE49-F238E27FC236}">
                <a16:creationId xmlns:a16="http://schemas.microsoft.com/office/drawing/2014/main" id="{D4C0BD52-32DC-87F3-F017-EDFB77B4D6B7}"/>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30847431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BCD7C9-251A-681F-FE90-F34ADC8B6DB9}"/>
              </a:ext>
            </a:extLst>
          </p:cNvPr>
          <p:cNvSpPr>
            <a:spLocks noGrp="1"/>
          </p:cNvSpPr>
          <p:nvPr>
            <p:ph type="title"/>
          </p:nvPr>
        </p:nvSpPr>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50FDF3CD-9CD1-47EA-478D-273375EB517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Content Placeholder 3">
            <a:extLst>
              <a:ext uri="{FF2B5EF4-FFF2-40B4-BE49-F238E27FC236}">
                <a16:creationId xmlns:a16="http://schemas.microsoft.com/office/drawing/2014/main" id="{2930CBA9-C53B-82AF-7BCD-2815CF244E6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Date Placeholder 4">
            <a:extLst>
              <a:ext uri="{FF2B5EF4-FFF2-40B4-BE49-F238E27FC236}">
                <a16:creationId xmlns:a16="http://schemas.microsoft.com/office/drawing/2014/main" id="{5B996E49-68E5-6D5B-01D2-E2D70F2ABC6B}"/>
              </a:ext>
            </a:extLst>
          </p:cNvPr>
          <p:cNvSpPr>
            <a:spLocks noGrp="1"/>
          </p:cNvSpPr>
          <p:nvPr>
            <p:ph type="dt" sz="half" idx="10"/>
          </p:nvPr>
        </p:nvSpPr>
        <p:spPr/>
        <p:txBody>
          <a:bodyPr/>
          <a:lstStyle/>
          <a:p>
            <a:fld id="{A8E83637-48B6-A043-8832-174EC4489555}" type="datetimeFigureOut">
              <a:rPr lang="en-VN" smtClean="0"/>
              <a:t>10/31/2026</a:t>
            </a:fld>
            <a:endParaRPr lang="en-VN"/>
          </a:p>
        </p:txBody>
      </p:sp>
      <p:sp>
        <p:nvSpPr>
          <p:cNvPr id="6" name="Footer Placeholder 5">
            <a:extLst>
              <a:ext uri="{FF2B5EF4-FFF2-40B4-BE49-F238E27FC236}">
                <a16:creationId xmlns:a16="http://schemas.microsoft.com/office/drawing/2014/main" id="{592AF9F3-C662-679D-F399-835AF38B9799}"/>
              </a:ext>
            </a:extLst>
          </p:cNvPr>
          <p:cNvSpPr>
            <a:spLocks noGrp="1"/>
          </p:cNvSpPr>
          <p:nvPr>
            <p:ph type="ftr" sz="quarter" idx="11"/>
          </p:nvPr>
        </p:nvSpPr>
        <p:spPr/>
        <p:txBody>
          <a:bodyPr/>
          <a:lstStyle/>
          <a:p>
            <a:endParaRPr lang="en-VN"/>
          </a:p>
        </p:txBody>
      </p:sp>
      <p:sp>
        <p:nvSpPr>
          <p:cNvPr id="7" name="Slide Number Placeholder 6">
            <a:extLst>
              <a:ext uri="{FF2B5EF4-FFF2-40B4-BE49-F238E27FC236}">
                <a16:creationId xmlns:a16="http://schemas.microsoft.com/office/drawing/2014/main" id="{CD5EDE3D-A4F3-EB1E-22B4-4117E0251739}"/>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349715935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D0F3F0-A2D0-43BE-1440-E232FC5D8604}"/>
              </a:ext>
            </a:extLst>
          </p:cNvPr>
          <p:cNvSpPr>
            <a:spLocks noGrp="1"/>
          </p:cNvSpPr>
          <p:nvPr>
            <p:ph type="title"/>
          </p:nvPr>
        </p:nvSpPr>
        <p:spPr>
          <a:xfrm>
            <a:off x="839788" y="365125"/>
            <a:ext cx="10515600" cy="1325563"/>
          </a:xfrm>
        </p:spPr>
        <p:txBody>
          <a:bodyPr/>
          <a:lstStyle/>
          <a:p>
            <a:r>
              <a:rPr lang="en-US"/>
              <a:t>Click to edit Master title style</a:t>
            </a:r>
            <a:endParaRPr lang="en-VN"/>
          </a:p>
        </p:txBody>
      </p:sp>
      <p:sp>
        <p:nvSpPr>
          <p:cNvPr id="3" name="Text Placeholder 2">
            <a:extLst>
              <a:ext uri="{FF2B5EF4-FFF2-40B4-BE49-F238E27FC236}">
                <a16:creationId xmlns:a16="http://schemas.microsoft.com/office/drawing/2014/main" id="{0E7EF7E0-3EA1-4F41-B806-D73ADBD43B4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A58570D-AFEB-1AAE-9C9E-975975C97EF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Text Placeholder 4">
            <a:extLst>
              <a:ext uri="{FF2B5EF4-FFF2-40B4-BE49-F238E27FC236}">
                <a16:creationId xmlns:a16="http://schemas.microsoft.com/office/drawing/2014/main" id="{8FF40D04-A956-8A5A-B626-B2B932B3215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05A8101-3C77-8F81-87DF-36657E3A577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7" name="Date Placeholder 6">
            <a:extLst>
              <a:ext uri="{FF2B5EF4-FFF2-40B4-BE49-F238E27FC236}">
                <a16:creationId xmlns:a16="http://schemas.microsoft.com/office/drawing/2014/main" id="{291EA63A-D8CF-C7ED-C49D-53AE004C3A28}"/>
              </a:ext>
            </a:extLst>
          </p:cNvPr>
          <p:cNvSpPr>
            <a:spLocks noGrp="1"/>
          </p:cNvSpPr>
          <p:nvPr>
            <p:ph type="dt" sz="half" idx="10"/>
          </p:nvPr>
        </p:nvSpPr>
        <p:spPr/>
        <p:txBody>
          <a:bodyPr/>
          <a:lstStyle/>
          <a:p>
            <a:fld id="{A8E83637-48B6-A043-8832-174EC4489555}" type="datetimeFigureOut">
              <a:rPr lang="en-VN" smtClean="0"/>
              <a:t>10/31/2026</a:t>
            </a:fld>
            <a:endParaRPr lang="en-VN"/>
          </a:p>
        </p:txBody>
      </p:sp>
      <p:sp>
        <p:nvSpPr>
          <p:cNvPr id="8" name="Footer Placeholder 7">
            <a:extLst>
              <a:ext uri="{FF2B5EF4-FFF2-40B4-BE49-F238E27FC236}">
                <a16:creationId xmlns:a16="http://schemas.microsoft.com/office/drawing/2014/main" id="{3E73F494-9142-8A94-C1EB-153339203330}"/>
              </a:ext>
            </a:extLst>
          </p:cNvPr>
          <p:cNvSpPr>
            <a:spLocks noGrp="1"/>
          </p:cNvSpPr>
          <p:nvPr>
            <p:ph type="ftr" sz="quarter" idx="11"/>
          </p:nvPr>
        </p:nvSpPr>
        <p:spPr/>
        <p:txBody>
          <a:bodyPr/>
          <a:lstStyle/>
          <a:p>
            <a:endParaRPr lang="en-VN"/>
          </a:p>
        </p:txBody>
      </p:sp>
      <p:sp>
        <p:nvSpPr>
          <p:cNvPr id="9" name="Slide Number Placeholder 8">
            <a:extLst>
              <a:ext uri="{FF2B5EF4-FFF2-40B4-BE49-F238E27FC236}">
                <a16:creationId xmlns:a16="http://schemas.microsoft.com/office/drawing/2014/main" id="{11181F19-E634-7695-DE81-1B64A6A3A1F6}"/>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9305760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871332-A738-0195-0BE7-1564292BCD00}"/>
              </a:ext>
            </a:extLst>
          </p:cNvPr>
          <p:cNvSpPr>
            <a:spLocks noGrp="1"/>
          </p:cNvSpPr>
          <p:nvPr>
            <p:ph type="title"/>
          </p:nvPr>
        </p:nvSpPr>
        <p:spPr/>
        <p:txBody>
          <a:bodyPr/>
          <a:lstStyle/>
          <a:p>
            <a:r>
              <a:rPr lang="en-US"/>
              <a:t>Click to edit Master title style</a:t>
            </a:r>
            <a:endParaRPr lang="en-VN"/>
          </a:p>
        </p:txBody>
      </p:sp>
      <p:sp>
        <p:nvSpPr>
          <p:cNvPr id="3" name="Date Placeholder 2">
            <a:extLst>
              <a:ext uri="{FF2B5EF4-FFF2-40B4-BE49-F238E27FC236}">
                <a16:creationId xmlns:a16="http://schemas.microsoft.com/office/drawing/2014/main" id="{A2B8FC58-5A1E-2BDB-489E-9D8723FA342B}"/>
              </a:ext>
            </a:extLst>
          </p:cNvPr>
          <p:cNvSpPr>
            <a:spLocks noGrp="1"/>
          </p:cNvSpPr>
          <p:nvPr>
            <p:ph type="dt" sz="half" idx="10"/>
          </p:nvPr>
        </p:nvSpPr>
        <p:spPr/>
        <p:txBody>
          <a:bodyPr/>
          <a:lstStyle/>
          <a:p>
            <a:fld id="{A8E83637-48B6-A043-8832-174EC4489555}" type="datetimeFigureOut">
              <a:rPr lang="en-VN" smtClean="0"/>
              <a:t>10/31/2026</a:t>
            </a:fld>
            <a:endParaRPr lang="en-VN"/>
          </a:p>
        </p:txBody>
      </p:sp>
      <p:sp>
        <p:nvSpPr>
          <p:cNvPr id="4" name="Footer Placeholder 3">
            <a:extLst>
              <a:ext uri="{FF2B5EF4-FFF2-40B4-BE49-F238E27FC236}">
                <a16:creationId xmlns:a16="http://schemas.microsoft.com/office/drawing/2014/main" id="{098F07EC-41A4-246E-ADD0-D5E0F29ACD88}"/>
              </a:ext>
            </a:extLst>
          </p:cNvPr>
          <p:cNvSpPr>
            <a:spLocks noGrp="1"/>
          </p:cNvSpPr>
          <p:nvPr>
            <p:ph type="ftr" sz="quarter" idx="11"/>
          </p:nvPr>
        </p:nvSpPr>
        <p:spPr/>
        <p:txBody>
          <a:bodyPr/>
          <a:lstStyle/>
          <a:p>
            <a:endParaRPr lang="en-VN"/>
          </a:p>
        </p:txBody>
      </p:sp>
      <p:sp>
        <p:nvSpPr>
          <p:cNvPr id="5" name="Slide Number Placeholder 4">
            <a:extLst>
              <a:ext uri="{FF2B5EF4-FFF2-40B4-BE49-F238E27FC236}">
                <a16:creationId xmlns:a16="http://schemas.microsoft.com/office/drawing/2014/main" id="{2043DA24-A916-89D0-C915-6FEA840ACDD0}"/>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15526664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171A2AA-D5E8-51EE-3DC1-F806D400B78C}"/>
              </a:ext>
            </a:extLst>
          </p:cNvPr>
          <p:cNvSpPr>
            <a:spLocks noGrp="1"/>
          </p:cNvSpPr>
          <p:nvPr>
            <p:ph type="dt" sz="half" idx="10"/>
          </p:nvPr>
        </p:nvSpPr>
        <p:spPr/>
        <p:txBody>
          <a:bodyPr/>
          <a:lstStyle/>
          <a:p>
            <a:fld id="{A8E83637-48B6-A043-8832-174EC4489555}" type="datetimeFigureOut">
              <a:rPr lang="en-VN" smtClean="0"/>
              <a:t>10/31/2026</a:t>
            </a:fld>
            <a:endParaRPr lang="en-VN"/>
          </a:p>
        </p:txBody>
      </p:sp>
      <p:sp>
        <p:nvSpPr>
          <p:cNvPr id="3" name="Footer Placeholder 2">
            <a:extLst>
              <a:ext uri="{FF2B5EF4-FFF2-40B4-BE49-F238E27FC236}">
                <a16:creationId xmlns:a16="http://schemas.microsoft.com/office/drawing/2014/main" id="{66D10BE0-29E0-0DA6-DCD6-A9111C196955}"/>
              </a:ext>
            </a:extLst>
          </p:cNvPr>
          <p:cNvSpPr>
            <a:spLocks noGrp="1"/>
          </p:cNvSpPr>
          <p:nvPr>
            <p:ph type="ftr" sz="quarter" idx="11"/>
          </p:nvPr>
        </p:nvSpPr>
        <p:spPr/>
        <p:txBody>
          <a:bodyPr/>
          <a:lstStyle/>
          <a:p>
            <a:endParaRPr lang="en-VN"/>
          </a:p>
        </p:txBody>
      </p:sp>
      <p:sp>
        <p:nvSpPr>
          <p:cNvPr id="4" name="Slide Number Placeholder 3">
            <a:extLst>
              <a:ext uri="{FF2B5EF4-FFF2-40B4-BE49-F238E27FC236}">
                <a16:creationId xmlns:a16="http://schemas.microsoft.com/office/drawing/2014/main" id="{02619D22-205D-E0A3-D8AD-4C22C55EADE1}"/>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137536335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07BEAE-7329-21A4-6E2B-B246F6022DF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VN"/>
          </a:p>
        </p:txBody>
      </p:sp>
      <p:sp>
        <p:nvSpPr>
          <p:cNvPr id="3" name="Content Placeholder 2">
            <a:extLst>
              <a:ext uri="{FF2B5EF4-FFF2-40B4-BE49-F238E27FC236}">
                <a16:creationId xmlns:a16="http://schemas.microsoft.com/office/drawing/2014/main" id="{913B01AD-73BE-8BFE-BF3B-7C0AFADD5E6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Text Placeholder 3">
            <a:extLst>
              <a:ext uri="{FF2B5EF4-FFF2-40B4-BE49-F238E27FC236}">
                <a16:creationId xmlns:a16="http://schemas.microsoft.com/office/drawing/2014/main" id="{45550BD2-3126-4882-EBDC-31345AFB00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ABEA815-0D22-42C9-B3CC-6202DB707A4B}"/>
              </a:ext>
            </a:extLst>
          </p:cNvPr>
          <p:cNvSpPr>
            <a:spLocks noGrp="1"/>
          </p:cNvSpPr>
          <p:nvPr>
            <p:ph type="dt" sz="half" idx="10"/>
          </p:nvPr>
        </p:nvSpPr>
        <p:spPr/>
        <p:txBody>
          <a:bodyPr/>
          <a:lstStyle/>
          <a:p>
            <a:fld id="{A8E83637-48B6-A043-8832-174EC4489555}" type="datetimeFigureOut">
              <a:rPr lang="en-VN" smtClean="0"/>
              <a:t>10/31/2026</a:t>
            </a:fld>
            <a:endParaRPr lang="en-VN"/>
          </a:p>
        </p:txBody>
      </p:sp>
      <p:sp>
        <p:nvSpPr>
          <p:cNvPr id="6" name="Footer Placeholder 5">
            <a:extLst>
              <a:ext uri="{FF2B5EF4-FFF2-40B4-BE49-F238E27FC236}">
                <a16:creationId xmlns:a16="http://schemas.microsoft.com/office/drawing/2014/main" id="{BA2D32BD-D54E-0425-2411-645F3C8A1259}"/>
              </a:ext>
            </a:extLst>
          </p:cNvPr>
          <p:cNvSpPr>
            <a:spLocks noGrp="1"/>
          </p:cNvSpPr>
          <p:nvPr>
            <p:ph type="ftr" sz="quarter" idx="11"/>
          </p:nvPr>
        </p:nvSpPr>
        <p:spPr/>
        <p:txBody>
          <a:bodyPr/>
          <a:lstStyle/>
          <a:p>
            <a:endParaRPr lang="en-VN"/>
          </a:p>
        </p:txBody>
      </p:sp>
      <p:sp>
        <p:nvSpPr>
          <p:cNvPr id="7" name="Slide Number Placeholder 6">
            <a:extLst>
              <a:ext uri="{FF2B5EF4-FFF2-40B4-BE49-F238E27FC236}">
                <a16:creationId xmlns:a16="http://schemas.microsoft.com/office/drawing/2014/main" id="{D909C717-4274-9731-E543-C526C17A1633}"/>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1871344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3A1E17-C0BA-B98B-C131-02AB417E79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VN"/>
          </a:p>
        </p:txBody>
      </p:sp>
      <p:sp>
        <p:nvSpPr>
          <p:cNvPr id="3" name="Picture Placeholder 2">
            <a:extLst>
              <a:ext uri="{FF2B5EF4-FFF2-40B4-BE49-F238E27FC236}">
                <a16:creationId xmlns:a16="http://schemas.microsoft.com/office/drawing/2014/main" id="{25EC6A9F-A3EB-93C4-42C7-63E9363B331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VN"/>
          </a:p>
        </p:txBody>
      </p:sp>
      <p:sp>
        <p:nvSpPr>
          <p:cNvPr id="4" name="Text Placeholder 3">
            <a:extLst>
              <a:ext uri="{FF2B5EF4-FFF2-40B4-BE49-F238E27FC236}">
                <a16:creationId xmlns:a16="http://schemas.microsoft.com/office/drawing/2014/main" id="{73A23D5F-97AD-F85D-95FF-D47522B7C8E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9B80D7-ADD1-3C53-9F2E-EBB92FFB582E}"/>
              </a:ext>
            </a:extLst>
          </p:cNvPr>
          <p:cNvSpPr>
            <a:spLocks noGrp="1"/>
          </p:cNvSpPr>
          <p:nvPr>
            <p:ph type="dt" sz="half" idx="10"/>
          </p:nvPr>
        </p:nvSpPr>
        <p:spPr/>
        <p:txBody>
          <a:bodyPr/>
          <a:lstStyle/>
          <a:p>
            <a:fld id="{A8E83637-48B6-A043-8832-174EC4489555}" type="datetimeFigureOut">
              <a:rPr lang="en-VN" smtClean="0"/>
              <a:t>10/31/2026</a:t>
            </a:fld>
            <a:endParaRPr lang="en-VN"/>
          </a:p>
        </p:txBody>
      </p:sp>
      <p:sp>
        <p:nvSpPr>
          <p:cNvPr id="6" name="Footer Placeholder 5">
            <a:extLst>
              <a:ext uri="{FF2B5EF4-FFF2-40B4-BE49-F238E27FC236}">
                <a16:creationId xmlns:a16="http://schemas.microsoft.com/office/drawing/2014/main" id="{9EB58B42-9186-334D-EFF9-B4AA839744C1}"/>
              </a:ext>
            </a:extLst>
          </p:cNvPr>
          <p:cNvSpPr>
            <a:spLocks noGrp="1"/>
          </p:cNvSpPr>
          <p:nvPr>
            <p:ph type="ftr" sz="quarter" idx="11"/>
          </p:nvPr>
        </p:nvSpPr>
        <p:spPr/>
        <p:txBody>
          <a:bodyPr/>
          <a:lstStyle/>
          <a:p>
            <a:endParaRPr lang="en-VN"/>
          </a:p>
        </p:txBody>
      </p:sp>
      <p:sp>
        <p:nvSpPr>
          <p:cNvPr id="7" name="Slide Number Placeholder 6">
            <a:extLst>
              <a:ext uri="{FF2B5EF4-FFF2-40B4-BE49-F238E27FC236}">
                <a16:creationId xmlns:a16="http://schemas.microsoft.com/office/drawing/2014/main" id="{57CD31C5-65B6-0F87-CD6F-85FDA42D113E}"/>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21993668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89C922-DFDE-C14F-0F4B-742A1A362028}"/>
              </a:ext>
            </a:extLst>
          </p:cNvPr>
          <p:cNvSpPr>
            <a:spLocks noGrp="1"/>
          </p:cNvSpPr>
          <p:nvPr>
            <p:ph type="title"/>
          </p:nvPr>
        </p:nvSpPr>
        <p:spPr/>
        <p:txBody>
          <a:bodyPr/>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B8C028C8-6F83-8C09-F846-4C3F6386F72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C3B73228-D08F-4EB8-FE17-E285A27A5462}"/>
              </a:ext>
            </a:extLst>
          </p:cNvPr>
          <p:cNvSpPr>
            <a:spLocks noGrp="1"/>
          </p:cNvSpPr>
          <p:nvPr>
            <p:ph type="dt" sz="half" idx="10"/>
          </p:nvPr>
        </p:nvSpPr>
        <p:spPr/>
        <p:txBody>
          <a:bodyPr/>
          <a:lstStyle/>
          <a:p>
            <a:fld id="{A8E83637-48B6-A043-8832-174EC4489555}" type="datetimeFigureOut">
              <a:rPr lang="en-VN" smtClean="0"/>
              <a:t>10/31/2026</a:t>
            </a:fld>
            <a:endParaRPr lang="en-VN"/>
          </a:p>
        </p:txBody>
      </p:sp>
      <p:sp>
        <p:nvSpPr>
          <p:cNvPr id="5" name="Footer Placeholder 4">
            <a:extLst>
              <a:ext uri="{FF2B5EF4-FFF2-40B4-BE49-F238E27FC236}">
                <a16:creationId xmlns:a16="http://schemas.microsoft.com/office/drawing/2014/main" id="{CC2E1202-52CC-8C1F-9A8F-2B03A8DD1EE3}"/>
              </a:ext>
            </a:extLst>
          </p:cNvPr>
          <p:cNvSpPr>
            <a:spLocks noGrp="1"/>
          </p:cNvSpPr>
          <p:nvPr>
            <p:ph type="ftr" sz="quarter" idx="11"/>
          </p:nvPr>
        </p:nvSpPr>
        <p:spPr/>
        <p:txBody>
          <a:bodyPr/>
          <a:lstStyle/>
          <a:p>
            <a:endParaRPr lang="en-VN"/>
          </a:p>
        </p:txBody>
      </p:sp>
      <p:sp>
        <p:nvSpPr>
          <p:cNvPr id="6" name="Slide Number Placeholder 5">
            <a:extLst>
              <a:ext uri="{FF2B5EF4-FFF2-40B4-BE49-F238E27FC236}">
                <a16:creationId xmlns:a16="http://schemas.microsoft.com/office/drawing/2014/main" id="{F2430BFF-703A-130E-8C91-B47C65840C49}"/>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106936805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E139CBB-B51D-946A-0B42-E45B983D843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E0BC03C2-E70E-6F1C-072B-618EAE4E330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B73F999A-F71C-5FEC-8490-FA19564D9BDF}"/>
              </a:ext>
            </a:extLst>
          </p:cNvPr>
          <p:cNvSpPr>
            <a:spLocks noGrp="1"/>
          </p:cNvSpPr>
          <p:nvPr>
            <p:ph type="dt" sz="half" idx="10"/>
          </p:nvPr>
        </p:nvSpPr>
        <p:spPr/>
        <p:txBody>
          <a:bodyPr/>
          <a:lstStyle/>
          <a:p>
            <a:fld id="{A8E83637-48B6-A043-8832-174EC4489555}" type="datetimeFigureOut">
              <a:rPr lang="en-VN" smtClean="0"/>
              <a:t>10/31/2026</a:t>
            </a:fld>
            <a:endParaRPr lang="en-VN"/>
          </a:p>
        </p:txBody>
      </p:sp>
      <p:sp>
        <p:nvSpPr>
          <p:cNvPr id="5" name="Footer Placeholder 4">
            <a:extLst>
              <a:ext uri="{FF2B5EF4-FFF2-40B4-BE49-F238E27FC236}">
                <a16:creationId xmlns:a16="http://schemas.microsoft.com/office/drawing/2014/main" id="{B20B2F99-75A3-22E7-186D-36F1198C2CDA}"/>
              </a:ext>
            </a:extLst>
          </p:cNvPr>
          <p:cNvSpPr>
            <a:spLocks noGrp="1"/>
          </p:cNvSpPr>
          <p:nvPr>
            <p:ph type="ftr" sz="quarter" idx="11"/>
          </p:nvPr>
        </p:nvSpPr>
        <p:spPr/>
        <p:txBody>
          <a:bodyPr/>
          <a:lstStyle/>
          <a:p>
            <a:endParaRPr lang="en-VN"/>
          </a:p>
        </p:txBody>
      </p:sp>
      <p:sp>
        <p:nvSpPr>
          <p:cNvPr id="6" name="Slide Number Placeholder 5">
            <a:extLst>
              <a:ext uri="{FF2B5EF4-FFF2-40B4-BE49-F238E27FC236}">
                <a16:creationId xmlns:a16="http://schemas.microsoft.com/office/drawing/2014/main" id="{AFF5AF24-1837-7DF1-C937-2917E6AE481C}"/>
              </a:ext>
            </a:extLst>
          </p:cNvPr>
          <p:cNvSpPr>
            <a:spLocks noGrp="1"/>
          </p:cNvSpPr>
          <p:nvPr>
            <p:ph type="sldNum" sz="quarter" idx="12"/>
          </p:nvPr>
        </p:nvSpPr>
        <p:spPr/>
        <p:txBody>
          <a:bodyPr/>
          <a:lstStyle/>
          <a:p>
            <a:fld id="{CD346AC3-7438-9240-8346-AC58A05A36AC}" type="slidenum">
              <a:rPr lang="en-VN" smtClean="0"/>
              <a:t>‹#›</a:t>
            </a:fld>
            <a:endParaRPr lang="en-VN"/>
          </a:p>
        </p:txBody>
      </p:sp>
    </p:spTree>
    <p:extLst>
      <p:ext uri="{BB962C8B-B14F-4D97-AF65-F5344CB8AC3E}">
        <p14:creationId xmlns:p14="http://schemas.microsoft.com/office/powerpoint/2010/main" val="10425262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7.xml"/><Relationship Id="rId13" Type="http://schemas.openxmlformats.org/officeDocument/2006/relationships/image" Target="../media/image3.png"/><Relationship Id="rId3" Type="http://schemas.openxmlformats.org/officeDocument/2006/relationships/slideLayout" Target="../slideLayouts/slideLayout12.xml"/><Relationship Id="rId7" Type="http://schemas.openxmlformats.org/officeDocument/2006/relationships/slideLayout" Target="../slideLayouts/slideLayout16.xml"/><Relationship Id="rId12" Type="http://schemas.openxmlformats.org/officeDocument/2006/relationships/theme" Target="../theme/theme2.xml"/><Relationship Id="rId2" Type="http://schemas.openxmlformats.org/officeDocument/2006/relationships/slideLayout" Target="../slideLayouts/slideLayout11.xml"/><Relationship Id="rId1" Type="http://schemas.openxmlformats.org/officeDocument/2006/relationships/slideLayout" Target="../slideLayouts/slideLayout10.xml"/><Relationship Id="rId6" Type="http://schemas.openxmlformats.org/officeDocument/2006/relationships/slideLayout" Target="../slideLayouts/slideLayout15.xml"/><Relationship Id="rId11" Type="http://schemas.openxmlformats.org/officeDocument/2006/relationships/slideLayout" Target="../slideLayouts/slideLayout20.xml"/><Relationship Id="rId5" Type="http://schemas.openxmlformats.org/officeDocument/2006/relationships/slideLayout" Target="../slideLayouts/slideLayout14.xml"/><Relationship Id="rId10" Type="http://schemas.openxmlformats.org/officeDocument/2006/relationships/slideLayout" Target="../slideLayouts/slideLayout19.xml"/><Relationship Id="rId4" Type="http://schemas.openxmlformats.org/officeDocument/2006/relationships/slideLayout" Target="../slideLayouts/slideLayout13.xml"/><Relationship Id="rId9"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631AEE7-1745-7095-F664-6B95264B057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1A03A21-2772-3828-7AC5-78FFACCBCE5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1873718-709B-4497-A711-65AA029D601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909B663-BDC2-451F-9FFD-E3F973D4142A}" type="datetimeFigureOut">
              <a:rPr lang="en-US" smtClean="0"/>
              <a:t>10/31/2026</a:t>
            </a:fld>
            <a:endParaRPr lang="en-US"/>
          </a:p>
        </p:txBody>
      </p:sp>
      <p:sp>
        <p:nvSpPr>
          <p:cNvPr id="5" name="Footer Placeholder 4">
            <a:extLst>
              <a:ext uri="{FF2B5EF4-FFF2-40B4-BE49-F238E27FC236}">
                <a16:creationId xmlns:a16="http://schemas.microsoft.com/office/drawing/2014/main" id="{93290932-8E1F-6DBB-5A0C-DF2410DABEA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7167DC62-3F95-5ACD-3C31-558A19C8C55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4A9A2A8-896A-4908-99A1-F33C2133E199}" type="slidenum">
              <a:rPr lang="en-US" smtClean="0"/>
              <a:t>‹#›</a:t>
            </a:fld>
            <a:endParaRPr lang="en-US"/>
          </a:p>
        </p:txBody>
      </p:sp>
    </p:spTree>
    <p:extLst>
      <p:ext uri="{BB962C8B-B14F-4D97-AF65-F5344CB8AC3E}">
        <p14:creationId xmlns:p14="http://schemas.microsoft.com/office/powerpoint/2010/main" val="1486776597"/>
      </p:ext>
    </p:extLst>
  </p:cSld>
  <p:clrMap bg1="lt1" tx1="dk1" bg2="lt2" tx2="dk2" accent1="accent1" accent2="accent2" accent3="accent3" accent4="accent4" accent5="accent5" accent6="accent6" hlink="hlink" folHlink="folHlink"/>
  <p:sldLayoutIdLst>
    <p:sldLayoutId id="2147483685" r:id="rId1"/>
    <p:sldLayoutId id="2147483702" r:id="rId2"/>
    <p:sldLayoutId id="2147483688" r:id="rId3"/>
    <p:sldLayoutId id="2147483686" r:id="rId4"/>
    <p:sldLayoutId id="2147483676" r:id="rId5"/>
    <p:sldLayoutId id="2147483679" r:id="rId6"/>
    <p:sldLayoutId id="2147483680" r:id="rId7"/>
    <p:sldLayoutId id="2147483681" r:id="rId8"/>
    <p:sldLayoutId id="2147483689" r:id="rId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1C7EEC1-4213-8FCF-3A7A-908258F09C2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VN"/>
          </a:p>
        </p:txBody>
      </p:sp>
      <p:sp>
        <p:nvSpPr>
          <p:cNvPr id="3" name="Text Placeholder 2">
            <a:extLst>
              <a:ext uri="{FF2B5EF4-FFF2-40B4-BE49-F238E27FC236}">
                <a16:creationId xmlns:a16="http://schemas.microsoft.com/office/drawing/2014/main" id="{C5B1D829-DE05-9850-6373-B3F86F88548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C2E005DE-8349-AD99-ED16-5AFD4E61F53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8E83637-48B6-A043-8832-174EC4489555}" type="datetimeFigureOut">
              <a:rPr lang="en-VN" smtClean="0"/>
              <a:t>10/31/2026</a:t>
            </a:fld>
            <a:endParaRPr lang="en-VN"/>
          </a:p>
        </p:txBody>
      </p:sp>
      <p:sp>
        <p:nvSpPr>
          <p:cNvPr id="5" name="Footer Placeholder 4">
            <a:extLst>
              <a:ext uri="{FF2B5EF4-FFF2-40B4-BE49-F238E27FC236}">
                <a16:creationId xmlns:a16="http://schemas.microsoft.com/office/drawing/2014/main" id="{43E5248B-C816-9A17-B3A8-FF9BC75DDB0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VN"/>
          </a:p>
        </p:txBody>
      </p:sp>
      <p:sp>
        <p:nvSpPr>
          <p:cNvPr id="6" name="Slide Number Placeholder 5">
            <a:extLst>
              <a:ext uri="{FF2B5EF4-FFF2-40B4-BE49-F238E27FC236}">
                <a16:creationId xmlns:a16="http://schemas.microsoft.com/office/drawing/2014/main" id="{63AD0FF6-0F0C-669D-25BE-9D651C0A38B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D346AC3-7438-9240-8346-AC58A05A36AC}" type="slidenum">
              <a:rPr lang="en-VN" smtClean="0"/>
              <a:t>‹#›</a:t>
            </a:fld>
            <a:endParaRPr lang="en-VN"/>
          </a:p>
        </p:txBody>
      </p:sp>
      <p:pic>
        <p:nvPicPr>
          <p:cNvPr id="7" name="Picture 6">
            <a:extLst>
              <a:ext uri="{FF2B5EF4-FFF2-40B4-BE49-F238E27FC236}">
                <a16:creationId xmlns:a16="http://schemas.microsoft.com/office/drawing/2014/main" id="{34FA554B-9BF6-355F-690C-1F3ED34B2FA6}"/>
              </a:ext>
            </a:extLst>
          </p:cNvPr>
          <p:cNvPicPr>
            <a:picLocks noChangeAspect="1"/>
          </p:cNvPicPr>
          <p:nvPr userDrawn="1"/>
        </p:nvPicPr>
        <p:blipFill>
          <a:blip r:embed="rId13"/>
          <a:stretch>
            <a:fillRect/>
          </a:stretch>
        </p:blipFill>
        <p:spPr>
          <a:xfrm>
            <a:off x="0" y="0"/>
            <a:ext cx="12191851" cy="6858084"/>
          </a:xfrm>
          <a:prstGeom prst="rect">
            <a:avLst/>
          </a:prstGeom>
        </p:spPr>
      </p:pic>
      <p:sp>
        <p:nvSpPr>
          <p:cNvPr id="8" name="Slide Number Placeholder 5">
            <a:extLst>
              <a:ext uri="{FF2B5EF4-FFF2-40B4-BE49-F238E27FC236}">
                <a16:creationId xmlns:a16="http://schemas.microsoft.com/office/drawing/2014/main" id="{713A4733-A858-7A28-2A27-78134C3F356D}"/>
              </a:ext>
            </a:extLst>
          </p:cNvPr>
          <p:cNvSpPr txBox="1">
            <a:spLocks/>
          </p:cNvSpPr>
          <p:nvPr userDrawn="1"/>
        </p:nvSpPr>
        <p:spPr>
          <a:xfrm>
            <a:off x="4724325" y="6400090"/>
            <a:ext cx="2743200" cy="365125"/>
          </a:xfrm>
          <a:prstGeom prst="rect">
            <a:avLst/>
          </a:prstGeom>
        </p:spPr>
        <p:txBody>
          <a:bodyPr/>
          <a:lstStyle>
            <a:defPPr>
              <a:defRPr lang="en-VN"/>
            </a:defPPr>
            <a:lvl1pPr marL="0" algn="ctr" defTabSz="914400" rtl="0" eaLnBrk="1" latinLnBrk="0" hangingPunct="1">
              <a:defRPr sz="1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4A9A2A8-896A-4908-99A1-F33C2133E199}" type="slidenum">
              <a:rPr lang="en-US" smtClean="0"/>
              <a:pPr/>
              <a:t>‹#›</a:t>
            </a:fld>
            <a:endParaRPr lang="en-US"/>
          </a:p>
        </p:txBody>
      </p:sp>
    </p:spTree>
    <p:extLst>
      <p:ext uri="{BB962C8B-B14F-4D97-AF65-F5344CB8AC3E}">
        <p14:creationId xmlns:p14="http://schemas.microsoft.com/office/powerpoint/2010/main" val="1953599155"/>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0.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0.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0.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10.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0.xml"/><Relationship Id="rId1" Type="http://schemas.openxmlformats.org/officeDocument/2006/relationships/slideLayout" Target="../slideLayouts/slideLayout10.xml"/><Relationship Id="rId4" Type="http://schemas.openxmlformats.org/officeDocument/2006/relationships/image" Target="../media/image25.png"/></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1.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3.xml"/><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9.xml"/><Relationship Id="rId1" Type="http://schemas.openxmlformats.org/officeDocument/2006/relationships/slideLayout" Target="../slideLayouts/slideLayout10.xml"/><Relationship Id="rId4" Type="http://schemas.openxmlformats.org/officeDocument/2006/relationships/image" Target="../media/image31.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2.xml"/><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3.xml"/><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4.xml"/><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6.xml"/><Relationship Id="rId1" Type="http://schemas.openxmlformats.org/officeDocument/2006/relationships/slideLayout" Target="../slideLayouts/slideLayout10.xml"/></Relationships>
</file>

<file path=ppt/slides/_rels/slide3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7.xml"/><Relationship Id="rId1" Type="http://schemas.openxmlformats.org/officeDocument/2006/relationships/slideLayout" Target="../slideLayouts/slideLayout10.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0.xml"/></Relationships>
</file>

<file path=ppt/slides/_rels/slide3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9.xml"/><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9F82E83-E938-C1B8-96ED-164E2023AA3A}"/>
              </a:ext>
            </a:extLst>
          </p:cNvPr>
          <p:cNvSpPr txBox="1"/>
          <p:nvPr/>
        </p:nvSpPr>
        <p:spPr>
          <a:xfrm>
            <a:off x="3841583" y="1807057"/>
            <a:ext cx="7749782" cy="224676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err="1">
                <a:ln>
                  <a:noFill/>
                </a:ln>
                <a:solidFill>
                  <a:prstClr val="white"/>
                </a:solidFill>
                <a:effectLst/>
                <a:uLnTx/>
                <a:uFillTx/>
                <a:latin typeface="UTM Neutra" panose="02040603050506020204" pitchFamily="18" charset="0"/>
                <a:ea typeface="+mn-ea"/>
                <a:cs typeface="+mn-cs"/>
              </a:rPr>
              <a:t>Đề tài môn Khoa học dữ liệu</a:t>
            </a:r>
            <a:endParaRPr kumimoji="0" lang="en-US" sz="3600" b="1" i="0" u="none" strike="noStrike" kern="1200" cap="none" spc="0" normalizeH="0" baseline="0" noProof="0" dirty="0">
              <a:ln>
                <a:noFill/>
              </a:ln>
              <a:solidFill>
                <a:prstClr val="white"/>
              </a:solidFill>
              <a:effectLst/>
              <a:uLnTx/>
              <a:uFillTx/>
              <a:latin typeface="UTM Neutra" panose="020406030505060202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400" b="1" i="0" u="none" strike="noStrike" kern="1200" cap="none" spc="0" normalizeH="0" baseline="0" noProof="0" dirty="0" err="1">
                <a:ln>
                  <a:noFill/>
                </a:ln>
                <a:solidFill>
                  <a:srgbClr val="FDDF08"/>
                </a:solidFill>
                <a:effectLst/>
                <a:uLnTx/>
                <a:uFillTx/>
                <a:latin typeface="UTM Neutra" panose="02040603050506020204" pitchFamily="18" charset="0"/>
                <a:ea typeface="+mn-ea"/>
                <a:cs typeface="+mn-cs"/>
              </a:rPr>
              <a:t>Dự</a:t>
            </a:r>
            <a:r>
              <a:rPr kumimoji="0" lang="en-US" sz="3400" b="1" i="0" u="none" strike="noStrike" kern="1200" cap="none" spc="0" normalizeH="0" baseline="0" noProof="0" dirty="0">
                <a:ln>
                  <a:noFill/>
                </a:ln>
                <a:solidFill>
                  <a:srgbClr val="FDDF08"/>
                </a:solidFill>
                <a:effectLst/>
                <a:uLnTx/>
                <a:uFillTx/>
                <a:latin typeface="UTM Neutra" panose="02040603050506020204" pitchFamily="18" charset="0"/>
                <a:ea typeface="+mn-ea"/>
                <a:cs typeface="+mn-cs"/>
              </a:rPr>
              <a:t> </a:t>
            </a:r>
            <a:r>
              <a:rPr kumimoji="0" lang="en-US" sz="3400" b="1" i="0" u="none" strike="noStrike" kern="1200" cap="none" spc="0" normalizeH="0" baseline="0" noProof="0" dirty="0" err="1">
                <a:ln>
                  <a:noFill/>
                </a:ln>
                <a:solidFill>
                  <a:srgbClr val="FDDF08"/>
                </a:solidFill>
                <a:effectLst/>
                <a:uLnTx/>
                <a:uFillTx/>
                <a:latin typeface="UTM Neutra" panose="02040603050506020204" pitchFamily="18" charset="0"/>
                <a:ea typeface="+mn-ea"/>
                <a:cs typeface="+mn-cs"/>
              </a:rPr>
              <a:t>đoán</a:t>
            </a:r>
            <a:r>
              <a:rPr kumimoji="0" lang="en-US" sz="3400" b="1" i="0" u="none" strike="noStrike" kern="1200" cap="none" spc="0" normalizeH="0" baseline="0" noProof="0" dirty="0">
                <a:ln>
                  <a:noFill/>
                </a:ln>
                <a:solidFill>
                  <a:srgbClr val="FDDF08"/>
                </a:solidFill>
                <a:effectLst/>
                <a:uLnTx/>
                <a:uFillTx/>
                <a:latin typeface="UTM Neutra" panose="02040603050506020204" pitchFamily="18" charset="0"/>
                <a:ea typeface="+mn-ea"/>
                <a:cs typeface="+mn-cs"/>
              </a:rPr>
              <a:t> </a:t>
            </a:r>
            <a:r>
              <a:rPr kumimoji="0" lang="en-US" sz="3400" b="1" i="0" u="none" strike="noStrike" kern="1200" cap="none" spc="0" normalizeH="0" baseline="0" noProof="0" dirty="0" err="1">
                <a:ln>
                  <a:noFill/>
                </a:ln>
                <a:solidFill>
                  <a:srgbClr val="FDDF08"/>
                </a:solidFill>
                <a:effectLst/>
                <a:uLnTx/>
                <a:uFillTx/>
                <a:latin typeface="UTM Neutra" panose="02040603050506020204" pitchFamily="18" charset="0"/>
                <a:ea typeface="+mn-ea"/>
                <a:cs typeface="+mn-cs"/>
              </a:rPr>
              <a:t>giá</a:t>
            </a:r>
            <a:r>
              <a:rPr kumimoji="0" lang="en-US" sz="3400" b="1" i="0" u="none" strike="noStrike" kern="1200" cap="none" spc="0" normalizeH="0" baseline="0" noProof="0" dirty="0">
                <a:ln>
                  <a:noFill/>
                </a:ln>
                <a:solidFill>
                  <a:srgbClr val="FDDF08"/>
                </a:solidFill>
                <a:effectLst/>
                <a:uLnTx/>
                <a:uFillTx/>
                <a:latin typeface="UTM Neutra" panose="02040603050506020204" pitchFamily="18" charset="0"/>
                <a:ea typeface="+mn-ea"/>
                <a:cs typeface="+mn-cs"/>
              </a:rPr>
              <a:t> ô </a:t>
            </a:r>
            <a:r>
              <a:rPr kumimoji="0" lang="en-US" sz="3400" b="1" i="0" u="none" strike="noStrike" kern="1200" cap="none" spc="0" normalizeH="0" baseline="0" noProof="0" dirty="0" err="1">
                <a:ln>
                  <a:noFill/>
                </a:ln>
                <a:solidFill>
                  <a:srgbClr val="FDDF08"/>
                </a:solidFill>
                <a:effectLst/>
                <a:uLnTx/>
                <a:uFillTx/>
                <a:latin typeface="UTM Neutra" panose="02040603050506020204" pitchFamily="18" charset="0"/>
                <a:ea typeface="+mn-ea"/>
                <a:cs typeface="+mn-cs"/>
              </a:rPr>
              <a:t>tô</a:t>
            </a:r>
            <a:r>
              <a:rPr kumimoji="0" lang="en-US" sz="3400" b="1" i="0" u="none" strike="noStrike" kern="1200" cap="none" spc="0" normalizeH="0" baseline="0" noProof="0" dirty="0">
                <a:ln>
                  <a:noFill/>
                </a:ln>
                <a:solidFill>
                  <a:srgbClr val="FDDF08"/>
                </a:solidFill>
                <a:effectLst/>
                <a:uLnTx/>
                <a:uFillTx/>
                <a:latin typeface="UTM Neutra" panose="02040603050506020204" pitchFamily="18" charset="0"/>
                <a:ea typeface="+mn-ea"/>
                <a:cs typeface="+mn-cs"/>
              </a:rPr>
              <a:t> </a:t>
            </a:r>
            <a:r>
              <a:rPr kumimoji="0" lang="en-US" sz="3400" b="1" i="0" u="none" strike="noStrike" kern="1200" cap="none" spc="0" normalizeH="0" baseline="0" noProof="0" dirty="0" err="1">
                <a:ln>
                  <a:noFill/>
                </a:ln>
                <a:solidFill>
                  <a:srgbClr val="FDDF08"/>
                </a:solidFill>
                <a:effectLst/>
                <a:uLnTx/>
                <a:uFillTx/>
                <a:latin typeface="UTM Neutra" panose="02040603050506020204" pitchFamily="18" charset="0"/>
                <a:ea typeface="+mn-ea"/>
                <a:cs typeface="+mn-cs"/>
              </a:rPr>
              <a:t>trên</a:t>
            </a:r>
            <a:r>
              <a:rPr kumimoji="0" lang="en-US" sz="3400" b="1" i="0" u="none" strike="noStrike" kern="1200" cap="none" spc="0" normalizeH="0" baseline="0" noProof="0" dirty="0">
                <a:ln>
                  <a:noFill/>
                </a:ln>
                <a:solidFill>
                  <a:srgbClr val="FDDF08"/>
                </a:solidFill>
                <a:effectLst/>
                <a:uLnTx/>
                <a:uFillTx/>
                <a:latin typeface="UTM Neutra" panose="02040603050506020204" pitchFamily="18" charset="0"/>
                <a:ea typeface="+mn-ea"/>
                <a:cs typeface="+mn-cs"/>
              </a:rPr>
              <a:t> </a:t>
            </a:r>
            <a:r>
              <a:rPr kumimoji="0" lang="en-US" sz="3400" b="1" i="0" u="none" strike="noStrike" kern="1200" cap="none" spc="0" normalizeH="0" baseline="0" noProof="0" dirty="0" err="1">
                <a:ln>
                  <a:noFill/>
                </a:ln>
                <a:solidFill>
                  <a:srgbClr val="FDDF08"/>
                </a:solidFill>
                <a:effectLst/>
                <a:uLnTx/>
                <a:uFillTx/>
                <a:latin typeface="UTM Neutra" panose="02040603050506020204" pitchFamily="18" charset="0"/>
                <a:ea typeface="+mn-ea"/>
                <a:cs typeface="+mn-cs"/>
              </a:rPr>
              <a:t>Chợ</a:t>
            </a:r>
            <a:r>
              <a:rPr kumimoji="0" lang="en-US" sz="3400" b="1" i="0" u="none" strike="noStrike" kern="1200" cap="none" spc="0" normalizeH="0" baseline="0" noProof="0" dirty="0">
                <a:ln>
                  <a:noFill/>
                </a:ln>
                <a:solidFill>
                  <a:srgbClr val="FDDF08"/>
                </a:solidFill>
                <a:effectLst/>
                <a:uLnTx/>
                <a:uFillTx/>
                <a:latin typeface="UTM Neutra" panose="02040603050506020204" pitchFamily="18" charset="0"/>
                <a:ea typeface="+mn-ea"/>
                <a:cs typeface="+mn-cs"/>
              </a:rPr>
              <a:t> </a:t>
            </a:r>
            <a:r>
              <a:rPr kumimoji="0" lang="en-US" sz="3400" b="1" i="0" u="none" strike="noStrike" kern="1200" cap="none" spc="0" normalizeH="0" baseline="0" noProof="0" dirty="0" err="1">
                <a:ln>
                  <a:noFill/>
                </a:ln>
                <a:solidFill>
                  <a:srgbClr val="FDDF08"/>
                </a:solidFill>
                <a:effectLst/>
                <a:uLnTx/>
                <a:uFillTx/>
                <a:latin typeface="UTM Neutra" panose="02040603050506020204" pitchFamily="18" charset="0"/>
                <a:ea typeface="+mn-ea"/>
                <a:cs typeface="+mn-cs"/>
              </a:rPr>
              <a:t>Tốt</a:t>
            </a:r>
            <a:r>
              <a:rPr kumimoji="0" lang="en-US" sz="3400" b="1" i="0" u="none" strike="noStrike" kern="1200" cap="none" spc="0" normalizeH="0" baseline="0" noProof="0" dirty="0">
                <a:ln>
                  <a:noFill/>
                </a:ln>
                <a:solidFill>
                  <a:srgbClr val="FDDF08"/>
                </a:solidFill>
                <a:effectLst/>
                <a:uLnTx/>
                <a:uFillTx/>
                <a:latin typeface="UTM Neutra" panose="02040603050506020204" pitchFamily="18" charset="0"/>
                <a:ea typeface="+mn-ea"/>
                <a:cs typeface="+mn-cs"/>
              </a:rPr>
              <a:t> </a:t>
            </a:r>
            <a:r>
              <a:rPr kumimoji="0" lang="en-US" sz="3400" b="1" i="0" u="none" strike="noStrike" kern="1200" cap="none" spc="0" normalizeH="0" baseline="0" noProof="0" dirty="0" err="1">
                <a:ln>
                  <a:noFill/>
                </a:ln>
                <a:solidFill>
                  <a:srgbClr val="FDDF08"/>
                </a:solidFill>
                <a:effectLst/>
                <a:uLnTx/>
                <a:uFillTx/>
                <a:latin typeface="UTM Neutra" panose="02040603050506020204" pitchFamily="18" charset="0"/>
                <a:ea typeface="+mn-ea"/>
                <a:cs typeface="+mn-cs"/>
              </a:rPr>
              <a:t>bằng</a:t>
            </a:r>
            <a:r>
              <a:rPr kumimoji="0" lang="en-US" sz="3400" b="1" i="0" u="none" strike="noStrike" kern="1200" cap="none" spc="0" normalizeH="0" baseline="0" noProof="0" dirty="0">
                <a:ln>
                  <a:noFill/>
                </a:ln>
                <a:solidFill>
                  <a:srgbClr val="FDDF08"/>
                </a:solidFill>
                <a:effectLst/>
                <a:uLnTx/>
                <a:uFillTx/>
                <a:latin typeface="UTM Neutra" panose="02040603050506020204" pitchFamily="18" charset="0"/>
                <a:ea typeface="+mn-ea"/>
                <a:cs typeface="+mn-cs"/>
              </a:rPr>
              <a:t> Random Forest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36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04C57B79-F982-05E7-B239-77BCD5416D65}"/>
              </a:ext>
            </a:extLst>
          </p:cNvPr>
          <p:cNvSpPr txBox="1"/>
          <p:nvPr/>
        </p:nvSpPr>
        <p:spPr>
          <a:xfrm>
            <a:off x="3841583" y="4016857"/>
            <a:ext cx="7749782" cy="249299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white"/>
                </a:solidFill>
                <a:effectLst/>
                <a:uLnTx/>
                <a:uFillTx/>
                <a:latin typeface="UTM Neutra" panose="02040603050506020204" pitchFamily="18" charset="0"/>
                <a:ea typeface="+mn-ea"/>
                <a:cs typeface="+mn-cs"/>
              </a:rPr>
              <a:t>GVHD: TS. Đặng Thiên Bình</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400" b="1" dirty="0">
                <a:solidFill>
                  <a:prstClr val="white"/>
                </a:solidFill>
                <a:latin typeface="UTM Neutra" panose="02040603050506020204" pitchFamily="18" charset="0"/>
              </a:rPr>
              <a:t>SVTH: </a:t>
            </a:r>
          </a:p>
          <a:p>
            <a:pPr lvl="0">
              <a:defRPr/>
            </a:pPr>
            <a:r>
              <a:rPr lang="en-US" sz="2400" b="1" dirty="0">
                <a:solidFill>
                  <a:prstClr val="white"/>
                </a:solidFill>
                <a:latin typeface="UTM Neutra" panose="02040603050506020204" pitchFamily="18" charset="0"/>
              </a:rPr>
              <a:t>	Nguyễn Tuấn </a:t>
            </a:r>
            <a:r>
              <a:rPr lang="en-US" sz="2400" b="1" dirty="0" err="1">
                <a:solidFill>
                  <a:prstClr val="white"/>
                </a:solidFill>
                <a:latin typeface="UTM Neutra" panose="02040603050506020204" pitchFamily="18" charset="0"/>
              </a:rPr>
              <a:t>Hưng</a:t>
            </a:r>
            <a:r>
              <a:rPr lang="en-US" sz="2400" b="1" dirty="0">
                <a:solidFill>
                  <a:prstClr val="white"/>
                </a:solidFill>
                <a:latin typeface="UTM Neutra" panose="02040603050506020204" pitchFamily="18" charset="0"/>
              </a:rPr>
              <a:t> - 102250428</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2400" b="1" dirty="0">
                <a:solidFill>
                  <a:prstClr val="white"/>
                </a:solidFill>
                <a:latin typeface="UTM Neutra" panose="02040603050506020204" pitchFamily="18" charset="0"/>
              </a:rPr>
              <a:t>	Dương Công Tiến - 102250434</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1" i="0" u="none" strike="noStrike" kern="1200" cap="none" spc="0" normalizeH="0" baseline="0" noProof="0" dirty="0">
              <a:ln>
                <a:noFill/>
              </a:ln>
              <a:solidFill>
                <a:srgbClr val="FDDF08"/>
              </a:solidFill>
              <a:effectLst/>
              <a:uLnTx/>
              <a:uFillTx/>
              <a:latin typeface="UTM Neutra" panose="02040603050506020204" pitchFamily="18"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3600" b="1"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837698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NỘI DUNG TRÌNH BÀY</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Năm phần của bài báo cáo</a:t>
            </a:r>
          </a:p>
        </p:txBody>
      </p:sp>
      <p:sp>
        <p:nvSpPr>
          <p:cNvPr id="4" name="Oval 3"/>
          <p:cNvSpPr/>
          <p:nvPr/>
        </p:nvSpPr>
        <p:spPr>
          <a:xfrm>
            <a:off x="1097280" y="1463040"/>
            <a:ext cx="621792" cy="621792"/>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vi-VN" sz="1800" b="1" i="0">
                <a:solidFill>
                  <a:srgbClr val="FFFFFF"/>
                </a:solidFill>
                <a:latin typeface="Arial"/>
              </a:rPr>
              <a:t>01</a:t>
            </a:r>
          </a:p>
        </p:txBody>
      </p:sp>
      <p:sp>
        <p:nvSpPr>
          <p:cNvPr id="5" name="TextBox 4"/>
          <p:cNvSpPr txBox="1"/>
          <p:nvPr/>
        </p:nvSpPr>
        <p:spPr>
          <a:xfrm>
            <a:off x="1920240" y="1444752"/>
            <a:ext cx="8686800" cy="365760"/>
          </a:xfrm>
          <a:prstGeom prst="rect">
            <a:avLst/>
          </a:prstGeom>
          <a:noFill/>
        </p:spPr>
        <p:txBody>
          <a:bodyPr wrap="square" lIns="45720" tIns="27432" rIns="45720" bIns="27432" anchor="t">
            <a:spAutoFit/>
          </a:bodyPr>
          <a:lstStyle/>
          <a:p>
            <a:pPr algn="l">
              <a:lnSpc>
                <a:spcPct val="110000"/>
              </a:lnSpc>
              <a:spcAft>
                <a:spcPts val="600"/>
              </a:spcAft>
            </a:pPr>
            <a:r>
              <a:rPr lang="vi-VN" sz="2000" b="1" i="0">
                <a:solidFill>
                  <a:srgbClr val="1F2937"/>
                </a:solidFill>
                <a:latin typeface="Arial"/>
              </a:rPr>
              <a:t>Giới thiệu đề tài</a:t>
            </a:r>
          </a:p>
        </p:txBody>
      </p:sp>
      <p:sp>
        <p:nvSpPr>
          <p:cNvPr id="6" name="TextBox 5"/>
          <p:cNvSpPr txBox="1"/>
          <p:nvPr/>
        </p:nvSpPr>
        <p:spPr>
          <a:xfrm>
            <a:off x="1920240" y="1792224"/>
            <a:ext cx="8686800" cy="320040"/>
          </a:xfrm>
          <a:prstGeom prst="rect">
            <a:avLst/>
          </a:prstGeom>
          <a:noFill/>
        </p:spPr>
        <p:txBody>
          <a:bodyPr wrap="square" lIns="45720" tIns="27432" rIns="45720" bIns="27432" anchor="t">
            <a:spAutoFit/>
          </a:bodyPr>
          <a:lstStyle/>
          <a:p>
            <a:pPr algn="l">
              <a:lnSpc>
                <a:spcPct val="110000"/>
              </a:lnSpc>
              <a:spcAft>
                <a:spcPts val="600"/>
              </a:spcAft>
            </a:pPr>
            <a:r>
              <a:rPr lang="vi-VN" sz="1400" b="0" i="0">
                <a:solidFill>
                  <a:srgbClr val="5B6775"/>
                </a:solidFill>
                <a:latin typeface="Arial"/>
              </a:rPr>
              <a:t>Bài toán, mục tiêu và quy trình thực hiện</a:t>
            </a:r>
          </a:p>
        </p:txBody>
      </p:sp>
      <p:sp>
        <p:nvSpPr>
          <p:cNvPr id="7" name="Oval 6"/>
          <p:cNvSpPr/>
          <p:nvPr/>
        </p:nvSpPr>
        <p:spPr>
          <a:xfrm>
            <a:off x="1097280" y="2267712"/>
            <a:ext cx="621792" cy="621792"/>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vi-VN" sz="1800" b="1" i="0">
                <a:solidFill>
                  <a:srgbClr val="FFFFFF"/>
                </a:solidFill>
                <a:latin typeface="Arial"/>
              </a:rPr>
              <a:t>02</a:t>
            </a:r>
          </a:p>
        </p:txBody>
      </p:sp>
      <p:sp>
        <p:nvSpPr>
          <p:cNvPr id="8" name="TextBox 7"/>
          <p:cNvSpPr txBox="1"/>
          <p:nvPr/>
        </p:nvSpPr>
        <p:spPr>
          <a:xfrm>
            <a:off x="1920240" y="2249424"/>
            <a:ext cx="8686800" cy="365760"/>
          </a:xfrm>
          <a:prstGeom prst="rect">
            <a:avLst/>
          </a:prstGeom>
          <a:noFill/>
        </p:spPr>
        <p:txBody>
          <a:bodyPr wrap="square" lIns="45720" tIns="27432" rIns="45720" bIns="27432" anchor="t">
            <a:spAutoFit/>
          </a:bodyPr>
          <a:lstStyle/>
          <a:p>
            <a:pPr algn="l">
              <a:lnSpc>
                <a:spcPct val="110000"/>
              </a:lnSpc>
              <a:spcAft>
                <a:spcPts val="600"/>
              </a:spcAft>
            </a:pPr>
            <a:r>
              <a:rPr lang="vi-VN" sz="2000" b="1" i="0">
                <a:solidFill>
                  <a:srgbClr val="1F2937"/>
                </a:solidFill>
                <a:latin typeface="Arial"/>
              </a:rPr>
              <a:t>Thu thập và khám phá dữ liệu</a:t>
            </a:r>
          </a:p>
        </p:txBody>
      </p:sp>
      <p:sp>
        <p:nvSpPr>
          <p:cNvPr id="9" name="TextBox 8"/>
          <p:cNvSpPr txBox="1"/>
          <p:nvPr/>
        </p:nvSpPr>
        <p:spPr>
          <a:xfrm>
            <a:off x="1920240" y="2596896"/>
            <a:ext cx="8686800" cy="320040"/>
          </a:xfrm>
          <a:prstGeom prst="rect">
            <a:avLst/>
          </a:prstGeom>
          <a:noFill/>
        </p:spPr>
        <p:txBody>
          <a:bodyPr wrap="square" lIns="45720" tIns="27432" rIns="45720" bIns="27432" anchor="t">
            <a:spAutoFit/>
          </a:bodyPr>
          <a:lstStyle/>
          <a:p>
            <a:pPr algn="l">
              <a:lnSpc>
                <a:spcPct val="110000"/>
              </a:lnSpc>
              <a:spcAft>
                <a:spcPts val="600"/>
              </a:spcAft>
            </a:pPr>
            <a:r>
              <a:rPr lang="vi-VN" sz="1400" b="0" i="0">
                <a:solidFill>
                  <a:srgbClr val="5B6775"/>
                </a:solidFill>
                <a:latin typeface="Arial"/>
              </a:rPr>
              <a:t>Crawl 14.835 tin rao bán ô tô từ Chợ Tốt</a:t>
            </a:r>
          </a:p>
        </p:txBody>
      </p:sp>
      <p:sp>
        <p:nvSpPr>
          <p:cNvPr id="10" name="Oval 9"/>
          <p:cNvSpPr/>
          <p:nvPr/>
        </p:nvSpPr>
        <p:spPr>
          <a:xfrm>
            <a:off x="1097280" y="3072384"/>
            <a:ext cx="621792" cy="621792"/>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vi-VN" sz="1800" b="1" i="0">
                <a:solidFill>
                  <a:srgbClr val="FFFFFF"/>
                </a:solidFill>
                <a:latin typeface="Arial"/>
              </a:rPr>
              <a:t>03</a:t>
            </a:r>
          </a:p>
        </p:txBody>
      </p:sp>
      <p:sp>
        <p:nvSpPr>
          <p:cNvPr id="11" name="TextBox 10"/>
          <p:cNvSpPr txBox="1"/>
          <p:nvPr/>
        </p:nvSpPr>
        <p:spPr>
          <a:xfrm>
            <a:off x="1920240" y="3054096"/>
            <a:ext cx="8686800" cy="365760"/>
          </a:xfrm>
          <a:prstGeom prst="rect">
            <a:avLst/>
          </a:prstGeom>
          <a:noFill/>
        </p:spPr>
        <p:txBody>
          <a:bodyPr wrap="square" lIns="45720" tIns="27432" rIns="45720" bIns="27432" anchor="t">
            <a:spAutoFit/>
          </a:bodyPr>
          <a:lstStyle/>
          <a:p>
            <a:pPr algn="l">
              <a:lnSpc>
                <a:spcPct val="110000"/>
              </a:lnSpc>
              <a:spcAft>
                <a:spcPts val="600"/>
              </a:spcAft>
            </a:pPr>
            <a:r>
              <a:rPr lang="vi-VN" sz="2000" b="1" i="0">
                <a:solidFill>
                  <a:srgbClr val="1F2937"/>
                </a:solidFill>
                <a:latin typeface="Arial"/>
              </a:rPr>
              <a:t>Tiền xử lý và xử lý dữ liệu</a:t>
            </a:r>
          </a:p>
        </p:txBody>
      </p:sp>
      <p:sp>
        <p:nvSpPr>
          <p:cNvPr id="12" name="TextBox 11"/>
          <p:cNvSpPr txBox="1"/>
          <p:nvPr/>
        </p:nvSpPr>
        <p:spPr>
          <a:xfrm>
            <a:off x="1920240" y="3401568"/>
            <a:ext cx="8686800" cy="320040"/>
          </a:xfrm>
          <a:prstGeom prst="rect">
            <a:avLst/>
          </a:prstGeom>
          <a:noFill/>
        </p:spPr>
        <p:txBody>
          <a:bodyPr wrap="square" lIns="45720" tIns="27432" rIns="45720" bIns="27432" anchor="t">
            <a:spAutoFit/>
          </a:bodyPr>
          <a:lstStyle/>
          <a:p>
            <a:pPr algn="l">
              <a:lnSpc>
                <a:spcPct val="110000"/>
              </a:lnSpc>
              <a:spcAft>
                <a:spcPts val="600"/>
              </a:spcAft>
            </a:pPr>
            <a:r>
              <a:rPr lang="vi-VN" sz="1400" b="0" i="0">
                <a:solidFill>
                  <a:srgbClr val="5B6775"/>
                </a:solidFill>
                <a:latin typeface="Arial"/>
              </a:rPr>
              <a:t>Quy tắc cứng; chia train/test rồi học mọi tham số chỉ từ train</a:t>
            </a:r>
          </a:p>
        </p:txBody>
      </p:sp>
      <p:sp>
        <p:nvSpPr>
          <p:cNvPr id="13" name="Oval 12"/>
          <p:cNvSpPr/>
          <p:nvPr/>
        </p:nvSpPr>
        <p:spPr>
          <a:xfrm>
            <a:off x="1097280" y="3877056"/>
            <a:ext cx="621792" cy="621792"/>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vi-VN" sz="1800" b="1" i="0">
                <a:solidFill>
                  <a:srgbClr val="FFFFFF"/>
                </a:solidFill>
                <a:latin typeface="Arial"/>
              </a:rPr>
              <a:t>04</a:t>
            </a:r>
          </a:p>
        </p:txBody>
      </p:sp>
      <p:sp>
        <p:nvSpPr>
          <p:cNvPr id="14" name="TextBox 13"/>
          <p:cNvSpPr txBox="1"/>
          <p:nvPr/>
        </p:nvSpPr>
        <p:spPr>
          <a:xfrm>
            <a:off x="1920240" y="3858768"/>
            <a:ext cx="8686800" cy="365760"/>
          </a:xfrm>
          <a:prstGeom prst="rect">
            <a:avLst/>
          </a:prstGeom>
          <a:noFill/>
        </p:spPr>
        <p:txBody>
          <a:bodyPr wrap="square" lIns="45720" tIns="27432" rIns="45720" bIns="27432" anchor="t">
            <a:spAutoFit/>
          </a:bodyPr>
          <a:lstStyle/>
          <a:p>
            <a:pPr algn="l">
              <a:lnSpc>
                <a:spcPct val="110000"/>
              </a:lnSpc>
              <a:spcAft>
                <a:spcPts val="600"/>
              </a:spcAft>
            </a:pPr>
            <a:r>
              <a:rPr lang="vi-VN" sz="2000" b="1" i="0">
                <a:solidFill>
                  <a:srgbClr val="1F2937"/>
                </a:solidFill>
                <a:latin typeface="Arial"/>
              </a:rPr>
              <a:t>Mô hình Random Forest</a:t>
            </a:r>
          </a:p>
        </p:txBody>
      </p:sp>
      <p:sp>
        <p:nvSpPr>
          <p:cNvPr id="15" name="TextBox 14"/>
          <p:cNvSpPr txBox="1"/>
          <p:nvPr/>
        </p:nvSpPr>
        <p:spPr>
          <a:xfrm>
            <a:off x="1920240" y="4206240"/>
            <a:ext cx="8686800" cy="320040"/>
          </a:xfrm>
          <a:prstGeom prst="rect">
            <a:avLst/>
          </a:prstGeom>
          <a:noFill/>
        </p:spPr>
        <p:txBody>
          <a:bodyPr wrap="square" lIns="45720" tIns="27432" rIns="45720" bIns="27432" anchor="t">
            <a:spAutoFit/>
          </a:bodyPr>
          <a:lstStyle/>
          <a:p>
            <a:pPr algn="l">
              <a:lnSpc>
                <a:spcPct val="110000"/>
              </a:lnSpc>
              <a:spcAft>
                <a:spcPts val="600"/>
              </a:spcAft>
            </a:pPr>
            <a:r>
              <a:rPr lang="vi-VN" sz="1400" b="0" i="0">
                <a:solidFill>
                  <a:srgbClr val="5B6775"/>
                </a:solidFill>
                <a:latin typeface="Arial"/>
              </a:rPr>
              <a:t>Lý thuyết, bản thư viện, bản tự cài đặt, kiểm chứng; Ridge để so sánh</a:t>
            </a:r>
          </a:p>
        </p:txBody>
      </p:sp>
      <p:sp>
        <p:nvSpPr>
          <p:cNvPr id="16" name="Oval 15"/>
          <p:cNvSpPr/>
          <p:nvPr/>
        </p:nvSpPr>
        <p:spPr>
          <a:xfrm>
            <a:off x="1097280" y="4681728"/>
            <a:ext cx="621792" cy="621792"/>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vi-VN" sz="1800" b="1" i="0">
                <a:solidFill>
                  <a:srgbClr val="FFFFFF"/>
                </a:solidFill>
                <a:latin typeface="Arial"/>
              </a:rPr>
              <a:t>05</a:t>
            </a:r>
          </a:p>
        </p:txBody>
      </p:sp>
      <p:sp>
        <p:nvSpPr>
          <p:cNvPr id="17" name="TextBox 16"/>
          <p:cNvSpPr txBox="1"/>
          <p:nvPr/>
        </p:nvSpPr>
        <p:spPr>
          <a:xfrm>
            <a:off x="1920240" y="4663440"/>
            <a:ext cx="8686800" cy="365760"/>
          </a:xfrm>
          <a:prstGeom prst="rect">
            <a:avLst/>
          </a:prstGeom>
          <a:noFill/>
        </p:spPr>
        <p:txBody>
          <a:bodyPr wrap="square" lIns="45720" tIns="27432" rIns="45720" bIns="27432" anchor="t">
            <a:spAutoFit/>
          </a:bodyPr>
          <a:lstStyle/>
          <a:p>
            <a:pPr algn="l">
              <a:lnSpc>
                <a:spcPct val="110000"/>
              </a:lnSpc>
              <a:spcAft>
                <a:spcPts val="600"/>
              </a:spcAft>
            </a:pPr>
            <a:r>
              <a:rPr lang="vi-VN" sz="2000" b="1" i="0">
                <a:solidFill>
                  <a:srgbClr val="1F2937"/>
                </a:solidFill>
                <a:latin typeface="Arial"/>
              </a:rPr>
              <a:t>Kết quả và kết luận</a:t>
            </a:r>
          </a:p>
        </p:txBody>
      </p:sp>
      <p:sp>
        <p:nvSpPr>
          <p:cNvPr id="18" name="TextBox 17"/>
          <p:cNvSpPr txBox="1"/>
          <p:nvPr/>
        </p:nvSpPr>
        <p:spPr>
          <a:xfrm>
            <a:off x="1920240" y="5010912"/>
            <a:ext cx="8686800" cy="320040"/>
          </a:xfrm>
          <a:prstGeom prst="rect">
            <a:avLst/>
          </a:prstGeom>
          <a:noFill/>
        </p:spPr>
        <p:txBody>
          <a:bodyPr wrap="square" lIns="45720" tIns="27432" rIns="45720" bIns="27432" anchor="t">
            <a:spAutoFit/>
          </a:bodyPr>
          <a:lstStyle/>
          <a:p>
            <a:pPr algn="l">
              <a:lnSpc>
                <a:spcPct val="110000"/>
              </a:lnSpc>
              <a:spcAft>
                <a:spcPts val="600"/>
              </a:spcAft>
            </a:pPr>
            <a:r>
              <a:rPr lang="vi-VN" sz="1400" b="0" i="0">
                <a:solidFill>
                  <a:srgbClr val="5B6775"/>
                </a:solidFill>
                <a:latin typeface="Arial"/>
              </a:rPr>
              <a:t>Đánh giá trên tập test, diễn giải, thí nghiệm, hạn chế</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1 · GIỚI THIỆU</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Bài toán: ước lượng giá một chiếc xe từ thông tin trong tin đăng</a:t>
            </a:r>
          </a:p>
        </p:txBody>
      </p:sp>
      <p:sp>
        <p:nvSpPr>
          <p:cNvPr id="4" name="Rounded Rectangle 3"/>
          <p:cNvSpPr/>
          <p:nvPr/>
        </p:nvSpPr>
        <p:spPr>
          <a:xfrm>
            <a:off x="548640" y="1508760"/>
            <a:ext cx="4572000" cy="38862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77240" y="1645920"/>
            <a:ext cx="4206240" cy="365760"/>
          </a:xfrm>
          <a:prstGeom prst="rect">
            <a:avLst/>
          </a:prstGeom>
          <a:noFill/>
        </p:spPr>
        <p:txBody>
          <a:bodyPr wrap="square" lIns="45720" tIns="27432" rIns="45720" bIns="27432" anchor="t">
            <a:spAutoFit/>
          </a:bodyPr>
          <a:lstStyle/>
          <a:p>
            <a:pPr algn="l">
              <a:lnSpc>
                <a:spcPct val="110000"/>
              </a:lnSpc>
              <a:spcAft>
                <a:spcPts val="600"/>
              </a:spcAft>
            </a:pPr>
            <a:r>
              <a:rPr lang="vi-VN" sz="1600" b="1" i="0">
                <a:solidFill>
                  <a:srgbClr val="075289"/>
                </a:solidFill>
                <a:latin typeface="Arial"/>
              </a:rPr>
              <a:t>Đầu vào: thông tin trong tin đăng</a:t>
            </a:r>
          </a:p>
        </p:txBody>
      </p:sp>
      <p:sp>
        <p:nvSpPr>
          <p:cNvPr id="6" name="TextBox 5"/>
          <p:cNvSpPr txBox="1"/>
          <p:nvPr/>
        </p:nvSpPr>
        <p:spPr>
          <a:xfrm>
            <a:off x="777240" y="2103120"/>
            <a:ext cx="4206240" cy="3200400"/>
          </a:xfrm>
          <a:prstGeom prst="rect">
            <a:avLst/>
          </a:prstGeom>
          <a:noFill/>
        </p:spPr>
        <p:txBody>
          <a:bodyPr wrap="square" lIns="45720" tIns="27432" rIns="45720" bIns="27432" anchor="t">
            <a:spAutoFit/>
          </a:bodyPr>
          <a:lstStyle/>
          <a:p>
            <a:pPr marL="201168" indent="-201168" algn="l">
              <a:lnSpc>
                <a:spcPct val="110000"/>
              </a:lnSpc>
              <a:spcAft>
                <a:spcPts val="800"/>
              </a:spcAft>
              <a:buClr>
                <a:srgbClr val="075289"/>
              </a:buClr>
              <a:buFont typeface="Arial"/>
              <a:buChar char="•"/>
            </a:pPr>
            <a:r>
              <a:rPr lang="vi-VN" sz="1600" b="0" i="0">
                <a:solidFill>
                  <a:srgbClr val="1F2937"/>
                </a:solidFill>
                <a:latin typeface="Arial"/>
              </a:rPr>
              <a:t>Hãng, dòng xe</a:t>
            </a:r>
          </a:p>
          <a:p>
            <a:pPr marL="201168" indent="-201168" algn="l">
              <a:lnSpc>
                <a:spcPct val="110000"/>
              </a:lnSpc>
              <a:spcAft>
                <a:spcPts val="800"/>
              </a:spcAft>
              <a:buClr>
                <a:srgbClr val="075289"/>
              </a:buClr>
              <a:buFont typeface="Arial"/>
              <a:buChar char="•"/>
            </a:pPr>
            <a:r>
              <a:rPr lang="vi-VN" sz="1600" b="0" i="0">
                <a:solidFill>
                  <a:srgbClr val="1F2937"/>
                </a:solidFill>
                <a:latin typeface="Arial"/>
              </a:rPr>
              <a:t>Năm sản xuất, số km đã đi</a:t>
            </a:r>
          </a:p>
          <a:p>
            <a:pPr marL="201168" indent="-201168" algn="l">
              <a:lnSpc>
                <a:spcPct val="110000"/>
              </a:lnSpc>
              <a:spcAft>
                <a:spcPts val="800"/>
              </a:spcAft>
              <a:buClr>
                <a:srgbClr val="075289"/>
              </a:buClr>
              <a:buFont typeface="Arial"/>
              <a:buChar char="•"/>
            </a:pPr>
            <a:r>
              <a:rPr lang="vi-VN" sz="1600" b="0" i="0">
                <a:solidFill>
                  <a:srgbClr val="1F2937"/>
                </a:solidFill>
                <a:latin typeface="Arial"/>
              </a:rPr>
              <a:t>Hộp số, nhiên liệu</a:t>
            </a:r>
          </a:p>
          <a:p>
            <a:pPr marL="201168" indent="-201168" algn="l">
              <a:lnSpc>
                <a:spcPct val="110000"/>
              </a:lnSpc>
              <a:spcAft>
                <a:spcPts val="800"/>
              </a:spcAft>
              <a:buClr>
                <a:srgbClr val="075289"/>
              </a:buClr>
              <a:buFont typeface="Arial"/>
              <a:buChar char="•"/>
            </a:pPr>
            <a:r>
              <a:rPr lang="vi-VN" sz="1600" b="0" i="0">
                <a:solidFill>
                  <a:srgbClr val="1F2937"/>
                </a:solidFill>
                <a:latin typeface="Arial"/>
              </a:rPr>
              <a:t>Kiểu dáng, số chỗ</a:t>
            </a:r>
          </a:p>
          <a:p>
            <a:pPr marL="201168" indent="-201168" algn="l">
              <a:lnSpc>
                <a:spcPct val="110000"/>
              </a:lnSpc>
              <a:spcAft>
                <a:spcPts val="800"/>
              </a:spcAft>
              <a:buClr>
                <a:srgbClr val="075289"/>
              </a:buClr>
              <a:buFont typeface="Arial"/>
              <a:buChar char="•"/>
            </a:pPr>
            <a:r>
              <a:rPr lang="vi-VN" sz="1600" b="0" i="0">
                <a:solidFill>
                  <a:srgbClr val="1F2937"/>
                </a:solidFill>
                <a:latin typeface="Arial"/>
              </a:rPr>
              <a:t>Xuất xứ, tình trạng (mới / đã dùng)</a:t>
            </a:r>
          </a:p>
        </p:txBody>
      </p:sp>
      <p:sp>
        <p:nvSpPr>
          <p:cNvPr id="7" name="Right Arrow 6"/>
          <p:cNvSpPr/>
          <p:nvPr/>
        </p:nvSpPr>
        <p:spPr>
          <a:xfrm>
            <a:off x="5349240" y="3154680"/>
            <a:ext cx="822960" cy="548640"/>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400800" y="1508760"/>
            <a:ext cx="5212080" cy="178308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629400" y="1645920"/>
            <a:ext cx="4754880" cy="365760"/>
          </a:xfrm>
          <a:prstGeom prst="rect">
            <a:avLst/>
          </a:prstGeom>
          <a:noFill/>
        </p:spPr>
        <p:txBody>
          <a:bodyPr wrap="square" lIns="45720" tIns="27432" rIns="45720" bIns="27432" anchor="t">
            <a:spAutoFit/>
          </a:bodyPr>
          <a:lstStyle/>
          <a:p>
            <a:pPr algn="l">
              <a:lnSpc>
                <a:spcPct val="110000"/>
              </a:lnSpc>
              <a:spcAft>
                <a:spcPts val="600"/>
              </a:spcAft>
            </a:pPr>
            <a:r>
              <a:rPr lang="vi-VN" sz="1600" b="1" i="0">
                <a:solidFill>
                  <a:srgbClr val="FFD400"/>
                </a:solidFill>
                <a:latin typeface="Arial"/>
              </a:rPr>
              <a:t>Đầu ra</a:t>
            </a:r>
          </a:p>
        </p:txBody>
      </p:sp>
      <p:sp>
        <p:nvSpPr>
          <p:cNvPr id="10" name="TextBox 9"/>
          <p:cNvSpPr txBox="1"/>
          <p:nvPr/>
        </p:nvSpPr>
        <p:spPr>
          <a:xfrm>
            <a:off x="6629400" y="2011680"/>
            <a:ext cx="4754880" cy="1188720"/>
          </a:xfrm>
          <a:prstGeom prst="rect">
            <a:avLst/>
          </a:prstGeom>
          <a:noFill/>
        </p:spPr>
        <p:txBody>
          <a:bodyPr wrap="square" lIns="45720" tIns="27432" rIns="45720" bIns="27432" anchor="t">
            <a:spAutoFit/>
          </a:bodyPr>
          <a:lstStyle/>
          <a:p>
            <a:pPr algn="l">
              <a:lnSpc>
                <a:spcPct val="110000"/>
              </a:lnSpc>
              <a:spcAft>
                <a:spcPts val="600"/>
              </a:spcAft>
            </a:pPr>
            <a:r>
              <a:rPr lang="vi-VN" sz="2600" b="1" i="0">
                <a:solidFill>
                  <a:srgbClr val="FFFFFF"/>
                </a:solidFill>
                <a:latin typeface="Arial"/>
              </a:rPr>
              <a:t>Giá rao bán</a:t>
            </a:r>
          </a:p>
          <a:p>
            <a:pPr algn="l">
              <a:lnSpc>
                <a:spcPct val="110000"/>
              </a:lnSpc>
              <a:spcAft>
                <a:spcPts val="600"/>
              </a:spcAft>
            </a:pPr>
            <a:r>
              <a:rPr lang="vi-VN" sz="1500" b="0" i="0">
                <a:solidFill>
                  <a:srgbClr val="FFFFFF"/>
                </a:solidFill>
                <a:latin typeface="Arial"/>
              </a:rPr>
              <a:t>(triệu đồng) - bài toán hồi quy có giám sát</a:t>
            </a:r>
          </a:p>
        </p:txBody>
      </p:sp>
      <p:sp>
        <p:nvSpPr>
          <p:cNvPr id="11" name="Rounded Rectangle 10"/>
          <p:cNvSpPr/>
          <p:nvPr/>
        </p:nvSpPr>
        <p:spPr>
          <a:xfrm>
            <a:off x="6400800" y="3520440"/>
            <a:ext cx="5212080" cy="1874519"/>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629400" y="3639312"/>
            <a:ext cx="4754880" cy="365760"/>
          </a:xfrm>
          <a:prstGeom prst="rect">
            <a:avLst/>
          </a:prstGeom>
          <a:noFill/>
        </p:spPr>
        <p:txBody>
          <a:bodyPr wrap="square" lIns="45720" tIns="27432" rIns="45720" bIns="27432" anchor="t">
            <a:spAutoFit/>
          </a:bodyPr>
          <a:lstStyle/>
          <a:p>
            <a:pPr algn="l">
              <a:lnSpc>
                <a:spcPct val="110000"/>
              </a:lnSpc>
              <a:spcAft>
                <a:spcPts val="600"/>
              </a:spcAft>
            </a:pPr>
            <a:r>
              <a:rPr lang="vi-VN" sz="1600" b="1" i="0">
                <a:solidFill>
                  <a:srgbClr val="075289"/>
                </a:solidFill>
                <a:latin typeface="Arial"/>
              </a:rPr>
              <a:t>Yêu cầu của đề tài</a:t>
            </a:r>
          </a:p>
        </p:txBody>
      </p:sp>
      <p:sp>
        <p:nvSpPr>
          <p:cNvPr id="13" name="TextBox 12"/>
          <p:cNvSpPr txBox="1"/>
          <p:nvPr/>
        </p:nvSpPr>
        <p:spPr>
          <a:xfrm>
            <a:off x="6629400" y="4023360"/>
            <a:ext cx="4846320" cy="1371600"/>
          </a:xfrm>
          <a:prstGeom prst="rect">
            <a:avLst/>
          </a:prstGeom>
          <a:noFill/>
        </p:spPr>
        <p:txBody>
          <a:bodyPr wrap="square" lIns="45720" tIns="27432" rIns="45720" bIns="27432" anchor="t">
            <a:spAutoFit/>
          </a:bodyPr>
          <a:lstStyle/>
          <a:p>
            <a:pPr marL="201168" indent="-201168" algn="l">
              <a:lnSpc>
                <a:spcPct val="110000"/>
              </a:lnSpc>
              <a:spcAft>
                <a:spcPts val="500"/>
              </a:spcAft>
              <a:buClr>
                <a:srgbClr val="075289"/>
              </a:buClr>
              <a:buFont typeface="Arial"/>
              <a:buChar char="•"/>
            </a:pPr>
            <a:r>
              <a:rPr lang="vi-VN" sz="1400" b="0" i="0">
                <a:solidFill>
                  <a:srgbClr val="1F2937"/>
                </a:solidFill>
                <a:latin typeface="Arial"/>
              </a:rPr>
              <a:t>Một mô hình từ đầu đến cuối, có thước đo đánh giá</a:t>
            </a:r>
          </a:p>
          <a:p>
            <a:pPr marL="201168" indent="-201168" algn="l">
              <a:lnSpc>
                <a:spcPct val="110000"/>
              </a:lnSpc>
              <a:spcAft>
                <a:spcPts val="500"/>
              </a:spcAft>
              <a:buClr>
                <a:srgbClr val="075289"/>
              </a:buClr>
              <a:buFont typeface="Arial"/>
              <a:buChar char="•"/>
            </a:pPr>
            <a:r>
              <a:rPr lang="vi-VN" sz="1400" b="0" i="0">
                <a:solidFill>
                  <a:srgbClr val="1F2937"/>
                </a:solidFill>
                <a:latin typeface="Arial"/>
              </a:rPr>
              <a:t>Phân tích kỹ Random Forest, tự cài đặt và kiểm chứng</a:t>
            </a:r>
          </a:p>
          <a:p>
            <a:pPr marL="201168" indent="-201168" algn="l">
              <a:lnSpc>
                <a:spcPct val="110000"/>
              </a:lnSpc>
              <a:spcAft>
                <a:spcPts val="500"/>
              </a:spcAft>
              <a:buClr>
                <a:srgbClr val="075289"/>
              </a:buClr>
              <a:buFont typeface="Arial"/>
              <a:buChar char="•"/>
            </a:pPr>
            <a:r>
              <a:rPr lang="vi-VN" sz="1400" b="0" i="0">
                <a:solidFill>
                  <a:srgbClr val="1F2937"/>
                </a:solidFill>
                <a:latin typeface="Arial"/>
              </a:rPr>
              <a:t>Có kỹ thuật xử lý dữ liệu mất cân bằng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1 · GIỚI THIỆU</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Quy trình thực hiện</a:t>
            </a:r>
          </a:p>
        </p:txBody>
      </p:sp>
      <p:sp>
        <p:nvSpPr>
          <p:cNvPr id="4" name="Rounded Rectangle 3"/>
          <p:cNvSpPr/>
          <p:nvPr/>
        </p:nvSpPr>
        <p:spPr>
          <a:xfrm>
            <a:off x="548640" y="1645920"/>
            <a:ext cx="1920240" cy="23774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val 4"/>
          <p:cNvSpPr/>
          <p:nvPr/>
        </p:nvSpPr>
        <p:spPr>
          <a:xfrm>
            <a:off x="1188719" y="1828800"/>
            <a:ext cx="640080" cy="640080"/>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vi-VN" sz="2000" b="1" i="0">
                <a:solidFill>
                  <a:srgbClr val="FFFFFF"/>
                </a:solidFill>
                <a:latin typeface="Arial"/>
              </a:rPr>
              <a:t>1</a:t>
            </a:r>
          </a:p>
        </p:txBody>
      </p:sp>
      <p:sp>
        <p:nvSpPr>
          <p:cNvPr id="6" name="TextBox 5"/>
          <p:cNvSpPr txBox="1"/>
          <p:nvPr/>
        </p:nvSpPr>
        <p:spPr>
          <a:xfrm>
            <a:off x="640080" y="2606040"/>
            <a:ext cx="1737360" cy="411480"/>
          </a:xfrm>
          <a:prstGeom prst="rect">
            <a:avLst/>
          </a:prstGeom>
          <a:noFill/>
        </p:spPr>
        <p:txBody>
          <a:bodyPr wrap="square" lIns="45720" tIns="27432" rIns="45720" bIns="27432" anchor="t">
            <a:spAutoFit/>
          </a:bodyPr>
          <a:lstStyle/>
          <a:p>
            <a:pPr algn="ctr">
              <a:lnSpc>
                <a:spcPct val="110000"/>
              </a:lnSpc>
              <a:spcAft>
                <a:spcPts val="600"/>
              </a:spcAft>
            </a:pPr>
            <a:r>
              <a:rPr lang="vi-VN" sz="1800" b="1" i="0">
                <a:solidFill>
                  <a:srgbClr val="075289"/>
                </a:solidFill>
                <a:latin typeface="Arial"/>
              </a:rPr>
              <a:t>Thu thập</a:t>
            </a:r>
          </a:p>
        </p:txBody>
      </p:sp>
      <p:sp>
        <p:nvSpPr>
          <p:cNvPr id="7" name="TextBox 6"/>
          <p:cNvSpPr txBox="1"/>
          <p:nvPr/>
        </p:nvSpPr>
        <p:spPr>
          <a:xfrm>
            <a:off x="640080" y="3063240"/>
            <a:ext cx="1737360" cy="868680"/>
          </a:xfrm>
          <a:prstGeom prst="rect">
            <a:avLst/>
          </a:prstGeom>
          <a:noFill/>
        </p:spPr>
        <p:txBody>
          <a:bodyPr wrap="square" lIns="45720" tIns="27432" rIns="45720" bIns="27432" anchor="t">
            <a:spAutoFit/>
          </a:bodyPr>
          <a:lstStyle/>
          <a:p>
            <a:pPr algn="ctr">
              <a:lnSpc>
                <a:spcPct val="110000"/>
              </a:lnSpc>
              <a:spcAft>
                <a:spcPts val="200"/>
              </a:spcAft>
            </a:pPr>
            <a:r>
              <a:rPr lang="vi-VN" sz="1300" b="0" i="0">
                <a:solidFill>
                  <a:srgbClr val="1F2937"/>
                </a:solidFill>
                <a:latin typeface="Arial"/>
              </a:rPr>
              <a:t>Crawl Chợ Tốt</a:t>
            </a:r>
          </a:p>
          <a:p>
            <a:pPr algn="ctr">
              <a:lnSpc>
                <a:spcPct val="110000"/>
              </a:lnSpc>
              <a:spcAft>
                <a:spcPts val="200"/>
              </a:spcAft>
            </a:pPr>
            <a:r>
              <a:rPr lang="vi-VN" sz="1300" b="0" i="0">
                <a:solidFill>
                  <a:srgbClr val="1F2937"/>
                </a:solidFill>
                <a:latin typeface="Arial"/>
              </a:rPr>
              <a:t>14.835 tin</a:t>
            </a:r>
          </a:p>
        </p:txBody>
      </p:sp>
      <p:sp>
        <p:nvSpPr>
          <p:cNvPr id="8" name="Right Arrow 7"/>
          <p:cNvSpPr/>
          <p:nvPr/>
        </p:nvSpPr>
        <p:spPr>
          <a:xfrm>
            <a:off x="2496312" y="2651760"/>
            <a:ext cx="292608" cy="365760"/>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834640" y="1645920"/>
            <a:ext cx="1920240" cy="237744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474720" y="1828800"/>
            <a:ext cx="640080" cy="64008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vi-VN" sz="2000" b="1" i="0">
                <a:solidFill>
                  <a:srgbClr val="FFFFFF"/>
                </a:solidFill>
                <a:latin typeface="Arial"/>
              </a:rPr>
              <a:t>2</a:t>
            </a:r>
          </a:p>
        </p:txBody>
      </p:sp>
      <p:sp>
        <p:nvSpPr>
          <p:cNvPr id="11" name="TextBox 10"/>
          <p:cNvSpPr txBox="1"/>
          <p:nvPr/>
        </p:nvSpPr>
        <p:spPr>
          <a:xfrm>
            <a:off x="2926080" y="2606040"/>
            <a:ext cx="1737360" cy="411480"/>
          </a:xfrm>
          <a:prstGeom prst="rect">
            <a:avLst/>
          </a:prstGeom>
          <a:noFill/>
        </p:spPr>
        <p:txBody>
          <a:bodyPr wrap="square" lIns="45720" tIns="27432" rIns="45720" bIns="27432" anchor="t">
            <a:spAutoFit/>
          </a:bodyPr>
          <a:lstStyle/>
          <a:p>
            <a:pPr algn="ctr">
              <a:lnSpc>
                <a:spcPct val="110000"/>
              </a:lnSpc>
              <a:spcAft>
                <a:spcPts val="600"/>
              </a:spcAft>
            </a:pPr>
            <a:r>
              <a:rPr lang="vi-VN" sz="1800" b="1" i="0">
                <a:solidFill>
                  <a:srgbClr val="075289"/>
                </a:solidFill>
                <a:latin typeface="Arial"/>
              </a:rPr>
              <a:t>Tiền xử lý</a:t>
            </a:r>
          </a:p>
        </p:txBody>
      </p:sp>
      <p:sp>
        <p:nvSpPr>
          <p:cNvPr id="12" name="TextBox 11"/>
          <p:cNvSpPr txBox="1"/>
          <p:nvPr/>
        </p:nvSpPr>
        <p:spPr>
          <a:xfrm>
            <a:off x="2926080" y="3063240"/>
            <a:ext cx="1737360" cy="868680"/>
          </a:xfrm>
          <a:prstGeom prst="rect">
            <a:avLst/>
          </a:prstGeom>
          <a:noFill/>
        </p:spPr>
        <p:txBody>
          <a:bodyPr wrap="square" lIns="45720" tIns="27432" rIns="45720" bIns="27432" anchor="t">
            <a:spAutoFit/>
          </a:bodyPr>
          <a:lstStyle/>
          <a:p>
            <a:pPr algn="ctr">
              <a:lnSpc>
                <a:spcPct val="110000"/>
              </a:lnSpc>
              <a:spcAft>
                <a:spcPts val="200"/>
              </a:spcAft>
            </a:pPr>
            <a:r>
              <a:rPr lang="vi-VN" sz="1300" b="0" i="0">
                <a:solidFill>
                  <a:srgbClr val="1F2937"/>
                </a:solidFill>
                <a:latin typeface="Arial"/>
              </a:rPr>
              <a:t>Quy tắc cứng</a:t>
            </a:r>
          </a:p>
          <a:p>
            <a:pPr algn="ctr">
              <a:lnSpc>
                <a:spcPct val="110000"/>
              </a:lnSpc>
              <a:spcAft>
                <a:spcPts val="200"/>
              </a:spcAft>
            </a:pPr>
            <a:r>
              <a:rPr lang="vi-VN" sz="1300" b="0" i="0">
                <a:solidFill>
                  <a:srgbClr val="1F2937"/>
                </a:solidFill>
                <a:latin typeface="Arial"/>
              </a:rPr>
              <a:t>14.066 tin</a:t>
            </a:r>
          </a:p>
        </p:txBody>
      </p:sp>
      <p:sp>
        <p:nvSpPr>
          <p:cNvPr id="13" name="Right Arrow 12"/>
          <p:cNvSpPr/>
          <p:nvPr/>
        </p:nvSpPr>
        <p:spPr>
          <a:xfrm>
            <a:off x="4782312" y="2651760"/>
            <a:ext cx="292608" cy="365760"/>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5120640" y="1645920"/>
            <a:ext cx="1920240" cy="23774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5760720" y="1828800"/>
            <a:ext cx="640080" cy="640080"/>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vi-VN" sz="2000" b="1" i="0">
                <a:solidFill>
                  <a:srgbClr val="FFFFFF"/>
                </a:solidFill>
                <a:latin typeface="Arial"/>
              </a:rPr>
              <a:t>3</a:t>
            </a:r>
          </a:p>
        </p:txBody>
      </p:sp>
      <p:sp>
        <p:nvSpPr>
          <p:cNvPr id="16" name="TextBox 15"/>
          <p:cNvSpPr txBox="1"/>
          <p:nvPr/>
        </p:nvSpPr>
        <p:spPr>
          <a:xfrm>
            <a:off x="5212079" y="2606040"/>
            <a:ext cx="1737360" cy="411480"/>
          </a:xfrm>
          <a:prstGeom prst="rect">
            <a:avLst/>
          </a:prstGeom>
          <a:noFill/>
        </p:spPr>
        <p:txBody>
          <a:bodyPr wrap="square" lIns="45720" tIns="27432" rIns="45720" bIns="27432" anchor="t">
            <a:spAutoFit/>
          </a:bodyPr>
          <a:lstStyle/>
          <a:p>
            <a:pPr algn="ctr">
              <a:lnSpc>
                <a:spcPct val="110000"/>
              </a:lnSpc>
              <a:spcAft>
                <a:spcPts val="600"/>
              </a:spcAft>
            </a:pPr>
            <a:r>
              <a:rPr lang="vi-VN" sz="1800" b="1" i="0">
                <a:solidFill>
                  <a:srgbClr val="075289"/>
                </a:solidFill>
                <a:latin typeface="Arial"/>
              </a:rPr>
              <a:t>Xử lý dữ liệu</a:t>
            </a:r>
          </a:p>
        </p:txBody>
      </p:sp>
      <p:sp>
        <p:nvSpPr>
          <p:cNvPr id="17" name="TextBox 16"/>
          <p:cNvSpPr txBox="1"/>
          <p:nvPr/>
        </p:nvSpPr>
        <p:spPr>
          <a:xfrm>
            <a:off x="5212079" y="3063240"/>
            <a:ext cx="1737360" cy="868680"/>
          </a:xfrm>
          <a:prstGeom prst="rect">
            <a:avLst/>
          </a:prstGeom>
          <a:noFill/>
        </p:spPr>
        <p:txBody>
          <a:bodyPr wrap="square" lIns="45720" tIns="27432" rIns="45720" bIns="27432" anchor="t">
            <a:spAutoFit/>
          </a:bodyPr>
          <a:lstStyle/>
          <a:p>
            <a:pPr algn="ctr">
              <a:lnSpc>
                <a:spcPct val="110000"/>
              </a:lnSpc>
              <a:spcAft>
                <a:spcPts val="200"/>
              </a:spcAft>
            </a:pPr>
            <a:r>
              <a:rPr lang="vi-VN" sz="1300" b="0" i="0">
                <a:solidFill>
                  <a:srgbClr val="1F2937"/>
                </a:solidFill>
                <a:latin typeface="Arial"/>
              </a:rPr>
              <a:t>Chia tập, fit trên train</a:t>
            </a:r>
          </a:p>
          <a:p>
            <a:pPr algn="ctr">
              <a:lnSpc>
                <a:spcPct val="110000"/>
              </a:lnSpc>
              <a:spcAft>
                <a:spcPts val="200"/>
              </a:spcAft>
            </a:pPr>
            <a:r>
              <a:rPr lang="vi-VN" sz="1300" b="0" i="0">
                <a:solidFill>
                  <a:srgbClr val="1F2937"/>
                </a:solidFill>
                <a:latin typeface="Arial"/>
              </a:rPr>
              <a:t>11.153 / 2.797</a:t>
            </a:r>
          </a:p>
        </p:txBody>
      </p:sp>
      <p:sp>
        <p:nvSpPr>
          <p:cNvPr id="18" name="Right Arrow 17"/>
          <p:cNvSpPr/>
          <p:nvPr/>
        </p:nvSpPr>
        <p:spPr>
          <a:xfrm>
            <a:off x="7068312" y="2651760"/>
            <a:ext cx="292608" cy="365760"/>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406640" y="1645920"/>
            <a:ext cx="1920240" cy="237744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8046719" y="1828800"/>
            <a:ext cx="640080" cy="64008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vi-VN" sz="2000" b="1" i="0">
                <a:solidFill>
                  <a:srgbClr val="FFFFFF"/>
                </a:solidFill>
                <a:latin typeface="Arial"/>
              </a:rPr>
              <a:t>4</a:t>
            </a:r>
          </a:p>
        </p:txBody>
      </p:sp>
      <p:sp>
        <p:nvSpPr>
          <p:cNvPr id="21" name="TextBox 20"/>
          <p:cNvSpPr txBox="1"/>
          <p:nvPr/>
        </p:nvSpPr>
        <p:spPr>
          <a:xfrm>
            <a:off x="7498079" y="2606040"/>
            <a:ext cx="1737360" cy="411480"/>
          </a:xfrm>
          <a:prstGeom prst="rect">
            <a:avLst/>
          </a:prstGeom>
          <a:noFill/>
        </p:spPr>
        <p:txBody>
          <a:bodyPr wrap="square" lIns="45720" tIns="27432" rIns="45720" bIns="27432" anchor="t">
            <a:spAutoFit/>
          </a:bodyPr>
          <a:lstStyle/>
          <a:p>
            <a:pPr algn="ctr">
              <a:lnSpc>
                <a:spcPct val="110000"/>
              </a:lnSpc>
              <a:spcAft>
                <a:spcPts val="600"/>
              </a:spcAft>
            </a:pPr>
            <a:r>
              <a:rPr lang="vi-VN" sz="1800" b="1" i="0">
                <a:solidFill>
                  <a:srgbClr val="075289"/>
                </a:solidFill>
                <a:latin typeface="Arial"/>
              </a:rPr>
              <a:t>Mô hình</a:t>
            </a:r>
          </a:p>
        </p:txBody>
      </p:sp>
      <p:sp>
        <p:nvSpPr>
          <p:cNvPr id="22" name="TextBox 21"/>
          <p:cNvSpPr txBox="1"/>
          <p:nvPr/>
        </p:nvSpPr>
        <p:spPr>
          <a:xfrm>
            <a:off x="7498079" y="3063240"/>
            <a:ext cx="1737360" cy="868680"/>
          </a:xfrm>
          <a:prstGeom prst="rect">
            <a:avLst/>
          </a:prstGeom>
          <a:noFill/>
        </p:spPr>
        <p:txBody>
          <a:bodyPr wrap="square" lIns="45720" tIns="27432" rIns="45720" bIns="27432" anchor="t">
            <a:spAutoFit/>
          </a:bodyPr>
          <a:lstStyle/>
          <a:p>
            <a:pPr algn="ctr">
              <a:lnSpc>
                <a:spcPct val="110000"/>
              </a:lnSpc>
              <a:spcAft>
                <a:spcPts val="200"/>
              </a:spcAft>
            </a:pPr>
            <a:r>
              <a:rPr lang="vi-VN" sz="1300" b="0" i="0">
                <a:solidFill>
                  <a:srgbClr val="1F2937"/>
                </a:solidFill>
                <a:latin typeface="Arial"/>
              </a:rPr>
              <a:t>Random Forest</a:t>
            </a:r>
          </a:p>
          <a:p>
            <a:pPr algn="ctr">
              <a:lnSpc>
                <a:spcPct val="110000"/>
              </a:lnSpc>
              <a:spcAft>
                <a:spcPts val="200"/>
              </a:spcAft>
            </a:pPr>
            <a:r>
              <a:rPr lang="vi-VN" sz="1300" b="0" i="0">
                <a:solidFill>
                  <a:srgbClr val="1F2937"/>
                </a:solidFill>
                <a:latin typeface="Arial"/>
              </a:rPr>
              <a:t>thư viện + tự cài đặt</a:t>
            </a:r>
          </a:p>
        </p:txBody>
      </p:sp>
      <p:sp>
        <p:nvSpPr>
          <p:cNvPr id="23" name="Right Arrow 22"/>
          <p:cNvSpPr/>
          <p:nvPr/>
        </p:nvSpPr>
        <p:spPr>
          <a:xfrm>
            <a:off x="9354312" y="2651760"/>
            <a:ext cx="292608" cy="365760"/>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9692640" y="1645920"/>
            <a:ext cx="1920240" cy="23774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Oval 24"/>
          <p:cNvSpPr/>
          <p:nvPr/>
        </p:nvSpPr>
        <p:spPr>
          <a:xfrm>
            <a:off x="10332719" y="1828800"/>
            <a:ext cx="640080" cy="640080"/>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vi-VN" sz="2000" b="1" i="0">
                <a:solidFill>
                  <a:srgbClr val="FFFFFF"/>
                </a:solidFill>
                <a:latin typeface="Arial"/>
              </a:rPr>
              <a:t>5</a:t>
            </a:r>
          </a:p>
        </p:txBody>
      </p:sp>
      <p:sp>
        <p:nvSpPr>
          <p:cNvPr id="26" name="TextBox 25"/>
          <p:cNvSpPr txBox="1"/>
          <p:nvPr/>
        </p:nvSpPr>
        <p:spPr>
          <a:xfrm>
            <a:off x="9784080" y="2606040"/>
            <a:ext cx="1737360" cy="411480"/>
          </a:xfrm>
          <a:prstGeom prst="rect">
            <a:avLst/>
          </a:prstGeom>
          <a:noFill/>
        </p:spPr>
        <p:txBody>
          <a:bodyPr wrap="square" lIns="45720" tIns="27432" rIns="45720" bIns="27432" anchor="t">
            <a:spAutoFit/>
          </a:bodyPr>
          <a:lstStyle/>
          <a:p>
            <a:pPr algn="ctr">
              <a:lnSpc>
                <a:spcPct val="110000"/>
              </a:lnSpc>
              <a:spcAft>
                <a:spcPts val="600"/>
              </a:spcAft>
            </a:pPr>
            <a:r>
              <a:rPr lang="vi-VN" sz="1800" b="1" i="0">
                <a:solidFill>
                  <a:srgbClr val="075289"/>
                </a:solidFill>
                <a:latin typeface="Arial"/>
              </a:rPr>
              <a:t>Đánh giá</a:t>
            </a:r>
          </a:p>
        </p:txBody>
      </p:sp>
      <p:sp>
        <p:nvSpPr>
          <p:cNvPr id="27" name="TextBox 26"/>
          <p:cNvSpPr txBox="1"/>
          <p:nvPr/>
        </p:nvSpPr>
        <p:spPr>
          <a:xfrm>
            <a:off x="9784080" y="3063240"/>
            <a:ext cx="1737360" cy="868680"/>
          </a:xfrm>
          <a:prstGeom prst="rect">
            <a:avLst/>
          </a:prstGeom>
          <a:noFill/>
        </p:spPr>
        <p:txBody>
          <a:bodyPr wrap="square" lIns="45720" tIns="27432" rIns="45720" bIns="27432" anchor="t">
            <a:spAutoFit/>
          </a:bodyPr>
          <a:lstStyle/>
          <a:p>
            <a:pPr algn="ctr">
              <a:lnSpc>
                <a:spcPct val="110000"/>
              </a:lnSpc>
              <a:spcAft>
                <a:spcPts val="200"/>
              </a:spcAft>
            </a:pPr>
            <a:r>
              <a:rPr lang="vi-VN" sz="1300" b="0" i="0">
                <a:solidFill>
                  <a:srgbClr val="1F2937"/>
                </a:solidFill>
                <a:latin typeface="Arial"/>
              </a:rPr>
              <a:t>MAPE, R², ±20%</a:t>
            </a:r>
          </a:p>
          <a:p>
            <a:pPr algn="ctr">
              <a:lnSpc>
                <a:spcPct val="110000"/>
              </a:lnSpc>
              <a:spcAft>
                <a:spcPts val="200"/>
              </a:spcAft>
            </a:pPr>
            <a:r>
              <a:rPr lang="vi-VN" sz="1300" b="0" i="0">
                <a:solidFill>
                  <a:srgbClr val="1F2937"/>
                </a:solidFill>
                <a:latin typeface="Arial"/>
              </a:rPr>
              <a:t>theo phân khúc</a:t>
            </a:r>
          </a:p>
        </p:txBody>
      </p:sp>
      <p:sp>
        <p:nvSpPr>
          <p:cNvPr id="28" name="TextBox 27"/>
          <p:cNvSpPr txBox="1"/>
          <p:nvPr/>
        </p:nvSpPr>
        <p:spPr>
          <a:xfrm>
            <a:off x="548640" y="4297680"/>
            <a:ext cx="11064240" cy="457200"/>
          </a:xfrm>
          <a:prstGeom prst="rect">
            <a:avLst/>
          </a:prstGeom>
          <a:noFill/>
        </p:spPr>
        <p:txBody>
          <a:bodyPr wrap="square" lIns="45720" tIns="27432" rIns="45720" bIns="27432" anchor="t">
            <a:spAutoFit/>
          </a:bodyPr>
          <a:lstStyle/>
          <a:p>
            <a:pPr algn="l">
              <a:lnSpc>
                <a:spcPct val="110000"/>
              </a:lnSpc>
              <a:spcAft>
                <a:spcPts val="600"/>
              </a:spcAft>
            </a:pPr>
            <a:r>
              <a:rPr lang="vi-VN" sz="1500" b="1" i="0">
                <a:solidFill>
                  <a:srgbClr val="075289"/>
                </a:solidFill>
                <a:latin typeface="Arial"/>
              </a:rPr>
              <a:t>Chống rò rỉ dữ liệu: </a:t>
            </a:r>
            <a:r>
              <a:rPr lang="vi-VN" sz="1500" b="0" i="0">
                <a:solidFill>
                  <a:srgbClr val="1F2937"/>
                </a:solidFill>
                <a:latin typeface="Arial"/>
              </a:rPr>
              <a:t>chia tập trước; điền thiếu, gộp nhãn, mã hóa, tham số chỉ học từ train, rồi áp nguyên lên test.</a:t>
            </a:r>
          </a:p>
        </p:txBody>
      </p:sp>
      <p:sp>
        <p:nvSpPr>
          <p:cNvPr id="29" name="TextBox 28"/>
          <p:cNvSpPr txBox="1"/>
          <p:nvPr/>
        </p:nvSpPr>
        <p:spPr>
          <a:xfrm>
            <a:off x="548640" y="4846320"/>
            <a:ext cx="11064240" cy="457200"/>
          </a:xfrm>
          <a:prstGeom prst="rect">
            <a:avLst/>
          </a:prstGeom>
          <a:noFill/>
        </p:spPr>
        <p:txBody>
          <a:bodyPr wrap="square" lIns="45720" tIns="27432" rIns="45720" bIns="27432" anchor="t">
            <a:spAutoFit/>
          </a:bodyPr>
          <a:lstStyle/>
          <a:p>
            <a:pPr algn="l">
              <a:lnSpc>
                <a:spcPct val="110000"/>
              </a:lnSpc>
              <a:spcAft>
                <a:spcPts val="600"/>
              </a:spcAft>
            </a:pPr>
            <a:r>
              <a:rPr lang="vi-VN" sz="1500" b="1" i="0">
                <a:solidFill>
                  <a:srgbClr val="075289"/>
                </a:solidFill>
                <a:latin typeface="Arial"/>
              </a:rPr>
              <a:t>Tái lập: </a:t>
            </a:r>
            <a:r>
              <a:rPr lang="vi-VN" sz="1500" b="0" i="0">
                <a:solidFill>
                  <a:srgbClr val="1F2937"/>
                </a:solidFill>
                <a:latin typeface="Arial"/>
              </a:rPr>
              <a:t>mọi bước ngẫu nhiên cố định random_state = 42, chạy lại cho đúng cùng kết quả.</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2 · THU THẬP DỮ LIỆU</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Crawl 14.835 tin rao bán ô tô từ Chợ Tốt</a:t>
            </a:r>
          </a:p>
        </p:txBody>
      </p:sp>
      <p:sp>
        <p:nvSpPr>
          <p:cNvPr id="4" name="TextBox 3"/>
          <p:cNvSpPr txBox="1"/>
          <p:nvPr/>
        </p:nvSpPr>
        <p:spPr>
          <a:xfrm>
            <a:off x="548640" y="1280160"/>
            <a:ext cx="11064240" cy="365760"/>
          </a:xfrm>
          <a:prstGeom prst="rect">
            <a:avLst/>
          </a:prstGeom>
          <a:noFill/>
        </p:spPr>
        <p:txBody>
          <a:bodyPr wrap="square" lIns="45720" tIns="27432" rIns="45720" bIns="27432" anchor="t">
            <a:spAutoFit/>
          </a:bodyPr>
          <a:lstStyle/>
          <a:p>
            <a:pPr algn="l">
              <a:lnSpc>
                <a:spcPct val="110000"/>
              </a:lnSpc>
              <a:spcAft>
                <a:spcPts val="600"/>
              </a:spcAft>
            </a:pPr>
            <a:r>
              <a:rPr lang="vi-VN" sz="1600" b="1" i="0">
                <a:solidFill>
                  <a:srgbClr val="EB6834"/>
                </a:solidFill>
                <a:latin typeface="Arial"/>
              </a:rPr>
              <a:t>750 trang  ·  14.835 tin  ·  12 thuộc tính mỗi tin  ·  thu thập ngày 25/10/2026</a:t>
            </a:r>
          </a:p>
        </p:txBody>
      </p:sp>
      <p:pic>
        <p:nvPicPr>
          <p:cNvPr id="5" name="Picture 4" descr="Screenshot_1_che.png"/>
          <p:cNvPicPr>
            <a:picLocks noChangeAspect="1"/>
          </p:cNvPicPr>
          <p:nvPr/>
        </p:nvPicPr>
        <p:blipFill>
          <a:blip r:embed="rId3"/>
          <a:stretch>
            <a:fillRect/>
          </a:stretch>
        </p:blipFill>
        <p:spPr>
          <a:xfrm>
            <a:off x="753283" y="2103120"/>
            <a:ext cx="4437033" cy="3337560"/>
          </a:xfrm>
          <a:prstGeom prst="rect">
            <a:avLst/>
          </a:prstGeom>
        </p:spPr>
      </p:pic>
      <p:sp>
        <p:nvSpPr>
          <p:cNvPr id="6" name="Oval 5"/>
          <p:cNvSpPr/>
          <p:nvPr/>
        </p:nvSpPr>
        <p:spPr>
          <a:xfrm>
            <a:off x="616123" y="1965960"/>
            <a:ext cx="411480" cy="411480"/>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vi-VN" sz="1400" b="1" i="0">
                <a:solidFill>
                  <a:srgbClr val="FFFFFF"/>
                </a:solidFill>
                <a:latin typeface="Arial"/>
              </a:rPr>
              <a:t>1</a:t>
            </a:r>
          </a:p>
        </p:txBody>
      </p:sp>
      <p:sp>
        <p:nvSpPr>
          <p:cNvPr id="7" name="TextBox 6"/>
          <p:cNvSpPr txBox="1"/>
          <p:nvPr/>
        </p:nvSpPr>
        <p:spPr>
          <a:xfrm>
            <a:off x="1119043" y="1673352"/>
            <a:ext cx="4071272" cy="365760"/>
          </a:xfrm>
          <a:prstGeom prst="rect">
            <a:avLst/>
          </a:prstGeom>
          <a:noFill/>
        </p:spPr>
        <p:txBody>
          <a:bodyPr wrap="square" lIns="45720" tIns="27432" rIns="45720" bIns="27432" anchor="t">
            <a:spAutoFit/>
          </a:bodyPr>
          <a:lstStyle/>
          <a:p>
            <a:pPr algn="l">
              <a:lnSpc>
                <a:spcPct val="110000"/>
              </a:lnSpc>
              <a:spcAft>
                <a:spcPts val="600"/>
              </a:spcAft>
            </a:pPr>
            <a:r>
              <a:rPr lang="vi-VN" sz="1400" b="1" i="0">
                <a:solidFill>
                  <a:srgbClr val="075289"/>
                </a:solidFill>
                <a:latin typeface="Arial"/>
              </a:rPr>
              <a:t>Trang danh sách: lấy link từng tin</a:t>
            </a:r>
          </a:p>
        </p:txBody>
      </p:sp>
      <p:sp>
        <p:nvSpPr>
          <p:cNvPr id="8" name="Right Arrow 7"/>
          <p:cNvSpPr/>
          <p:nvPr/>
        </p:nvSpPr>
        <p:spPr>
          <a:xfrm>
            <a:off x="5440680" y="3566160"/>
            <a:ext cx="640080" cy="411480"/>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Screenshot_3_che.png"/>
          <p:cNvPicPr>
            <a:picLocks noChangeAspect="1"/>
          </p:cNvPicPr>
          <p:nvPr/>
        </p:nvPicPr>
        <p:blipFill>
          <a:blip r:embed="rId4"/>
          <a:stretch>
            <a:fillRect/>
          </a:stretch>
        </p:blipFill>
        <p:spPr>
          <a:xfrm>
            <a:off x="6323412" y="2103120"/>
            <a:ext cx="4452454" cy="3337560"/>
          </a:xfrm>
          <a:prstGeom prst="rect">
            <a:avLst/>
          </a:prstGeom>
        </p:spPr>
      </p:pic>
      <p:sp>
        <p:nvSpPr>
          <p:cNvPr id="10" name="Rectangle 9"/>
          <p:cNvSpPr/>
          <p:nvPr/>
        </p:nvSpPr>
        <p:spPr>
          <a:xfrm>
            <a:off x="8898711" y="3356931"/>
            <a:ext cx="1823725" cy="135354"/>
          </a:xfrm>
          <a:prstGeom prst="rect">
            <a:avLst/>
          </a:prstGeom>
          <a:noFill/>
          <a:ln w="3175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7577223" y="3214452"/>
            <a:ext cx="776507" cy="356196"/>
          </a:xfrm>
          <a:prstGeom prst="rect">
            <a:avLst/>
          </a:prstGeom>
          <a:noFill/>
          <a:ln w="31750">
            <a:solidFill>
              <a:srgbClr val="07528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6186252" y="1965960"/>
            <a:ext cx="411480" cy="41148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vi-VN" sz="1400" b="1" i="0">
                <a:solidFill>
                  <a:srgbClr val="FFFFFF"/>
                </a:solidFill>
                <a:latin typeface="Arial"/>
              </a:rPr>
              <a:t>2</a:t>
            </a:r>
          </a:p>
        </p:txBody>
      </p:sp>
      <p:sp>
        <p:nvSpPr>
          <p:cNvPr id="13" name="TextBox 12"/>
          <p:cNvSpPr txBox="1"/>
          <p:nvPr/>
        </p:nvSpPr>
        <p:spPr>
          <a:xfrm>
            <a:off x="6689172" y="1673352"/>
            <a:ext cx="4086693" cy="365760"/>
          </a:xfrm>
          <a:prstGeom prst="rect">
            <a:avLst/>
          </a:prstGeom>
          <a:noFill/>
        </p:spPr>
        <p:txBody>
          <a:bodyPr wrap="square" lIns="45720" tIns="27432" rIns="45720" bIns="27432" anchor="t">
            <a:spAutoFit/>
          </a:bodyPr>
          <a:lstStyle/>
          <a:p>
            <a:pPr algn="l">
              <a:lnSpc>
                <a:spcPct val="110000"/>
              </a:lnSpc>
              <a:spcAft>
                <a:spcPts val="600"/>
              </a:spcAft>
            </a:pPr>
            <a:r>
              <a:rPr lang="vi-VN" sz="1400" b="1" i="0">
                <a:solidFill>
                  <a:srgbClr val="075289"/>
                </a:solidFill>
                <a:latin typeface="Arial"/>
              </a:rPr>
              <a:t>Trang chi tiết: đọc thẻ itemprop</a:t>
            </a:r>
          </a:p>
        </p:txBody>
      </p:sp>
      <p:sp>
        <p:nvSpPr>
          <p:cNvPr id="14" name="TextBox 13"/>
          <p:cNvSpPr txBox="1"/>
          <p:nvPr/>
        </p:nvSpPr>
        <p:spPr>
          <a:xfrm>
            <a:off x="10881360" y="2194560"/>
            <a:ext cx="1097280" cy="2743200"/>
          </a:xfrm>
          <a:prstGeom prst="rect">
            <a:avLst/>
          </a:prstGeom>
          <a:noFill/>
        </p:spPr>
        <p:txBody>
          <a:bodyPr wrap="square" lIns="45720" tIns="27432" rIns="45720" bIns="27432" anchor="t">
            <a:spAutoFit/>
          </a:bodyPr>
          <a:lstStyle/>
          <a:p>
            <a:pPr algn="l">
              <a:lnSpc>
                <a:spcPct val="110000"/>
              </a:lnSpc>
              <a:spcAft>
                <a:spcPts val="300"/>
              </a:spcAft>
            </a:pPr>
            <a:r>
              <a:rPr lang="vi-VN" sz="1100" b="1" i="0">
                <a:solidFill>
                  <a:srgbClr val="EB6834"/>
                </a:solidFill>
                <a:latin typeface="Arial"/>
              </a:rPr>
              <a:t>khung cam:</a:t>
            </a:r>
          </a:p>
          <a:p>
            <a:pPr algn="l">
              <a:lnSpc>
                <a:spcPct val="110000"/>
              </a:lnSpc>
              <a:spcAft>
                <a:spcPts val="300"/>
              </a:spcAft>
            </a:pPr>
            <a:r>
              <a:rPr lang="vi-VN" sz="1100" b="0" i="0">
                <a:solidFill>
                  <a:srgbClr val="1F2937"/>
                </a:solidFill>
                <a:latin typeface="Arial"/>
              </a:rPr>
              <a:t>thẻ itemprop số km</a:t>
            </a:r>
          </a:p>
          <a:p>
            <a:pPr algn="l">
              <a:lnSpc>
                <a:spcPct val="110000"/>
              </a:lnSpc>
              <a:spcAft>
                <a:spcPts val="300"/>
              </a:spcAft>
            </a:pPr>
            <a:r>
              <a:rPr lang="vi-VN" sz="1100" b="1" i="0">
                <a:solidFill>
                  <a:srgbClr val="075289"/>
                </a:solidFill>
                <a:latin typeface="Arial"/>
              </a:rPr>
              <a:t>khung xanh:</a:t>
            </a:r>
          </a:p>
          <a:p>
            <a:pPr algn="l">
              <a:lnSpc>
                <a:spcPct val="110000"/>
              </a:lnSpc>
              <a:spcAft>
                <a:spcPts val="300"/>
              </a:spcAft>
            </a:pPr>
            <a:r>
              <a:rPr lang="vi-VN" sz="1100" b="0" i="0">
                <a:solidFill>
                  <a:srgbClr val="1F2937"/>
                </a:solidFill>
                <a:latin typeface="Arial"/>
              </a:rPr>
              <a:t>số đời chủ, đăng kiểm: chưa lấy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2 · THU THẬP DỮ LIỆU</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Từ điển dữ liệu: biết cột nào người bán gõ tự do</a:t>
            </a:r>
          </a:p>
        </p:txBody>
      </p:sp>
      <p:graphicFrame>
        <p:nvGraphicFramePr>
          <p:cNvPr id="4" name="Table 3"/>
          <p:cNvGraphicFramePr>
            <a:graphicFrameLocks noGrp="1"/>
          </p:cNvGraphicFramePr>
          <p:nvPr/>
        </p:nvGraphicFramePr>
        <p:xfrm>
          <a:off x="548640" y="1417320"/>
          <a:ext cx="11064240" cy="4123944"/>
        </p:xfrm>
        <a:graphic>
          <a:graphicData uri="http://schemas.openxmlformats.org/drawingml/2006/table">
            <a:tbl>
              <a:tblPr>
                <a:tableStyleId>{5940675A-B579-460E-94D1-54222C63F5DA}</a:tableStyleId>
              </a:tblPr>
              <a:tblGrid>
                <a:gridCol w="246888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74904">
                <a:tc>
                  <a:txBody>
                    <a:bodyPr/>
                    <a:lstStyle/>
                    <a:p>
                      <a:r>
                        <a:rPr lang="vi-VN" sz="1300" b="1" i="0">
                          <a:solidFill>
                            <a:srgbClr val="FFFFFF"/>
                          </a:solidFill>
                          <a:latin typeface="Arial"/>
                        </a:rPr>
                        <a:t>Cột</a:t>
                      </a:r>
                    </a:p>
                  </a:txBody>
                  <a:tcPr marL="73152" marR="73152" marT="27432" marB="27432" anchor="ctr">
                    <a:solidFill>
                      <a:srgbClr val="075289"/>
                    </a:solidFill>
                  </a:tcPr>
                </a:tc>
                <a:tc>
                  <a:txBody>
                    <a:bodyPr/>
                    <a:lstStyle/>
                    <a:p>
                      <a:r>
                        <a:rPr lang="vi-VN" sz="1300" b="1" i="0">
                          <a:solidFill>
                            <a:srgbClr val="FFFFFF"/>
                          </a:solidFill>
                          <a:latin typeface="Arial"/>
                        </a:rPr>
                        <a:t>Ý nghĩa</a:t>
                      </a:r>
                    </a:p>
                  </a:txBody>
                  <a:tcPr marL="73152" marR="73152" marT="27432" marB="27432" anchor="ctr">
                    <a:solidFill>
                      <a:srgbClr val="075289"/>
                    </a:solidFill>
                  </a:tcPr>
                </a:tc>
                <a:tc>
                  <a:txBody>
                    <a:bodyPr/>
                    <a:lstStyle/>
                    <a:p>
                      <a:r>
                        <a:rPr lang="vi-VN" sz="1300" b="1" i="0">
                          <a:solidFill>
                            <a:srgbClr val="FFFFFF"/>
                          </a:solidFill>
                          <a:latin typeface="Arial"/>
                        </a:rPr>
                        <a:t>Người bán nhập</a:t>
                      </a:r>
                    </a:p>
                  </a:txBody>
                  <a:tcPr marL="73152" marR="73152" marT="27432" marB="27432" anchor="ctr">
                    <a:solidFill>
                      <a:srgbClr val="075289"/>
                    </a:solidFill>
                  </a:tcPr>
                </a:tc>
                <a:tc>
                  <a:txBody>
                    <a:bodyPr/>
                    <a:lstStyle/>
                    <a:p>
                      <a:r>
                        <a:rPr lang="vi-VN" sz="1300" b="1" i="0">
                          <a:solidFill>
                            <a:srgbClr val="FFFFFF"/>
                          </a:solidFill>
                          <a:latin typeface="Arial"/>
                        </a:rPr>
                        <a:t>Xử lý</a:t>
                      </a:r>
                    </a:p>
                  </a:txBody>
                  <a:tcPr marL="73152" marR="73152" marT="27432" marB="27432" anchor="ctr">
                    <a:solidFill>
                      <a:srgbClr val="075289"/>
                    </a:solidFill>
                  </a:tcPr>
                </a:tc>
                <a:extLst>
                  <a:ext uri="{0D108BD9-81ED-4DB2-BD59-A6C34878D82A}">
                    <a16:rowId xmlns:a16="http://schemas.microsoft.com/office/drawing/2014/main" val="10000"/>
                  </a:ext>
                </a:extLst>
              </a:tr>
              <a:tr h="374904">
                <a:tc>
                  <a:txBody>
                    <a:bodyPr/>
                    <a:lstStyle/>
                    <a:p>
                      <a:r>
                        <a:rPr lang="vi-VN" sz="1300" b="1" i="0">
                          <a:solidFill>
                            <a:srgbClr val="1F2937"/>
                          </a:solidFill>
                          <a:latin typeface="Arial"/>
                        </a:rPr>
                        <a:t>carbrand / carmodel</a:t>
                      </a:r>
                    </a:p>
                  </a:txBody>
                  <a:tcPr marL="73152" marR="73152" marT="27432" marB="27432" anchor="ctr">
                    <a:solidFill>
                      <a:srgbClr val="FFFFFF"/>
                    </a:solidFill>
                  </a:tcPr>
                </a:tc>
                <a:tc>
                  <a:txBody>
                    <a:bodyPr/>
                    <a:lstStyle/>
                    <a:p>
                      <a:r>
                        <a:rPr lang="vi-VN" sz="1300" b="0" i="0">
                          <a:solidFill>
                            <a:srgbClr val="1F2937"/>
                          </a:solidFill>
                          <a:latin typeface="Arial"/>
                        </a:rPr>
                        <a:t>Hãng / dòng xe</a:t>
                      </a:r>
                    </a:p>
                  </a:txBody>
                  <a:tcPr marL="73152" marR="73152" marT="27432" marB="27432" anchor="ctr">
                    <a:solidFill>
                      <a:srgbClr val="FFFFFF"/>
                    </a:solidFill>
                  </a:tcPr>
                </a:tc>
                <a:tc>
                  <a:txBody>
                    <a:bodyPr/>
                    <a:lstStyle/>
                    <a:p>
                      <a:r>
                        <a:rPr lang="vi-VN" sz="1300" b="0" i="0">
                          <a:solidFill>
                            <a:srgbClr val="1F2937"/>
                          </a:solidFill>
                          <a:latin typeface="Arial"/>
                        </a:rPr>
                        <a:t>chọn từ danh sách</a:t>
                      </a:r>
                    </a:p>
                  </a:txBody>
                  <a:tcPr marL="73152" marR="73152" marT="27432" marB="27432" anchor="ctr">
                    <a:solidFill>
                      <a:srgbClr val="FFFFFF"/>
                    </a:solidFill>
                  </a:tcPr>
                </a:tc>
                <a:tc>
                  <a:txBody>
                    <a:bodyPr/>
                    <a:lstStyle/>
                    <a:p>
                      <a:r>
                        <a:rPr lang="vi-VN" sz="1300" b="0" i="0">
                          <a:solidFill>
                            <a:srgbClr val="1F2937"/>
                          </a:solidFill>
                          <a:latin typeface="Arial"/>
                        </a:rPr>
                        <a:t>gộp nhãn hiếm theo cấp</a:t>
                      </a:r>
                    </a:p>
                  </a:txBody>
                  <a:tcPr marL="73152" marR="73152" marT="27432" marB="27432" anchor="ctr">
                    <a:solidFill>
                      <a:srgbClr val="FFFFFF"/>
                    </a:solidFill>
                  </a:tcPr>
                </a:tc>
                <a:extLst>
                  <a:ext uri="{0D108BD9-81ED-4DB2-BD59-A6C34878D82A}">
                    <a16:rowId xmlns:a16="http://schemas.microsoft.com/office/drawing/2014/main" val="10001"/>
                  </a:ext>
                </a:extLst>
              </a:tr>
              <a:tr h="374904">
                <a:tc>
                  <a:txBody>
                    <a:bodyPr/>
                    <a:lstStyle/>
                    <a:p>
                      <a:r>
                        <a:rPr lang="vi-VN" sz="1300" b="1" i="0">
                          <a:solidFill>
                            <a:srgbClr val="1F2937"/>
                          </a:solidFill>
                          <a:latin typeface="Arial"/>
                        </a:rPr>
                        <a:t>mfdate</a:t>
                      </a:r>
                    </a:p>
                  </a:txBody>
                  <a:tcPr marL="73152" marR="73152" marT="27432" marB="27432" anchor="ctr">
                    <a:solidFill>
                      <a:srgbClr val="EAF2FA"/>
                    </a:solidFill>
                  </a:tcPr>
                </a:tc>
                <a:tc>
                  <a:txBody>
                    <a:bodyPr/>
                    <a:lstStyle/>
                    <a:p>
                      <a:r>
                        <a:rPr lang="vi-VN" sz="1300" b="0" i="0">
                          <a:solidFill>
                            <a:srgbClr val="1F2937"/>
                          </a:solidFill>
                          <a:latin typeface="Arial"/>
                        </a:rPr>
                        <a:t>Năm sản xuất</a:t>
                      </a:r>
                    </a:p>
                  </a:txBody>
                  <a:tcPr marL="73152" marR="73152" marT="27432" marB="27432" anchor="ctr">
                    <a:solidFill>
                      <a:srgbClr val="EAF2FA"/>
                    </a:solidFill>
                  </a:tcPr>
                </a:tc>
                <a:tc>
                  <a:txBody>
                    <a:bodyPr/>
                    <a:lstStyle/>
                    <a:p>
                      <a:r>
                        <a:rPr lang="vi-VN" sz="1300" b="0" i="0">
                          <a:solidFill>
                            <a:srgbClr val="1F2937"/>
                          </a:solidFill>
                          <a:latin typeface="Arial"/>
                        </a:rPr>
                        <a:t>chọn (có "trước 1980")</a:t>
                      </a:r>
                    </a:p>
                  </a:txBody>
                  <a:tcPr marL="73152" marR="73152" marT="27432" marB="27432" anchor="ctr">
                    <a:solidFill>
                      <a:srgbClr val="EAF2FA"/>
                    </a:solidFill>
                  </a:tcPr>
                </a:tc>
                <a:tc>
                  <a:txBody>
                    <a:bodyPr/>
                    <a:lstStyle/>
                    <a:p>
                      <a:r>
                        <a:rPr lang="vi-VN" sz="1300" b="0" i="0">
                          <a:solidFill>
                            <a:srgbClr val="1F2937"/>
                          </a:solidFill>
                          <a:latin typeface="Arial"/>
                        </a:rPr>
                        <a:t>→ tuổi xe = 2026 − năm</a:t>
                      </a:r>
                    </a:p>
                  </a:txBody>
                  <a:tcPr marL="73152" marR="73152" marT="27432" marB="27432" anchor="ctr">
                    <a:solidFill>
                      <a:srgbClr val="EAF2FA"/>
                    </a:solidFill>
                  </a:tcPr>
                </a:tc>
                <a:extLst>
                  <a:ext uri="{0D108BD9-81ED-4DB2-BD59-A6C34878D82A}">
                    <a16:rowId xmlns:a16="http://schemas.microsoft.com/office/drawing/2014/main" val="10002"/>
                  </a:ext>
                </a:extLst>
              </a:tr>
              <a:tr h="374904">
                <a:tc>
                  <a:txBody>
                    <a:bodyPr/>
                    <a:lstStyle/>
                    <a:p>
                      <a:r>
                        <a:rPr lang="vi-VN" sz="1300" b="1" i="0">
                          <a:solidFill>
                            <a:srgbClr val="1F2937"/>
                          </a:solidFill>
                          <a:latin typeface="Arial"/>
                        </a:rPr>
                        <a:t>mileage_v2</a:t>
                      </a:r>
                    </a:p>
                  </a:txBody>
                  <a:tcPr marL="73152" marR="73152" marT="27432" marB="27432" anchor="ctr">
                    <a:solidFill>
                      <a:srgbClr val="FFFFFF"/>
                    </a:solidFill>
                  </a:tcPr>
                </a:tc>
                <a:tc>
                  <a:txBody>
                    <a:bodyPr/>
                    <a:lstStyle/>
                    <a:p>
                      <a:r>
                        <a:rPr lang="vi-VN" sz="1300" b="0" i="0">
                          <a:solidFill>
                            <a:srgbClr val="1F2937"/>
                          </a:solidFill>
                          <a:latin typeface="Arial"/>
                        </a:rPr>
                        <a:t>Số km đã đi</a:t>
                      </a:r>
                    </a:p>
                  </a:txBody>
                  <a:tcPr marL="73152" marR="73152" marT="27432" marB="27432" anchor="ctr">
                    <a:solidFill>
                      <a:srgbClr val="FFFFFF"/>
                    </a:solidFill>
                  </a:tcPr>
                </a:tc>
                <a:tc>
                  <a:txBody>
                    <a:bodyPr/>
                    <a:lstStyle/>
                    <a:p>
                      <a:r>
                        <a:rPr lang="vi-VN" sz="1300" b="1" i="0">
                          <a:solidFill>
                            <a:srgbClr val="EB6834"/>
                          </a:solidFill>
                          <a:latin typeface="Arial"/>
                        </a:rPr>
                        <a:t>gõ tự do</a:t>
                      </a:r>
                    </a:p>
                  </a:txBody>
                  <a:tcPr marL="73152" marR="73152" marT="27432" marB="27432" anchor="ctr">
                    <a:solidFill>
                      <a:srgbClr val="FFFFFF"/>
                    </a:solidFill>
                  </a:tcPr>
                </a:tc>
                <a:tc>
                  <a:txBody>
                    <a:bodyPr/>
                    <a:lstStyle/>
                    <a:p>
                      <a:r>
                        <a:rPr lang="vi-VN" sz="1300" b="0" i="0">
                          <a:solidFill>
                            <a:srgbClr val="1F2937"/>
                          </a:solidFill>
                          <a:latin typeface="Arial"/>
                        </a:rPr>
                        <a:t>kiểm tra km vô lý, điền thiếu</a:t>
                      </a:r>
                    </a:p>
                  </a:txBody>
                  <a:tcPr marL="73152" marR="73152" marT="27432" marB="27432" anchor="ctr">
                    <a:solidFill>
                      <a:srgbClr val="FFFFFF"/>
                    </a:solidFill>
                  </a:tcPr>
                </a:tc>
                <a:extLst>
                  <a:ext uri="{0D108BD9-81ED-4DB2-BD59-A6C34878D82A}">
                    <a16:rowId xmlns:a16="http://schemas.microsoft.com/office/drawing/2014/main" val="10003"/>
                  </a:ext>
                </a:extLst>
              </a:tr>
              <a:tr h="374904">
                <a:tc>
                  <a:txBody>
                    <a:bodyPr/>
                    <a:lstStyle/>
                    <a:p>
                      <a:r>
                        <a:rPr lang="vi-VN" sz="1300" b="1" i="0">
                          <a:solidFill>
                            <a:srgbClr val="1F2937"/>
                          </a:solidFill>
                          <a:latin typeface="Arial"/>
                        </a:rPr>
                        <a:t>gearbox / fuel</a:t>
                      </a:r>
                    </a:p>
                  </a:txBody>
                  <a:tcPr marL="73152" marR="73152" marT="27432" marB="27432" anchor="ctr">
                    <a:solidFill>
                      <a:srgbClr val="EAF2FA"/>
                    </a:solidFill>
                  </a:tcPr>
                </a:tc>
                <a:tc>
                  <a:txBody>
                    <a:bodyPr/>
                    <a:lstStyle/>
                    <a:p>
                      <a:r>
                        <a:rPr lang="vi-VN" sz="1300" b="0" i="0">
                          <a:solidFill>
                            <a:srgbClr val="1F2937"/>
                          </a:solidFill>
                          <a:latin typeface="Arial"/>
                        </a:rPr>
                        <a:t>Hộp số / nhiên liệu</a:t>
                      </a:r>
                    </a:p>
                  </a:txBody>
                  <a:tcPr marL="73152" marR="73152" marT="27432" marB="27432" anchor="ctr">
                    <a:solidFill>
                      <a:srgbClr val="EAF2FA"/>
                    </a:solidFill>
                  </a:tcPr>
                </a:tc>
                <a:tc>
                  <a:txBody>
                    <a:bodyPr/>
                    <a:lstStyle/>
                    <a:p>
                      <a:r>
                        <a:rPr lang="vi-VN" sz="1300" b="0" i="0">
                          <a:solidFill>
                            <a:srgbClr val="1F2937"/>
                          </a:solidFill>
                          <a:latin typeface="Arial"/>
                        </a:rPr>
                        <a:t>chọn (3 / 4 giá trị)</a:t>
                      </a:r>
                    </a:p>
                  </a:txBody>
                  <a:tcPr marL="73152" marR="73152" marT="27432" marB="27432" anchor="ctr">
                    <a:solidFill>
                      <a:srgbClr val="EAF2FA"/>
                    </a:solidFill>
                  </a:tcPr>
                </a:tc>
                <a:tc>
                  <a:txBody>
                    <a:bodyPr/>
                    <a:lstStyle/>
                    <a:p>
                      <a:r>
                        <a:rPr lang="vi-VN" sz="1300" b="0" i="0">
                          <a:solidFill>
                            <a:srgbClr val="1F2937"/>
                          </a:solidFill>
                          <a:latin typeface="Arial"/>
                        </a:rPr>
                        <a:t>one-hot</a:t>
                      </a:r>
                    </a:p>
                  </a:txBody>
                  <a:tcPr marL="73152" marR="73152" marT="27432" marB="27432" anchor="ctr">
                    <a:solidFill>
                      <a:srgbClr val="EAF2FA"/>
                    </a:solidFill>
                  </a:tcPr>
                </a:tc>
                <a:extLst>
                  <a:ext uri="{0D108BD9-81ED-4DB2-BD59-A6C34878D82A}">
                    <a16:rowId xmlns:a16="http://schemas.microsoft.com/office/drawing/2014/main" val="10004"/>
                  </a:ext>
                </a:extLst>
              </a:tr>
              <a:tr h="374904">
                <a:tc>
                  <a:txBody>
                    <a:bodyPr/>
                    <a:lstStyle/>
                    <a:p>
                      <a:r>
                        <a:rPr lang="vi-VN" sz="1300" b="1" i="0">
                          <a:solidFill>
                            <a:srgbClr val="1F2937"/>
                          </a:solidFill>
                          <a:latin typeface="Arial"/>
                        </a:rPr>
                        <a:t>cartype / carseats</a:t>
                      </a:r>
                    </a:p>
                  </a:txBody>
                  <a:tcPr marL="73152" marR="73152" marT="27432" marB="27432" anchor="ctr">
                    <a:solidFill>
                      <a:srgbClr val="FFFFFF"/>
                    </a:solidFill>
                  </a:tcPr>
                </a:tc>
                <a:tc>
                  <a:txBody>
                    <a:bodyPr/>
                    <a:lstStyle/>
                    <a:p>
                      <a:r>
                        <a:rPr lang="vi-VN" sz="1300" b="0" i="0">
                          <a:solidFill>
                            <a:srgbClr val="1F2937"/>
                          </a:solidFill>
                          <a:latin typeface="Arial"/>
                        </a:rPr>
                        <a:t>Kiểu dáng / số chỗ</a:t>
                      </a:r>
                    </a:p>
                  </a:txBody>
                  <a:tcPr marL="73152" marR="73152" marT="27432" marB="27432" anchor="ctr">
                    <a:solidFill>
                      <a:srgbClr val="FFFFFF"/>
                    </a:solidFill>
                  </a:tcPr>
                </a:tc>
                <a:tc>
                  <a:txBody>
                    <a:bodyPr/>
                    <a:lstStyle/>
                    <a:p>
                      <a:r>
                        <a:rPr lang="vi-VN" sz="1300" b="0" i="0">
                          <a:solidFill>
                            <a:srgbClr val="1F2937"/>
                          </a:solidFill>
                          <a:latin typeface="Arial"/>
                        </a:rPr>
                        <a:t>chọn, không bắt buộc</a:t>
                      </a:r>
                    </a:p>
                  </a:txBody>
                  <a:tcPr marL="73152" marR="73152" marT="27432" marB="27432" anchor="ctr">
                    <a:solidFill>
                      <a:srgbClr val="FFFFFF"/>
                    </a:solidFill>
                  </a:tcPr>
                </a:tc>
                <a:tc>
                  <a:txBody>
                    <a:bodyPr/>
                    <a:lstStyle/>
                    <a:p>
                      <a:r>
                        <a:rPr lang="vi-VN" sz="1300" b="0" i="0">
                          <a:solidFill>
                            <a:srgbClr val="1F2937"/>
                          </a:solidFill>
                          <a:latin typeface="Arial"/>
                        </a:rPr>
                        <a:t>điền theo dòng xe</a:t>
                      </a:r>
                    </a:p>
                  </a:txBody>
                  <a:tcPr marL="73152" marR="73152" marT="27432" marB="27432" anchor="ctr">
                    <a:solidFill>
                      <a:srgbClr val="FFFFFF"/>
                    </a:solidFill>
                  </a:tcPr>
                </a:tc>
                <a:extLst>
                  <a:ext uri="{0D108BD9-81ED-4DB2-BD59-A6C34878D82A}">
                    <a16:rowId xmlns:a16="http://schemas.microsoft.com/office/drawing/2014/main" val="10005"/>
                  </a:ext>
                </a:extLst>
              </a:tr>
              <a:tr h="374904">
                <a:tc>
                  <a:txBody>
                    <a:bodyPr/>
                    <a:lstStyle/>
                    <a:p>
                      <a:r>
                        <a:rPr lang="vi-VN" sz="1300" b="1" i="0">
                          <a:solidFill>
                            <a:srgbClr val="1F2937"/>
                          </a:solidFill>
                          <a:latin typeface="Arial"/>
                        </a:rPr>
                        <a:t>carorigin</a:t>
                      </a:r>
                    </a:p>
                  </a:txBody>
                  <a:tcPr marL="73152" marR="73152" marT="27432" marB="27432" anchor="ctr">
                    <a:solidFill>
                      <a:srgbClr val="EAF2FA"/>
                    </a:solidFill>
                  </a:tcPr>
                </a:tc>
                <a:tc>
                  <a:txBody>
                    <a:bodyPr/>
                    <a:lstStyle/>
                    <a:p>
                      <a:r>
                        <a:rPr lang="vi-VN" sz="1300" b="0" i="0">
                          <a:solidFill>
                            <a:srgbClr val="1F2937"/>
                          </a:solidFill>
                          <a:latin typeface="Arial"/>
                        </a:rPr>
                        <a:t>Xuất xứ</a:t>
                      </a:r>
                    </a:p>
                  </a:txBody>
                  <a:tcPr marL="73152" marR="73152" marT="27432" marB="27432" anchor="ctr">
                    <a:solidFill>
                      <a:srgbClr val="EAF2FA"/>
                    </a:solidFill>
                  </a:tcPr>
                </a:tc>
                <a:tc>
                  <a:txBody>
                    <a:bodyPr/>
                    <a:lstStyle/>
                    <a:p>
                      <a:r>
                        <a:rPr lang="vi-VN" sz="1300" b="0" i="0">
                          <a:solidFill>
                            <a:srgbClr val="1F2937"/>
                          </a:solidFill>
                          <a:latin typeface="Arial"/>
                        </a:rPr>
                        <a:t>chọn, không bắt buộc</a:t>
                      </a:r>
                    </a:p>
                  </a:txBody>
                  <a:tcPr marL="73152" marR="73152" marT="27432" marB="27432" anchor="ctr">
                    <a:solidFill>
                      <a:srgbClr val="EAF2FA"/>
                    </a:solidFill>
                  </a:tcPr>
                </a:tc>
                <a:tc>
                  <a:txBody>
                    <a:bodyPr/>
                    <a:lstStyle/>
                    <a:p>
                      <a:r>
                        <a:rPr lang="vi-VN" sz="1300" b="0" i="0">
                          <a:solidFill>
                            <a:srgbClr val="1F2937"/>
                          </a:solidFill>
                          <a:latin typeface="Arial"/>
                        </a:rPr>
                        <a:t>thiếu 41% → "Không rõ"</a:t>
                      </a:r>
                    </a:p>
                  </a:txBody>
                  <a:tcPr marL="73152" marR="73152" marT="27432" marB="27432" anchor="ctr">
                    <a:solidFill>
                      <a:srgbClr val="EAF2FA"/>
                    </a:solidFill>
                  </a:tcPr>
                </a:tc>
                <a:extLst>
                  <a:ext uri="{0D108BD9-81ED-4DB2-BD59-A6C34878D82A}">
                    <a16:rowId xmlns:a16="http://schemas.microsoft.com/office/drawing/2014/main" val="10006"/>
                  </a:ext>
                </a:extLst>
              </a:tr>
              <a:tr h="374904">
                <a:tc>
                  <a:txBody>
                    <a:bodyPr/>
                    <a:lstStyle/>
                    <a:p>
                      <a:r>
                        <a:rPr lang="vi-VN" sz="1300" b="1" i="0">
                          <a:solidFill>
                            <a:srgbClr val="1F2937"/>
                          </a:solidFill>
                          <a:latin typeface="Arial"/>
                        </a:rPr>
                        <a:t>condition_ad</a:t>
                      </a:r>
                    </a:p>
                  </a:txBody>
                  <a:tcPr marL="73152" marR="73152" marT="27432" marB="27432" anchor="ctr">
                    <a:solidFill>
                      <a:srgbClr val="FFFFFF"/>
                    </a:solidFill>
                  </a:tcPr>
                </a:tc>
                <a:tc>
                  <a:txBody>
                    <a:bodyPr/>
                    <a:lstStyle/>
                    <a:p>
                      <a:r>
                        <a:rPr lang="vi-VN" sz="1300" b="0" i="0">
                          <a:solidFill>
                            <a:srgbClr val="1F2937"/>
                          </a:solidFill>
                          <a:latin typeface="Arial"/>
                        </a:rPr>
                        <a:t>Tình trạng</a:t>
                      </a:r>
                    </a:p>
                  </a:txBody>
                  <a:tcPr marL="73152" marR="73152" marT="27432" marB="27432" anchor="ctr">
                    <a:solidFill>
                      <a:srgbClr val="FFFFFF"/>
                    </a:solidFill>
                  </a:tcPr>
                </a:tc>
                <a:tc>
                  <a:txBody>
                    <a:bodyPr/>
                    <a:lstStyle/>
                    <a:p>
                      <a:r>
                        <a:rPr lang="vi-VN" sz="1300" b="0" i="0">
                          <a:solidFill>
                            <a:srgbClr val="1F2937"/>
                          </a:solidFill>
                          <a:latin typeface="Arial"/>
                        </a:rPr>
                        <a:t>Mới / Đã sử dụng</a:t>
                      </a:r>
                    </a:p>
                  </a:txBody>
                  <a:tcPr marL="73152" marR="73152" marT="27432" marB="27432" anchor="ctr">
                    <a:solidFill>
                      <a:srgbClr val="FFFFFF"/>
                    </a:solidFill>
                  </a:tcPr>
                </a:tc>
                <a:tc>
                  <a:txBody>
                    <a:bodyPr/>
                    <a:lstStyle/>
                    <a:p>
                      <a:r>
                        <a:rPr lang="vi-VN" sz="1300" b="0" i="0">
                          <a:solidFill>
                            <a:srgbClr val="1F2937"/>
                          </a:solidFill>
                          <a:latin typeface="Arial"/>
                        </a:rPr>
                        <a:t>sửa xe "Mới" quá 3 năm tuổi</a:t>
                      </a:r>
                    </a:p>
                  </a:txBody>
                  <a:tcPr marL="73152" marR="73152" marT="27432" marB="27432" anchor="ctr">
                    <a:solidFill>
                      <a:srgbClr val="FFFFFF"/>
                    </a:solidFill>
                  </a:tcPr>
                </a:tc>
                <a:extLst>
                  <a:ext uri="{0D108BD9-81ED-4DB2-BD59-A6C34878D82A}">
                    <a16:rowId xmlns:a16="http://schemas.microsoft.com/office/drawing/2014/main" val="10007"/>
                  </a:ext>
                </a:extLst>
              </a:tr>
              <a:tr h="374904">
                <a:tc>
                  <a:txBody>
                    <a:bodyPr/>
                    <a:lstStyle/>
                    <a:p>
                      <a:r>
                        <a:rPr lang="vi-VN" sz="1300" b="1" i="0">
                          <a:solidFill>
                            <a:srgbClr val="1F2937"/>
                          </a:solidFill>
                          <a:latin typeface="Arial"/>
                        </a:rPr>
                        <a:t>veh_warranty_policy</a:t>
                      </a:r>
                    </a:p>
                  </a:txBody>
                  <a:tcPr marL="73152" marR="73152" marT="27432" marB="27432" anchor="ctr">
                    <a:solidFill>
                      <a:srgbClr val="EAF2FA"/>
                    </a:solidFill>
                  </a:tcPr>
                </a:tc>
                <a:tc>
                  <a:txBody>
                    <a:bodyPr/>
                    <a:lstStyle/>
                    <a:p>
                      <a:r>
                        <a:rPr lang="vi-VN" sz="1300" b="0" i="0">
                          <a:solidFill>
                            <a:srgbClr val="1F2937"/>
                          </a:solidFill>
                          <a:latin typeface="Arial"/>
                        </a:rPr>
                        <a:t>Bảo hành</a:t>
                      </a:r>
                    </a:p>
                  </a:txBody>
                  <a:tcPr marL="73152" marR="73152" marT="27432" marB="27432" anchor="ctr">
                    <a:solidFill>
                      <a:srgbClr val="EAF2FA"/>
                    </a:solidFill>
                  </a:tcPr>
                </a:tc>
                <a:tc>
                  <a:txBody>
                    <a:bodyPr/>
                    <a:lstStyle/>
                    <a:p>
                      <a:r>
                        <a:rPr lang="vi-VN" sz="1300" b="0" i="0">
                          <a:solidFill>
                            <a:srgbClr val="1F2937"/>
                          </a:solidFill>
                          <a:latin typeface="Arial"/>
                        </a:rPr>
                        <a:t>một giá trị duy nhất</a:t>
                      </a:r>
                    </a:p>
                  </a:txBody>
                  <a:tcPr marL="73152" marR="73152" marT="27432" marB="27432" anchor="ctr">
                    <a:solidFill>
                      <a:srgbClr val="EAF2FA"/>
                    </a:solidFill>
                  </a:tcPr>
                </a:tc>
                <a:tc>
                  <a:txBody>
                    <a:bodyPr/>
                    <a:lstStyle/>
                    <a:p>
                      <a:r>
                        <a:rPr lang="vi-VN" sz="1300" b="0" i="0">
                          <a:solidFill>
                            <a:srgbClr val="1F2937"/>
                          </a:solidFill>
                          <a:latin typeface="Arial"/>
                        </a:rPr>
                        <a:t>bỏ cột</a:t>
                      </a:r>
                    </a:p>
                  </a:txBody>
                  <a:tcPr marL="73152" marR="73152" marT="27432" marB="27432" anchor="ctr">
                    <a:solidFill>
                      <a:srgbClr val="EAF2FA"/>
                    </a:solidFill>
                  </a:tcPr>
                </a:tc>
                <a:extLst>
                  <a:ext uri="{0D108BD9-81ED-4DB2-BD59-A6C34878D82A}">
                    <a16:rowId xmlns:a16="http://schemas.microsoft.com/office/drawing/2014/main" val="10008"/>
                  </a:ext>
                </a:extLst>
              </a:tr>
              <a:tr h="374904">
                <a:tc>
                  <a:txBody>
                    <a:bodyPr/>
                    <a:lstStyle/>
                    <a:p>
                      <a:r>
                        <a:rPr lang="vi-VN" sz="1300" b="1" i="0">
                          <a:solidFill>
                            <a:srgbClr val="1F2937"/>
                          </a:solidFill>
                          <a:latin typeface="Arial"/>
                        </a:rPr>
                        <a:t>price</a:t>
                      </a:r>
                    </a:p>
                  </a:txBody>
                  <a:tcPr marL="73152" marR="73152" marT="27432" marB="27432" anchor="ctr">
                    <a:solidFill>
                      <a:srgbClr val="FFFFFF"/>
                    </a:solidFill>
                  </a:tcPr>
                </a:tc>
                <a:tc>
                  <a:txBody>
                    <a:bodyPr/>
                    <a:lstStyle/>
                    <a:p>
                      <a:r>
                        <a:rPr lang="vi-VN" sz="1300" b="0" i="0">
                          <a:solidFill>
                            <a:srgbClr val="1F2937"/>
                          </a:solidFill>
                          <a:latin typeface="Arial"/>
                        </a:rPr>
                        <a:t>Giá rao bán (đồng)</a:t>
                      </a:r>
                    </a:p>
                  </a:txBody>
                  <a:tcPr marL="73152" marR="73152" marT="27432" marB="27432" anchor="ctr">
                    <a:solidFill>
                      <a:srgbClr val="FFFFFF"/>
                    </a:solidFill>
                  </a:tcPr>
                </a:tc>
                <a:tc>
                  <a:txBody>
                    <a:bodyPr/>
                    <a:lstStyle/>
                    <a:p>
                      <a:r>
                        <a:rPr lang="vi-VN" sz="1300" b="1" i="0">
                          <a:solidFill>
                            <a:srgbClr val="EB6834"/>
                          </a:solidFill>
                          <a:latin typeface="Arial"/>
                        </a:rPr>
                        <a:t>gõ tự do</a:t>
                      </a:r>
                    </a:p>
                  </a:txBody>
                  <a:tcPr marL="73152" marR="73152" marT="27432" marB="27432" anchor="ctr">
                    <a:solidFill>
                      <a:srgbClr val="FFFFFF"/>
                    </a:solidFill>
                  </a:tcPr>
                </a:tc>
                <a:tc>
                  <a:txBody>
                    <a:bodyPr/>
                    <a:lstStyle/>
                    <a:p>
                      <a:r>
                        <a:rPr lang="vi-VN" sz="1300" b="0" i="0">
                          <a:solidFill>
                            <a:srgbClr val="1F2937"/>
                          </a:solidFill>
                          <a:latin typeface="Arial"/>
                        </a:rPr>
                        <a:t>biến mục tiêu, loại giá sai</a:t>
                      </a:r>
                    </a:p>
                  </a:txBody>
                  <a:tcPr marL="73152" marR="73152" marT="27432" marB="27432" anchor="ctr">
                    <a:solidFill>
                      <a:srgbClr val="FFFFFF"/>
                    </a:solidFill>
                  </a:tcPr>
                </a:tc>
                <a:extLst>
                  <a:ext uri="{0D108BD9-81ED-4DB2-BD59-A6C34878D82A}">
                    <a16:rowId xmlns:a16="http://schemas.microsoft.com/office/drawing/2014/main" val="10009"/>
                  </a:ext>
                </a:extLst>
              </a:tr>
              <a:tr h="374904">
                <a:tc>
                  <a:txBody>
                    <a:bodyPr/>
                    <a:lstStyle/>
                    <a:p>
                      <a:r>
                        <a:rPr lang="vi-VN" sz="1300" b="1" i="0">
                          <a:solidFill>
                            <a:srgbClr val="1F2937"/>
                          </a:solidFill>
                          <a:latin typeface="Arial"/>
                        </a:rPr>
                        <a:t>url</a:t>
                      </a:r>
                    </a:p>
                  </a:txBody>
                  <a:tcPr marL="73152" marR="73152" marT="27432" marB="27432" anchor="ctr">
                    <a:solidFill>
                      <a:srgbClr val="EAF2FA"/>
                    </a:solidFill>
                  </a:tcPr>
                </a:tc>
                <a:tc>
                  <a:txBody>
                    <a:bodyPr/>
                    <a:lstStyle/>
                    <a:p>
                      <a:r>
                        <a:rPr lang="vi-VN" sz="1300" b="0" i="0">
                          <a:solidFill>
                            <a:srgbClr val="1F2937"/>
                          </a:solidFill>
                          <a:latin typeface="Arial"/>
                        </a:rPr>
                        <a:t>Đường dẫn tin</a:t>
                      </a:r>
                    </a:p>
                  </a:txBody>
                  <a:tcPr marL="73152" marR="73152" marT="27432" marB="27432" anchor="ctr">
                    <a:solidFill>
                      <a:srgbClr val="EAF2FA"/>
                    </a:solidFill>
                  </a:tcPr>
                </a:tc>
                <a:tc>
                  <a:txBody>
                    <a:bodyPr/>
                    <a:lstStyle/>
                    <a:p>
                      <a:r>
                        <a:rPr lang="vi-VN" sz="1300" b="0" i="0">
                          <a:solidFill>
                            <a:srgbClr val="1F2937"/>
                          </a:solidFill>
                          <a:latin typeface="Arial"/>
                        </a:rPr>
                        <a:t>tự sinh, chứa tỉnh/thành</a:t>
                      </a:r>
                    </a:p>
                  </a:txBody>
                  <a:tcPr marL="73152" marR="73152" marT="27432" marB="27432" anchor="ctr">
                    <a:solidFill>
                      <a:srgbClr val="EAF2FA"/>
                    </a:solidFill>
                  </a:tcPr>
                </a:tc>
                <a:tc>
                  <a:txBody>
                    <a:bodyPr/>
                    <a:lstStyle/>
                    <a:p>
                      <a:r>
                        <a:rPr lang="vi-VN" sz="1300" b="0" i="0">
                          <a:solidFill>
                            <a:srgbClr val="1F2937"/>
                          </a:solidFill>
                          <a:latin typeface="Arial"/>
                        </a:rPr>
                        <a:t>trích tỉnh/thành rồi bỏ</a:t>
                      </a:r>
                    </a:p>
                  </a:txBody>
                  <a:tcPr marL="73152" marR="73152" marT="27432" marB="27432" anchor="ctr">
                    <a:solidFill>
                      <a:srgbClr val="EAF2FA"/>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2 · KHÁM PHÁ DỮ LIỆU</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Dữ liệu thô: thiếu tập trung ở 4 cột không bắt buộc</a:t>
            </a:r>
          </a:p>
        </p:txBody>
      </p:sp>
      <p:pic>
        <p:nvPicPr>
          <p:cNvPr id="4" name="Picture 3" descr="v01_thieu_moi_dac_trung.png"/>
          <p:cNvPicPr>
            <a:picLocks noChangeAspect="1"/>
          </p:cNvPicPr>
          <p:nvPr/>
        </p:nvPicPr>
        <p:blipFill>
          <a:blip r:embed="rId3"/>
          <a:stretch>
            <a:fillRect/>
          </a:stretch>
        </p:blipFill>
        <p:spPr>
          <a:xfrm>
            <a:off x="411480" y="1449907"/>
            <a:ext cx="5760720" cy="2678025"/>
          </a:xfrm>
          <a:prstGeom prst="rect">
            <a:avLst/>
          </a:prstGeom>
        </p:spPr>
      </p:pic>
      <p:pic>
        <p:nvPicPr>
          <p:cNvPr id="5" name="Picture 4" descr="v03_thieu_theo_tinh_trang.png"/>
          <p:cNvPicPr>
            <a:picLocks noChangeAspect="1"/>
          </p:cNvPicPr>
          <p:nvPr/>
        </p:nvPicPr>
        <p:blipFill>
          <a:blip r:embed="rId4"/>
          <a:stretch>
            <a:fillRect/>
          </a:stretch>
        </p:blipFill>
        <p:spPr>
          <a:xfrm>
            <a:off x="6309360" y="1478592"/>
            <a:ext cx="5486400" cy="2529214"/>
          </a:xfrm>
          <a:prstGeom prst="rect">
            <a:avLst/>
          </a:prstGeom>
        </p:spPr>
      </p:pic>
      <p:sp>
        <p:nvSpPr>
          <p:cNvPr id="6" name="TextBox 5"/>
          <p:cNvSpPr txBox="1"/>
          <p:nvPr/>
        </p:nvSpPr>
        <p:spPr>
          <a:xfrm>
            <a:off x="502920" y="4251960"/>
            <a:ext cx="5577840" cy="365760"/>
          </a:xfrm>
          <a:prstGeom prst="rect">
            <a:avLst/>
          </a:prstGeom>
          <a:noFill/>
        </p:spPr>
        <p:txBody>
          <a:bodyPr wrap="square" lIns="45720" tIns="27432" rIns="45720" bIns="27432" anchor="t">
            <a:spAutoFit/>
          </a:bodyPr>
          <a:lstStyle/>
          <a:p>
            <a:pPr algn="l">
              <a:lnSpc>
                <a:spcPct val="110000"/>
              </a:lnSpc>
              <a:spcAft>
                <a:spcPts val="600"/>
              </a:spcAft>
            </a:pPr>
            <a:r>
              <a:rPr lang="vi-VN" sz="1300" b="0" i="0">
                <a:solidFill>
                  <a:srgbClr val="5B6775"/>
                </a:solidFill>
                <a:latin typeface="Arial"/>
              </a:rPr>
              <a:t>Thiếu trên cả 13 đặc trưng (14.835 tin thô), chia theo nguồn thiếu</a:t>
            </a:r>
          </a:p>
        </p:txBody>
      </p:sp>
      <p:sp>
        <p:nvSpPr>
          <p:cNvPr id="7" name="TextBox 6"/>
          <p:cNvSpPr txBox="1"/>
          <p:nvPr/>
        </p:nvSpPr>
        <p:spPr>
          <a:xfrm>
            <a:off x="6400800" y="4251960"/>
            <a:ext cx="5303520" cy="365760"/>
          </a:xfrm>
          <a:prstGeom prst="rect">
            <a:avLst/>
          </a:prstGeom>
          <a:noFill/>
        </p:spPr>
        <p:txBody>
          <a:bodyPr wrap="square" lIns="45720" tIns="27432" rIns="45720" bIns="27432" anchor="t">
            <a:spAutoFit/>
          </a:bodyPr>
          <a:lstStyle/>
          <a:p>
            <a:pPr algn="l">
              <a:lnSpc>
                <a:spcPct val="110000"/>
              </a:lnSpc>
              <a:spcAft>
                <a:spcPts val="600"/>
              </a:spcAft>
            </a:pPr>
            <a:r>
              <a:rPr lang="vi-VN" sz="1300" b="0" i="0">
                <a:solidFill>
                  <a:srgbClr val="5B6775"/>
                </a:solidFill>
                <a:latin typeface="Arial"/>
              </a:rPr>
              <a:t>Tỉ lệ thiếu ở xe mới so với xe đã dùng</a:t>
            </a:r>
          </a:p>
        </p:txBody>
      </p:sp>
      <p:sp>
        <p:nvSpPr>
          <p:cNvPr id="8" name="Rounded Rectangle 7"/>
          <p:cNvSpPr/>
          <p:nvPr/>
        </p:nvSpPr>
        <p:spPr>
          <a:xfrm>
            <a:off x="548640" y="4709160"/>
            <a:ext cx="3474720" cy="9144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58368" y="4709160"/>
            <a:ext cx="1280160" cy="914400"/>
          </a:xfrm>
          <a:prstGeom prst="rect">
            <a:avLst/>
          </a:prstGeom>
          <a:noFill/>
        </p:spPr>
        <p:txBody>
          <a:bodyPr wrap="square" lIns="45720" tIns="27432" rIns="45720" bIns="27432" anchor="ctr">
            <a:spAutoFit/>
          </a:bodyPr>
          <a:lstStyle/>
          <a:p>
            <a:pPr algn="l">
              <a:lnSpc>
                <a:spcPct val="110000"/>
              </a:lnSpc>
              <a:spcAft>
                <a:spcPts val="600"/>
              </a:spcAft>
            </a:pPr>
            <a:r>
              <a:rPr lang="vi-VN" sz="2400" b="1" i="0">
                <a:solidFill>
                  <a:srgbClr val="EB6834"/>
                </a:solidFill>
                <a:latin typeface="Arial"/>
              </a:rPr>
              <a:t>40,5%</a:t>
            </a:r>
          </a:p>
        </p:txBody>
      </p:sp>
      <p:sp>
        <p:nvSpPr>
          <p:cNvPr id="10" name="TextBox 9"/>
          <p:cNvSpPr txBox="1"/>
          <p:nvPr/>
        </p:nvSpPr>
        <p:spPr>
          <a:xfrm>
            <a:off x="1965960" y="4709160"/>
            <a:ext cx="1965960" cy="914400"/>
          </a:xfrm>
          <a:prstGeom prst="rect">
            <a:avLst/>
          </a:prstGeom>
          <a:noFill/>
        </p:spPr>
        <p:txBody>
          <a:bodyPr wrap="square" lIns="45720" tIns="27432" rIns="45720" bIns="27432" anchor="ctr">
            <a:spAutoFit/>
          </a:bodyPr>
          <a:lstStyle/>
          <a:p>
            <a:pPr algn="l">
              <a:lnSpc>
                <a:spcPct val="110000"/>
              </a:lnSpc>
              <a:spcAft>
                <a:spcPts val="0"/>
              </a:spcAft>
            </a:pPr>
            <a:r>
              <a:rPr lang="vi-VN" sz="1250" b="0" i="0">
                <a:solidFill>
                  <a:srgbClr val="1F2937"/>
                </a:solidFill>
                <a:latin typeface="Arial"/>
              </a:rPr>
              <a:t>xuất xứ thiếu, không suy được → nhãn "Không rõ"</a:t>
            </a:r>
          </a:p>
        </p:txBody>
      </p:sp>
      <p:sp>
        <p:nvSpPr>
          <p:cNvPr id="11" name="Rounded Rectangle 10"/>
          <p:cNvSpPr/>
          <p:nvPr/>
        </p:nvSpPr>
        <p:spPr>
          <a:xfrm>
            <a:off x="4297679" y="4709160"/>
            <a:ext cx="3474720" cy="9144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407407" y="4709160"/>
            <a:ext cx="1280160" cy="914400"/>
          </a:xfrm>
          <a:prstGeom prst="rect">
            <a:avLst/>
          </a:prstGeom>
          <a:noFill/>
        </p:spPr>
        <p:txBody>
          <a:bodyPr wrap="square" lIns="45720" tIns="27432" rIns="45720" bIns="27432" anchor="ctr">
            <a:spAutoFit/>
          </a:bodyPr>
          <a:lstStyle/>
          <a:p>
            <a:pPr algn="l">
              <a:lnSpc>
                <a:spcPct val="110000"/>
              </a:lnSpc>
              <a:spcAft>
                <a:spcPts val="600"/>
              </a:spcAft>
            </a:pPr>
            <a:r>
              <a:rPr lang="vi-VN" sz="2400" b="1" i="0">
                <a:solidFill>
                  <a:srgbClr val="EB6834"/>
                </a:solidFill>
                <a:latin typeface="Arial"/>
              </a:rPr>
              <a:t>100%</a:t>
            </a:r>
          </a:p>
        </p:txBody>
      </p:sp>
      <p:sp>
        <p:nvSpPr>
          <p:cNvPr id="13" name="TextBox 12"/>
          <p:cNvSpPr txBox="1"/>
          <p:nvPr/>
        </p:nvSpPr>
        <p:spPr>
          <a:xfrm>
            <a:off x="5714999" y="4709160"/>
            <a:ext cx="1965960" cy="914400"/>
          </a:xfrm>
          <a:prstGeom prst="rect">
            <a:avLst/>
          </a:prstGeom>
          <a:noFill/>
        </p:spPr>
        <p:txBody>
          <a:bodyPr wrap="square" lIns="45720" tIns="27432" rIns="45720" bIns="27432" anchor="ctr">
            <a:spAutoFit/>
          </a:bodyPr>
          <a:lstStyle/>
          <a:p>
            <a:pPr algn="l">
              <a:lnSpc>
                <a:spcPct val="110000"/>
              </a:lnSpc>
              <a:spcAft>
                <a:spcPts val="0"/>
              </a:spcAft>
            </a:pPr>
            <a:r>
              <a:rPr lang="vi-VN" sz="1250" b="0" i="0">
                <a:solidFill>
                  <a:srgbClr val="1F2937"/>
                </a:solidFill>
                <a:latin typeface="Arial"/>
              </a:rPr>
              <a:t>xe mới thiếu số km (xe cũ 1,8%) → thiếu có cấu trúc</a:t>
            </a:r>
          </a:p>
        </p:txBody>
      </p:sp>
      <p:sp>
        <p:nvSpPr>
          <p:cNvPr id="14" name="Rounded Rectangle 13"/>
          <p:cNvSpPr/>
          <p:nvPr/>
        </p:nvSpPr>
        <p:spPr>
          <a:xfrm>
            <a:off x="8046719" y="4709160"/>
            <a:ext cx="3474720" cy="9144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156447" y="4709160"/>
            <a:ext cx="1280160" cy="914400"/>
          </a:xfrm>
          <a:prstGeom prst="rect">
            <a:avLst/>
          </a:prstGeom>
          <a:noFill/>
        </p:spPr>
        <p:txBody>
          <a:bodyPr wrap="square" lIns="45720" tIns="27432" rIns="45720" bIns="27432" anchor="ctr">
            <a:spAutoFit/>
          </a:bodyPr>
          <a:lstStyle/>
          <a:p>
            <a:pPr algn="l">
              <a:lnSpc>
                <a:spcPct val="110000"/>
              </a:lnSpc>
              <a:spcAft>
                <a:spcPts val="600"/>
              </a:spcAft>
            </a:pPr>
            <a:r>
              <a:rPr lang="vi-VN" sz="2400" b="1" i="0">
                <a:solidFill>
                  <a:srgbClr val="EB6834"/>
                </a:solidFill>
                <a:latin typeface="Arial"/>
              </a:rPr>
              <a:t>37%</a:t>
            </a:r>
          </a:p>
        </p:txBody>
      </p:sp>
      <p:sp>
        <p:nvSpPr>
          <p:cNvPr id="16" name="TextBox 15"/>
          <p:cNvSpPr txBox="1"/>
          <p:nvPr/>
        </p:nvSpPr>
        <p:spPr>
          <a:xfrm>
            <a:off x="9464040" y="4709160"/>
            <a:ext cx="1965960" cy="914400"/>
          </a:xfrm>
          <a:prstGeom prst="rect">
            <a:avLst/>
          </a:prstGeom>
          <a:noFill/>
        </p:spPr>
        <p:txBody>
          <a:bodyPr wrap="square" lIns="45720" tIns="27432" rIns="45720" bIns="27432" anchor="ctr">
            <a:spAutoFit/>
          </a:bodyPr>
          <a:lstStyle/>
          <a:p>
            <a:pPr algn="l">
              <a:lnSpc>
                <a:spcPct val="110000"/>
              </a:lnSpc>
              <a:spcAft>
                <a:spcPts val="0"/>
              </a:spcAft>
            </a:pPr>
            <a:r>
              <a:rPr lang="vi-VN" sz="1250" b="0" i="0">
                <a:solidFill>
                  <a:srgbClr val="1F2937"/>
                </a:solidFill>
                <a:latin typeface="Arial"/>
              </a:rPr>
              <a:t>số tin đủ mọi ô → điền thiếu, không xóa dòng</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2 · KHÁM PHÁ DỮ LIỆU</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Kiểu dáng, số chỗ, xuất xứ: lệch mạnh và thiếu nhiều</a:t>
            </a:r>
          </a:p>
        </p:txBody>
      </p:sp>
      <p:pic>
        <p:nvPicPr>
          <p:cNvPr id="4" name="Picture 3" descr="v04_co_cau_kieu_dang_so_cho_xuat_xu.png"/>
          <p:cNvPicPr>
            <a:picLocks noChangeAspect="1"/>
          </p:cNvPicPr>
          <p:nvPr/>
        </p:nvPicPr>
        <p:blipFill>
          <a:blip r:embed="rId3"/>
          <a:stretch>
            <a:fillRect/>
          </a:stretch>
        </p:blipFill>
        <p:spPr>
          <a:xfrm>
            <a:off x="365760" y="1383716"/>
            <a:ext cx="8321040" cy="3313326"/>
          </a:xfrm>
          <a:prstGeom prst="rect">
            <a:avLst/>
          </a:prstGeom>
        </p:spPr>
      </p:pic>
      <p:sp>
        <p:nvSpPr>
          <p:cNvPr id="5" name="TextBox 4"/>
          <p:cNvSpPr txBox="1"/>
          <p:nvPr/>
        </p:nvSpPr>
        <p:spPr>
          <a:xfrm>
            <a:off x="457200" y="4846320"/>
            <a:ext cx="8138160" cy="365760"/>
          </a:xfrm>
          <a:prstGeom prst="rect">
            <a:avLst/>
          </a:prstGeom>
          <a:noFill/>
        </p:spPr>
        <p:txBody>
          <a:bodyPr wrap="square" lIns="45720" tIns="27432" rIns="45720" bIns="27432" anchor="t">
            <a:spAutoFit/>
          </a:bodyPr>
          <a:lstStyle/>
          <a:p>
            <a:pPr algn="l">
              <a:lnSpc>
                <a:spcPct val="110000"/>
              </a:lnSpc>
              <a:spcAft>
                <a:spcPts val="600"/>
              </a:spcAft>
            </a:pPr>
            <a:r>
              <a:rPr lang="vi-VN" sz="1300" b="0" i="0">
                <a:solidFill>
                  <a:srgbClr val="5B6775"/>
                </a:solidFill>
                <a:latin typeface="Arial"/>
              </a:rPr>
              <a:t>Cơ cấu trên 14.835 tin thô; thanh xám = thiếu (chưa khai)</a:t>
            </a:r>
          </a:p>
        </p:txBody>
      </p:sp>
      <p:sp>
        <p:nvSpPr>
          <p:cNvPr id="6" name="Rounded Rectangle 5"/>
          <p:cNvSpPr/>
          <p:nvPr/>
        </p:nvSpPr>
        <p:spPr>
          <a:xfrm>
            <a:off x="8915400" y="1371600"/>
            <a:ext cx="2926080" cy="128016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9098280" y="1444752"/>
            <a:ext cx="2560320" cy="365760"/>
          </a:xfrm>
          <a:prstGeom prst="rect">
            <a:avLst/>
          </a:prstGeom>
          <a:noFill/>
        </p:spPr>
        <p:txBody>
          <a:bodyPr wrap="square" lIns="45720" tIns="27432" rIns="45720" bIns="27432" anchor="t">
            <a:spAutoFit/>
          </a:bodyPr>
          <a:lstStyle/>
          <a:p>
            <a:pPr algn="l">
              <a:lnSpc>
                <a:spcPct val="110000"/>
              </a:lnSpc>
              <a:spcAft>
                <a:spcPts val="600"/>
              </a:spcAft>
            </a:pPr>
            <a:r>
              <a:rPr lang="vi-VN" sz="1400" b="1" i="0">
                <a:solidFill>
                  <a:srgbClr val="075289"/>
                </a:solidFill>
                <a:latin typeface="Arial"/>
              </a:rPr>
              <a:t>Lệch mạnh</a:t>
            </a:r>
          </a:p>
        </p:txBody>
      </p:sp>
      <p:sp>
        <p:nvSpPr>
          <p:cNvPr id="8" name="TextBox 7"/>
          <p:cNvSpPr txBox="1"/>
          <p:nvPr/>
        </p:nvSpPr>
        <p:spPr>
          <a:xfrm>
            <a:off x="9098280" y="1828800"/>
            <a:ext cx="2560320" cy="777239"/>
          </a:xfrm>
          <a:prstGeom prst="rect">
            <a:avLst/>
          </a:prstGeom>
          <a:noFill/>
        </p:spPr>
        <p:txBody>
          <a:bodyPr wrap="square" lIns="45720" tIns="27432" rIns="45720" bIns="27432" anchor="t">
            <a:spAutoFit/>
          </a:bodyPr>
          <a:lstStyle/>
          <a:p>
            <a:pPr algn="l">
              <a:lnSpc>
                <a:spcPct val="110000"/>
              </a:lnSpc>
              <a:spcAft>
                <a:spcPts val="400"/>
              </a:spcAft>
            </a:pPr>
            <a:r>
              <a:rPr lang="vi-VN" sz="1200" b="0" i="0">
                <a:solidFill>
                  <a:srgbClr val="1F2937"/>
                </a:solidFill>
                <a:latin typeface="Arial"/>
              </a:rPr>
              <a:t>SUV + Sedan ≈ 44%; 5 và 7 chỗ ≈ 63%. Coupe, Mui trần, 10-12 chỗ dưới 0,5%: mô hình có rất ít mẫu.</a:t>
            </a:r>
          </a:p>
        </p:txBody>
      </p:sp>
      <p:sp>
        <p:nvSpPr>
          <p:cNvPr id="9" name="Rounded Rectangle 8"/>
          <p:cNvSpPr/>
          <p:nvPr/>
        </p:nvSpPr>
        <p:spPr>
          <a:xfrm>
            <a:off x="8915400" y="2788920"/>
            <a:ext cx="2926080" cy="128016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098280" y="2862072"/>
            <a:ext cx="2560320" cy="365760"/>
          </a:xfrm>
          <a:prstGeom prst="rect">
            <a:avLst/>
          </a:prstGeom>
          <a:noFill/>
        </p:spPr>
        <p:txBody>
          <a:bodyPr wrap="square" lIns="45720" tIns="27432" rIns="45720" bIns="27432" anchor="t">
            <a:spAutoFit/>
          </a:bodyPr>
          <a:lstStyle/>
          <a:p>
            <a:pPr algn="l">
              <a:lnSpc>
                <a:spcPct val="110000"/>
              </a:lnSpc>
              <a:spcAft>
                <a:spcPts val="600"/>
              </a:spcAft>
            </a:pPr>
            <a:r>
              <a:rPr lang="vi-VN" sz="1400" b="1" i="0">
                <a:solidFill>
                  <a:srgbClr val="075289"/>
                </a:solidFill>
                <a:latin typeface="Arial"/>
              </a:rPr>
              <a:t>Thiếu là nhóm lớn</a:t>
            </a:r>
          </a:p>
        </p:txBody>
      </p:sp>
      <p:sp>
        <p:nvSpPr>
          <p:cNvPr id="11" name="TextBox 10"/>
          <p:cNvSpPr txBox="1"/>
          <p:nvPr/>
        </p:nvSpPr>
        <p:spPr>
          <a:xfrm>
            <a:off x="9098280" y="3246120"/>
            <a:ext cx="2560320" cy="777239"/>
          </a:xfrm>
          <a:prstGeom prst="rect">
            <a:avLst/>
          </a:prstGeom>
          <a:noFill/>
        </p:spPr>
        <p:txBody>
          <a:bodyPr wrap="square" lIns="45720" tIns="27432" rIns="45720" bIns="27432" anchor="t">
            <a:spAutoFit/>
          </a:bodyPr>
          <a:lstStyle/>
          <a:p>
            <a:pPr algn="l">
              <a:lnSpc>
                <a:spcPct val="110000"/>
              </a:lnSpc>
              <a:spcAft>
                <a:spcPts val="400"/>
              </a:spcAft>
            </a:pPr>
            <a:r>
              <a:rPr lang="vi-VN" sz="1200" b="0" i="0">
                <a:solidFill>
                  <a:srgbClr val="1F2937"/>
                </a:solidFill>
                <a:latin typeface="Arial"/>
              </a:rPr>
              <a:t>Thiếu kiểu dáng 32,9%, xuất xứ 40,5%: lớn hơn mọi nhãn thật, không thể bỏ qua.</a:t>
            </a:r>
          </a:p>
        </p:txBody>
      </p:sp>
      <p:sp>
        <p:nvSpPr>
          <p:cNvPr id="12" name="Rounded Rectangle 11"/>
          <p:cNvSpPr/>
          <p:nvPr/>
        </p:nvSpPr>
        <p:spPr>
          <a:xfrm>
            <a:off x="8915400" y="4206240"/>
            <a:ext cx="2926080" cy="128016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9098280" y="4279392"/>
            <a:ext cx="2560320" cy="365760"/>
          </a:xfrm>
          <a:prstGeom prst="rect">
            <a:avLst/>
          </a:prstGeom>
          <a:noFill/>
        </p:spPr>
        <p:txBody>
          <a:bodyPr wrap="square" lIns="45720" tIns="27432" rIns="45720" bIns="27432" anchor="t">
            <a:spAutoFit/>
          </a:bodyPr>
          <a:lstStyle/>
          <a:p>
            <a:pPr algn="l">
              <a:lnSpc>
                <a:spcPct val="110000"/>
              </a:lnSpc>
              <a:spcAft>
                <a:spcPts val="600"/>
              </a:spcAft>
            </a:pPr>
            <a:r>
              <a:rPr lang="vi-VN" sz="1400" b="1" i="0">
                <a:solidFill>
                  <a:srgbClr val="075289"/>
                </a:solidFill>
                <a:latin typeface="Arial"/>
              </a:rPr>
              <a:t>Hướng xử lý</a:t>
            </a:r>
          </a:p>
        </p:txBody>
      </p:sp>
      <p:sp>
        <p:nvSpPr>
          <p:cNvPr id="14" name="TextBox 13"/>
          <p:cNvSpPr txBox="1"/>
          <p:nvPr/>
        </p:nvSpPr>
        <p:spPr>
          <a:xfrm>
            <a:off x="9098280" y="4663440"/>
            <a:ext cx="2560320" cy="777239"/>
          </a:xfrm>
          <a:prstGeom prst="rect">
            <a:avLst/>
          </a:prstGeom>
          <a:noFill/>
        </p:spPr>
        <p:txBody>
          <a:bodyPr wrap="square" lIns="45720" tIns="27432" rIns="45720" bIns="27432" anchor="t">
            <a:spAutoFit/>
          </a:bodyPr>
          <a:lstStyle/>
          <a:p>
            <a:pPr algn="l">
              <a:lnSpc>
                <a:spcPct val="110000"/>
              </a:lnSpc>
              <a:spcAft>
                <a:spcPts val="400"/>
              </a:spcAft>
            </a:pPr>
            <a:r>
              <a:rPr lang="vi-VN" sz="1200" b="0" i="0">
                <a:solidFill>
                  <a:srgbClr val="1F2937"/>
                </a:solidFill>
                <a:latin typeface="Arial"/>
              </a:rPr>
              <a:t>Kiểu dáng, số chỗ: điền theo dòng xe. Xuất xứ: nhãn "Không rõ" (slide 15, 18).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2 · KHÁM PHÁ DỮ LIỆU</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Tuổi xe và thương hiệu quyết định phần lớn giá</a:t>
            </a:r>
          </a:p>
        </p:txBody>
      </p:sp>
      <p:pic>
        <p:nvPicPr>
          <p:cNvPr id="4" name="Picture 3" descr="s01_eda_gia_theo_tuoi.png"/>
          <p:cNvPicPr>
            <a:picLocks noChangeAspect="1"/>
          </p:cNvPicPr>
          <p:nvPr/>
        </p:nvPicPr>
        <p:blipFill>
          <a:blip r:embed="rId3"/>
          <a:stretch>
            <a:fillRect/>
          </a:stretch>
        </p:blipFill>
        <p:spPr>
          <a:xfrm>
            <a:off x="457200" y="1720098"/>
            <a:ext cx="5577840" cy="2686283"/>
          </a:xfrm>
          <a:prstGeom prst="rect">
            <a:avLst/>
          </a:prstGeom>
        </p:spPr>
      </p:pic>
      <p:pic>
        <p:nvPicPr>
          <p:cNvPr id="5" name="Picture 4" descr="s02_eda_gia_theo_hang.png"/>
          <p:cNvPicPr>
            <a:picLocks noChangeAspect="1"/>
          </p:cNvPicPr>
          <p:nvPr/>
        </p:nvPicPr>
        <p:blipFill>
          <a:blip r:embed="rId4"/>
          <a:stretch>
            <a:fillRect/>
          </a:stretch>
        </p:blipFill>
        <p:spPr>
          <a:xfrm>
            <a:off x="6172200" y="1475793"/>
            <a:ext cx="5577840" cy="3174893"/>
          </a:xfrm>
          <a:prstGeom prst="rect">
            <a:avLst/>
          </a:prstGeom>
        </p:spPr>
      </p:pic>
      <p:sp>
        <p:nvSpPr>
          <p:cNvPr id="6" name="TextBox 5"/>
          <p:cNvSpPr txBox="1"/>
          <p:nvPr/>
        </p:nvSpPr>
        <p:spPr>
          <a:xfrm>
            <a:off x="548640" y="4846320"/>
            <a:ext cx="5394960" cy="365760"/>
          </a:xfrm>
          <a:prstGeom prst="rect">
            <a:avLst/>
          </a:prstGeom>
          <a:noFill/>
        </p:spPr>
        <p:txBody>
          <a:bodyPr wrap="square" lIns="45720" tIns="27432" rIns="45720" bIns="27432" anchor="t">
            <a:spAutoFit/>
          </a:bodyPr>
          <a:lstStyle/>
          <a:p>
            <a:pPr algn="l">
              <a:lnSpc>
                <a:spcPct val="110000"/>
              </a:lnSpc>
              <a:spcAft>
                <a:spcPts val="600"/>
              </a:spcAft>
            </a:pPr>
            <a:r>
              <a:rPr lang="vi-VN" sz="1400" b="0" i="0">
                <a:solidFill>
                  <a:srgbClr val="5B6775"/>
                </a:solidFill>
                <a:latin typeface="Arial"/>
              </a:rPr>
              <a:t>Trung vị: xe mới khoảng 620 triệu, 10 năm 335, 15 năm 205 triệu</a:t>
            </a:r>
          </a:p>
        </p:txBody>
      </p:sp>
      <p:sp>
        <p:nvSpPr>
          <p:cNvPr id="7" name="TextBox 6"/>
          <p:cNvSpPr txBox="1"/>
          <p:nvPr/>
        </p:nvSpPr>
        <p:spPr>
          <a:xfrm>
            <a:off x="6263640" y="4846320"/>
            <a:ext cx="5394960" cy="365760"/>
          </a:xfrm>
          <a:prstGeom prst="rect">
            <a:avLst/>
          </a:prstGeom>
          <a:noFill/>
        </p:spPr>
        <p:txBody>
          <a:bodyPr wrap="square" lIns="45720" tIns="27432" rIns="45720" bIns="27432" anchor="t">
            <a:spAutoFit/>
          </a:bodyPr>
          <a:lstStyle/>
          <a:p>
            <a:pPr algn="l">
              <a:lnSpc>
                <a:spcPct val="110000"/>
              </a:lnSpc>
              <a:spcAft>
                <a:spcPts val="600"/>
              </a:spcAft>
            </a:pPr>
            <a:r>
              <a:rPr lang="vi-VN" sz="1400" b="0" i="0">
                <a:solidFill>
                  <a:srgbClr val="5B6775"/>
                </a:solidFill>
                <a:latin typeface="Arial"/>
              </a:rPr>
              <a:t>Lexus 1.820, BMW 1.000, Mercedes 900; Toyota 409, Chevrolet 145 triệu</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2 · KHÁM PHÁ DỮ LIỆU</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Tuổi xe tương quan mạnh nhất; kiểu dáng và hộp số tách giá rõ</a:t>
            </a:r>
          </a:p>
        </p:txBody>
      </p:sp>
      <p:pic>
        <p:nvPicPr>
          <p:cNvPr id="4" name="Picture 3" descr="s04_eda_tuong_quan.png"/>
          <p:cNvPicPr>
            <a:picLocks noChangeAspect="1"/>
          </p:cNvPicPr>
          <p:nvPr/>
        </p:nvPicPr>
        <p:blipFill>
          <a:blip r:embed="rId3"/>
          <a:stretch>
            <a:fillRect/>
          </a:stretch>
        </p:blipFill>
        <p:spPr>
          <a:xfrm>
            <a:off x="365760" y="1389207"/>
            <a:ext cx="4206240" cy="3302345"/>
          </a:xfrm>
          <a:prstGeom prst="rect">
            <a:avLst/>
          </a:prstGeom>
        </p:spPr>
      </p:pic>
      <p:pic>
        <p:nvPicPr>
          <p:cNvPr id="5" name="Picture 4" descr="s05_eda_gia_theo_kieu_dang.png"/>
          <p:cNvPicPr>
            <a:picLocks noChangeAspect="1"/>
          </p:cNvPicPr>
          <p:nvPr/>
        </p:nvPicPr>
        <p:blipFill>
          <a:blip r:embed="rId4"/>
          <a:stretch>
            <a:fillRect/>
          </a:stretch>
        </p:blipFill>
        <p:spPr>
          <a:xfrm>
            <a:off x="4663440" y="1533283"/>
            <a:ext cx="7132320" cy="2968472"/>
          </a:xfrm>
          <a:prstGeom prst="rect">
            <a:avLst/>
          </a:prstGeom>
        </p:spPr>
      </p:pic>
      <p:sp>
        <p:nvSpPr>
          <p:cNvPr id="6" name="Rounded Rectangle 5"/>
          <p:cNvSpPr/>
          <p:nvPr/>
        </p:nvSpPr>
        <p:spPr>
          <a:xfrm>
            <a:off x="548640" y="4846320"/>
            <a:ext cx="3474720" cy="7772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658368" y="4846320"/>
            <a:ext cx="1188720" cy="777240"/>
          </a:xfrm>
          <a:prstGeom prst="rect">
            <a:avLst/>
          </a:prstGeom>
          <a:noFill/>
        </p:spPr>
        <p:txBody>
          <a:bodyPr wrap="square" lIns="45720" tIns="27432" rIns="45720" bIns="27432" anchor="ctr">
            <a:spAutoFit/>
          </a:bodyPr>
          <a:lstStyle/>
          <a:p>
            <a:pPr algn="l">
              <a:lnSpc>
                <a:spcPct val="110000"/>
              </a:lnSpc>
              <a:spcAft>
                <a:spcPts val="600"/>
              </a:spcAft>
            </a:pPr>
            <a:r>
              <a:rPr lang="vi-VN" sz="2200" b="1" i="0">
                <a:solidFill>
                  <a:srgbClr val="EB6834"/>
                </a:solidFill>
                <a:latin typeface="Arial"/>
              </a:rPr>
              <a:t>−0,60</a:t>
            </a:r>
          </a:p>
        </p:txBody>
      </p:sp>
      <p:sp>
        <p:nvSpPr>
          <p:cNvPr id="8" name="TextBox 7"/>
          <p:cNvSpPr txBox="1"/>
          <p:nvPr/>
        </p:nvSpPr>
        <p:spPr>
          <a:xfrm>
            <a:off x="1874519" y="4846320"/>
            <a:ext cx="2057400" cy="777240"/>
          </a:xfrm>
          <a:prstGeom prst="rect">
            <a:avLst/>
          </a:prstGeom>
          <a:noFill/>
        </p:spPr>
        <p:txBody>
          <a:bodyPr wrap="square" lIns="45720" tIns="27432" rIns="45720" bIns="27432" anchor="ctr">
            <a:spAutoFit/>
          </a:bodyPr>
          <a:lstStyle/>
          <a:p>
            <a:pPr algn="l">
              <a:lnSpc>
                <a:spcPct val="110000"/>
              </a:lnSpc>
              <a:spcAft>
                <a:spcPts val="0"/>
              </a:spcAft>
            </a:pPr>
            <a:r>
              <a:rPr lang="vi-VN" sz="1200" b="0" i="0">
                <a:solidFill>
                  <a:srgbClr val="1F2937"/>
                </a:solidFill>
                <a:latin typeface="Arial"/>
              </a:rPr>
              <a:t>tương quan tuổi xe với log giá: mạnh nhất</a:t>
            </a:r>
          </a:p>
        </p:txBody>
      </p:sp>
      <p:sp>
        <p:nvSpPr>
          <p:cNvPr id="9" name="Rounded Rectangle 8"/>
          <p:cNvSpPr/>
          <p:nvPr/>
        </p:nvSpPr>
        <p:spPr>
          <a:xfrm>
            <a:off x="4297679" y="4846320"/>
            <a:ext cx="3474720" cy="7772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4407407" y="4846320"/>
            <a:ext cx="1188720" cy="777240"/>
          </a:xfrm>
          <a:prstGeom prst="rect">
            <a:avLst/>
          </a:prstGeom>
          <a:noFill/>
        </p:spPr>
        <p:txBody>
          <a:bodyPr wrap="square" lIns="45720" tIns="27432" rIns="45720" bIns="27432" anchor="ctr">
            <a:spAutoFit/>
          </a:bodyPr>
          <a:lstStyle/>
          <a:p>
            <a:pPr algn="l">
              <a:lnSpc>
                <a:spcPct val="110000"/>
              </a:lnSpc>
              <a:spcAft>
                <a:spcPts val="600"/>
              </a:spcAft>
            </a:pPr>
            <a:r>
              <a:rPr lang="vi-VN" sz="2200" b="1" i="0">
                <a:solidFill>
                  <a:srgbClr val="EB6834"/>
                </a:solidFill>
                <a:latin typeface="Arial"/>
              </a:rPr>
              <a:t>0,54</a:t>
            </a:r>
          </a:p>
        </p:txBody>
      </p:sp>
      <p:sp>
        <p:nvSpPr>
          <p:cNvPr id="11" name="TextBox 10"/>
          <p:cNvSpPr txBox="1"/>
          <p:nvPr/>
        </p:nvSpPr>
        <p:spPr>
          <a:xfrm>
            <a:off x="5623559" y="4846320"/>
            <a:ext cx="2057400" cy="777240"/>
          </a:xfrm>
          <a:prstGeom prst="rect">
            <a:avLst/>
          </a:prstGeom>
          <a:noFill/>
        </p:spPr>
        <p:txBody>
          <a:bodyPr wrap="square" lIns="45720" tIns="27432" rIns="45720" bIns="27432" anchor="ctr">
            <a:spAutoFit/>
          </a:bodyPr>
          <a:lstStyle/>
          <a:p>
            <a:pPr algn="l">
              <a:lnSpc>
                <a:spcPct val="110000"/>
              </a:lnSpc>
              <a:spcAft>
                <a:spcPts val="0"/>
              </a:spcAft>
            </a:pPr>
            <a:r>
              <a:rPr lang="vi-VN" sz="1200" b="0" i="0">
                <a:solidFill>
                  <a:srgbClr val="1F2937"/>
                </a:solidFill>
                <a:latin typeface="Arial"/>
              </a:rPr>
              <a:t>tuổi và số km trùng thông tin → cần permutation importance</a:t>
            </a:r>
          </a:p>
        </p:txBody>
      </p:sp>
      <p:sp>
        <p:nvSpPr>
          <p:cNvPr id="12" name="Rounded Rectangle 11"/>
          <p:cNvSpPr/>
          <p:nvPr/>
        </p:nvSpPr>
        <p:spPr>
          <a:xfrm>
            <a:off x="8046719" y="4846320"/>
            <a:ext cx="3474720" cy="7772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156447" y="4846320"/>
            <a:ext cx="1188720" cy="777240"/>
          </a:xfrm>
          <a:prstGeom prst="rect">
            <a:avLst/>
          </a:prstGeom>
          <a:noFill/>
        </p:spPr>
        <p:txBody>
          <a:bodyPr wrap="square" lIns="45720" tIns="27432" rIns="45720" bIns="27432" anchor="ctr">
            <a:spAutoFit/>
          </a:bodyPr>
          <a:lstStyle/>
          <a:p>
            <a:pPr algn="l">
              <a:lnSpc>
                <a:spcPct val="110000"/>
              </a:lnSpc>
              <a:spcAft>
                <a:spcPts val="600"/>
              </a:spcAft>
            </a:pPr>
            <a:r>
              <a:rPr lang="vi-VN" sz="2200" b="1" i="0">
                <a:solidFill>
                  <a:srgbClr val="EB6834"/>
                </a:solidFill>
                <a:latin typeface="Arial"/>
              </a:rPr>
              <a:t>2,5×</a:t>
            </a:r>
          </a:p>
        </p:txBody>
      </p:sp>
      <p:sp>
        <p:nvSpPr>
          <p:cNvPr id="14" name="TextBox 13"/>
          <p:cNvSpPr txBox="1"/>
          <p:nvPr/>
        </p:nvSpPr>
        <p:spPr>
          <a:xfrm>
            <a:off x="9372599" y="4846320"/>
            <a:ext cx="2057400" cy="777240"/>
          </a:xfrm>
          <a:prstGeom prst="rect">
            <a:avLst/>
          </a:prstGeom>
          <a:noFill/>
        </p:spPr>
        <p:txBody>
          <a:bodyPr wrap="square" lIns="45720" tIns="27432" rIns="45720" bIns="27432" anchor="ctr">
            <a:spAutoFit/>
          </a:bodyPr>
          <a:lstStyle/>
          <a:p>
            <a:pPr algn="l">
              <a:lnSpc>
                <a:spcPct val="110000"/>
              </a:lnSpc>
              <a:spcAft>
                <a:spcPts val="0"/>
              </a:spcAft>
            </a:pPr>
            <a:r>
              <a:rPr lang="vi-VN" sz="1200" b="0" i="0">
                <a:solidFill>
                  <a:srgbClr val="1F2937"/>
                </a:solidFill>
                <a:latin typeface="Arial"/>
              </a:rPr>
              <a:t>xe số tự động đắt hơn số sàn (515 so với 210 triệu)</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3 · TIỀN XỬ LÝ VÀ XỬ LÝ DỮ LIỆU</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Cách dữ liệu được tạo ra quyết định cách xử lý</a:t>
            </a:r>
          </a:p>
        </p:txBody>
      </p:sp>
      <p:graphicFrame>
        <p:nvGraphicFramePr>
          <p:cNvPr id="4" name="Table 3"/>
          <p:cNvGraphicFramePr>
            <a:graphicFrameLocks noGrp="1"/>
          </p:cNvGraphicFramePr>
          <p:nvPr/>
        </p:nvGraphicFramePr>
        <p:xfrm>
          <a:off x="548640" y="1463040"/>
          <a:ext cx="11064240" cy="3657600"/>
        </p:xfrm>
        <a:graphic>
          <a:graphicData uri="http://schemas.openxmlformats.org/drawingml/2006/table">
            <a:tbl>
              <a:tblPr>
                <a:tableStyleId>{5940675A-B579-460E-94D1-54222C63F5DA}</a:tableStyleId>
              </a:tblPr>
              <a:tblGrid>
                <a:gridCol w="393192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tblGrid>
              <a:tr h="457200">
                <a:tc>
                  <a:txBody>
                    <a:bodyPr/>
                    <a:lstStyle/>
                    <a:p>
                      <a:r>
                        <a:rPr lang="vi-VN" sz="1300" b="1" i="0">
                          <a:solidFill>
                            <a:srgbClr val="FFFFFF"/>
                          </a:solidFill>
                          <a:latin typeface="Arial"/>
                        </a:rPr>
                        <a:t>Cơ chế</a:t>
                      </a:r>
                    </a:p>
                  </a:txBody>
                  <a:tcPr marL="73152" marR="73152" marT="27432" marB="27432" anchor="ctr">
                    <a:solidFill>
                      <a:srgbClr val="075289"/>
                    </a:solidFill>
                  </a:tcPr>
                </a:tc>
                <a:tc>
                  <a:txBody>
                    <a:bodyPr/>
                    <a:lstStyle/>
                    <a:p>
                      <a:r>
                        <a:rPr lang="vi-VN" sz="1300" b="1" i="0">
                          <a:solidFill>
                            <a:srgbClr val="FFFFFF"/>
                          </a:solidFill>
                          <a:latin typeface="Arial"/>
                        </a:rPr>
                        <a:t>Hệ quả</a:t>
                      </a:r>
                    </a:p>
                  </a:txBody>
                  <a:tcPr marL="73152" marR="73152" marT="27432" marB="27432" anchor="ctr">
                    <a:solidFill>
                      <a:srgbClr val="075289"/>
                    </a:solidFill>
                  </a:tcPr>
                </a:tc>
                <a:tc>
                  <a:txBody>
                    <a:bodyPr/>
                    <a:lstStyle/>
                    <a:p>
                      <a:r>
                        <a:rPr lang="vi-VN" sz="1300" b="1" i="0">
                          <a:solidFill>
                            <a:srgbClr val="FFFFFF"/>
                          </a:solidFill>
                          <a:latin typeface="Arial"/>
                        </a:rPr>
                        <a:t>Cách xử lý</a:t>
                      </a:r>
                    </a:p>
                  </a:txBody>
                  <a:tcPr marL="73152" marR="73152" marT="27432" marB="27432" anchor="ctr">
                    <a:solidFill>
                      <a:srgbClr val="075289"/>
                    </a:solidFill>
                  </a:tcPr>
                </a:tc>
                <a:extLst>
                  <a:ext uri="{0D108BD9-81ED-4DB2-BD59-A6C34878D82A}">
                    <a16:rowId xmlns:a16="http://schemas.microsoft.com/office/drawing/2014/main" val="10000"/>
                  </a:ext>
                </a:extLst>
              </a:tr>
              <a:tr h="457200">
                <a:tc>
                  <a:txBody>
                    <a:bodyPr/>
                    <a:lstStyle/>
                    <a:p>
                      <a:r>
                        <a:rPr lang="vi-VN" sz="1300" b="0" i="0">
                          <a:solidFill>
                            <a:srgbClr val="1F2937"/>
                          </a:solidFill>
                          <a:latin typeface="Arial"/>
                        </a:rPr>
                        <a:t>Không tìm thấy thẻ → ghi "N/A"</a:t>
                      </a:r>
                    </a:p>
                  </a:txBody>
                  <a:tcPr marL="73152" marR="73152" marT="27432" marB="27432" anchor="ctr">
                    <a:solidFill>
                      <a:srgbClr val="FFFFFF"/>
                    </a:solidFill>
                  </a:tcPr>
                </a:tc>
                <a:tc>
                  <a:txBody>
                    <a:bodyPr/>
                    <a:lstStyle/>
                    <a:p>
                      <a:r>
                        <a:rPr lang="vi-VN" sz="1300" b="0" i="0">
                          <a:solidFill>
                            <a:srgbClr val="1F2937"/>
                          </a:solidFill>
                          <a:latin typeface="Arial"/>
                        </a:rPr>
                        <a:t>Thiếu thật</a:t>
                      </a:r>
                    </a:p>
                  </a:txBody>
                  <a:tcPr marL="73152" marR="73152" marT="27432" marB="27432" anchor="ctr">
                    <a:solidFill>
                      <a:srgbClr val="FFFFFF"/>
                    </a:solidFill>
                  </a:tcPr>
                </a:tc>
                <a:tc>
                  <a:txBody>
                    <a:bodyPr/>
                    <a:lstStyle/>
                    <a:p>
                      <a:r>
                        <a:rPr lang="vi-VN" sz="1300" b="0" i="0">
                          <a:solidFill>
                            <a:srgbClr val="1F2937"/>
                          </a:solidFill>
                          <a:latin typeface="Arial"/>
                        </a:rPr>
                        <a:t>đổi về NaN (đọc với keep_default_na=False)</a:t>
                      </a:r>
                    </a:p>
                  </a:txBody>
                  <a:tcPr marL="73152" marR="73152" marT="27432" marB="27432" anchor="ctr">
                    <a:solidFill>
                      <a:srgbClr val="FFFFFF"/>
                    </a:solidFill>
                  </a:tcPr>
                </a:tc>
                <a:extLst>
                  <a:ext uri="{0D108BD9-81ED-4DB2-BD59-A6C34878D82A}">
                    <a16:rowId xmlns:a16="http://schemas.microsoft.com/office/drawing/2014/main" val="10001"/>
                  </a:ext>
                </a:extLst>
              </a:tr>
              <a:tr h="457200">
                <a:tc>
                  <a:txBody>
                    <a:bodyPr/>
                    <a:lstStyle/>
                    <a:p>
                      <a:r>
                        <a:rPr lang="vi-VN" sz="1300" b="0" i="0">
                          <a:solidFill>
                            <a:srgbClr val="1F2937"/>
                          </a:solidFill>
                          <a:latin typeface="Arial"/>
                        </a:rPr>
                        <a:t>Trang hiện "Đang cập nhật" khi bỏ trống xuất xứ</a:t>
                      </a:r>
                    </a:p>
                  </a:txBody>
                  <a:tcPr marL="73152" marR="73152" marT="27432" marB="27432" anchor="ctr">
                    <a:solidFill>
                      <a:srgbClr val="EAF2FA"/>
                    </a:solidFill>
                  </a:tcPr>
                </a:tc>
                <a:tc>
                  <a:txBody>
                    <a:bodyPr/>
                    <a:lstStyle/>
                    <a:p>
                      <a:r>
                        <a:rPr lang="vi-VN" sz="1300" b="0" i="0">
                          <a:solidFill>
                            <a:srgbClr val="1F2937"/>
                          </a:solidFill>
                          <a:latin typeface="Arial"/>
                        </a:rPr>
                        <a:t>Cũng là thiếu thật</a:t>
                      </a:r>
                    </a:p>
                  </a:txBody>
                  <a:tcPr marL="73152" marR="73152" marT="27432" marB="27432" anchor="ctr">
                    <a:solidFill>
                      <a:srgbClr val="EAF2FA"/>
                    </a:solidFill>
                  </a:tcPr>
                </a:tc>
                <a:tc>
                  <a:txBody>
                    <a:bodyPr/>
                    <a:lstStyle/>
                    <a:p>
                      <a:r>
                        <a:rPr lang="vi-VN" sz="1300" b="0" i="0">
                          <a:solidFill>
                            <a:srgbClr val="1F2937"/>
                          </a:solidFill>
                          <a:latin typeface="Arial"/>
                        </a:rPr>
                        <a:t>đổi về NaN</a:t>
                      </a:r>
                    </a:p>
                  </a:txBody>
                  <a:tcPr marL="73152" marR="73152" marT="27432" marB="27432" anchor="ctr">
                    <a:solidFill>
                      <a:srgbClr val="EAF2FA"/>
                    </a:solidFill>
                  </a:tcPr>
                </a:tc>
                <a:extLst>
                  <a:ext uri="{0D108BD9-81ED-4DB2-BD59-A6C34878D82A}">
                    <a16:rowId xmlns:a16="http://schemas.microsoft.com/office/drawing/2014/main" val="10002"/>
                  </a:ext>
                </a:extLst>
              </a:tr>
              <a:tr h="457200">
                <a:tc>
                  <a:txBody>
                    <a:bodyPr/>
                    <a:lstStyle/>
                    <a:p>
                      <a:r>
                        <a:rPr lang="vi-VN" sz="1300" b="0" i="0">
                          <a:solidFill>
                            <a:srgbClr val="1F2937"/>
                          </a:solidFill>
                          <a:latin typeface="Arial"/>
                        </a:rPr>
                        <a:t>Danh sách có sẵn "Khác", "Dòng khác"</a:t>
                      </a:r>
                    </a:p>
                  </a:txBody>
                  <a:tcPr marL="73152" marR="73152" marT="27432" marB="27432" anchor="ctr">
                    <a:solidFill>
                      <a:srgbClr val="FFFFFF"/>
                    </a:solidFill>
                  </a:tcPr>
                </a:tc>
                <a:tc>
                  <a:txBody>
                    <a:bodyPr/>
                    <a:lstStyle/>
                    <a:p>
                      <a:r>
                        <a:rPr lang="vi-VN" sz="1300" b="0" i="0">
                          <a:solidFill>
                            <a:srgbClr val="1F2937"/>
                          </a:solidFill>
                          <a:latin typeface="Arial"/>
                        </a:rPr>
                        <a:t>Lựa chọn thật của người bán</a:t>
                      </a:r>
                    </a:p>
                  </a:txBody>
                  <a:tcPr marL="73152" marR="73152" marT="27432" marB="27432" anchor="ctr">
                    <a:solidFill>
                      <a:srgbClr val="FFFFFF"/>
                    </a:solidFill>
                  </a:tcPr>
                </a:tc>
                <a:tc>
                  <a:txBody>
                    <a:bodyPr/>
                    <a:lstStyle/>
                    <a:p>
                      <a:r>
                        <a:rPr lang="vi-VN" sz="1300" b="0" i="0">
                          <a:solidFill>
                            <a:srgbClr val="1F2937"/>
                          </a:solidFill>
                          <a:latin typeface="Arial"/>
                        </a:rPr>
                        <a:t>giữ làm nhãn (trừ số chỗ "Khác")</a:t>
                      </a:r>
                    </a:p>
                  </a:txBody>
                  <a:tcPr marL="73152" marR="73152" marT="27432" marB="27432" anchor="ctr">
                    <a:solidFill>
                      <a:srgbClr val="FFFFFF"/>
                    </a:solidFill>
                  </a:tcPr>
                </a:tc>
                <a:extLst>
                  <a:ext uri="{0D108BD9-81ED-4DB2-BD59-A6C34878D82A}">
                    <a16:rowId xmlns:a16="http://schemas.microsoft.com/office/drawing/2014/main" val="10003"/>
                  </a:ext>
                </a:extLst>
              </a:tr>
              <a:tr h="457200">
                <a:tc>
                  <a:txBody>
                    <a:bodyPr/>
                    <a:lstStyle/>
                    <a:p>
                      <a:r>
                        <a:rPr lang="vi-VN" sz="1300" b="0" i="0">
                          <a:solidFill>
                            <a:srgbClr val="1F2937"/>
                          </a:solidFill>
                          <a:latin typeface="Arial"/>
                        </a:rPr>
                        <a:t>Số km, giá là ô gõ tự do</a:t>
                      </a:r>
                    </a:p>
                  </a:txBody>
                  <a:tcPr marL="73152" marR="73152" marT="27432" marB="27432" anchor="ctr">
                    <a:solidFill>
                      <a:srgbClr val="EAF2FA"/>
                    </a:solidFill>
                  </a:tcPr>
                </a:tc>
                <a:tc>
                  <a:txBody>
                    <a:bodyPr/>
                    <a:lstStyle/>
                    <a:p>
                      <a:r>
                        <a:rPr lang="vi-VN" sz="1300" b="0" i="0">
                          <a:solidFill>
                            <a:srgbClr val="1F2937"/>
                          </a:solidFill>
                          <a:latin typeface="Arial"/>
                        </a:rPr>
                        <a:t>Gõ thiếu/thừa số 0, giá giả, giá trả trước</a:t>
                      </a:r>
                    </a:p>
                  </a:txBody>
                  <a:tcPr marL="73152" marR="73152" marT="27432" marB="27432" anchor="ctr">
                    <a:solidFill>
                      <a:srgbClr val="EAF2FA"/>
                    </a:solidFill>
                  </a:tcPr>
                </a:tc>
                <a:tc>
                  <a:txBody>
                    <a:bodyPr/>
                    <a:lstStyle/>
                    <a:p>
                      <a:r>
                        <a:rPr lang="vi-VN" sz="1300" b="0" i="0">
                          <a:solidFill>
                            <a:srgbClr val="1F2937"/>
                          </a:solidFill>
                          <a:latin typeface="Arial"/>
                        </a:rPr>
                        <a:t>quy tắc cứng + lọc giá đặt cọc</a:t>
                      </a:r>
                    </a:p>
                  </a:txBody>
                  <a:tcPr marL="73152" marR="73152" marT="27432" marB="27432" anchor="ctr">
                    <a:solidFill>
                      <a:srgbClr val="EAF2FA"/>
                    </a:solidFill>
                  </a:tcPr>
                </a:tc>
                <a:extLst>
                  <a:ext uri="{0D108BD9-81ED-4DB2-BD59-A6C34878D82A}">
                    <a16:rowId xmlns:a16="http://schemas.microsoft.com/office/drawing/2014/main" val="10004"/>
                  </a:ext>
                </a:extLst>
              </a:tr>
              <a:tr h="457200">
                <a:tc>
                  <a:txBody>
                    <a:bodyPr/>
                    <a:lstStyle/>
                    <a:p>
                      <a:r>
                        <a:rPr lang="vi-VN" sz="1300" b="0" i="0">
                          <a:solidFill>
                            <a:srgbClr val="1F2937"/>
                          </a:solidFill>
                          <a:latin typeface="Arial"/>
                        </a:rPr>
                        <a:t>Trang xe "Mới" không có ô số km</a:t>
                      </a:r>
                    </a:p>
                  </a:txBody>
                  <a:tcPr marL="73152" marR="73152" marT="27432" marB="27432" anchor="ctr">
                    <a:solidFill>
                      <a:srgbClr val="FFFFFF"/>
                    </a:solidFill>
                  </a:tcPr>
                </a:tc>
                <a:tc>
                  <a:txBody>
                    <a:bodyPr/>
                    <a:lstStyle/>
                    <a:p>
                      <a:r>
                        <a:rPr lang="vi-VN" sz="1300" b="0" i="0">
                          <a:solidFill>
                            <a:srgbClr val="1F2937"/>
                          </a:solidFill>
                          <a:latin typeface="Arial"/>
                        </a:rPr>
                        <a:t>Mọi xe mới thiếu số km</a:t>
                      </a:r>
                    </a:p>
                  </a:txBody>
                  <a:tcPr marL="73152" marR="73152" marT="27432" marB="27432" anchor="ctr">
                    <a:solidFill>
                      <a:srgbClr val="FFFFFF"/>
                    </a:solidFill>
                  </a:tcPr>
                </a:tc>
                <a:tc>
                  <a:txBody>
                    <a:bodyPr/>
                    <a:lstStyle/>
                    <a:p>
                      <a:r>
                        <a:rPr lang="vi-VN" sz="1300" b="0" i="0">
                          <a:solidFill>
                            <a:srgbClr val="1F2937"/>
                          </a:solidFill>
                          <a:latin typeface="Arial"/>
                        </a:rPr>
                        <a:t>điền 0 km</a:t>
                      </a:r>
                    </a:p>
                  </a:txBody>
                  <a:tcPr marL="73152" marR="73152" marT="27432" marB="27432" anchor="ctr">
                    <a:solidFill>
                      <a:srgbClr val="FFFFFF"/>
                    </a:solidFill>
                  </a:tcPr>
                </a:tc>
                <a:extLst>
                  <a:ext uri="{0D108BD9-81ED-4DB2-BD59-A6C34878D82A}">
                    <a16:rowId xmlns:a16="http://schemas.microsoft.com/office/drawing/2014/main" val="10005"/>
                  </a:ext>
                </a:extLst>
              </a:tr>
              <a:tr h="457200">
                <a:tc>
                  <a:txBody>
                    <a:bodyPr/>
                    <a:lstStyle/>
                    <a:p>
                      <a:r>
                        <a:rPr lang="vi-VN" sz="1300" b="0" i="0">
                          <a:solidFill>
                            <a:srgbClr val="1F2937"/>
                          </a:solidFill>
                          <a:latin typeface="Arial"/>
                        </a:rPr>
                        <a:t>Bảo hành ghi "Bảo hành hãng" ở mọi tin</a:t>
                      </a:r>
                    </a:p>
                  </a:txBody>
                  <a:tcPr marL="73152" marR="73152" marT="27432" marB="27432" anchor="ctr">
                    <a:solidFill>
                      <a:srgbClr val="EAF2FA"/>
                    </a:solidFill>
                  </a:tcPr>
                </a:tc>
                <a:tc>
                  <a:txBody>
                    <a:bodyPr/>
                    <a:lstStyle/>
                    <a:p>
                      <a:r>
                        <a:rPr lang="vi-VN" sz="1300" b="0" i="0">
                          <a:solidFill>
                            <a:srgbClr val="1F2937"/>
                          </a:solidFill>
                          <a:latin typeface="Arial"/>
                        </a:rPr>
                        <a:t>Không phân biệt được tin nào</a:t>
                      </a:r>
                    </a:p>
                  </a:txBody>
                  <a:tcPr marL="73152" marR="73152" marT="27432" marB="27432" anchor="ctr">
                    <a:solidFill>
                      <a:srgbClr val="EAF2FA"/>
                    </a:solidFill>
                  </a:tcPr>
                </a:tc>
                <a:tc>
                  <a:txBody>
                    <a:bodyPr/>
                    <a:lstStyle/>
                    <a:p>
                      <a:r>
                        <a:rPr lang="vi-VN" sz="1300" b="0" i="0">
                          <a:solidFill>
                            <a:srgbClr val="1F2937"/>
                          </a:solidFill>
                          <a:latin typeface="Arial"/>
                        </a:rPr>
                        <a:t>bỏ cột</a:t>
                      </a:r>
                    </a:p>
                  </a:txBody>
                  <a:tcPr marL="73152" marR="73152" marT="27432" marB="27432" anchor="ctr">
                    <a:solidFill>
                      <a:srgbClr val="EAF2FA"/>
                    </a:solidFill>
                  </a:tcPr>
                </a:tc>
                <a:extLst>
                  <a:ext uri="{0D108BD9-81ED-4DB2-BD59-A6C34878D82A}">
                    <a16:rowId xmlns:a16="http://schemas.microsoft.com/office/drawing/2014/main" val="10006"/>
                  </a:ext>
                </a:extLst>
              </a:tr>
              <a:tr h="457200">
                <a:tc>
                  <a:txBody>
                    <a:bodyPr/>
                    <a:lstStyle/>
                    <a:p>
                      <a:r>
                        <a:rPr lang="vi-VN" sz="1300" b="0" i="0">
                          <a:solidFill>
                            <a:srgbClr val="1F2937"/>
                          </a:solidFill>
                          <a:latin typeface="Arial"/>
                        </a:rPr>
                        <a:t>Một lần crawl, 750 trang mới nhất</a:t>
                      </a:r>
                    </a:p>
                  </a:txBody>
                  <a:tcPr marL="73152" marR="73152" marT="27432" marB="27432" anchor="ctr">
                    <a:solidFill>
                      <a:srgbClr val="FFFFFF"/>
                    </a:solidFill>
                  </a:tcPr>
                </a:tc>
                <a:tc>
                  <a:txBody>
                    <a:bodyPr/>
                    <a:lstStyle/>
                    <a:p>
                      <a:r>
                        <a:rPr lang="vi-VN" sz="1300" b="0" i="0">
                          <a:solidFill>
                            <a:srgbClr val="1F2937"/>
                          </a:solidFill>
                          <a:latin typeface="Arial"/>
                        </a:rPr>
                        <a:t>Ảnh chụp thị trường; giá rao, không phải giá bán</a:t>
                      </a:r>
                    </a:p>
                  </a:txBody>
                  <a:tcPr marL="73152" marR="73152" marT="27432" marB="27432" anchor="ctr">
                    <a:solidFill>
                      <a:srgbClr val="FFFFFF"/>
                    </a:solidFill>
                  </a:tcPr>
                </a:tc>
                <a:tc>
                  <a:txBody>
                    <a:bodyPr/>
                    <a:lstStyle/>
                    <a:p>
                      <a:r>
                        <a:rPr lang="vi-VN" sz="1300" b="0" i="0">
                          <a:solidFill>
                            <a:srgbClr val="1F2937"/>
                          </a:solidFill>
                          <a:latin typeface="Arial"/>
                        </a:rPr>
                        <a:t>tuổi xe tính theo 2026; nêu ở hạn chế</a:t>
                      </a:r>
                    </a:p>
                  </a:txBody>
                  <a:tcPr marL="73152" marR="73152" marT="27432" marB="27432" anchor="ctr">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3 · TIỀN XỬ LÝ VÀ XỬ LÝ DỮ LIỆU</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Chia tập trước, học tham số chỉ từ train</a:t>
            </a:r>
          </a:p>
        </p:txBody>
      </p:sp>
      <p:pic>
        <p:nvPicPr>
          <p:cNvPr id="4" name="Picture 3" descr="s06_so_do_quy_trinh.png"/>
          <p:cNvPicPr>
            <a:picLocks noChangeAspect="1"/>
          </p:cNvPicPr>
          <p:nvPr/>
        </p:nvPicPr>
        <p:blipFill>
          <a:blip r:embed="rId3"/>
          <a:stretch>
            <a:fillRect/>
          </a:stretch>
        </p:blipFill>
        <p:spPr>
          <a:xfrm>
            <a:off x="396927" y="1234440"/>
            <a:ext cx="6064144" cy="4389120"/>
          </a:xfrm>
          <a:prstGeom prst="rect">
            <a:avLst/>
          </a:prstGeom>
        </p:spPr>
      </p:pic>
      <p:graphicFrame>
        <p:nvGraphicFramePr>
          <p:cNvPr id="5" name="Table 4"/>
          <p:cNvGraphicFramePr>
            <a:graphicFrameLocks noGrp="1"/>
          </p:cNvGraphicFramePr>
          <p:nvPr/>
        </p:nvGraphicFramePr>
        <p:xfrm>
          <a:off x="6766560" y="1371600"/>
          <a:ext cx="4937760" cy="3867912"/>
        </p:xfrm>
        <a:graphic>
          <a:graphicData uri="http://schemas.openxmlformats.org/drawingml/2006/table">
            <a:tbl>
              <a:tblPr>
                <a:tableStyleId>{5940675A-B579-460E-94D1-54222C63F5DA}</a:tableStyleId>
              </a:tblPr>
              <a:tblGrid>
                <a:gridCol w="233172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429768">
                <a:tc>
                  <a:txBody>
                    <a:bodyPr/>
                    <a:lstStyle/>
                    <a:p>
                      <a:r>
                        <a:rPr lang="vi-VN" sz="1100" b="1" i="0">
                          <a:solidFill>
                            <a:srgbClr val="FFFFFF"/>
                          </a:solidFill>
                          <a:latin typeface="Arial"/>
                        </a:rPr>
                        <a:t>Bước</a:t>
                      </a:r>
                    </a:p>
                  </a:txBody>
                  <a:tcPr marL="73152" marR="73152" marT="27432" marB="27432" anchor="ctr">
                    <a:solidFill>
                      <a:srgbClr val="075289"/>
                    </a:solidFill>
                  </a:tcPr>
                </a:tc>
                <a:tc>
                  <a:txBody>
                    <a:bodyPr/>
                    <a:lstStyle/>
                    <a:p>
                      <a:r>
                        <a:rPr lang="vi-VN" sz="1100" b="1" i="0">
                          <a:solidFill>
                            <a:srgbClr val="FFFFFF"/>
                          </a:solidFill>
                          <a:latin typeface="Arial"/>
                        </a:rPr>
                        <a:t>Học từ dữ liệu?</a:t>
                      </a:r>
                    </a:p>
                  </a:txBody>
                  <a:tcPr marL="73152" marR="73152" marT="27432" marB="27432" anchor="ctr">
                    <a:solidFill>
                      <a:srgbClr val="075289"/>
                    </a:solidFill>
                  </a:tcPr>
                </a:tc>
                <a:tc>
                  <a:txBody>
                    <a:bodyPr/>
                    <a:lstStyle/>
                    <a:p>
                      <a:r>
                        <a:rPr lang="vi-VN" sz="1100" b="1" i="0">
                          <a:solidFill>
                            <a:srgbClr val="FFFFFF"/>
                          </a:solidFill>
                          <a:latin typeface="Arial"/>
                        </a:rPr>
                        <a:t>Ở đâu</a:t>
                      </a:r>
                    </a:p>
                  </a:txBody>
                  <a:tcPr marL="73152" marR="73152" marT="27432" marB="27432" anchor="ctr">
                    <a:solidFill>
                      <a:srgbClr val="075289"/>
                    </a:solidFill>
                  </a:tcPr>
                </a:tc>
                <a:extLst>
                  <a:ext uri="{0D108BD9-81ED-4DB2-BD59-A6C34878D82A}">
                    <a16:rowId xmlns:a16="http://schemas.microsoft.com/office/drawing/2014/main" val="10000"/>
                  </a:ext>
                </a:extLst>
              </a:tr>
              <a:tr h="429768">
                <a:tc>
                  <a:txBody>
                    <a:bodyPr/>
                    <a:lstStyle/>
                    <a:p>
                      <a:r>
                        <a:rPr lang="vi-VN" sz="1100" b="0" i="0">
                          <a:solidFill>
                            <a:srgbClr val="1F2937"/>
                          </a:solidFill>
                          <a:latin typeface="Arial"/>
                        </a:rPr>
                        <a:t>Ép kiểu, N/A → thiếu, xóa trùng</a:t>
                      </a:r>
                    </a:p>
                  </a:txBody>
                  <a:tcPr marL="73152" marR="73152" marT="27432" marB="27432" anchor="ctr">
                    <a:solidFill>
                      <a:srgbClr val="FFFFFF"/>
                    </a:solidFill>
                  </a:tcPr>
                </a:tc>
                <a:tc>
                  <a:txBody>
                    <a:bodyPr/>
                    <a:lstStyle/>
                    <a:p>
                      <a:r>
                        <a:rPr lang="vi-VN" sz="1100" b="0" i="0">
                          <a:solidFill>
                            <a:srgbClr val="1F2937"/>
                          </a:solidFill>
                          <a:latin typeface="Arial"/>
                        </a:rPr>
                        <a:t>không</a:t>
                      </a:r>
                    </a:p>
                  </a:txBody>
                  <a:tcPr marL="73152" marR="73152" marT="27432" marB="27432" anchor="ctr">
                    <a:solidFill>
                      <a:srgbClr val="FFFFFF"/>
                    </a:solidFill>
                  </a:tcPr>
                </a:tc>
                <a:tc>
                  <a:txBody>
                    <a:bodyPr/>
                    <a:lstStyle/>
                    <a:p>
                      <a:r>
                        <a:rPr lang="vi-VN" sz="1100" b="0" i="0">
                          <a:solidFill>
                            <a:srgbClr val="1F2937"/>
                          </a:solidFill>
                          <a:latin typeface="Arial"/>
                        </a:rPr>
                        <a:t>preprocess</a:t>
                      </a:r>
                    </a:p>
                  </a:txBody>
                  <a:tcPr marL="73152" marR="73152" marT="27432" marB="27432" anchor="ctr">
                    <a:solidFill>
                      <a:srgbClr val="FFFFFF"/>
                    </a:solidFill>
                  </a:tcPr>
                </a:tc>
                <a:extLst>
                  <a:ext uri="{0D108BD9-81ED-4DB2-BD59-A6C34878D82A}">
                    <a16:rowId xmlns:a16="http://schemas.microsoft.com/office/drawing/2014/main" val="10001"/>
                  </a:ext>
                </a:extLst>
              </a:tr>
              <a:tr h="429768">
                <a:tc>
                  <a:txBody>
                    <a:bodyPr/>
                    <a:lstStyle/>
                    <a:p>
                      <a:r>
                        <a:rPr lang="vi-VN" sz="1100" b="0" i="0">
                          <a:solidFill>
                            <a:srgbClr val="1F2937"/>
                          </a:solidFill>
                          <a:latin typeface="Arial"/>
                        </a:rPr>
                        <a:t>Giá / km vô lý (ngưỡng cứng)</a:t>
                      </a:r>
                    </a:p>
                  </a:txBody>
                  <a:tcPr marL="73152" marR="73152" marT="27432" marB="27432" anchor="ctr">
                    <a:solidFill>
                      <a:srgbClr val="EAF2FA"/>
                    </a:solidFill>
                  </a:tcPr>
                </a:tc>
                <a:tc>
                  <a:txBody>
                    <a:bodyPr/>
                    <a:lstStyle/>
                    <a:p>
                      <a:r>
                        <a:rPr lang="vi-VN" sz="1100" b="0" i="0">
                          <a:solidFill>
                            <a:srgbClr val="1F2937"/>
                          </a:solidFill>
                          <a:latin typeface="Arial"/>
                        </a:rPr>
                        <a:t>không</a:t>
                      </a:r>
                    </a:p>
                  </a:txBody>
                  <a:tcPr marL="73152" marR="73152" marT="27432" marB="27432" anchor="ctr">
                    <a:solidFill>
                      <a:srgbClr val="EAF2FA"/>
                    </a:solidFill>
                  </a:tcPr>
                </a:tc>
                <a:tc>
                  <a:txBody>
                    <a:bodyPr/>
                    <a:lstStyle/>
                    <a:p>
                      <a:r>
                        <a:rPr lang="vi-VN" sz="1100" b="0" i="0">
                          <a:solidFill>
                            <a:srgbClr val="1F2937"/>
                          </a:solidFill>
                          <a:latin typeface="Arial"/>
                        </a:rPr>
                        <a:t>preprocess</a:t>
                      </a:r>
                    </a:p>
                  </a:txBody>
                  <a:tcPr marL="73152" marR="73152" marT="27432" marB="27432" anchor="ctr">
                    <a:solidFill>
                      <a:srgbClr val="EAF2FA"/>
                    </a:solidFill>
                  </a:tcPr>
                </a:tc>
                <a:extLst>
                  <a:ext uri="{0D108BD9-81ED-4DB2-BD59-A6C34878D82A}">
                    <a16:rowId xmlns:a16="http://schemas.microsoft.com/office/drawing/2014/main" val="10002"/>
                  </a:ext>
                </a:extLst>
              </a:tr>
              <a:tr h="429768">
                <a:tc>
                  <a:txBody>
                    <a:bodyPr/>
                    <a:lstStyle/>
                    <a:p>
                      <a:r>
                        <a:rPr lang="vi-VN" sz="1100" b="0" i="0">
                          <a:solidFill>
                            <a:srgbClr val="1F2937"/>
                          </a:solidFill>
                          <a:latin typeface="Arial"/>
                        </a:rPr>
                        <a:t>Xe mới = 0 km, xuất xứ "Không rõ"</a:t>
                      </a:r>
                    </a:p>
                  </a:txBody>
                  <a:tcPr marL="73152" marR="73152" marT="27432" marB="27432" anchor="ctr">
                    <a:solidFill>
                      <a:srgbClr val="FFFFFF"/>
                    </a:solidFill>
                  </a:tcPr>
                </a:tc>
                <a:tc>
                  <a:txBody>
                    <a:bodyPr/>
                    <a:lstStyle/>
                    <a:p>
                      <a:r>
                        <a:rPr lang="vi-VN" sz="1100" b="0" i="0">
                          <a:solidFill>
                            <a:srgbClr val="1F2937"/>
                          </a:solidFill>
                          <a:latin typeface="Arial"/>
                        </a:rPr>
                        <a:t>không (hằng số)</a:t>
                      </a:r>
                    </a:p>
                  </a:txBody>
                  <a:tcPr marL="73152" marR="73152" marT="27432" marB="27432" anchor="ctr">
                    <a:solidFill>
                      <a:srgbClr val="FFFFFF"/>
                    </a:solidFill>
                  </a:tcPr>
                </a:tc>
                <a:tc>
                  <a:txBody>
                    <a:bodyPr/>
                    <a:lstStyle/>
                    <a:p>
                      <a:r>
                        <a:rPr lang="vi-VN" sz="1100" b="0" i="0">
                          <a:solidFill>
                            <a:srgbClr val="1F2937"/>
                          </a:solidFill>
                          <a:latin typeface="Arial"/>
                        </a:rPr>
                        <a:t>preprocess</a:t>
                      </a:r>
                    </a:p>
                  </a:txBody>
                  <a:tcPr marL="73152" marR="73152" marT="27432" marB="27432" anchor="ctr">
                    <a:solidFill>
                      <a:srgbClr val="FFFFFF"/>
                    </a:solidFill>
                  </a:tcPr>
                </a:tc>
                <a:extLst>
                  <a:ext uri="{0D108BD9-81ED-4DB2-BD59-A6C34878D82A}">
                    <a16:rowId xmlns:a16="http://schemas.microsoft.com/office/drawing/2014/main" val="10003"/>
                  </a:ext>
                </a:extLst>
              </a:tr>
              <a:tr h="429768">
                <a:tc>
                  <a:txBody>
                    <a:bodyPr/>
                    <a:lstStyle/>
                    <a:p>
                      <a:r>
                        <a:rPr lang="vi-VN" sz="1100" b="0" i="0">
                          <a:solidFill>
                            <a:srgbClr val="1F2937"/>
                          </a:solidFill>
                          <a:latin typeface="Arial"/>
                        </a:rPr>
                        <a:t>Tuổi xe, log giá</a:t>
                      </a:r>
                    </a:p>
                  </a:txBody>
                  <a:tcPr marL="73152" marR="73152" marT="27432" marB="27432" anchor="ctr">
                    <a:solidFill>
                      <a:srgbClr val="EAF2FA"/>
                    </a:solidFill>
                  </a:tcPr>
                </a:tc>
                <a:tc>
                  <a:txBody>
                    <a:bodyPr/>
                    <a:lstStyle/>
                    <a:p>
                      <a:r>
                        <a:rPr lang="vi-VN" sz="1100" b="0" i="0">
                          <a:solidFill>
                            <a:srgbClr val="1F2937"/>
                          </a:solidFill>
                          <a:latin typeface="Arial"/>
                        </a:rPr>
                        <a:t>không (công thức)</a:t>
                      </a:r>
                    </a:p>
                  </a:txBody>
                  <a:tcPr marL="73152" marR="73152" marT="27432" marB="27432" anchor="ctr">
                    <a:solidFill>
                      <a:srgbClr val="EAF2FA"/>
                    </a:solidFill>
                  </a:tcPr>
                </a:tc>
                <a:tc>
                  <a:txBody>
                    <a:bodyPr/>
                    <a:lstStyle/>
                    <a:p>
                      <a:r>
                        <a:rPr lang="vi-VN" sz="1100" b="0" i="0">
                          <a:solidFill>
                            <a:srgbClr val="1F2937"/>
                          </a:solidFill>
                          <a:latin typeface="Arial"/>
                        </a:rPr>
                        <a:t>preprocess</a:t>
                      </a:r>
                    </a:p>
                  </a:txBody>
                  <a:tcPr marL="73152" marR="73152" marT="27432" marB="27432" anchor="ctr">
                    <a:solidFill>
                      <a:srgbClr val="EAF2FA"/>
                    </a:solidFill>
                  </a:tcPr>
                </a:tc>
                <a:extLst>
                  <a:ext uri="{0D108BD9-81ED-4DB2-BD59-A6C34878D82A}">
                    <a16:rowId xmlns:a16="http://schemas.microsoft.com/office/drawing/2014/main" val="10004"/>
                  </a:ext>
                </a:extLst>
              </a:tr>
              <a:tr h="429768">
                <a:tc>
                  <a:txBody>
                    <a:bodyPr/>
                    <a:lstStyle/>
                    <a:p>
                      <a:r>
                        <a:rPr lang="vi-VN" sz="1100" b="1" i="0">
                          <a:solidFill>
                            <a:srgbClr val="1F2937"/>
                          </a:solidFill>
                          <a:latin typeface="Arial"/>
                        </a:rPr>
                        <a:t>Lọc giá đặt cọc</a:t>
                      </a:r>
                    </a:p>
                  </a:txBody>
                  <a:tcPr marL="73152" marR="73152" marT="27432" marB="27432" anchor="ctr">
                    <a:solidFill>
                      <a:srgbClr val="FFFFFF"/>
                    </a:solidFill>
                  </a:tcPr>
                </a:tc>
                <a:tc>
                  <a:txBody>
                    <a:bodyPr/>
                    <a:lstStyle/>
                    <a:p>
                      <a:r>
                        <a:rPr lang="vi-VN" sz="1100" b="0" i="0">
                          <a:solidFill>
                            <a:srgbClr val="1F2937"/>
                          </a:solidFill>
                          <a:latin typeface="Arial"/>
                        </a:rPr>
                        <a:t>trung vị giá</a:t>
                      </a:r>
                    </a:p>
                  </a:txBody>
                  <a:tcPr marL="73152" marR="73152" marT="27432" marB="27432" anchor="ctr">
                    <a:solidFill>
                      <a:srgbClr val="FFFFFF"/>
                    </a:solidFill>
                  </a:tcPr>
                </a:tc>
                <a:tc>
                  <a:txBody>
                    <a:bodyPr/>
                    <a:lstStyle/>
                    <a:p>
                      <a:r>
                        <a:rPr lang="vi-VN" sz="1100" b="1" i="0">
                          <a:solidFill>
                            <a:srgbClr val="EB6834"/>
                          </a:solidFill>
                          <a:latin typeface="Arial"/>
                        </a:rPr>
                        <a:t>process (train)</a:t>
                      </a:r>
                    </a:p>
                  </a:txBody>
                  <a:tcPr marL="73152" marR="73152" marT="27432" marB="27432" anchor="ctr">
                    <a:solidFill>
                      <a:srgbClr val="FFFFFF"/>
                    </a:solidFill>
                  </a:tcPr>
                </a:tc>
                <a:extLst>
                  <a:ext uri="{0D108BD9-81ED-4DB2-BD59-A6C34878D82A}">
                    <a16:rowId xmlns:a16="http://schemas.microsoft.com/office/drawing/2014/main" val="10005"/>
                  </a:ext>
                </a:extLst>
              </a:tr>
              <a:tr h="429768">
                <a:tc>
                  <a:txBody>
                    <a:bodyPr/>
                    <a:lstStyle/>
                    <a:p>
                      <a:r>
                        <a:rPr lang="vi-VN" sz="1100" b="1" i="0">
                          <a:solidFill>
                            <a:srgbClr val="1F2937"/>
                          </a:solidFill>
                          <a:latin typeface="Arial"/>
                        </a:rPr>
                        <a:t>Điền km, kiểu dáng, số chỗ</a:t>
                      </a:r>
                    </a:p>
                  </a:txBody>
                  <a:tcPr marL="73152" marR="73152" marT="27432" marB="27432" anchor="ctr">
                    <a:solidFill>
                      <a:srgbClr val="EAF2FA"/>
                    </a:solidFill>
                  </a:tcPr>
                </a:tc>
                <a:tc>
                  <a:txBody>
                    <a:bodyPr/>
                    <a:lstStyle/>
                    <a:p>
                      <a:r>
                        <a:rPr lang="vi-VN" sz="1100" b="0" i="0">
                          <a:solidFill>
                            <a:srgbClr val="1F2937"/>
                          </a:solidFill>
                          <a:latin typeface="Arial"/>
                        </a:rPr>
                        <a:t>trung vị, mode</a:t>
                      </a:r>
                    </a:p>
                  </a:txBody>
                  <a:tcPr marL="73152" marR="73152" marT="27432" marB="27432" anchor="ctr">
                    <a:solidFill>
                      <a:srgbClr val="EAF2FA"/>
                    </a:solidFill>
                  </a:tcPr>
                </a:tc>
                <a:tc>
                  <a:txBody>
                    <a:bodyPr/>
                    <a:lstStyle/>
                    <a:p>
                      <a:r>
                        <a:rPr lang="vi-VN" sz="1100" b="1" i="0">
                          <a:solidFill>
                            <a:srgbClr val="EB6834"/>
                          </a:solidFill>
                          <a:latin typeface="Arial"/>
                        </a:rPr>
                        <a:t>process (train)</a:t>
                      </a:r>
                    </a:p>
                  </a:txBody>
                  <a:tcPr marL="73152" marR="73152" marT="27432" marB="27432" anchor="ctr">
                    <a:solidFill>
                      <a:srgbClr val="EAF2FA"/>
                    </a:solidFill>
                  </a:tcPr>
                </a:tc>
                <a:extLst>
                  <a:ext uri="{0D108BD9-81ED-4DB2-BD59-A6C34878D82A}">
                    <a16:rowId xmlns:a16="http://schemas.microsoft.com/office/drawing/2014/main" val="10006"/>
                  </a:ext>
                </a:extLst>
              </a:tr>
              <a:tr h="429768">
                <a:tc>
                  <a:txBody>
                    <a:bodyPr/>
                    <a:lstStyle/>
                    <a:p>
                      <a:r>
                        <a:rPr lang="vi-VN" sz="1100" b="1" i="0">
                          <a:solidFill>
                            <a:srgbClr val="1F2937"/>
                          </a:solidFill>
                          <a:latin typeface="Arial"/>
                        </a:rPr>
                        <a:t>Gộp nhãn hiếm</a:t>
                      </a:r>
                    </a:p>
                  </a:txBody>
                  <a:tcPr marL="73152" marR="73152" marT="27432" marB="27432" anchor="ctr">
                    <a:solidFill>
                      <a:srgbClr val="FFFFFF"/>
                    </a:solidFill>
                  </a:tcPr>
                </a:tc>
                <a:tc>
                  <a:txBody>
                    <a:bodyPr/>
                    <a:lstStyle/>
                    <a:p>
                      <a:r>
                        <a:rPr lang="vi-VN" sz="1100" b="0" i="0">
                          <a:solidFill>
                            <a:srgbClr val="1F2937"/>
                          </a:solidFill>
                          <a:latin typeface="Arial"/>
                        </a:rPr>
                        <a:t>tần suất</a:t>
                      </a:r>
                    </a:p>
                  </a:txBody>
                  <a:tcPr marL="73152" marR="73152" marT="27432" marB="27432" anchor="ctr">
                    <a:solidFill>
                      <a:srgbClr val="FFFFFF"/>
                    </a:solidFill>
                  </a:tcPr>
                </a:tc>
                <a:tc>
                  <a:txBody>
                    <a:bodyPr/>
                    <a:lstStyle/>
                    <a:p>
                      <a:r>
                        <a:rPr lang="vi-VN" sz="1100" b="1" i="0">
                          <a:solidFill>
                            <a:srgbClr val="EB6834"/>
                          </a:solidFill>
                          <a:latin typeface="Arial"/>
                        </a:rPr>
                        <a:t>process (train)</a:t>
                      </a:r>
                    </a:p>
                  </a:txBody>
                  <a:tcPr marL="73152" marR="73152" marT="27432" marB="27432" anchor="ctr">
                    <a:solidFill>
                      <a:srgbClr val="FFFFFF"/>
                    </a:solidFill>
                  </a:tcPr>
                </a:tc>
                <a:extLst>
                  <a:ext uri="{0D108BD9-81ED-4DB2-BD59-A6C34878D82A}">
                    <a16:rowId xmlns:a16="http://schemas.microsoft.com/office/drawing/2014/main" val="10007"/>
                  </a:ext>
                </a:extLst>
              </a:tr>
              <a:tr h="429768">
                <a:tc>
                  <a:txBody>
                    <a:bodyPr/>
                    <a:lstStyle/>
                    <a:p>
                      <a:r>
                        <a:rPr lang="vi-VN" sz="1100" b="0" i="0">
                          <a:solidFill>
                            <a:srgbClr val="1F2937"/>
                          </a:solidFill>
                          <a:latin typeface="Arial"/>
                        </a:rPr>
                        <a:t>One-hot, chuẩn hóa, tham số</a:t>
                      </a:r>
                    </a:p>
                  </a:txBody>
                  <a:tcPr marL="73152" marR="73152" marT="27432" marB="27432" anchor="ctr">
                    <a:solidFill>
                      <a:srgbClr val="EAF2FA"/>
                    </a:solidFill>
                  </a:tcPr>
                </a:tc>
                <a:tc>
                  <a:txBody>
                    <a:bodyPr/>
                    <a:lstStyle/>
                    <a:p>
                      <a:r>
                        <a:rPr lang="vi-VN" sz="1100" b="0" i="0">
                          <a:solidFill>
                            <a:srgbClr val="1F2937"/>
                          </a:solidFill>
                          <a:latin typeface="Arial"/>
                        </a:rPr>
                        <a:t>có</a:t>
                      </a:r>
                    </a:p>
                  </a:txBody>
                  <a:tcPr marL="73152" marR="73152" marT="27432" marB="27432" anchor="ctr">
                    <a:solidFill>
                      <a:srgbClr val="EAF2FA"/>
                    </a:solidFill>
                  </a:tcPr>
                </a:tc>
                <a:tc>
                  <a:txBody>
                    <a:bodyPr/>
                    <a:lstStyle/>
                    <a:p>
                      <a:r>
                        <a:rPr lang="vi-VN" sz="1100" b="0" i="0">
                          <a:solidFill>
                            <a:srgbClr val="1F2937"/>
                          </a:solidFill>
                          <a:latin typeface="Arial"/>
                        </a:rPr>
                        <a:t>model (train / CV)</a:t>
                      </a:r>
                    </a:p>
                  </a:txBody>
                  <a:tcPr marL="73152" marR="73152" marT="27432" marB="27432" anchor="ctr">
                    <a:solidFill>
                      <a:srgbClr val="EAF2FA"/>
                    </a:solidFill>
                  </a:tcPr>
                </a:tc>
                <a:extLst>
                  <a:ext uri="{0D108BD9-81ED-4DB2-BD59-A6C34878D82A}">
                    <a16:rowId xmlns:a16="http://schemas.microsoft.com/office/drawing/2014/main" val="10008"/>
                  </a:ext>
                </a:extLst>
              </a:tr>
            </a:tbl>
          </a:graphicData>
        </a:graphic>
      </p:graphicFrame>
      <p:sp>
        <p:nvSpPr>
          <p:cNvPr id="6" name="Rounded Rectangle 5"/>
          <p:cNvSpPr/>
          <p:nvPr/>
        </p:nvSpPr>
        <p:spPr>
          <a:xfrm>
            <a:off x="6766560" y="5303520"/>
            <a:ext cx="4937760" cy="41148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6858000" y="5303520"/>
            <a:ext cx="4754880" cy="411480"/>
          </a:xfrm>
          <a:prstGeom prst="rect">
            <a:avLst/>
          </a:prstGeom>
          <a:noFill/>
        </p:spPr>
        <p:txBody>
          <a:bodyPr wrap="square" lIns="45720" tIns="27432" rIns="45720" bIns="27432" anchor="ctr">
            <a:spAutoFit/>
          </a:bodyPr>
          <a:lstStyle/>
          <a:p>
            <a:pPr algn="l">
              <a:lnSpc>
                <a:spcPct val="110000"/>
              </a:lnSpc>
              <a:spcAft>
                <a:spcPts val="600"/>
              </a:spcAft>
            </a:pPr>
            <a:r>
              <a:rPr lang="vi-VN" sz="1200" b="0" i="0">
                <a:solidFill>
                  <a:srgbClr val="1F2937"/>
                </a:solidFill>
                <a:latin typeface="Arial"/>
              </a:rPr>
              <a:t>fit_transform(train) rồi transform(test); không bao giờ fit trên test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3 · TIỀN XỬ LÝ VÀ XỬ LÝ DỮ LIỆU</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Chuẩn hóa giá trị giả, trích vị trí, loại tin trùng</a:t>
            </a:r>
          </a:p>
        </p:txBody>
      </p:sp>
      <p:sp>
        <p:nvSpPr>
          <p:cNvPr id="4" name="Rounded Rectangle 3"/>
          <p:cNvSpPr/>
          <p:nvPr/>
        </p:nvSpPr>
        <p:spPr>
          <a:xfrm>
            <a:off x="548640" y="1463040"/>
            <a:ext cx="3474720" cy="39319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31520" y="1572768"/>
            <a:ext cx="3108960" cy="411480"/>
          </a:xfrm>
          <a:prstGeom prst="rect">
            <a:avLst/>
          </a:prstGeom>
          <a:noFill/>
        </p:spPr>
        <p:txBody>
          <a:bodyPr wrap="square" lIns="45720" tIns="27432" rIns="45720" bIns="27432" anchor="t">
            <a:spAutoFit/>
          </a:bodyPr>
          <a:lstStyle/>
          <a:p>
            <a:pPr algn="l">
              <a:lnSpc>
                <a:spcPct val="110000"/>
              </a:lnSpc>
              <a:spcAft>
                <a:spcPts val="600"/>
              </a:spcAft>
            </a:pPr>
            <a:r>
              <a:rPr lang="vi-VN" sz="1800" b="1" i="0">
                <a:solidFill>
                  <a:srgbClr val="075289"/>
                </a:solidFill>
                <a:latin typeface="Arial"/>
              </a:rPr>
              <a:t>Giá trị giả</a:t>
            </a:r>
          </a:p>
        </p:txBody>
      </p:sp>
      <p:sp>
        <p:nvSpPr>
          <p:cNvPr id="6" name="TextBox 5"/>
          <p:cNvSpPr txBox="1"/>
          <p:nvPr/>
        </p:nvSpPr>
        <p:spPr>
          <a:xfrm>
            <a:off x="731520" y="2103120"/>
            <a:ext cx="3154680" cy="3200400"/>
          </a:xfrm>
          <a:prstGeom prst="rect">
            <a:avLst/>
          </a:prstGeom>
          <a:noFill/>
        </p:spPr>
        <p:txBody>
          <a:bodyPr wrap="square" lIns="45720" tIns="27432" rIns="45720" bIns="27432" anchor="t">
            <a:spAutoFit/>
          </a:bodyPr>
          <a:lstStyle/>
          <a:p>
            <a:pPr marL="201168" indent="-201168" algn="l">
              <a:lnSpc>
                <a:spcPct val="110000"/>
              </a:lnSpc>
              <a:spcAft>
                <a:spcPts val="800"/>
              </a:spcAft>
              <a:buClr>
                <a:srgbClr val="075289"/>
              </a:buClr>
              <a:buFont typeface="Arial"/>
              <a:buChar char="•"/>
            </a:pPr>
            <a:r>
              <a:rPr lang="vi-VN" sz="1400" b="0" i="0">
                <a:solidFill>
                  <a:srgbClr val="1F2937"/>
                </a:solidFill>
                <a:latin typeface="Arial"/>
              </a:rPr>
              <a:t>"N/A", "Đang cập nhật" → thiếu thật</a:t>
            </a:r>
          </a:p>
          <a:p>
            <a:pPr marL="201168" indent="-201168" algn="l">
              <a:lnSpc>
                <a:spcPct val="110000"/>
              </a:lnSpc>
              <a:spcAft>
                <a:spcPts val="800"/>
              </a:spcAft>
              <a:buClr>
                <a:srgbClr val="075289"/>
              </a:buClr>
              <a:buFont typeface="Arial"/>
              <a:buChar char="•"/>
            </a:pPr>
            <a:r>
              <a:rPr lang="vi-VN" sz="1400" b="0" i="0">
                <a:solidFill>
                  <a:srgbClr val="1F2937"/>
                </a:solidFill>
                <a:latin typeface="Arial"/>
              </a:rPr>
              <a:t>"Khác" ở số chỗ → thiếu; "Dòng khác" giữ làm nhãn</a:t>
            </a:r>
          </a:p>
          <a:p>
            <a:pPr marL="201168" indent="-201168" algn="l">
              <a:lnSpc>
                <a:spcPct val="110000"/>
              </a:lnSpc>
              <a:spcAft>
                <a:spcPts val="800"/>
              </a:spcAft>
              <a:buClr>
                <a:srgbClr val="075289"/>
              </a:buClr>
              <a:buFont typeface="Arial"/>
              <a:buChar char="•"/>
            </a:pPr>
            <a:r>
              <a:rPr lang="vi-VN" sz="1400" b="0" i="0">
                <a:solidFill>
                  <a:srgbClr val="1F2937"/>
                </a:solidFill>
                <a:latin typeface="Arial"/>
              </a:rPr>
              <a:t>"109.366" → 109366 (bỏ dấu chấm)</a:t>
            </a:r>
          </a:p>
          <a:p>
            <a:pPr marL="201168" indent="-201168" algn="l">
              <a:lnSpc>
                <a:spcPct val="110000"/>
              </a:lnSpc>
              <a:spcAft>
                <a:spcPts val="800"/>
              </a:spcAft>
              <a:buClr>
                <a:srgbClr val="075289"/>
              </a:buClr>
              <a:buFont typeface="Arial"/>
              <a:buChar char="•"/>
            </a:pPr>
            <a:r>
              <a:rPr lang="vi-VN" sz="1400" b="0" i="0">
                <a:solidFill>
                  <a:srgbClr val="1F2937"/>
                </a:solidFill>
                <a:latin typeface="Arial"/>
              </a:rPr>
              <a:t>"trước năm 1980" → 1979</a:t>
            </a:r>
          </a:p>
        </p:txBody>
      </p:sp>
      <p:sp>
        <p:nvSpPr>
          <p:cNvPr id="7" name="Rounded Rectangle 6"/>
          <p:cNvSpPr/>
          <p:nvPr/>
        </p:nvSpPr>
        <p:spPr>
          <a:xfrm>
            <a:off x="4297679" y="1463040"/>
            <a:ext cx="3474720" cy="39319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480559" y="1572768"/>
            <a:ext cx="3108960" cy="411480"/>
          </a:xfrm>
          <a:prstGeom prst="rect">
            <a:avLst/>
          </a:prstGeom>
          <a:noFill/>
        </p:spPr>
        <p:txBody>
          <a:bodyPr wrap="square" lIns="45720" tIns="27432" rIns="45720" bIns="27432" anchor="t">
            <a:spAutoFit/>
          </a:bodyPr>
          <a:lstStyle/>
          <a:p>
            <a:pPr algn="l">
              <a:lnSpc>
                <a:spcPct val="110000"/>
              </a:lnSpc>
              <a:spcAft>
                <a:spcPts val="600"/>
              </a:spcAft>
            </a:pPr>
            <a:r>
              <a:rPr lang="vi-VN" sz="1800" b="1" i="0">
                <a:solidFill>
                  <a:srgbClr val="075289"/>
                </a:solidFill>
                <a:latin typeface="Arial"/>
              </a:rPr>
              <a:t>Vị trí và cột thừa</a:t>
            </a:r>
          </a:p>
        </p:txBody>
      </p:sp>
      <p:sp>
        <p:nvSpPr>
          <p:cNvPr id="9" name="TextBox 8"/>
          <p:cNvSpPr txBox="1"/>
          <p:nvPr/>
        </p:nvSpPr>
        <p:spPr>
          <a:xfrm>
            <a:off x="4480559" y="2103120"/>
            <a:ext cx="3154680" cy="3200400"/>
          </a:xfrm>
          <a:prstGeom prst="rect">
            <a:avLst/>
          </a:prstGeom>
          <a:noFill/>
        </p:spPr>
        <p:txBody>
          <a:bodyPr wrap="square" lIns="45720" tIns="27432" rIns="45720" bIns="27432" anchor="t">
            <a:spAutoFit/>
          </a:bodyPr>
          <a:lstStyle/>
          <a:p>
            <a:pPr marL="201168" indent="-201168" algn="l">
              <a:lnSpc>
                <a:spcPct val="110000"/>
              </a:lnSpc>
              <a:spcAft>
                <a:spcPts val="800"/>
              </a:spcAft>
              <a:buClr>
                <a:srgbClr val="075289"/>
              </a:buClr>
              <a:buFont typeface="Arial"/>
              <a:buChar char="•"/>
            </a:pPr>
            <a:r>
              <a:rPr lang="vi-VN" sz="1400" b="0" i="0">
                <a:solidFill>
                  <a:srgbClr val="1F2937"/>
                </a:solidFill>
                <a:latin typeface="Arial"/>
              </a:rPr>
              <a:t>Trích tỉnh/thành từ URL: 63 tỉnh, 100% số tin</a:t>
            </a:r>
          </a:p>
          <a:p>
            <a:pPr marL="201168" indent="-201168" algn="l">
              <a:lnSpc>
                <a:spcPct val="110000"/>
              </a:lnSpc>
              <a:spcAft>
                <a:spcPts val="800"/>
              </a:spcAft>
              <a:buClr>
                <a:srgbClr val="075289"/>
              </a:buClr>
              <a:buFont typeface="Arial"/>
              <a:buChar char="•"/>
            </a:pPr>
            <a:r>
              <a:rPr lang="vi-VN" sz="1400" b="0" i="0">
                <a:solidFill>
                  <a:srgbClr val="1F2937"/>
                </a:solidFill>
                <a:latin typeface="Arial"/>
              </a:rPr>
              <a:t>Không tách quận/huyện: 453 giá trị, trung vị 4 tin/quận</a:t>
            </a:r>
          </a:p>
          <a:p>
            <a:pPr marL="201168" indent="-201168" algn="l">
              <a:lnSpc>
                <a:spcPct val="110000"/>
              </a:lnSpc>
              <a:spcAft>
                <a:spcPts val="800"/>
              </a:spcAft>
              <a:buClr>
                <a:srgbClr val="075289"/>
              </a:buClr>
              <a:buFont typeface="Arial"/>
              <a:buChar char="•"/>
            </a:pPr>
            <a:r>
              <a:rPr lang="vi-VN" sz="1400" b="0" i="0">
                <a:solidFill>
                  <a:srgbClr val="1F2937"/>
                </a:solidFill>
                <a:latin typeface="Arial"/>
              </a:rPr>
              <a:t>Bỏ no, url, veh_warranty_policy</a:t>
            </a:r>
          </a:p>
        </p:txBody>
      </p:sp>
      <p:sp>
        <p:nvSpPr>
          <p:cNvPr id="10" name="Rounded Rectangle 9"/>
          <p:cNvSpPr/>
          <p:nvPr/>
        </p:nvSpPr>
        <p:spPr>
          <a:xfrm>
            <a:off x="8046719" y="1463040"/>
            <a:ext cx="3474720" cy="393192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229599" y="1572768"/>
            <a:ext cx="3108960" cy="411480"/>
          </a:xfrm>
          <a:prstGeom prst="rect">
            <a:avLst/>
          </a:prstGeom>
          <a:noFill/>
        </p:spPr>
        <p:txBody>
          <a:bodyPr wrap="square" lIns="45720" tIns="27432" rIns="45720" bIns="27432" anchor="t">
            <a:spAutoFit/>
          </a:bodyPr>
          <a:lstStyle/>
          <a:p>
            <a:pPr algn="l">
              <a:lnSpc>
                <a:spcPct val="110000"/>
              </a:lnSpc>
              <a:spcAft>
                <a:spcPts val="600"/>
              </a:spcAft>
            </a:pPr>
            <a:r>
              <a:rPr lang="vi-VN" sz="1800" b="1" i="0">
                <a:solidFill>
                  <a:srgbClr val="075289"/>
                </a:solidFill>
                <a:latin typeface="Arial"/>
              </a:rPr>
              <a:t>Tin trùng</a:t>
            </a:r>
          </a:p>
        </p:txBody>
      </p:sp>
      <p:sp>
        <p:nvSpPr>
          <p:cNvPr id="12" name="TextBox 11"/>
          <p:cNvSpPr txBox="1"/>
          <p:nvPr/>
        </p:nvSpPr>
        <p:spPr>
          <a:xfrm>
            <a:off x="8229599" y="2103120"/>
            <a:ext cx="3154680" cy="3200400"/>
          </a:xfrm>
          <a:prstGeom prst="rect">
            <a:avLst/>
          </a:prstGeom>
          <a:noFill/>
        </p:spPr>
        <p:txBody>
          <a:bodyPr wrap="square" lIns="45720" tIns="27432" rIns="45720" bIns="27432" anchor="t">
            <a:spAutoFit/>
          </a:bodyPr>
          <a:lstStyle/>
          <a:p>
            <a:pPr marL="201168" indent="-201168" algn="l">
              <a:lnSpc>
                <a:spcPct val="110000"/>
              </a:lnSpc>
              <a:spcAft>
                <a:spcPts val="800"/>
              </a:spcAft>
              <a:buClr>
                <a:srgbClr val="075289"/>
              </a:buClr>
              <a:buFont typeface="Arial"/>
              <a:buChar char="•"/>
            </a:pPr>
            <a:r>
              <a:rPr lang="vi-VN" sz="1400" b="0" i="0">
                <a:solidFill>
                  <a:srgbClr val="1F2937"/>
                </a:solidFill>
                <a:latin typeface="Arial"/>
              </a:rPr>
              <a:t>691 tin giống hệt mọi thuộc tính và giá (4,7%)</a:t>
            </a:r>
          </a:p>
          <a:p>
            <a:pPr marL="201168" indent="-201168" algn="l">
              <a:lnSpc>
                <a:spcPct val="110000"/>
              </a:lnSpc>
              <a:spcAft>
                <a:spcPts val="800"/>
              </a:spcAft>
              <a:buClr>
                <a:srgbClr val="075289"/>
              </a:buClr>
              <a:buFont typeface="Arial"/>
              <a:buChar char="•"/>
            </a:pPr>
            <a:r>
              <a:rPr lang="vi-VN" sz="1400" b="0" i="0">
                <a:solidFill>
                  <a:srgbClr val="1F2937"/>
                </a:solidFill>
                <a:latin typeface="Arial"/>
              </a:rPr>
              <a:t>331 trong số đó là xe mới của đại lý</a:t>
            </a:r>
          </a:p>
          <a:p>
            <a:pPr marL="201168" indent="-201168" algn="l">
              <a:lnSpc>
                <a:spcPct val="110000"/>
              </a:lnSpc>
              <a:spcAft>
                <a:spcPts val="800"/>
              </a:spcAft>
              <a:buClr>
                <a:srgbClr val="075289"/>
              </a:buClr>
              <a:buFont typeface="Arial"/>
              <a:buChar char="•"/>
            </a:pPr>
            <a:r>
              <a:rPr lang="vi-VN" sz="1400" b="0" i="0">
                <a:solidFill>
                  <a:srgbClr val="1F2937"/>
                </a:solidFill>
                <a:latin typeface="Arial"/>
              </a:rPr>
              <a:t>Giữ một bản → còn 14.144 tin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3 · TIỀN XỬ LÝ VÀ XỬ LÝ DỮ LIỆU</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Phát hiện giá trị bất hợp lý bằng hiểu biết thực tế</a:t>
            </a:r>
          </a:p>
        </p:txBody>
      </p:sp>
      <p:pic>
        <p:nvPicPr>
          <p:cNvPr id="4" name="Picture 3" descr="p10_gia_tri_bat_hop_ly.png"/>
          <p:cNvPicPr>
            <a:picLocks noChangeAspect="1"/>
          </p:cNvPicPr>
          <p:nvPr/>
        </p:nvPicPr>
        <p:blipFill>
          <a:blip r:embed="rId3"/>
          <a:stretch>
            <a:fillRect/>
          </a:stretch>
        </p:blipFill>
        <p:spPr>
          <a:xfrm>
            <a:off x="365760" y="1617489"/>
            <a:ext cx="7498079" cy="2754341"/>
          </a:xfrm>
          <a:prstGeom prst="rect">
            <a:avLst/>
          </a:prstGeom>
        </p:spPr>
      </p:pic>
      <p:graphicFrame>
        <p:nvGraphicFramePr>
          <p:cNvPr id="5" name="Table 4"/>
          <p:cNvGraphicFramePr>
            <a:graphicFrameLocks noGrp="1"/>
          </p:cNvGraphicFramePr>
          <p:nvPr/>
        </p:nvGraphicFramePr>
        <p:xfrm>
          <a:off x="8046720" y="1371600"/>
          <a:ext cx="3657600" cy="3008376"/>
        </p:xfrm>
        <a:graphic>
          <a:graphicData uri="http://schemas.openxmlformats.org/drawingml/2006/table">
            <a:tbl>
              <a:tblPr>
                <a:tableStyleId>{5940675A-B579-460E-94D1-54222C63F5DA}</a:tableStyleId>
              </a:tblPr>
              <a:tblGrid>
                <a:gridCol w="27432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tblGrid>
              <a:tr h="429768">
                <a:tc>
                  <a:txBody>
                    <a:bodyPr/>
                    <a:lstStyle/>
                    <a:p>
                      <a:r>
                        <a:rPr lang="vi-VN" sz="1200" b="1" i="0">
                          <a:solidFill>
                            <a:srgbClr val="FFFFFF"/>
                          </a:solidFill>
                          <a:latin typeface="Arial"/>
                        </a:rPr>
                        <a:t>Quy tắc</a:t>
                      </a:r>
                    </a:p>
                  </a:txBody>
                  <a:tcPr marL="73152" marR="73152" marT="27432" marB="27432" anchor="ctr">
                    <a:solidFill>
                      <a:srgbClr val="075289"/>
                    </a:solidFill>
                  </a:tcPr>
                </a:tc>
                <a:tc>
                  <a:txBody>
                    <a:bodyPr/>
                    <a:lstStyle/>
                    <a:p>
                      <a:r>
                        <a:rPr lang="vi-VN" sz="1200" b="1" i="0">
                          <a:solidFill>
                            <a:srgbClr val="FFFFFF"/>
                          </a:solidFill>
                          <a:latin typeface="Arial"/>
                        </a:rPr>
                        <a:t>Số tin</a:t>
                      </a:r>
                    </a:p>
                  </a:txBody>
                  <a:tcPr marL="73152" marR="73152" marT="27432" marB="27432" anchor="ctr">
                    <a:solidFill>
                      <a:srgbClr val="075289"/>
                    </a:solidFill>
                  </a:tcPr>
                </a:tc>
                <a:extLst>
                  <a:ext uri="{0D108BD9-81ED-4DB2-BD59-A6C34878D82A}">
                    <a16:rowId xmlns:a16="http://schemas.microsoft.com/office/drawing/2014/main" val="10000"/>
                  </a:ext>
                </a:extLst>
              </a:tr>
              <a:tr h="429768">
                <a:tc>
                  <a:txBody>
                    <a:bodyPr/>
                    <a:lstStyle/>
                    <a:p>
                      <a:r>
                        <a:rPr lang="vi-VN" sz="1200" b="1" i="0">
                          <a:solidFill>
                            <a:srgbClr val="1F2937"/>
                          </a:solidFill>
                          <a:latin typeface="Arial"/>
                        </a:rPr>
                        <a:t>Giá &lt; 20 triệu / &gt; 10 tỷ → loại</a:t>
                      </a:r>
                    </a:p>
                  </a:txBody>
                  <a:tcPr marL="73152" marR="73152" marT="27432" marB="27432" anchor="ctr">
                    <a:solidFill>
                      <a:srgbClr val="FFFFFF"/>
                    </a:solidFill>
                  </a:tcPr>
                </a:tc>
                <a:tc>
                  <a:txBody>
                    <a:bodyPr/>
                    <a:lstStyle/>
                    <a:p>
                      <a:r>
                        <a:rPr lang="vi-VN" sz="1200" b="0" i="0">
                          <a:solidFill>
                            <a:srgbClr val="1F2937"/>
                          </a:solidFill>
                          <a:latin typeface="Arial"/>
                        </a:rPr>
                        <a:t>64</a:t>
                      </a:r>
                    </a:p>
                  </a:txBody>
                  <a:tcPr marL="73152" marR="73152" marT="27432" marB="27432" anchor="ctr">
                    <a:solidFill>
                      <a:srgbClr val="FFFFFF"/>
                    </a:solidFill>
                  </a:tcPr>
                </a:tc>
                <a:extLst>
                  <a:ext uri="{0D108BD9-81ED-4DB2-BD59-A6C34878D82A}">
                    <a16:rowId xmlns:a16="http://schemas.microsoft.com/office/drawing/2014/main" val="10001"/>
                  </a:ext>
                </a:extLst>
              </a:tr>
              <a:tr h="429768">
                <a:tc>
                  <a:txBody>
                    <a:bodyPr/>
                    <a:lstStyle/>
                    <a:p>
                      <a:r>
                        <a:rPr lang="vi-VN" sz="1200" b="1" i="0">
                          <a:solidFill>
                            <a:srgbClr val="1F2937"/>
                          </a:solidFill>
                          <a:latin typeface="Arial"/>
                        </a:rPr>
                        <a:t>Giá giả 123.456.789 → loại</a:t>
                      </a:r>
                    </a:p>
                  </a:txBody>
                  <a:tcPr marL="73152" marR="73152" marT="27432" marB="27432" anchor="ctr">
                    <a:solidFill>
                      <a:srgbClr val="EAF2FA"/>
                    </a:solidFill>
                  </a:tcPr>
                </a:tc>
                <a:tc>
                  <a:txBody>
                    <a:bodyPr/>
                    <a:lstStyle/>
                    <a:p>
                      <a:r>
                        <a:rPr lang="vi-VN" sz="1200" b="0" i="0">
                          <a:solidFill>
                            <a:srgbClr val="1F2937"/>
                          </a:solidFill>
                          <a:latin typeface="Arial"/>
                        </a:rPr>
                        <a:t>14</a:t>
                      </a:r>
                    </a:p>
                  </a:txBody>
                  <a:tcPr marL="73152" marR="73152" marT="27432" marB="27432" anchor="ctr">
                    <a:solidFill>
                      <a:srgbClr val="EAF2FA"/>
                    </a:solidFill>
                  </a:tcPr>
                </a:tc>
                <a:extLst>
                  <a:ext uri="{0D108BD9-81ED-4DB2-BD59-A6C34878D82A}">
                    <a16:rowId xmlns:a16="http://schemas.microsoft.com/office/drawing/2014/main" val="10002"/>
                  </a:ext>
                </a:extLst>
              </a:tr>
              <a:tr h="429768">
                <a:tc>
                  <a:txBody>
                    <a:bodyPr/>
                    <a:lstStyle/>
                    <a:p>
                      <a:r>
                        <a:rPr lang="vi-VN" sz="1200" b="1" i="0">
                          <a:solidFill>
                            <a:srgbClr val="1F2937"/>
                          </a:solidFill>
                          <a:latin typeface="Arial"/>
                        </a:rPr>
                        <a:t>"Mới" mà &gt; 3 năm tuổi → "Đã sử dụng"</a:t>
                      </a:r>
                    </a:p>
                  </a:txBody>
                  <a:tcPr marL="73152" marR="73152" marT="27432" marB="27432" anchor="ctr">
                    <a:solidFill>
                      <a:srgbClr val="FFFFFF"/>
                    </a:solidFill>
                  </a:tcPr>
                </a:tc>
                <a:tc>
                  <a:txBody>
                    <a:bodyPr/>
                    <a:lstStyle/>
                    <a:p>
                      <a:r>
                        <a:rPr lang="vi-VN" sz="1200" b="0" i="0">
                          <a:solidFill>
                            <a:srgbClr val="1F2937"/>
                          </a:solidFill>
                          <a:latin typeface="Arial"/>
                        </a:rPr>
                        <a:t>6 (sửa)</a:t>
                      </a:r>
                    </a:p>
                  </a:txBody>
                  <a:tcPr marL="73152" marR="73152" marT="27432" marB="27432" anchor="ctr">
                    <a:solidFill>
                      <a:srgbClr val="FFFFFF"/>
                    </a:solidFill>
                  </a:tcPr>
                </a:tc>
                <a:extLst>
                  <a:ext uri="{0D108BD9-81ED-4DB2-BD59-A6C34878D82A}">
                    <a16:rowId xmlns:a16="http://schemas.microsoft.com/office/drawing/2014/main" val="10003"/>
                  </a:ext>
                </a:extLst>
              </a:tr>
              <a:tr h="429768">
                <a:tc>
                  <a:txBody>
                    <a:bodyPr/>
                    <a:lstStyle/>
                    <a:p>
                      <a:r>
                        <a:rPr lang="vi-VN" sz="1200" b="1" i="0">
                          <a:solidFill>
                            <a:srgbClr val="1F2937"/>
                          </a:solidFill>
                          <a:latin typeface="Arial"/>
                        </a:rPr>
                        <a:t>Km &gt; 500.000 → thiếu</a:t>
                      </a:r>
                    </a:p>
                  </a:txBody>
                  <a:tcPr marL="73152" marR="73152" marT="27432" marB="27432" anchor="ctr">
                    <a:solidFill>
                      <a:srgbClr val="EAF2FA"/>
                    </a:solidFill>
                  </a:tcPr>
                </a:tc>
                <a:tc>
                  <a:txBody>
                    <a:bodyPr/>
                    <a:lstStyle/>
                    <a:p>
                      <a:r>
                        <a:rPr lang="vi-VN" sz="1200" b="0" i="0">
                          <a:solidFill>
                            <a:srgbClr val="1F2937"/>
                          </a:solidFill>
                          <a:latin typeface="Arial"/>
                        </a:rPr>
                        <a:t>106</a:t>
                      </a:r>
                    </a:p>
                  </a:txBody>
                  <a:tcPr marL="73152" marR="73152" marT="27432" marB="27432" anchor="ctr">
                    <a:solidFill>
                      <a:srgbClr val="EAF2FA"/>
                    </a:solidFill>
                  </a:tcPr>
                </a:tc>
                <a:extLst>
                  <a:ext uri="{0D108BD9-81ED-4DB2-BD59-A6C34878D82A}">
                    <a16:rowId xmlns:a16="http://schemas.microsoft.com/office/drawing/2014/main" val="10004"/>
                  </a:ext>
                </a:extLst>
              </a:tr>
              <a:tr h="429768">
                <a:tc>
                  <a:txBody>
                    <a:bodyPr/>
                    <a:lstStyle/>
                    <a:p>
                      <a:r>
                        <a:rPr lang="vi-VN" sz="1200" b="1" i="0">
                          <a:solidFill>
                            <a:srgbClr val="1F2937"/>
                          </a:solidFill>
                          <a:latin typeface="Arial"/>
                        </a:rPr>
                        <a:t>Xe ≥ 2 tuổi, &lt; 100 km → thiếu</a:t>
                      </a:r>
                    </a:p>
                  </a:txBody>
                  <a:tcPr marL="73152" marR="73152" marT="27432" marB="27432" anchor="ctr">
                    <a:solidFill>
                      <a:srgbClr val="FFFFFF"/>
                    </a:solidFill>
                  </a:tcPr>
                </a:tc>
                <a:tc>
                  <a:txBody>
                    <a:bodyPr/>
                    <a:lstStyle/>
                    <a:p>
                      <a:r>
                        <a:rPr lang="vi-VN" sz="1200" b="0" i="0">
                          <a:solidFill>
                            <a:srgbClr val="1F2937"/>
                          </a:solidFill>
                          <a:latin typeface="Arial"/>
                        </a:rPr>
                        <a:t>447</a:t>
                      </a:r>
                    </a:p>
                  </a:txBody>
                  <a:tcPr marL="73152" marR="73152" marT="27432" marB="27432" anchor="ctr">
                    <a:solidFill>
                      <a:srgbClr val="FFFFFF"/>
                    </a:solidFill>
                  </a:tcPr>
                </a:tc>
                <a:extLst>
                  <a:ext uri="{0D108BD9-81ED-4DB2-BD59-A6C34878D82A}">
                    <a16:rowId xmlns:a16="http://schemas.microsoft.com/office/drawing/2014/main" val="10005"/>
                  </a:ext>
                </a:extLst>
              </a:tr>
              <a:tr h="429768">
                <a:tc>
                  <a:txBody>
                    <a:bodyPr/>
                    <a:lstStyle/>
                    <a:p>
                      <a:r>
                        <a:rPr lang="vi-VN" sz="1200" b="1" i="0">
                          <a:solidFill>
                            <a:srgbClr val="1F2937"/>
                          </a:solidFill>
                          <a:latin typeface="Arial"/>
                        </a:rPr>
                        <a:t>&gt; 100.000 km/năm → thiếu</a:t>
                      </a:r>
                    </a:p>
                  </a:txBody>
                  <a:tcPr marL="73152" marR="73152" marT="27432" marB="27432" anchor="ctr">
                    <a:solidFill>
                      <a:srgbClr val="EAF2FA"/>
                    </a:solidFill>
                  </a:tcPr>
                </a:tc>
                <a:tc>
                  <a:txBody>
                    <a:bodyPr/>
                    <a:lstStyle/>
                    <a:p>
                      <a:r>
                        <a:rPr lang="vi-VN" sz="1200" b="0" i="0">
                          <a:solidFill>
                            <a:srgbClr val="1F2937"/>
                          </a:solidFill>
                          <a:latin typeface="Arial"/>
                        </a:rPr>
                        <a:t>25</a:t>
                      </a:r>
                    </a:p>
                  </a:txBody>
                  <a:tcPr marL="73152" marR="73152" marT="27432" marB="27432" anchor="ctr">
                    <a:solidFill>
                      <a:srgbClr val="EAF2FA"/>
                    </a:solidFill>
                  </a:tcPr>
                </a:tc>
                <a:extLst>
                  <a:ext uri="{0D108BD9-81ED-4DB2-BD59-A6C34878D82A}">
                    <a16:rowId xmlns:a16="http://schemas.microsoft.com/office/drawing/2014/main" val="10006"/>
                  </a:ext>
                </a:extLst>
              </a:tr>
            </a:tbl>
          </a:graphicData>
        </a:graphic>
      </p:graphicFrame>
      <p:sp>
        <p:nvSpPr>
          <p:cNvPr id="6" name="Rounded Rectangle 5"/>
          <p:cNvSpPr/>
          <p:nvPr/>
        </p:nvSpPr>
        <p:spPr>
          <a:xfrm>
            <a:off x="548640" y="4846320"/>
            <a:ext cx="11064240" cy="64008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77240" y="4873752"/>
            <a:ext cx="10607040" cy="594360"/>
          </a:xfrm>
          <a:prstGeom prst="rect">
            <a:avLst/>
          </a:prstGeom>
          <a:noFill/>
        </p:spPr>
        <p:txBody>
          <a:bodyPr wrap="square" lIns="45720" tIns="27432" rIns="45720" bIns="27432" anchor="ctr">
            <a:spAutoFit/>
          </a:bodyPr>
          <a:lstStyle/>
          <a:p>
            <a:pPr algn="l">
              <a:lnSpc>
                <a:spcPct val="110000"/>
              </a:lnSpc>
              <a:spcAft>
                <a:spcPts val="600"/>
              </a:spcAft>
            </a:pPr>
            <a:r>
              <a:rPr lang="vi-VN" sz="1400" b="1" i="0">
                <a:solidFill>
                  <a:srgbClr val="075289"/>
                </a:solidFill>
                <a:latin typeface="Arial"/>
              </a:rPr>
              <a:t>Giữ lại: </a:t>
            </a:r>
            <a:r>
              <a:rPr lang="vi-VN" sz="1400" b="0" i="0">
                <a:solidFill>
                  <a:srgbClr val="1F2937"/>
                </a:solidFill>
                <a:latin typeface="Arial"/>
              </a:rPr>
              <a:t>giá 399.999.999 (định giá tâm lý), 888.888.888 (số đẹp); xe sang thật dù là ngoại lệ thống kê, xử lý bằng log giá.</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3 · TIỀN XỬ LÝ VÀ XỬ LÝ DỮ LIỆU</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Điền thiếu: hằng số ở tiền xử lý, thống kê học từ train</a:t>
            </a:r>
          </a:p>
        </p:txBody>
      </p:sp>
      <p:pic>
        <p:nvPicPr>
          <p:cNvPr id="4" name="Picture 3" descr="p02_thieu_va_cach_xu_ly.png"/>
          <p:cNvPicPr>
            <a:picLocks noChangeAspect="1"/>
          </p:cNvPicPr>
          <p:nvPr/>
        </p:nvPicPr>
        <p:blipFill>
          <a:blip r:embed="rId3"/>
          <a:stretch>
            <a:fillRect/>
          </a:stretch>
        </p:blipFill>
        <p:spPr>
          <a:xfrm>
            <a:off x="642558" y="1325880"/>
            <a:ext cx="6944483" cy="3154680"/>
          </a:xfrm>
          <a:prstGeom prst="rect">
            <a:avLst/>
          </a:prstGeom>
        </p:spPr>
      </p:pic>
      <p:graphicFrame>
        <p:nvGraphicFramePr>
          <p:cNvPr id="5" name="Table 4"/>
          <p:cNvGraphicFramePr>
            <a:graphicFrameLocks noGrp="1"/>
          </p:cNvGraphicFramePr>
          <p:nvPr/>
        </p:nvGraphicFramePr>
        <p:xfrm>
          <a:off x="7955279" y="1417320"/>
          <a:ext cx="3749040" cy="2468880"/>
        </p:xfrm>
        <a:graphic>
          <a:graphicData uri="http://schemas.openxmlformats.org/drawingml/2006/table">
            <a:tbl>
              <a:tblPr>
                <a:tableStyleId>{5940675A-B579-460E-94D1-54222C63F5DA}</a:tableStyleId>
              </a:tblPr>
              <a:tblGrid>
                <a:gridCol w="118872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11480">
                <a:tc>
                  <a:txBody>
                    <a:bodyPr/>
                    <a:lstStyle/>
                    <a:p>
                      <a:r>
                        <a:rPr lang="vi-VN" sz="1100" b="1" i="0">
                          <a:solidFill>
                            <a:srgbClr val="FFFFFF"/>
                          </a:solidFill>
                          <a:latin typeface="Arial"/>
                        </a:rPr>
                        <a:t>Cột</a:t>
                      </a:r>
                    </a:p>
                  </a:txBody>
                  <a:tcPr marL="73152" marR="73152" marT="27432" marB="27432" anchor="ctr">
                    <a:solidFill>
                      <a:srgbClr val="075289"/>
                    </a:solidFill>
                  </a:tcPr>
                </a:tc>
                <a:tc>
                  <a:txBody>
                    <a:bodyPr/>
                    <a:lstStyle/>
                    <a:p>
                      <a:r>
                        <a:rPr lang="vi-VN" sz="1100" b="1" i="0">
                          <a:solidFill>
                            <a:srgbClr val="FFFFFF"/>
                          </a:solidFill>
                          <a:latin typeface="Arial"/>
                        </a:rPr>
                        <a:t>Cách điền</a:t>
                      </a:r>
                    </a:p>
                  </a:txBody>
                  <a:tcPr marL="73152" marR="73152" marT="27432" marB="27432" anchor="ctr">
                    <a:solidFill>
                      <a:srgbClr val="075289"/>
                    </a:solidFill>
                  </a:tcPr>
                </a:tc>
                <a:tc>
                  <a:txBody>
                    <a:bodyPr/>
                    <a:lstStyle/>
                    <a:p>
                      <a:r>
                        <a:rPr lang="vi-VN" sz="1100" b="1" i="0">
                          <a:solidFill>
                            <a:srgbClr val="FFFFFF"/>
                          </a:solidFill>
                          <a:latin typeface="Arial"/>
                        </a:rPr>
                        <a:t>Ở đâu</a:t>
                      </a:r>
                    </a:p>
                  </a:txBody>
                  <a:tcPr marL="73152" marR="73152" marT="27432" marB="27432" anchor="ctr">
                    <a:solidFill>
                      <a:srgbClr val="075289"/>
                    </a:solidFill>
                  </a:tcPr>
                </a:tc>
                <a:extLst>
                  <a:ext uri="{0D108BD9-81ED-4DB2-BD59-A6C34878D82A}">
                    <a16:rowId xmlns:a16="http://schemas.microsoft.com/office/drawing/2014/main" val="10000"/>
                  </a:ext>
                </a:extLst>
              </a:tr>
              <a:tr h="411480">
                <a:tc>
                  <a:txBody>
                    <a:bodyPr/>
                    <a:lstStyle/>
                    <a:p>
                      <a:r>
                        <a:rPr lang="vi-VN" sz="1100" b="1" i="0">
                          <a:solidFill>
                            <a:srgbClr val="1F2937"/>
                          </a:solidFill>
                          <a:latin typeface="Arial"/>
                        </a:rPr>
                        <a:t>Số km xe mới</a:t>
                      </a:r>
                    </a:p>
                  </a:txBody>
                  <a:tcPr marL="73152" marR="73152" marT="27432" marB="27432" anchor="ctr">
                    <a:solidFill>
                      <a:srgbClr val="FFFFFF"/>
                    </a:solidFill>
                  </a:tcPr>
                </a:tc>
                <a:tc>
                  <a:txBody>
                    <a:bodyPr/>
                    <a:lstStyle/>
                    <a:p>
                      <a:r>
                        <a:rPr lang="vi-VN" sz="1100" b="0" i="0">
                          <a:solidFill>
                            <a:srgbClr val="1F2937"/>
                          </a:solidFill>
                          <a:latin typeface="Arial"/>
                        </a:rPr>
                        <a:t>0 km</a:t>
                      </a:r>
                    </a:p>
                  </a:txBody>
                  <a:tcPr marL="73152" marR="73152" marT="27432" marB="27432" anchor="ctr">
                    <a:solidFill>
                      <a:srgbClr val="FFFFFF"/>
                    </a:solidFill>
                  </a:tcPr>
                </a:tc>
                <a:tc>
                  <a:txBody>
                    <a:bodyPr/>
                    <a:lstStyle/>
                    <a:p>
                      <a:r>
                        <a:rPr lang="vi-VN" sz="1100" b="0" i="0">
                          <a:solidFill>
                            <a:srgbClr val="1F2937"/>
                          </a:solidFill>
                          <a:latin typeface="Arial"/>
                        </a:rPr>
                        <a:t>preprocess</a:t>
                      </a:r>
                    </a:p>
                  </a:txBody>
                  <a:tcPr marL="73152" marR="73152" marT="27432" marB="27432" anchor="ctr">
                    <a:solidFill>
                      <a:srgbClr val="FFFFFF"/>
                    </a:solidFill>
                  </a:tcPr>
                </a:tc>
                <a:extLst>
                  <a:ext uri="{0D108BD9-81ED-4DB2-BD59-A6C34878D82A}">
                    <a16:rowId xmlns:a16="http://schemas.microsoft.com/office/drawing/2014/main" val="10001"/>
                  </a:ext>
                </a:extLst>
              </a:tr>
              <a:tr h="411480">
                <a:tc>
                  <a:txBody>
                    <a:bodyPr/>
                    <a:lstStyle/>
                    <a:p>
                      <a:r>
                        <a:rPr lang="vi-VN" sz="1100" b="1" i="0">
                          <a:solidFill>
                            <a:srgbClr val="1F2937"/>
                          </a:solidFill>
                          <a:latin typeface="Arial"/>
                        </a:rPr>
                        <a:t>Xuất xứ</a:t>
                      </a:r>
                    </a:p>
                  </a:txBody>
                  <a:tcPr marL="73152" marR="73152" marT="27432" marB="27432" anchor="ctr">
                    <a:solidFill>
                      <a:srgbClr val="EAF2FA"/>
                    </a:solidFill>
                  </a:tcPr>
                </a:tc>
                <a:tc>
                  <a:txBody>
                    <a:bodyPr/>
                    <a:lstStyle/>
                    <a:p>
                      <a:r>
                        <a:rPr lang="vi-VN" sz="1100" b="0" i="0">
                          <a:solidFill>
                            <a:srgbClr val="1F2937"/>
                          </a:solidFill>
                          <a:latin typeface="Arial"/>
                        </a:rPr>
                        <a:t>"Không rõ"</a:t>
                      </a:r>
                    </a:p>
                  </a:txBody>
                  <a:tcPr marL="73152" marR="73152" marT="27432" marB="27432" anchor="ctr">
                    <a:solidFill>
                      <a:srgbClr val="EAF2FA"/>
                    </a:solidFill>
                  </a:tcPr>
                </a:tc>
                <a:tc>
                  <a:txBody>
                    <a:bodyPr/>
                    <a:lstStyle/>
                    <a:p>
                      <a:r>
                        <a:rPr lang="vi-VN" sz="1100" b="0" i="0">
                          <a:solidFill>
                            <a:srgbClr val="1F2937"/>
                          </a:solidFill>
                          <a:latin typeface="Arial"/>
                        </a:rPr>
                        <a:t>preprocess</a:t>
                      </a:r>
                    </a:p>
                  </a:txBody>
                  <a:tcPr marL="73152" marR="73152" marT="27432" marB="27432" anchor="ctr">
                    <a:solidFill>
                      <a:srgbClr val="EAF2FA"/>
                    </a:solidFill>
                  </a:tcPr>
                </a:tc>
                <a:extLst>
                  <a:ext uri="{0D108BD9-81ED-4DB2-BD59-A6C34878D82A}">
                    <a16:rowId xmlns:a16="http://schemas.microsoft.com/office/drawing/2014/main" val="10002"/>
                  </a:ext>
                </a:extLst>
              </a:tr>
              <a:tr h="411480">
                <a:tc>
                  <a:txBody>
                    <a:bodyPr/>
                    <a:lstStyle/>
                    <a:p>
                      <a:r>
                        <a:rPr lang="vi-VN" sz="1100" b="1" i="0">
                          <a:solidFill>
                            <a:srgbClr val="1F2937"/>
                          </a:solidFill>
                          <a:latin typeface="Arial"/>
                        </a:rPr>
                        <a:t>Số km xe cũ</a:t>
                      </a:r>
                    </a:p>
                  </a:txBody>
                  <a:tcPr marL="73152" marR="73152" marT="27432" marB="27432" anchor="ctr">
                    <a:solidFill>
                      <a:srgbClr val="FFFFFF"/>
                    </a:solidFill>
                  </a:tcPr>
                </a:tc>
                <a:tc>
                  <a:txBody>
                    <a:bodyPr/>
                    <a:lstStyle/>
                    <a:p>
                      <a:r>
                        <a:rPr lang="vi-VN" sz="1100" b="0" i="0">
                          <a:solidFill>
                            <a:srgbClr val="1F2937"/>
                          </a:solidFill>
                          <a:latin typeface="Arial"/>
                        </a:rPr>
                        <a:t>trung vị đời xe + cờ</a:t>
                      </a:r>
                    </a:p>
                  </a:txBody>
                  <a:tcPr marL="73152" marR="73152" marT="27432" marB="27432" anchor="ctr">
                    <a:solidFill>
                      <a:srgbClr val="FFFFFF"/>
                    </a:solidFill>
                  </a:tcPr>
                </a:tc>
                <a:tc>
                  <a:txBody>
                    <a:bodyPr/>
                    <a:lstStyle/>
                    <a:p>
                      <a:r>
                        <a:rPr lang="vi-VN" sz="1100" b="0" i="0">
                          <a:solidFill>
                            <a:srgbClr val="1F2937"/>
                          </a:solidFill>
                          <a:latin typeface="Arial"/>
                        </a:rPr>
                        <a:t>process (train)</a:t>
                      </a:r>
                    </a:p>
                  </a:txBody>
                  <a:tcPr marL="73152" marR="73152" marT="27432" marB="27432" anchor="ctr">
                    <a:solidFill>
                      <a:srgbClr val="FFFFFF"/>
                    </a:solidFill>
                  </a:tcPr>
                </a:tc>
                <a:extLst>
                  <a:ext uri="{0D108BD9-81ED-4DB2-BD59-A6C34878D82A}">
                    <a16:rowId xmlns:a16="http://schemas.microsoft.com/office/drawing/2014/main" val="10003"/>
                  </a:ext>
                </a:extLst>
              </a:tr>
              <a:tr h="411480">
                <a:tc>
                  <a:txBody>
                    <a:bodyPr/>
                    <a:lstStyle/>
                    <a:p>
                      <a:r>
                        <a:rPr lang="vi-VN" sz="1100" b="1" i="0">
                          <a:solidFill>
                            <a:srgbClr val="1F2937"/>
                          </a:solidFill>
                          <a:latin typeface="Arial"/>
                        </a:rPr>
                        <a:t>Kiểu dáng</a:t>
                      </a:r>
                    </a:p>
                  </a:txBody>
                  <a:tcPr marL="73152" marR="73152" marT="27432" marB="27432" anchor="ctr">
                    <a:solidFill>
                      <a:srgbClr val="EAF2FA"/>
                    </a:solidFill>
                  </a:tcPr>
                </a:tc>
                <a:tc>
                  <a:txBody>
                    <a:bodyPr/>
                    <a:lstStyle/>
                    <a:p>
                      <a:r>
                        <a:rPr lang="vi-VN" sz="1100" b="0" i="0">
                          <a:solidFill>
                            <a:srgbClr val="1F2937"/>
                          </a:solidFill>
                          <a:latin typeface="Arial"/>
                        </a:rPr>
                        <a:t>mode dòng xe</a:t>
                      </a:r>
                    </a:p>
                  </a:txBody>
                  <a:tcPr marL="73152" marR="73152" marT="27432" marB="27432" anchor="ctr">
                    <a:solidFill>
                      <a:srgbClr val="EAF2FA"/>
                    </a:solidFill>
                  </a:tcPr>
                </a:tc>
                <a:tc>
                  <a:txBody>
                    <a:bodyPr/>
                    <a:lstStyle/>
                    <a:p>
                      <a:r>
                        <a:rPr lang="vi-VN" sz="1100" b="0" i="0">
                          <a:solidFill>
                            <a:srgbClr val="1F2937"/>
                          </a:solidFill>
                          <a:latin typeface="Arial"/>
                        </a:rPr>
                        <a:t>process (train)</a:t>
                      </a:r>
                    </a:p>
                  </a:txBody>
                  <a:tcPr marL="73152" marR="73152" marT="27432" marB="27432" anchor="ctr">
                    <a:solidFill>
                      <a:srgbClr val="EAF2FA"/>
                    </a:solidFill>
                  </a:tcPr>
                </a:tc>
                <a:extLst>
                  <a:ext uri="{0D108BD9-81ED-4DB2-BD59-A6C34878D82A}">
                    <a16:rowId xmlns:a16="http://schemas.microsoft.com/office/drawing/2014/main" val="10004"/>
                  </a:ext>
                </a:extLst>
              </a:tr>
              <a:tr h="411480">
                <a:tc>
                  <a:txBody>
                    <a:bodyPr/>
                    <a:lstStyle/>
                    <a:p>
                      <a:r>
                        <a:rPr lang="vi-VN" sz="1100" b="1" i="0">
                          <a:solidFill>
                            <a:srgbClr val="1F2937"/>
                          </a:solidFill>
                          <a:latin typeface="Arial"/>
                        </a:rPr>
                        <a:t>Số chỗ</a:t>
                      </a:r>
                    </a:p>
                  </a:txBody>
                  <a:tcPr marL="73152" marR="73152" marT="27432" marB="27432" anchor="ctr">
                    <a:solidFill>
                      <a:srgbClr val="FFFFFF"/>
                    </a:solidFill>
                  </a:tcPr>
                </a:tc>
                <a:tc>
                  <a:txBody>
                    <a:bodyPr/>
                    <a:lstStyle/>
                    <a:p>
                      <a:r>
                        <a:rPr lang="vi-VN" sz="1100" b="0" i="0">
                          <a:solidFill>
                            <a:srgbClr val="1F2937"/>
                          </a:solidFill>
                          <a:latin typeface="Arial"/>
                        </a:rPr>
                        <a:t>mode dòng → hãng</a:t>
                      </a:r>
                    </a:p>
                  </a:txBody>
                  <a:tcPr marL="73152" marR="73152" marT="27432" marB="27432" anchor="ctr">
                    <a:solidFill>
                      <a:srgbClr val="FFFFFF"/>
                    </a:solidFill>
                  </a:tcPr>
                </a:tc>
                <a:tc>
                  <a:txBody>
                    <a:bodyPr/>
                    <a:lstStyle/>
                    <a:p>
                      <a:r>
                        <a:rPr lang="vi-VN" sz="1100" b="0" i="0">
                          <a:solidFill>
                            <a:srgbClr val="1F2937"/>
                          </a:solidFill>
                          <a:latin typeface="Arial"/>
                        </a:rPr>
                        <a:t>process (train)</a:t>
                      </a:r>
                    </a:p>
                  </a:txBody>
                  <a:tcPr marL="73152" marR="73152"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6" name="Rounded Rectangle 5"/>
          <p:cNvSpPr/>
          <p:nvPr/>
        </p:nvSpPr>
        <p:spPr>
          <a:xfrm>
            <a:off x="548640" y="4572000"/>
            <a:ext cx="3474720" cy="10058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31520" y="4645152"/>
            <a:ext cx="3108960" cy="365760"/>
          </a:xfrm>
          <a:prstGeom prst="rect">
            <a:avLst/>
          </a:prstGeom>
          <a:noFill/>
        </p:spPr>
        <p:txBody>
          <a:bodyPr wrap="square" lIns="45720" tIns="27432" rIns="45720" bIns="27432" anchor="t">
            <a:spAutoFit/>
          </a:bodyPr>
          <a:lstStyle/>
          <a:p>
            <a:pPr algn="l">
              <a:lnSpc>
                <a:spcPct val="110000"/>
              </a:lnSpc>
              <a:spcAft>
                <a:spcPts val="600"/>
              </a:spcAft>
            </a:pPr>
            <a:r>
              <a:rPr lang="vi-VN" sz="1400" b="1" i="0">
                <a:solidFill>
                  <a:srgbClr val="075289"/>
                </a:solidFill>
                <a:latin typeface="Arial"/>
              </a:rPr>
              <a:t>Thiếu có cấu trúc</a:t>
            </a:r>
          </a:p>
        </p:txBody>
      </p:sp>
      <p:sp>
        <p:nvSpPr>
          <p:cNvPr id="8" name="TextBox 7"/>
          <p:cNvSpPr txBox="1"/>
          <p:nvPr/>
        </p:nvSpPr>
        <p:spPr>
          <a:xfrm>
            <a:off x="731520" y="5029200"/>
            <a:ext cx="3108960" cy="502920"/>
          </a:xfrm>
          <a:prstGeom prst="rect">
            <a:avLst/>
          </a:prstGeom>
          <a:noFill/>
        </p:spPr>
        <p:txBody>
          <a:bodyPr wrap="square" lIns="45720" tIns="27432" rIns="45720" bIns="27432" anchor="t">
            <a:spAutoFit/>
          </a:bodyPr>
          <a:lstStyle/>
          <a:p>
            <a:pPr algn="l">
              <a:lnSpc>
                <a:spcPct val="110000"/>
              </a:lnSpc>
              <a:spcAft>
                <a:spcPts val="400"/>
              </a:spcAft>
            </a:pPr>
            <a:r>
              <a:rPr lang="vi-VN" sz="1200" b="0" i="0">
                <a:solidFill>
                  <a:srgbClr val="1F2937"/>
                </a:solidFill>
                <a:latin typeface="Arial"/>
              </a:rPr>
              <a:t>Xe mới không có ô km → điền 0; điền trung vị sẽ biến xe mới thành xe 70.000 km</a:t>
            </a:r>
          </a:p>
        </p:txBody>
      </p:sp>
      <p:sp>
        <p:nvSpPr>
          <p:cNvPr id="9" name="Rounded Rectangle 8"/>
          <p:cNvSpPr/>
          <p:nvPr/>
        </p:nvSpPr>
        <p:spPr>
          <a:xfrm>
            <a:off x="4297679" y="4572000"/>
            <a:ext cx="3474720" cy="10058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4480559" y="4645152"/>
            <a:ext cx="3108960" cy="365760"/>
          </a:xfrm>
          <a:prstGeom prst="rect">
            <a:avLst/>
          </a:prstGeom>
          <a:noFill/>
        </p:spPr>
        <p:txBody>
          <a:bodyPr wrap="square" lIns="45720" tIns="27432" rIns="45720" bIns="27432" anchor="t">
            <a:spAutoFit/>
          </a:bodyPr>
          <a:lstStyle/>
          <a:p>
            <a:pPr algn="l">
              <a:lnSpc>
                <a:spcPct val="110000"/>
              </a:lnSpc>
              <a:spcAft>
                <a:spcPts val="600"/>
              </a:spcAft>
            </a:pPr>
            <a:r>
              <a:rPr lang="vi-VN" sz="1400" b="1" i="0">
                <a:solidFill>
                  <a:srgbClr val="075289"/>
                </a:solidFill>
                <a:latin typeface="Arial"/>
              </a:rPr>
              <a:t>Cờ mileage_missing</a:t>
            </a:r>
          </a:p>
        </p:txBody>
      </p:sp>
      <p:sp>
        <p:nvSpPr>
          <p:cNvPr id="11" name="TextBox 10"/>
          <p:cNvSpPr txBox="1"/>
          <p:nvPr/>
        </p:nvSpPr>
        <p:spPr>
          <a:xfrm>
            <a:off x="4480559" y="5029200"/>
            <a:ext cx="3108960" cy="502920"/>
          </a:xfrm>
          <a:prstGeom prst="rect">
            <a:avLst/>
          </a:prstGeom>
          <a:noFill/>
        </p:spPr>
        <p:txBody>
          <a:bodyPr wrap="square" lIns="45720" tIns="27432" rIns="45720" bIns="27432" anchor="t">
            <a:spAutoFit/>
          </a:bodyPr>
          <a:lstStyle/>
          <a:p>
            <a:pPr algn="l">
              <a:lnSpc>
                <a:spcPct val="110000"/>
              </a:lnSpc>
              <a:spcAft>
                <a:spcPts val="400"/>
              </a:spcAft>
            </a:pPr>
            <a:r>
              <a:rPr lang="vi-VN" sz="1200" b="0" i="0">
                <a:solidFill>
                  <a:srgbClr val="1F2937"/>
                </a:solidFill>
                <a:latin typeface="Arial"/>
              </a:rPr>
              <a:t>653 xe cũ ở train, 161 ở test được điền km → mô hình biết đó là ước lượng</a:t>
            </a:r>
          </a:p>
        </p:txBody>
      </p:sp>
      <p:sp>
        <p:nvSpPr>
          <p:cNvPr id="12" name="Rounded Rectangle 11"/>
          <p:cNvSpPr/>
          <p:nvPr/>
        </p:nvSpPr>
        <p:spPr>
          <a:xfrm>
            <a:off x="8046719" y="4572000"/>
            <a:ext cx="3474720" cy="10058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229599" y="4645152"/>
            <a:ext cx="3108960" cy="365760"/>
          </a:xfrm>
          <a:prstGeom prst="rect">
            <a:avLst/>
          </a:prstGeom>
          <a:noFill/>
        </p:spPr>
        <p:txBody>
          <a:bodyPr wrap="square" lIns="45720" tIns="27432" rIns="45720" bIns="27432" anchor="t">
            <a:spAutoFit/>
          </a:bodyPr>
          <a:lstStyle/>
          <a:p>
            <a:pPr algn="l">
              <a:lnSpc>
                <a:spcPct val="110000"/>
              </a:lnSpc>
              <a:spcAft>
                <a:spcPts val="600"/>
              </a:spcAft>
            </a:pPr>
            <a:r>
              <a:rPr lang="vi-VN" sz="1400" b="1" i="0">
                <a:solidFill>
                  <a:srgbClr val="075289"/>
                </a:solidFill>
                <a:latin typeface="Arial"/>
              </a:rPr>
              <a:t>Không đoán bừa</a:t>
            </a:r>
          </a:p>
        </p:txBody>
      </p:sp>
      <p:sp>
        <p:nvSpPr>
          <p:cNvPr id="14" name="TextBox 13"/>
          <p:cNvSpPr txBox="1"/>
          <p:nvPr/>
        </p:nvSpPr>
        <p:spPr>
          <a:xfrm>
            <a:off x="8229599" y="5029200"/>
            <a:ext cx="3108960" cy="502920"/>
          </a:xfrm>
          <a:prstGeom prst="rect">
            <a:avLst/>
          </a:prstGeom>
          <a:noFill/>
        </p:spPr>
        <p:txBody>
          <a:bodyPr wrap="square" lIns="45720" tIns="27432" rIns="45720" bIns="27432" anchor="t">
            <a:spAutoFit/>
          </a:bodyPr>
          <a:lstStyle/>
          <a:p>
            <a:pPr algn="l">
              <a:lnSpc>
                <a:spcPct val="110000"/>
              </a:lnSpc>
              <a:spcAft>
                <a:spcPts val="400"/>
              </a:spcAft>
            </a:pPr>
            <a:r>
              <a:rPr lang="vi-VN" sz="1200" b="0" i="0">
                <a:solidFill>
                  <a:srgbClr val="1F2937"/>
                </a:solidFill>
                <a:latin typeface="Arial"/>
              </a:rPr>
              <a:t>Kiểu dáng không suy ra được từ dòng xe → "Không rõ", không lùi về hãng</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3 · TIỀN XỬ LÝ VÀ XỬ LÝ DỮ LIỆU</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Chia train/test phân tầng trước khi học bất kỳ tham số nào</a:t>
            </a:r>
          </a:p>
        </p:txBody>
      </p:sp>
      <p:pic>
        <p:nvPicPr>
          <p:cNvPr id="4" name="Picture 3" descr="m01_chia_train_test.png"/>
          <p:cNvPicPr>
            <a:picLocks noChangeAspect="1"/>
          </p:cNvPicPr>
          <p:nvPr/>
        </p:nvPicPr>
        <p:blipFill>
          <a:blip r:embed="rId3"/>
          <a:stretch>
            <a:fillRect/>
          </a:stretch>
        </p:blipFill>
        <p:spPr>
          <a:xfrm>
            <a:off x="663532" y="1371600"/>
            <a:ext cx="5896695" cy="3200400"/>
          </a:xfrm>
          <a:prstGeom prst="rect">
            <a:avLst/>
          </a:prstGeom>
        </p:spPr>
      </p:pic>
      <p:sp>
        <p:nvSpPr>
          <p:cNvPr id="5" name="TextBox 4"/>
          <p:cNvSpPr txBox="1"/>
          <p:nvPr/>
        </p:nvSpPr>
        <p:spPr>
          <a:xfrm>
            <a:off x="548640" y="4663440"/>
            <a:ext cx="6126480" cy="365760"/>
          </a:xfrm>
          <a:prstGeom prst="rect">
            <a:avLst/>
          </a:prstGeom>
          <a:noFill/>
        </p:spPr>
        <p:txBody>
          <a:bodyPr wrap="square" lIns="45720" tIns="27432" rIns="45720" bIns="27432" anchor="t">
            <a:spAutoFit/>
          </a:bodyPr>
          <a:lstStyle/>
          <a:p>
            <a:pPr algn="l">
              <a:lnSpc>
                <a:spcPct val="110000"/>
              </a:lnSpc>
              <a:spcAft>
                <a:spcPts val="600"/>
              </a:spcAft>
            </a:pPr>
            <a:r>
              <a:rPr lang="vi-VN" sz="1400" b="0" i="0">
                <a:solidFill>
                  <a:srgbClr val="5B6775"/>
                </a:solidFill>
                <a:latin typeface="Arial"/>
              </a:rPr>
              <a:t>Train 11.252, test 2.814 tin; sau lọc giá đặt cọc: 11.153 và 2.797</a:t>
            </a:r>
          </a:p>
        </p:txBody>
      </p:sp>
      <p:sp>
        <p:nvSpPr>
          <p:cNvPr id="6" name="Oval 5"/>
          <p:cNvSpPr/>
          <p:nvPr/>
        </p:nvSpPr>
        <p:spPr>
          <a:xfrm>
            <a:off x="7132320" y="1508760"/>
            <a:ext cx="548640" cy="548640"/>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vi-VN" sz="1600" b="1" i="0">
                <a:solidFill>
                  <a:srgbClr val="FFFFFF"/>
                </a:solidFill>
                <a:latin typeface="Arial"/>
              </a:rPr>
              <a:t>1</a:t>
            </a:r>
          </a:p>
        </p:txBody>
      </p:sp>
      <p:sp>
        <p:nvSpPr>
          <p:cNvPr id="7" name="TextBox 6"/>
          <p:cNvSpPr txBox="1"/>
          <p:nvPr/>
        </p:nvSpPr>
        <p:spPr>
          <a:xfrm>
            <a:off x="7863840" y="1463039"/>
            <a:ext cx="3749039" cy="365760"/>
          </a:xfrm>
          <a:prstGeom prst="rect">
            <a:avLst/>
          </a:prstGeom>
          <a:noFill/>
        </p:spPr>
        <p:txBody>
          <a:bodyPr wrap="square" lIns="45720" tIns="27432" rIns="45720" bIns="27432" anchor="t">
            <a:spAutoFit/>
          </a:bodyPr>
          <a:lstStyle/>
          <a:p>
            <a:pPr algn="l">
              <a:lnSpc>
                <a:spcPct val="110000"/>
              </a:lnSpc>
              <a:spcAft>
                <a:spcPts val="600"/>
              </a:spcAft>
            </a:pPr>
            <a:r>
              <a:rPr lang="vi-VN" sz="1700" b="1" i="0">
                <a:solidFill>
                  <a:srgbClr val="075289"/>
                </a:solidFill>
                <a:latin typeface="Arial"/>
              </a:rPr>
              <a:t>Train 80%</a:t>
            </a:r>
          </a:p>
        </p:txBody>
      </p:sp>
      <p:sp>
        <p:nvSpPr>
          <p:cNvPr id="8" name="TextBox 7"/>
          <p:cNvSpPr txBox="1"/>
          <p:nvPr/>
        </p:nvSpPr>
        <p:spPr>
          <a:xfrm>
            <a:off x="7863840" y="1856231"/>
            <a:ext cx="3749039" cy="868680"/>
          </a:xfrm>
          <a:prstGeom prst="rect">
            <a:avLst/>
          </a:prstGeom>
          <a:noFill/>
        </p:spPr>
        <p:txBody>
          <a:bodyPr wrap="square" lIns="45720" tIns="27432" rIns="45720" bIns="27432" anchor="t">
            <a:spAutoFit/>
          </a:bodyPr>
          <a:lstStyle/>
          <a:p>
            <a:pPr algn="l">
              <a:lnSpc>
                <a:spcPct val="110000"/>
              </a:lnSpc>
              <a:spcAft>
                <a:spcPts val="600"/>
              </a:spcAft>
            </a:pPr>
            <a:r>
              <a:rPr lang="vi-VN" sz="1400" b="0" i="0">
                <a:solidFill>
                  <a:srgbClr val="1F2937"/>
                </a:solidFill>
                <a:latin typeface="Arial"/>
              </a:rPr>
              <a:t>học mọi tham số: lọc nhãn sai, điền thiếu, gộp nhãn, mã hóa, tham số mô hình (CV / OOB)</a:t>
            </a:r>
          </a:p>
        </p:txBody>
      </p:sp>
      <p:sp>
        <p:nvSpPr>
          <p:cNvPr id="9" name="Oval 8"/>
          <p:cNvSpPr/>
          <p:nvPr/>
        </p:nvSpPr>
        <p:spPr>
          <a:xfrm>
            <a:off x="7132320" y="2834639"/>
            <a:ext cx="548640" cy="54864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vi-VN" sz="1600" b="1" i="0">
                <a:solidFill>
                  <a:srgbClr val="FFFFFF"/>
                </a:solidFill>
                <a:latin typeface="Arial"/>
              </a:rPr>
              <a:t>2</a:t>
            </a:r>
          </a:p>
        </p:txBody>
      </p:sp>
      <p:sp>
        <p:nvSpPr>
          <p:cNvPr id="10" name="TextBox 9"/>
          <p:cNvSpPr txBox="1"/>
          <p:nvPr/>
        </p:nvSpPr>
        <p:spPr>
          <a:xfrm>
            <a:off x="7863840" y="2788920"/>
            <a:ext cx="3749039" cy="365760"/>
          </a:xfrm>
          <a:prstGeom prst="rect">
            <a:avLst/>
          </a:prstGeom>
          <a:noFill/>
        </p:spPr>
        <p:txBody>
          <a:bodyPr wrap="square" lIns="45720" tIns="27432" rIns="45720" bIns="27432" anchor="t">
            <a:spAutoFit/>
          </a:bodyPr>
          <a:lstStyle/>
          <a:p>
            <a:pPr algn="l">
              <a:lnSpc>
                <a:spcPct val="110000"/>
              </a:lnSpc>
              <a:spcAft>
                <a:spcPts val="600"/>
              </a:spcAft>
            </a:pPr>
            <a:r>
              <a:rPr lang="vi-VN" sz="1700" b="1" i="0">
                <a:solidFill>
                  <a:srgbClr val="075289"/>
                </a:solidFill>
                <a:latin typeface="Arial"/>
              </a:rPr>
              <a:t>Test 20%</a:t>
            </a:r>
          </a:p>
        </p:txBody>
      </p:sp>
      <p:sp>
        <p:nvSpPr>
          <p:cNvPr id="11" name="TextBox 10"/>
          <p:cNvSpPr txBox="1"/>
          <p:nvPr/>
        </p:nvSpPr>
        <p:spPr>
          <a:xfrm>
            <a:off x="7863840" y="3182111"/>
            <a:ext cx="3749039" cy="868680"/>
          </a:xfrm>
          <a:prstGeom prst="rect">
            <a:avLst/>
          </a:prstGeom>
          <a:noFill/>
        </p:spPr>
        <p:txBody>
          <a:bodyPr wrap="square" lIns="45720" tIns="27432" rIns="45720" bIns="27432" anchor="t">
            <a:spAutoFit/>
          </a:bodyPr>
          <a:lstStyle/>
          <a:p>
            <a:pPr algn="l">
              <a:lnSpc>
                <a:spcPct val="110000"/>
              </a:lnSpc>
              <a:spcAft>
                <a:spcPts val="600"/>
              </a:spcAft>
            </a:pPr>
            <a:r>
              <a:rPr lang="vi-VN" sz="1400" b="0" i="0">
                <a:solidFill>
                  <a:srgbClr val="1F2937"/>
                </a:solidFill>
                <a:latin typeface="Arial"/>
              </a:rPr>
              <a:t>dùng đúng một lần để báo cáo kết quả cuối</a:t>
            </a:r>
          </a:p>
        </p:txBody>
      </p:sp>
      <p:sp>
        <p:nvSpPr>
          <p:cNvPr id="12" name="Oval 11"/>
          <p:cNvSpPr/>
          <p:nvPr/>
        </p:nvSpPr>
        <p:spPr>
          <a:xfrm>
            <a:off x="7132320" y="4160520"/>
            <a:ext cx="548640" cy="548640"/>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vi-VN" sz="1600" b="1" i="0">
                <a:solidFill>
                  <a:srgbClr val="FFFFFF"/>
                </a:solidFill>
                <a:latin typeface="Arial"/>
              </a:rPr>
              <a:t>3</a:t>
            </a:r>
          </a:p>
        </p:txBody>
      </p:sp>
      <p:sp>
        <p:nvSpPr>
          <p:cNvPr id="13" name="TextBox 12"/>
          <p:cNvSpPr txBox="1"/>
          <p:nvPr/>
        </p:nvSpPr>
        <p:spPr>
          <a:xfrm>
            <a:off x="7863840" y="4114800"/>
            <a:ext cx="3749039" cy="365760"/>
          </a:xfrm>
          <a:prstGeom prst="rect">
            <a:avLst/>
          </a:prstGeom>
          <a:noFill/>
        </p:spPr>
        <p:txBody>
          <a:bodyPr wrap="square" lIns="45720" tIns="27432" rIns="45720" bIns="27432" anchor="t">
            <a:spAutoFit/>
          </a:bodyPr>
          <a:lstStyle/>
          <a:p>
            <a:pPr algn="l">
              <a:lnSpc>
                <a:spcPct val="110000"/>
              </a:lnSpc>
              <a:spcAft>
                <a:spcPts val="600"/>
              </a:spcAft>
            </a:pPr>
            <a:r>
              <a:rPr lang="vi-VN" sz="1700" b="1" i="0">
                <a:solidFill>
                  <a:srgbClr val="075289"/>
                </a:solidFill>
                <a:latin typeface="Arial"/>
              </a:rPr>
              <a:t>Hai bản Random Forest</a:t>
            </a:r>
          </a:p>
        </p:txBody>
      </p:sp>
      <p:sp>
        <p:nvSpPr>
          <p:cNvPr id="14" name="TextBox 13"/>
          <p:cNvSpPr txBox="1"/>
          <p:nvPr/>
        </p:nvSpPr>
        <p:spPr>
          <a:xfrm>
            <a:off x="7863840" y="4507992"/>
            <a:ext cx="3749039" cy="868680"/>
          </a:xfrm>
          <a:prstGeom prst="rect">
            <a:avLst/>
          </a:prstGeom>
          <a:noFill/>
        </p:spPr>
        <p:txBody>
          <a:bodyPr wrap="square" lIns="45720" tIns="27432" rIns="45720" bIns="27432" anchor="t">
            <a:spAutoFit/>
          </a:bodyPr>
          <a:lstStyle/>
          <a:p>
            <a:pPr algn="l">
              <a:lnSpc>
                <a:spcPct val="110000"/>
              </a:lnSpc>
              <a:spcAft>
                <a:spcPts val="600"/>
              </a:spcAft>
            </a:pPr>
            <a:r>
              <a:rPr lang="vi-VN" sz="1400" b="0" i="0">
                <a:solidFill>
                  <a:srgbClr val="1F2937"/>
                </a:solidFill>
                <a:latin typeface="Arial"/>
              </a:rPr>
              <a:t>thư viện scikit-learn làm chuẩn; bản tự viết bằng NumPy được kiểm chứng với nó</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3 · TIỀN XỬ LÝ VÀ XỬ LÝ DỮ LIỆU</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Giá trả trước / đặt cọc: lọc bằng trung vị của train</a:t>
            </a:r>
          </a:p>
        </p:txBody>
      </p:sp>
      <p:pic>
        <p:nvPicPr>
          <p:cNvPr id="4" name="Picture 3" descr="s08_gia_dat_coc.png"/>
          <p:cNvPicPr>
            <a:picLocks noChangeAspect="1"/>
          </p:cNvPicPr>
          <p:nvPr/>
        </p:nvPicPr>
        <p:blipFill>
          <a:blip r:embed="rId3"/>
          <a:stretch>
            <a:fillRect/>
          </a:stretch>
        </p:blipFill>
        <p:spPr>
          <a:xfrm>
            <a:off x="530992" y="1325880"/>
            <a:ext cx="5521695" cy="3291840"/>
          </a:xfrm>
          <a:prstGeom prst="rect">
            <a:avLst/>
          </a:prstGeom>
        </p:spPr>
      </p:pic>
      <p:sp>
        <p:nvSpPr>
          <p:cNvPr id="5" name="Rounded Rectangle 4"/>
          <p:cNvSpPr/>
          <p:nvPr/>
        </p:nvSpPr>
        <p:spPr>
          <a:xfrm>
            <a:off x="6400800" y="1371600"/>
            <a:ext cx="5212080" cy="123444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583680" y="1417320"/>
            <a:ext cx="4846320" cy="365760"/>
          </a:xfrm>
          <a:prstGeom prst="rect">
            <a:avLst/>
          </a:prstGeom>
          <a:noFill/>
        </p:spPr>
        <p:txBody>
          <a:bodyPr wrap="square" lIns="45720" tIns="27432" rIns="45720" bIns="27432" anchor="t">
            <a:spAutoFit/>
          </a:bodyPr>
          <a:lstStyle/>
          <a:p>
            <a:pPr algn="l">
              <a:lnSpc>
                <a:spcPct val="110000"/>
              </a:lnSpc>
              <a:spcAft>
                <a:spcPts val="600"/>
              </a:spcAft>
            </a:pPr>
            <a:r>
              <a:rPr lang="vi-VN" sz="1500" b="1" i="0">
                <a:solidFill>
                  <a:srgbClr val="FFD400"/>
                </a:solidFill>
                <a:latin typeface="Arial"/>
              </a:rPr>
              <a:t>Quy tắc (học từ train)</a:t>
            </a:r>
          </a:p>
        </p:txBody>
      </p:sp>
      <p:sp>
        <p:nvSpPr>
          <p:cNvPr id="7" name="TextBox 6"/>
          <p:cNvSpPr txBox="1"/>
          <p:nvPr/>
        </p:nvSpPr>
        <p:spPr>
          <a:xfrm>
            <a:off x="6583680" y="1783080"/>
            <a:ext cx="4937760" cy="822960"/>
          </a:xfrm>
          <a:prstGeom prst="rect">
            <a:avLst/>
          </a:prstGeom>
          <a:noFill/>
        </p:spPr>
        <p:txBody>
          <a:bodyPr wrap="square" lIns="45720" tIns="27432" rIns="45720" bIns="27432" anchor="t">
            <a:spAutoFit/>
          </a:bodyPr>
          <a:lstStyle/>
          <a:p>
            <a:pPr algn="l">
              <a:lnSpc>
                <a:spcPct val="110000"/>
              </a:lnSpc>
              <a:spcAft>
                <a:spcPts val="600"/>
              </a:spcAft>
            </a:pPr>
            <a:r>
              <a:rPr lang="vi-VN" sz="1400" b="0" i="0">
                <a:solidFill>
                  <a:srgbClr val="FFFFFF"/>
                </a:solidFill>
                <a:latin typeface="Arial"/>
              </a:rPr>
              <a:t>Giá &lt; 30% trung vị xe cùng hãng-dòng-năm ở train (nhóm ≥ 3 xe, bỏ "Dòng khác")</a:t>
            </a:r>
          </a:p>
        </p:txBody>
      </p:sp>
      <p:graphicFrame>
        <p:nvGraphicFramePr>
          <p:cNvPr id="8" name="Table 7"/>
          <p:cNvGraphicFramePr>
            <a:graphicFrameLocks noGrp="1"/>
          </p:cNvGraphicFramePr>
          <p:nvPr/>
        </p:nvGraphicFramePr>
        <p:xfrm>
          <a:off x="6400800" y="2697480"/>
          <a:ext cx="5212080" cy="1975104"/>
        </p:xfrm>
        <a:graphic>
          <a:graphicData uri="http://schemas.openxmlformats.org/drawingml/2006/table">
            <a:tbl>
              <a:tblPr>
                <a:tableStyleId>{5940675A-B579-460E-94D1-54222C63F5DA}</a:tableStyleId>
              </a:tblPr>
              <a:tblGrid>
                <a:gridCol w="237744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329184">
                <a:tc>
                  <a:txBody>
                    <a:bodyPr/>
                    <a:lstStyle/>
                    <a:p>
                      <a:r>
                        <a:rPr lang="vi-VN" sz="1200" b="1" i="0">
                          <a:solidFill>
                            <a:srgbClr val="FFFFFF"/>
                          </a:solidFill>
                          <a:latin typeface="Arial"/>
                        </a:rPr>
                        <a:t>Xe</a:t>
                      </a:r>
                    </a:p>
                  </a:txBody>
                  <a:tcPr marL="73152" marR="73152" marT="27432" marB="27432" anchor="ctr">
                    <a:solidFill>
                      <a:srgbClr val="075289"/>
                    </a:solidFill>
                  </a:tcPr>
                </a:tc>
                <a:tc>
                  <a:txBody>
                    <a:bodyPr/>
                    <a:lstStyle/>
                    <a:p>
                      <a:r>
                        <a:rPr lang="vi-VN" sz="1200" b="1" i="0">
                          <a:solidFill>
                            <a:srgbClr val="FFFFFF"/>
                          </a:solidFill>
                          <a:latin typeface="Arial"/>
                        </a:rPr>
                        <a:t>Năm</a:t>
                      </a:r>
                    </a:p>
                  </a:txBody>
                  <a:tcPr marL="73152" marR="73152" marT="27432" marB="27432" anchor="ctr">
                    <a:solidFill>
                      <a:srgbClr val="075289"/>
                    </a:solidFill>
                  </a:tcPr>
                </a:tc>
                <a:tc>
                  <a:txBody>
                    <a:bodyPr/>
                    <a:lstStyle/>
                    <a:p>
                      <a:r>
                        <a:rPr lang="vi-VN" sz="1200" b="1" i="0">
                          <a:solidFill>
                            <a:srgbClr val="FFFFFF"/>
                          </a:solidFill>
                          <a:latin typeface="Arial"/>
                        </a:rPr>
                        <a:t>Giá rao</a:t>
                      </a:r>
                    </a:p>
                  </a:txBody>
                  <a:tcPr marL="73152" marR="73152" marT="27432" marB="27432" anchor="ctr">
                    <a:solidFill>
                      <a:srgbClr val="075289"/>
                    </a:solidFill>
                  </a:tcPr>
                </a:tc>
                <a:tc>
                  <a:txBody>
                    <a:bodyPr/>
                    <a:lstStyle/>
                    <a:p>
                      <a:r>
                        <a:rPr lang="vi-VN" sz="1200" b="1" i="0">
                          <a:solidFill>
                            <a:srgbClr val="FFFFFF"/>
                          </a:solidFill>
                          <a:latin typeface="Arial"/>
                        </a:rPr>
                        <a:t>Trung vị train</a:t>
                      </a:r>
                    </a:p>
                  </a:txBody>
                  <a:tcPr marL="73152" marR="73152" marT="27432" marB="27432" anchor="ctr">
                    <a:solidFill>
                      <a:srgbClr val="075289"/>
                    </a:solidFill>
                  </a:tcPr>
                </a:tc>
                <a:extLst>
                  <a:ext uri="{0D108BD9-81ED-4DB2-BD59-A6C34878D82A}">
                    <a16:rowId xmlns:a16="http://schemas.microsoft.com/office/drawing/2014/main" val="10000"/>
                  </a:ext>
                </a:extLst>
              </a:tr>
              <a:tr h="329184">
                <a:tc>
                  <a:txBody>
                    <a:bodyPr/>
                    <a:lstStyle/>
                    <a:p>
                      <a:r>
                        <a:rPr lang="vi-VN" sz="1200" b="1" i="0">
                          <a:solidFill>
                            <a:srgbClr val="1F2937"/>
                          </a:solidFill>
                          <a:latin typeface="Arial"/>
                        </a:rPr>
                        <a:t>Toyota Camry</a:t>
                      </a:r>
                    </a:p>
                  </a:txBody>
                  <a:tcPr marL="73152" marR="73152" marT="27432" marB="27432" anchor="ctr">
                    <a:solidFill>
                      <a:srgbClr val="FFFFFF"/>
                    </a:solidFill>
                  </a:tcPr>
                </a:tc>
                <a:tc>
                  <a:txBody>
                    <a:bodyPr/>
                    <a:lstStyle/>
                    <a:p>
                      <a:r>
                        <a:rPr lang="vi-VN" sz="1200" b="0" i="0">
                          <a:solidFill>
                            <a:srgbClr val="1F2937"/>
                          </a:solidFill>
                          <a:latin typeface="Arial"/>
                        </a:rPr>
                        <a:t>2026</a:t>
                      </a:r>
                    </a:p>
                  </a:txBody>
                  <a:tcPr marL="73152" marR="73152" marT="27432" marB="27432" anchor="ctr">
                    <a:solidFill>
                      <a:srgbClr val="FFFFFF"/>
                    </a:solidFill>
                  </a:tcPr>
                </a:tc>
                <a:tc>
                  <a:txBody>
                    <a:bodyPr/>
                    <a:lstStyle/>
                    <a:p>
                      <a:r>
                        <a:rPr lang="vi-VN" sz="1200" b="0" i="0">
                          <a:solidFill>
                            <a:srgbClr val="1F2937"/>
                          </a:solidFill>
                          <a:latin typeface="Arial"/>
                        </a:rPr>
                        <a:t>300</a:t>
                      </a:r>
                    </a:p>
                  </a:txBody>
                  <a:tcPr marL="73152" marR="73152" marT="27432" marB="27432" anchor="ctr">
                    <a:solidFill>
                      <a:srgbClr val="FFFFFF"/>
                    </a:solidFill>
                  </a:tcPr>
                </a:tc>
                <a:tc>
                  <a:txBody>
                    <a:bodyPr/>
                    <a:lstStyle/>
                    <a:p>
                      <a:r>
                        <a:rPr lang="vi-VN" sz="1200" b="0" i="0">
                          <a:solidFill>
                            <a:srgbClr val="1F2937"/>
                          </a:solidFill>
                          <a:latin typeface="Arial"/>
                        </a:rPr>
                        <a:t>1.360</a:t>
                      </a:r>
                    </a:p>
                  </a:txBody>
                  <a:tcPr marL="73152" marR="73152" marT="27432" marB="27432" anchor="ctr">
                    <a:solidFill>
                      <a:srgbClr val="FFFFFF"/>
                    </a:solidFill>
                  </a:tcPr>
                </a:tc>
                <a:extLst>
                  <a:ext uri="{0D108BD9-81ED-4DB2-BD59-A6C34878D82A}">
                    <a16:rowId xmlns:a16="http://schemas.microsoft.com/office/drawing/2014/main" val="10001"/>
                  </a:ext>
                </a:extLst>
              </a:tr>
              <a:tr h="329184">
                <a:tc>
                  <a:txBody>
                    <a:bodyPr/>
                    <a:lstStyle/>
                    <a:p>
                      <a:r>
                        <a:rPr lang="vi-VN" sz="1200" b="1" i="0">
                          <a:solidFill>
                            <a:srgbClr val="1F2937"/>
                          </a:solidFill>
                          <a:latin typeface="Arial"/>
                        </a:rPr>
                        <a:t>Ford Everest</a:t>
                      </a:r>
                    </a:p>
                  </a:txBody>
                  <a:tcPr marL="73152" marR="73152" marT="27432" marB="27432" anchor="ctr">
                    <a:solidFill>
                      <a:srgbClr val="EAF2FA"/>
                    </a:solidFill>
                  </a:tcPr>
                </a:tc>
                <a:tc>
                  <a:txBody>
                    <a:bodyPr/>
                    <a:lstStyle/>
                    <a:p>
                      <a:r>
                        <a:rPr lang="vi-VN" sz="1200" b="0" i="0">
                          <a:solidFill>
                            <a:srgbClr val="1F2937"/>
                          </a:solidFill>
                          <a:latin typeface="Arial"/>
                        </a:rPr>
                        <a:t>2026</a:t>
                      </a:r>
                    </a:p>
                  </a:txBody>
                  <a:tcPr marL="73152" marR="73152" marT="27432" marB="27432" anchor="ctr">
                    <a:solidFill>
                      <a:srgbClr val="EAF2FA"/>
                    </a:solidFill>
                  </a:tcPr>
                </a:tc>
                <a:tc>
                  <a:txBody>
                    <a:bodyPr/>
                    <a:lstStyle/>
                    <a:p>
                      <a:r>
                        <a:rPr lang="vi-VN" sz="1200" b="0" i="0">
                          <a:solidFill>
                            <a:srgbClr val="1F2937"/>
                          </a:solidFill>
                          <a:latin typeface="Arial"/>
                        </a:rPr>
                        <a:t>320</a:t>
                      </a:r>
                    </a:p>
                  </a:txBody>
                  <a:tcPr marL="73152" marR="73152" marT="27432" marB="27432" anchor="ctr">
                    <a:solidFill>
                      <a:srgbClr val="EAF2FA"/>
                    </a:solidFill>
                  </a:tcPr>
                </a:tc>
                <a:tc>
                  <a:txBody>
                    <a:bodyPr/>
                    <a:lstStyle/>
                    <a:p>
                      <a:r>
                        <a:rPr lang="vi-VN" sz="1200" b="0" i="0">
                          <a:solidFill>
                            <a:srgbClr val="1F2937"/>
                          </a:solidFill>
                          <a:latin typeface="Arial"/>
                        </a:rPr>
                        <a:t>1.310</a:t>
                      </a:r>
                    </a:p>
                  </a:txBody>
                  <a:tcPr marL="73152" marR="73152" marT="27432" marB="27432" anchor="ctr">
                    <a:solidFill>
                      <a:srgbClr val="EAF2FA"/>
                    </a:solidFill>
                  </a:tcPr>
                </a:tc>
                <a:extLst>
                  <a:ext uri="{0D108BD9-81ED-4DB2-BD59-A6C34878D82A}">
                    <a16:rowId xmlns:a16="http://schemas.microsoft.com/office/drawing/2014/main" val="10002"/>
                  </a:ext>
                </a:extLst>
              </a:tr>
              <a:tr h="329184">
                <a:tc>
                  <a:txBody>
                    <a:bodyPr/>
                    <a:lstStyle/>
                    <a:p>
                      <a:r>
                        <a:rPr lang="vi-VN" sz="1200" b="1" i="0">
                          <a:solidFill>
                            <a:srgbClr val="1F2937"/>
                          </a:solidFill>
                          <a:latin typeface="Arial"/>
                        </a:rPr>
                        <a:t>Toyota Fortuner (mới)</a:t>
                      </a:r>
                    </a:p>
                  </a:txBody>
                  <a:tcPr marL="73152" marR="73152" marT="27432" marB="27432" anchor="ctr">
                    <a:solidFill>
                      <a:srgbClr val="FFFFFF"/>
                    </a:solidFill>
                  </a:tcPr>
                </a:tc>
                <a:tc>
                  <a:txBody>
                    <a:bodyPr/>
                    <a:lstStyle/>
                    <a:p>
                      <a:r>
                        <a:rPr lang="vi-VN" sz="1200" b="0" i="0">
                          <a:solidFill>
                            <a:srgbClr val="1F2937"/>
                          </a:solidFill>
                          <a:latin typeface="Arial"/>
                        </a:rPr>
                        <a:t>2026</a:t>
                      </a:r>
                    </a:p>
                  </a:txBody>
                  <a:tcPr marL="73152" marR="73152" marT="27432" marB="27432" anchor="ctr">
                    <a:solidFill>
                      <a:srgbClr val="FFFFFF"/>
                    </a:solidFill>
                  </a:tcPr>
                </a:tc>
                <a:tc>
                  <a:txBody>
                    <a:bodyPr/>
                    <a:lstStyle/>
                    <a:p>
                      <a:r>
                        <a:rPr lang="vi-VN" sz="1200" b="0" i="0">
                          <a:solidFill>
                            <a:srgbClr val="1F2937"/>
                          </a:solidFill>
                          <a:latin typeface="Arial"/>
                        </a:rPr>
                        <a:t>125</a:t>
                      </a:r>
                    </a:p>
                  </a:txBody>
                  <a:tcPr marL="73152" marR="73152" marT="27432" marB="27432" anchor="ctr">
                    <a:solidFill>
                      <a:srgbClr val="FFFFFF"/>
                    </a:solidFill>
                  </a:tcPr>
                </a:tc>
                <a:tc>
                  <a:txBody>
                    <a:bodyPr/>
                    <a:lstStyle/>
                    <a:p>
                      <a:r>
                        <a:rPr lang="vi-VN" sz="1200" b="0" i="0">
                          <a:solidFill>
                            <a:srgbClr val="1F2937"/>
                          </a:solidFill>
                          <a:latin typeface="Arial"/>
                        </a:rPr>
                        <a:t>1.275</a:t>
                      </a:r>
                    </a:p>
                  </a:txBody>
                  <a:tcPr marL="73152" marR="73152" marT="27432" marB="27432" anchor="ctr">
                    <a:solidFill>
                      <a:srgbClr val="FFFFFF"/>
                    </a:solidFill>
                  </a:tcPr>
                </a:tc>
                <a:extLst>
                  <a:ext uri="{0D108BD9-81ED-4DB2-BD59-A6C34878D82A}">
                    <a16:rowId xmlns:a16="http://schemas.microsoft.com/office/drawing/2014/main" val="10003"/>
                  </a:ext>
                </a:extLst>
              </a:tr>
              <a:tr h="329184">
                <a:tc>
                  <a:txBody>
                    <a:bodyPr/>
                    <a:lstStyle/>
                    <a:p>
                      <a:r>
                        <a:rPr lang="vi-VN" sz="1200" b="1" i="0">
                          <a:solidFill>
                            <a:srgbClr val="1F2937"/>
                          </a:solidFill>
                          <a:latin typeface="Arial"/>
                        </a:rPr>
                        <a:t>Hyundai Santa Fe (mới)</a:t>
                      </a:r>
                    </a:p>
                  </a:txBody>
                  <a:tcPr marL="73152" marR="73152" marT="27432" marB="27432" anchor="ctr">
                    <a:solidFill>
                      <a:srgbClr val="EAF2FA"/>
                    </a:solidFill>
                  </a:tcPr>
                </a:tc>
                <a:tc>
                  <a:txBody>
                    <a:bodyPr/>
                    <a:lstStyle/>
                    <a:p>
                      <a:r>
                        <a:rPr lang="vi-VN" sz="1200" b="0" i="0">
                          <a:solidFill>
                            <a:srgbClr val="1F2937"/>
                          </a:solidFill>
                          <a:latin typeface="Arial"/>
                        </a:rPr>
                        <a:t>2025</a:t>
                      </a:r>
                    </a:p>
                  </a:txBody>
                  <a:tcPr marL="73152" marR="73152" marT="27432" marB="27432" anchor="ctr">
                    <a:solidFill>
                      <a:srgbClr val="EAF2FA"/>
                    </a:solidFill>
                  </a:tcPr>
                </a:tc>
                <a:tc>
                  <a:txBody>
                    <a:bodyPr/>
                    <a:lstStyle/>
                    <a:p>
                      <a:r>
                        <a:rPr lang="vi-VN" sz="1200" b="0" i="0">
                          <a:solidFill>
                            <a:srgbClr val="1F2937"/>
                          </a:solidFill>
                          <a:latin typeface="Arial"/>
                        </a:rPr>
                        <a:t>220</a:t>
                      </a:r>
                    </a:p>
                  </a:txBody>
                  <a:tcPr marL="73152" marR="73152" marT="27432" marB="27432" anchor="ctr">
                    <a:solidFill>
                      <a:srgbClr val="EAF2FA"/>
                    </a:solidFill>
                  </a:tcPr>
                </a:tc>
                <a:tc>
                  <a:txBody>
                    <a:bodyPr/>
                    <a:lstStyle/>
                    <a:p>
                      <a:r>
                        <a:rPr lang="vi-VN" sz="1200" b="0" i="0">
                          <a:solidFill>
                            <a:srgbClr val="1F2937"/>
                          </a:solidFill>
                          <a:latin typeface="Arial"/>
                        </a:rPr>
                        <a:t>1.079</a:t>
                      </a:r>
                    </a:p>
                  </a:txBody>
                  <a:tcPr marL="73152" marR="73152" marT="27432" marB="27432" anchor="ctr">
                    <a:solidFill>
                      <a:srgbClr val="EAF2FA"/>
                    </a:solidFill>
                  </a:tcPr>
                </a:tc>
                <a:extLst>
                  <a:ext uri="{0D108BD9-81ED-4DB2-BD59-A6C34878D82A}">
                    <a16:rowId xmlns:a16="http://schemas.microsoft.com/office/drawing/2014/main" val="10004"/>
                  </a:ext>
                </a:extLst>
              </a:tr>
              <a:tr h="329184">
                <a:tc>
                  <a:txBody>
                    <a:bodyPr/>
                    <a:lstStyle/>
                    <a:p>
                      <a:r>
                        <a:rPr lang="vi-VN" sz="1200" b="1" i="0">
                          <a:solidFill>
                            <a:srgbClr val="1F2937"/>
                          </a:solidFill>
                          <a:latin typeface="Arial"/>
                        </a:rPr>
                        <a:t>Mercedes E Class</a:t>
                      </a:r>
                    </a:p>
                  </a:txBody>
                  <a:tcPr marL="73152" marR="73152" marT="27432" marB="27432" anchor="ctr">
                    <a:solidFill>
                      <a:srgbClr val="FFFFFF"/>
                    </a:solidFill>
                  </a:tcPr>
                </a:tc>
                <a:tc>
                  <a:txBody>
                    <a:bodyPr/>
                    <a:lstStyle/>
                    <a:p>
                      <a:r>
                        <a:rPr lang="vi-VN" sz="1200" b="0" i="0">
                          <a:solidFill>
                            <a:srgbClr val="1F2937"/>
                          </a:solidFill>
                          <a:latin typeface="Arial"/>
                        </a:rPr>
                        <a:t>2019</a:t>
                      </a:r>
                    </a:p>
                  </a:txBody>
                  <a:tcPr marL="73152" marR="73152" marT="27432" marB="27432" anchor="ctr">
                    <a:solidFill>
                      <a:srgbClr val="FFFFFF"/>
                    </a:solidFill>
                  </a:tcPr>
                </a:tc>
                <a:tc>
                  <a:txBody>
                    <a:bodyPr/>
                    <a:lstStyle/>
                    <a:p>
                      <a:r>
                        <a:rPr lang="vi-VN" sz="1200" b="0" i="0">
                          <a:solidFill>
                            <a:srgbClr val="1F2937"/>
                          </a:solidFill>
                          <a:latin typeface="Arial"/>
                        </a:rPr>
                        <a:t>156</a:t>
                      </a:r>
                    </a:p>
                  </a:txBody>
                  <a:tcPr marL="73152" marR="73152" marT="27432" marB="27432" anchor="ctr">
                    <a:solidFill>
                      <a:srgbClr val="FFFFFF"/>
                    </a:solidFill>
                  </a:tcPr>
                </a:tc>
                <a:tc>
                  <a:txBody>
                    <a:bodyPr/>
                    <a:lstStyle/>
                    <a:p>
                      <a:r>
                        <a:rPr lang="vi-VN" sz="1200" b="0" i="0">
                          <a:solidFill>
                            <a:srgbClr val="1F2937"/>
                          </a:solidFill>
                          <a:latin typeface="Arial"/>
                        </a:rPr>
                        <a:t>899</a:t>
                      </a:r>
                    </a:p>
                  </a:txBody>
                  <a:tcPr marL="73152" marR="73152"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9" name="Rounded Rectangle 8"/>
          <p:cNvSpPr/>
          <p:nvPr/>
        </p:nvSpPr>
        <p:spPr>
          <a:xfrm>
            <a:off x="548640" y="4800600"/>
            <a:ext cx="5440680" cy="7315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85800" y="4800600"/>
            <a:ext cx="1463040" cy="731520"/>
          </a:xfrm>
          <a:prstGeom prst="rect">
            <a:avLst/>
          </a:prstGeom>
          <a:noFill/>
        </p:spPr>
        <p:txBody>
          <a:bodyPr wrap="square" lIns="45720" tIns="27432" rIns="45720" bIns="27432" anchor="ctr">
            <a:spAutoFit/>
          </a:bodyPr>
          <a:lstStyle/>
          <a:p>
            <a:pPr algn="l">
              <a:lnSpc>
                <a:spcPct val="110000"/>
              </a:lnSpc>
              <a:spcAft>
                <a:spcPts val="600"/>
              </a:spcAft>
            </a:pPr>
            <a:r>
              <a:rPr lang="vi-VN" sz="2000" b="1" i="0">
                <a:solidFill>
                  <a:srgbClr val="EB6834"/>
                </a:solidFill>
                <a:latin typeface="Arial"/>
              </a:rPr>
              <a:t>99 + 17</a:t>
            </a:r>
          </a:p>
        </p:txBody>
      </p:sp>
      <p:sp>
        <p:nvSpPr>
          <p:cNvPr id="11" name="TextBox 10"/>
          <p:cNvSpPr txBox="1"/>
          <p:nvPr/>
        </p:nvSpPr>
        <p:spPr>
          <a:xfrm>
            <a:off x="2194560" y="4800600"/>
            <a:ext cx="3703320" cy="731520"/>
          </a:xfrm>
          <a:prstGeom prst="rect">
            <a:avLst/>
          </a:prstGeom>
          <a:noFill/>
        </p:spPr>
        <p:txBody>
          <a:bodyPr wrap="square" lIns="45720" tIns="27432" rIns="45720" bIns="27432" anchor="ctr">
            <a:spAutoFit/>
          </a:bodyPr>
          <a:lstStyle/>
          <a:p>
            <a:pPr algn="l">
              <a:lnSpc>
                <a:spcPct val="110000"/>
              </a:lnSpc>
              <a:spcAft>
                <a:spcPts val="0"/>
              </a:spcAft>
            </a:pPr>
            <a:r>
              <a:rPr lang="vi-VN" sz="1200" b="0" i="0">
                <a:solidFill>
                  <a:srgbClr val="1F2937"/>
                </a:solidFill>
                <a:latin typeface="Arial"/>
              </a:rPr>
              <a:t>tin bị loại ở train + test (cách cũ: 129 tin trên toàn bộ)</a:t>
            </a:r>
          </a:p>
        </p:txBody>
      </p:sp>
      <p:sp>
        <p:nvSpPr>
          <p:cNvPr id="12" name="Rounded Rectangle 11"/>
          <p:cNvSpPr/>
          <p:nvPr/>
        </p:nvSpPr>
        <p:spPr>
          <a:xfrm>
            <a:off x="6172200" y="4800600"/>
            <a:ext cx="5440680" cy="7315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6309360" y="4800600"/>
            <a:ext cx="1463040" cy="731520"/>
          </a:xfrm>
          <a:prstGeom prst="rect">
            <a:avLst/>
          </a:prstGeom>
          <a:noFill/>
        </p:spPr>
        <p:txBody>
          <a:bodyPr wrap="square" lIns="45720" tIns="27432" rIns="45720" bIns="27432" anchor="ctr">
            <a:spAutoFit/>
          </a:bodyPr>
          <a:lstStyle/>
          <a:p>
            <a:pPr algn="l">
              <a:lnSpc>
                <a:spcPct val="110000"/>
              </a:lnSpc>
              <a:spcAft>
                <a:spcPts val="600"/>
              </a:spcAft>
            </a:pPr>
            <a:r>
              <a:rPr lang="vi-VN" sz="2000" b="1" i="0">
                <a:solidFill>
                  <a:srgbClr val="EB6834"/>
                </a:solidFill>
                <a:latin typeface="Arial"/>
              </a:rPr>
              <a:t>21%</a:t>
            </a:r>
          </a:p>
        </p:txBody>
      </p:sp>
      <p:sp>
        <p:nvSpPr>
          <p:cNvPr id="14" name="TextBox 13"/>
          <p:cNvSpPr txBox="1"/>
          <p:nvPr/>
        </p:nvSpPr>
        <p:spPr>
          <a:xfrm>
            <a:off x="7818120" y="4800600"/>
            <a:ext cx="3703320" cy="731520"/>
          </a:xfrm>
          <a:prstGeom prst="rect">
            <a:avLst/>
          </a:prstGeom>
          <a:noFill/>
        </p:spPr>
        <p:txBody>
          <a:bodyPr wrap="square" lIns="45720" tIns="27432" rIns="45720" bIns="27432" anchor="ctr">
            <a:spAutoFit/>
          </a:bodyPr>
          <a:lstStyle/>
          <a:p>
            <a:pPr algn="l">
              <a:lnSpc>
                <a:spcPct val="110000"/>
              </a:lnSpc>
              <a:spcAft>
                <a:spcPts val="0"/>
              </a:spcAft>
            </a:pPr>
            <a:r>
              <a:rPr lang="vi-VN" sz="1200" b="0" i="0">
                <a:solidFill>
                  <a:srgbClr val="1F2937"/>
                </a:solidFill>
                <a:latin typeface="Arial"/>
              </a:rPr>
              <a:t>tin test không có nhóm tham chiếu ở train → không kiểm tra được, giữ lại</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3 · TIỀN XỬ LÝ VÀ XỬ LÝ DỮ LIỆU</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Kiểm tra sau khi điền: cơ cấu giữ nguyên, CV không lạc quan</a:t>
            </a:r>
          </a:p>
        </p:txBody>
      </p:sp>
      <p:pic>
        <p:nvPicPr>
          <p:cNvPr id="4" name="Picture 3" descr="s10_truoc_sau_dien_thieu.png"/>
          <p:cNvPicPr>
            <a:picLocks noChangeAspect="1"/>
          </p:cNvPicPr>
          <p:nvPr/>
        </p:nvPicPr>
        <p:blipFill>
          <a:blip r:embed="rId3"/>
          <a:stretch>
            <a:fillRect/>
          </a:stretch>
        </p:blipFill>
        <p:spPr>
          <a:xfrm>
            <a:off x="387882" y="1325880"/>
            <a:ext cx="7270954" cy="3108960"/>
          </a:xfrm>
          <a:prstGeom prst="rect">
            <a:avLst/>
          </a:prstGeom>
        </p:spPr>
      </p:pic>
      <p:graphicFrame>
        <p:nvGraphicFramePr>
          <p:cNvPr id="5" name="Table 4"/>
          <p:cNvGraphicFramePr>
            <a:graphicFrameLocks noGrp="1"/>
          </p:cNvGraphicFramePr>
          <p:nvPr/>
        </p:nvGraphicFramePr>
        <p:xfrm>
          <a:off x="7863840" y="1417320"/>
          <a:ext cx="3840480" cy="2103120"/>
        </p:xfrm>
        <a:graphic>
          <a:graphicData uri="http://schemas.openxmlformats.org/drawingml/2006/table">
            <a:tbl>
              <a:tblPr>
                <a:tableStyleId>{5940675A-B579-460E-94D1-54222C63F5DA}</a:tableStyleId>
              </a:tblPr>
              <a:tblGrid>
                <a:gridCol w="219456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420624">
                <a:tc>
                  <a:txBody>
                    <a:bodyPr/>
                    <a:lstStyle/>
                    <a:p>
                      <a:endParaRPr/>
                    </a:p>
                  </a:txBody>
                  <a:tcPr marL="73152" marR="73152" marT="27432" marB="27432" anchor="ctr">
                    <a:solidFill>
                      <a:srgbClr val="075289"/>
                    </a:solidFill>
                  </a:tcPr>
                </a:tc>
                <a:tc>
                  <a:txBody>
                    <a:bodyPr/>
                    <a:lstStyle/>
                    <a:p>
                      <a:r>
                        <a:rPr lang="vi-VN" sz="1200" b="1" i="0">
                          <a:solidFill>
                            <a:srgbClr val="FFFFFF"/>
                          </a:solidFill>
                          <a:latin typeface="Arial"/>
                        </a:rPr>
                        <a:t>Train</a:t>
                      </a:r>
                    </a:p>
                  </a:txBody>
                  <a:tcPr marL="73152" marR="73152" marT="27432" marB="27432" anchor="ctr">
                    <a:solidFill>
                      <a:srgbClr val="075289"/>
                    </a:solidFill>
                  </a:tcPr>
                </a:tc>
                <a:tc>
                  <a:txBody>
                    <a:bodyPr/>
                    <a:lstStyle/>
                    <a:p>
                      <a:r>
                        <a:rPr lang="vi-VN" sz="1200" b="1" i="0">
                          <a:solidFill>
                            <a:srgbClr val="FFFFFF"/>
                          </a:solidFill>
                          <a:latin typeface="Arial"/>
                        </a:rPr>
                        <a:t>Test</a:t>
                      </a:r>
                    </a:p>
                  </a:txBody>
                  <a:tcPr marL="73152" marR="73152" marT="27432" marB="27432" anchor="ctr">
                    <a:solidFill>
                      <a:srgbClr val="075289"/>
                    </a:solidFill>
                  </a:tcPr>
                </a:tc>
                <a:extLst>
                  <a:ext uri="{0D108BD9-81ED-4DB2-BD59-A6C34878D82A}">
                    <a16:rowId xmlns:a16="http://schemas.microsoft.com/office/drawing/2014/main" val="10000"/>
                  </a:ext>
                </a:extLst>
              </a:tr>
              <a:tr h="420624">
                <a:tc>
                  <a:txBody>
                    <a:bodyPr/>
                    <a:lstStyle/>
                    <a:p>
                      <a:r>
                        <a:rPr lang="vi-VN" sz="1200" b="1" i="0">
                          <a:solidFill>
                            <a:srgbClr val="1F2937"/>
                          </a:solidFill>
                          <a:latin typeface="Arial"/>
                        </a:rPr>
                        <a:t>Km xe cũ được điền</a:t>
                      </a:r>
                    </a:p>
                  </a:txBody>
                  <a:tcPr marL="73152" marR="73152" marT="27432" marB="27432" anchor="ctr">
                    <a:solidFill>
                      <a:srgbClr val="FFFFFF"/>
                    </a:solidFill>
                  </a:tcPr>
                </a:tc>
                <a:tc>
                  <a:txBody>
                    <a:bodyPr/>
                    <a:lstStyle/>
                    <a:p>
                      <a:r>
                        <a:rPr lang="vi-VN" sz="1200" b="0" i="0">
                          <a:solidFill>
                            <a:srgbClr val="1F2937"/>
                          </a:solidFill>
                          <a:latin typeface="Arial"/>
                        </a:rPr>
                        <a:t>653</a:t>
                      </a:r>
                    </a:p>
                  </a:txBody>
                  <a:tcPr marL="73152" marR="73152" marT="27432" marB="27432" anchor="ctr">
                    <a:solidFill>
                      <a:srgbClr val="FFFFFF"/>
                    </a:solidFill>
                  </a:tcPr>
                </a:tc>
                <a:tc>
                  <a:txBody>
                    <a:bodyPr/>
                    <a:lstStyle/>
                    <a:p>
                      <a:r>
                        <a:rPr lang="vi-VN" sz="1200" b="0" i="0">
                          <a:solidFill>
                            <a:srgbClr val="1F2937"/>
                          </a:solidFill>
                          <a:latin typeface="Arial"/>
                        </a:rPr>
                        <a:t>161</a:t>
                      </a:r>
                    </a:p>
                  </a:txBody>
                  <a:tcPr marL="73152" marR="73152" marT="27432" marB="27432" anchor="ctr">
                    <a:solidFill>
                      <a:srgbClr val="FFFFFF"/>
                    </a:solidFill>
                  </a:tcPr>
                </a:tc>
                <a:extLst>
                  <a:ext uri="{0D108BD9-81ED-4DB2-BD59-A6C34878D82A}">
                    <a16:rowId xmlns:a16="http://schemas.microsoft.com/office/drawing/2014/main" val="10001"/>
                  </a:ext>
                </a:extLst>
              </a:tr>
              <a:tr h="420624">
                <a:tc>
                  <a:txBody>
                    <a:bodyPr/>
                    <a:lstStyle/>
                    <a:p>
                      <a:r>
                        <a:rPr lang="vi-VN" sz="1200" b="1" i="0">
                          <a:solidFill>
                            <a:srgbClr val="1F2937"/>
                          </a:solidFill>
                          <a:latin typeface="Arial"/>
                        </a:rPr>
                        <a:t>Kiểu dáng điền theo dòng</a:t>
                      </a:r>
                    </a:p>
                  </a:txBody>
                  <a:tcPr marL="73152" marR="73152" marT="27432" marB="27432" anchor="ctr">
                    <a:solidFill>
                      <a:srgbClr val="EAF2FA"/>
                    </a:solidFill>
                  </a:tcPr>
                </a:tc>
                <a:tc>
                  <a:txBody>
                    <a:bodyPr/>
                    <a:lstStyle/>
                    <a:p>
                      <a:r>
                        <a:rPr lang="vi-VN" sz="1200" b="0" i="0">
                          <a:solidFill>
                            <a:srgbClr val="1F2937"/>
                          </a:solidFill>
                          <a:latin typeface="Arial"/>
                        </a:rPr>
                        <a:t>3.443</a:t>
                      </a:r>
                    </a:p>
                  </a:txBody>
                  <a:tcPr marL="73152" marR="73152" marT="27432" marB="27432" anchor="ctr">
                    <a:solidFill>
                      <a:srgbClr val="EAF2FA"/>
                    </a:solidFill>
                  </a:tcPr>
                </a:tc>
                <a:tc>
                  <a:txBody>
                    <a:bodyPr/>
                    <a:lstStyle/>
                    <a:p>
                      <a:r>
                        <a:rPr lang="vi-VN" sz="1200" b="0" i="0">
                          <a:solidFill>
                            <a:srgbClr val="1F2937"/>
                          </a:solidFill>
                          <a:latin typeface="Arial"/>
                        </a:rPr>
                        <a:t>884</a:t>
                      </a:r>
                    </a:p>
                  </a:txBody>
                  <a:tcPr marL="73152" marR="73152" marT="27432" marB="27432" anchor="ctr">
                    <a:solidFill>
                      <a:srgbClr val="EAF2FA"/>
                    </a:solidFill>
                  </a:tcPr>
                </a:tc>
                <a:extLst>
                  <a:ext uri="{0D108BD9-81ED-4DB2-BD59-A6C34878D82A}">
                    <a16:rowId xmlns:a16="http://schemas.microsoft.com/office/drawing/2014/main" val="10002"/>
                  </a:ext>
                </a:extLst>
              </a:tr>
              <a:tr h="420624">
                <a:tc>
                  <a:txBody>
                    <a:bodyPr/>
                    <a:lstStyle/>
                    <a:p>
                      <a:r>
                        <a:rPr lang="vi-VN" sz="1200" b="1" i="0">
                          <a:solidFill>
                            <a:srgbClr val="1F2937"/>
                          </a:solidFill>
                          <a:latin typeface="Arial"/>
                        </a:rPr>
                        <a:t>Kiểu dáng → "Không rõ"</a:t>
                      </a:r>
                    </a:p>
                  </a:txBody>
                  <a:tcPr marL="73152" marR="73152" marT="27432" marB="27432" anchor="ctr">
                    <a:solidFill>
                      <a:srgbClr val="FFFFFF"/>
                    </a:solidFill>
                  </a:tcPr>
                </a:tc>
                <a:tc>
                  <a:txBody>
                    <a:bodyPr/>
                    <a:lstStyle/>
                    <a:p>
                      <a:r>
                        <a:rPr lang="vi-VN" sz="1200" b="0" i="0">
                          <a:solidFill>
                            <a:srgbClr val="1F2937"/>
                          </a:solidFill>
                          <a:latin typeface="Arial"/>
                        </a:rPr>
                        <a:t>208</a:t>
                      </a:r>
                    </a:p>
                  </a:txBody>
                  <a:tcPr marL="73152" marR="73152" marT="27432" marB="27432" anchor="ctr">
                    <a:solidFill>
                      <a:srgbClr val="FFFFFF"/>
                    </a:solidFill>
                  </a:tcPr>
                </a:tc>
                <a:tc>
                  <a:txBody>
                    <a:bodyPr/>
                    <a:lstStyle/>
                    <a:p>
                      <a:r>
                        <a:rPr lang="vi-VN" sz="1200" b="0" i="0">
                          <a:solidFill>
                            <a:srgbClr val="1F2937"/>
                          </a:solidFill>
                          <a:latin typeface="Arial"/>
                        </a:rPr>
                        <a:t>49</a:t>
                      </a:r>
                    </a:p>
                  </a:txBody>
                  <a:tcPr marL="73152" marR="73152" marT="27432" marB="27432" anchor="ctr">
                    <a:solidFill>
                      <a:srgbClr val="FFFFFF"/>
                    </a:solidFill>
                  </a:tcPr>
                </a:tc>
                <a:extLst>
                  <a:ext uri="{0D108BD9-81ED-4DB2-BD59-A6C34878D82A}">
                    <a16:rowId xmlns:a16="http://schemas.microsoft.com/office/drawing/2014/main" val="10003"/>
                  </a:ext>
                </a:extLst>
              </a:tr>
              <a:tr h="420624">
                <a:tc>
                  <a:txBody>
                    <a:bodyPr/>
                    <a:lstStyle/>
                    <a:p>
                      <a:r>
                        <a:rPr lang="vi-VN" sz="1200" b="1" i="0">
                          <a:solidFill>
                            <a:srgbClr val="1F2937"/>
                          </a:solidFill>
                          <a:latin typeface="Arial"/>
                        </a:rPr>
                        <a:t>Số chỗ được điền</a:t>
                      </a:r>
                    </a:p>
                  </a:txBody>
                  <a:tcPr marL="73152" marR="73152" marT="27432" marB="27432" anchor="ctr">
                    <a:solidFill>
                      <a:srgbClr val="EAF2FA"/>
                    </a:solidFill>
                  </a:tcPr>
                </a:tc>
                <a:tc>
                  <a:txBody>
                    <a:bodyPr/>
                    <a:lstStyle/>
                    <a:p>
                      <a:r>
                        <a:rPr lang="vi-VN" sz="1200" b="0" i="0">
                          <a:solidFill>
                            <a:srgbClr val="1F2937"/>
                          </a:solidFill>
                          <a:latin typeface="Arial"/>
                        </a:rPr>
                        <a:t>2.817</a:t>
                      </a:r>
                    </a:p>
                  </a:txBody>
                  <a:tcPr marL="73152" marR="73152" marT="27432" marB="27432" anchor="ctr">
                    <a:solidFill>
                      <a:srgbClr val="EAF2FA"/>
                    </a:solidFill>
                  </a:tcPr>
                </a:tc>
                <a:tc>
                  <a:txBody>
                    <a:bodyPr/>
                    <a:lstStyle/>
                    <a:p>
                      <a:r>
                        <a:rPr lang="vi-VN" sz="1200" b="0" i="0">
                          <a:solidFill>
                            <a:srgbClr val="1F2937"/>
                          </a:solidFill>
                          <a:latin typeface="Arial"/>
                        </a:rPr>
                        <a:t>725</a:t>
                      </a:r>
                    </a:p>
                  </a:txBody>
                  <a:tcPr marL="73152" marR="73152" marT="27432" marB="27432" anchor="ctr">
                    <a:solidFill>
                      <a:srgbClr val="EAF2FA"/>
                    </a:solidFill>
                  </a:tcPr>
                </a:tc>
                <a:extLst>
                  <a:ext uri="{0D108BD9-81ED-4DB2-BD59-A6C34878D82A}">
                    <a16:rowId xmlns:a16="http://schemas.microsoft.com/office/drawing/2014/main" val="10004"/>
                  </a:ext>
                </a:extLst>
              </a:tr>
            </a:tbl>
          </a:graphicData>
        </a:graphic>
      </p:graphicFrame>
      <p:sp>
        <p:nvSpPr>
          <p:cNvPr id="6" name="Rounded Rectangle 5"/>
          <p:cNvSpPr/>
          <p:nvPr/>
        </p:nvSpPr>
        <p:spPr>
          <a:xfrm>
            <a:off x="7863840" y="3703320"/>
            <a:ext cx="3840480" cy="178308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046720" y="3749039"/>
            <a:ext cx="3566160" cy="365760"/>
          </a:xfrm>
          <a:prstGeom prst="rect">
            <a:avLst/>
          </a:prstGeom>
          <a:noFill/>
        </p:spPr>
        <p:txBody>
          <a:bodyPr wrap="square" lIns="45720" tIns="27432" rIns="45720" bIns="27432" anchor="t">
            <a:spAutoFit/>
          </a:bodyPr>
          <a:lstStyle/>
          <a:p>
            <a:pPr algn="l">
              <a:lnSpc>
                <a:spcPct val="110000"/>
              </a:lnSpc>
              <a:spcAft>
                <a:spcPts val="600"/>
              </a:spcAft>
            </a:pPr>
            <a:r>
              <a:rPr lang="vi-VN" sz="1400" b="1" i="0">
                <a:solidFill>
                  <a:srgbClr val="FFD400"/>
                </a:solidFill>
                <a:latin typeface="Arial"/>
              </a:rPr>
              <a:t>Đối chứng (5-fold CV, train)</a:t>
            </a:r>
          </a:p>
        </p:txBody>
      </p:sp>
      <p:sp>
        <p:nvSpPr>
          <p:cNvPr id="8" name="TextBox 7"/>
          <p:cNvSpPr txBox="1"/>
          <p:nvPr/>
        </p:nvSpPr>
        <p:spPr>
          <a:xfrm>
            <a:off x="8046720" y="4160520"/>
            <a:ext cx="3566160" cy="1280160"/>
          </a:xfrm>
          <a:prstGeom prst="rect">
            <a:avLst/>
          </a:prstGeom>
          <a:noFill/>
        </p:spPr>
        <p:txBody>
          <a:bodyPr wrap="square" lIns="45720" tIns="27432" rIns="45720" bIns="27432" anchor="t">
            <a:spAutoFit/>
          </a:bodyPr>
          <a:lstStyle/>
          <a:p>
            <a:pPr algn="l">
              <a:lnSpc>
                <a:spcPct val="110000"/>
              </a:lnSpc>
              <a:spcAft>
                <a:spcPts val="400"/>
              </a:spcAft>
            </a:pPr>
            <a:r>
              <a:rPr lang="vi-VN" sz="1300" b="0" i="0">
                <a:solidFill>
                  <a:srgbClr val="FFFFFF"/>
                </a:solidFill>
                <a:latin typeface="Arial"/>
              </a:rPr>
              <a:t>Điền sẵn: MAPE 16,81%</a:t>
            </a:r>
          </a:p>
          <a:p>
            <a:pPr algn="l">
              <a:lnSpc>
                <a:spcPct val="110000"/>
              </a:lnSpc>
              <a:spcAft>
                <a:spcPts val="400"/>
              </a:spcAft>
            </a:pPr>
            <a:r>
              <a:rPr lang="vi-VN" sz="1300" b="0" i="0">
                <a:solidFill>
                  <a:srgbClr val="FFFFFF"/>
                </a:solidFill>
                <a:latin typeface="Arial"/>
              </a:rPr>
              <a:t>Điền trong từng fold: 16,85%</a:t>
            </a:r>
          </a:p>
          <a:p>
            <a:pPr algn="l">
              <a:lnSpc>
                <a:spcPct val="110000"/>
              </a:lnSpc>
              <a:spcAft>
                <a:spcPts val="400"/>
              </a:spcAft>
            </a:pPr>
            <a:r>
              <a:rPr lang="vi-VN" sz="1300" b="1" i="0">
                <a:solidFill>
                  <a:srgbClr val="FFD400"/>
                </a:solidFill>
                <a:latin typeface="Arial"/>
              </a:rPr>
              <a:t>Chênh 0,04 điểm % → không đáng kể</a:t>
            </a:r>
          </a:p>
        </p:txBody>
      </p:sp>
      <p:sp>
        <p:nvSpPr>
          <p:cNvPr id="9" name="TextBox 8"/>
          <p:cNvSpPr txBox="1"/>
          <p:nvPr/>
        </p:nvSpPr>
        <p:spPr>
          <a:xfrm>
            <a:off x="548640" y="4572000"/>
            <a:ext cx="7132320" cy="365760"/>
          </a:xfrm>
          <a:prstGeom prst="rect">
            <a:avLst/>
          </a:prstGeom>
          <a:noFill/>
        </p:spPr>
        <p:txBody>
          <a:bodyPr wrap="square" lIns="45720" tIns="27432" rIns="45720" bIns="27432" anchor="t">
            <a:spAutoFit/>
          </a:bodyPr>
          <a:lstStyle/>
          <a:p>
            <a:pPr algn="l">
              <a:lnSpc>
                <a:spcPct val="110000"/>
              </a:lnSpc>
              <a:spcAft>
                <a:spcPts val="600"/>
              </a:spcAft>
            </a:pPr>
            <a:r>
              <a:rPr lang="vi-VN" sz="1300" b="0" i="0">
                <a:solidFill>
                  <a:srgbClr val="5B6775"/>
                </a:solidFill>
                <a:latin typeface="Arial"/>
              </a:rPr>
              <a:t>Thanh nhạt: trước khi điền (chỉ phần đã khai); thanh đậm: sau khi điền (train)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3 · TIỀN XỬ LÝ VÀ XỬ LÝ DỮ LIỆU</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Gộp nhãn hiếm theo cấp; ngưỡng chọn bằng CV trên train</a:t>
            </a:r>
          </a:p>
        </p:txBody>
      </p:sp>
      <p:pic>
        <p:nvPicPr>
          <p:cNvPr id="4" name="Picture 3" descr="s11_gop_nhan.png"/>
          <p:cNvPicPr>
            <a:picLocks noChangeAspect="1"/>
          </p:cNvPicPr>
          <p:nvPr/>
        </p:nvPicPr>
        <p:blipFill>
          <a:blip r:embed="rId3"/>
          <a:stretch>
            <a:fillRect/>
          </a:stretch>
        </p:blipFill>
        <p:spPr>
          <a:xfrm>
            <a:off x="365760" y="1348228"/>
            <a:ext cx="7589520" cy="2789942"/>
          </a:xfrm>
          <a:prstGeom prst="rect">
            <a:avLst/>
          </a:prstGeom>
        </p:spPr>
      </p:pic>
      <p:sp>
        <p:nvSpPr>
          <p:cNvPr id="5" name="Rounded Rectangle 4"/>
          <p:cNvSpPr/>
          <p:nvPr/>
        </p:nvSpPr>
        <p:spPr>
          <a:xfrm>
            <a:off x="548640" y="4343400"/>
            <a:ext cx="2331720" cy="11887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Oval 5"/>
          <p:cNvSpPr/>
          <p:nvPr/>
        </p:nvSpPr>
        <p:spPr>
          <a:xfrm>
            <a:off x="658368" y="4434840"/>
            <a:ext cx="384048" cy="384048"/>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vi-VN" sz="1200" b="1" i="0">
                <a:solidFill>
                  <a:srgbClr val="FFFFFF"/>
                </a:solidFill>
                <a:latin typeface="Arial"/>
              </a:rPr>
              <a:t>1</a:t>
            </a:r>
          </a:p>
        </p:txBody>
      </p:sp>
      <p:sp>
        <p:nvSpPr>
          <p:cNvPr id="7" name="TextBox 6"/>
          <p:cNvSpPr txBox="1"/>
          <p:nvPr/>
        </p:nvSpPr>
        <p:spPr>
          <a:xfrm>
            <a:off x="1115568" y="4407408"/>
            <a:ext cx="1737360" cy="411480"/>
          </a:xfrm>
          <a:prstGeom prst="rect">
            <a:avLst/>
          </a:prstGeom>
          <a:noFill/>
        </p:spPr>
        <p:txBody>
          <a:bodyPr wrap="square" lIns="45720" tIns="27432" rIns="45720" bIns="27432" anchor="t">
            <a:spAutoFit/>
          </a:bodyPr>
          <a:lstStyle/>
          <a:p>
            <a:pPr algn="l">
              <a:lnSpc>
                <a:spcPct val="110000"/>
              </a:lnSpc>
              <a:spcAft>
                <a:spcPts val="600"/>
              </a:spcAft>
            </a:pPr>
            <a:r>
              <a:rPr lang="vi-VN" sz="1300" b="1" i="0">
                <a:solidFill>
                  <a:srgbClr val="075289"/>
                </a:solidFill>
                <a:latin typeface="Arial"/>
              </a:rPr>
              <a:t>Dòng xe ≥ 10 tin</a:t>
            </a:r>
          </a:p>
        </p:txBody>
      </p:sp>
      <p:sp>
        <p:nvSpPr>
          <p:cNvPr id="8" name="TextBox 7"/>
          <p:cNvSpPr txBox="1"/>
          <p:nvPr/>
        </p:nvSpPr>
        <p:spPr>
          <a:xfrm>
            <a:off x="685800" y="4846320"/>
            <a:ext cx="2103120" cy="685800"/>
          </a:xfrm>
          <a:prstGeom prst="rect">
            <a:avLst/>
          </a:prstGeom>
          <a:noFill/>
        </p:spPr>
        <p:txBody>
          <a:bodyPr wrap="square" lIns="45720" tIns="27432" rIns="45720" bIns="27432" anchor="t">
            <a:spAutoFit/>
          </a:bodyPr>
          <a:lstStyle/>
          <a:p>
            <a:pPr algn="l">
              <a:lnSpc>
                <a:spcPct val="110000"/>
              </a:lnSpc>
              <a:spcAft>
                <a:spcPts val="600"/>
              </a:spcAft>
            </a:pPr>
            <a:r>
              <a:rPr lang="vi-VN" sz="1200" b="0" i="0">
                <a:solidFill>
                  <a:srgbClr val="1F2937"/>
                </a:solidFill>
                <a:latin typeface="Arial"/>
              </a:rPr>
              <a:t>giữ nguyên: Toyota Vios</a:t>
            </a:r>
          </a:p>
        </p:txBody>
      </p:sp>
      <p:sp>
        <p:nvSpPr>
          <p:cNvPr id="9" name="Rounded Rectangle 8"/>
          <p:cNvSpPr/>
          <p:nvPr/>
        </p:nvSpPr>
        <p:spPr>
          <a:xfrm>
            <a:off x="3063240" y="4343400"/>
            <a:ext cx="2331720" cy="11887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172968" y="4434840"/>
            <a:ext cx="384048" cy="384048"/>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vi-VN" sz="1200" b="1" i="0">
                <a:solidFill>
                  <a:srgbClr val="FFFFFF"/>
                </a:solidFill>
                <a:latin typeface="Arial"/>
              </a:rPr>
              <a:t>2</a:t>
            </a:r>
          </a:p>
        </p:txBody>
      </p:sp>
      <p:sp>
        <p:nvSpPr>
          <p:cNvPr id="11" name="TextBox 10"/>
          <p:cNvSpPr txBox="1"/>
          <p:nvPr/>
        </p:nvSpPr>
        <p:spPr>
          <a:xfrm>
            <a:off x="3630168" y="4407408"/>
            <a:ext cx="1737360" cy="411480"/>
          </a:xfrm>
          <a:prstGeom prst="rect">
            <a:avLst/>
          </a:prstGeom>
          <a:noFill/>
        </p:spPr>
        <p:txBody>
          <a:bodyPr wrap="square" lIns="45720" tIns="27432" rIns="45720" bIns="27432" anchor="t">
            <a:spAutoFit/>
          </a:bodyPr>
          <a:lstStyle/>
          <a:p>
            <a:pPr algn="l">
              <a:lnSpc>
                <a:spcPct val="110000"/>
              </a:lnSpc>
              <a:spcAft>
                <a:spcPts val="600"/>
              </a:spcAft>
            </a:pPr>
            <a:r>
              <a:rPr lang="vi-VN" sz="1300" b="1" i="0">
                <a:solidFill>
                  <a:srgbClr val="075289"/>
                </a:solidFill>
                <a:latin typeface="Arial"/>
              </a:rPr>
              <a:t>Dòng xe hiếm</a:t>
            </a:r>
          </a:p>
        </p:txBody>
      </p:sp>
      <p:sp>
        <p:nvSpPr>
          <p:cNvPr id="12" name="TextBox 11"/>
          <p:cNvSpPr txBox="1"/>
          <p:nvPr/>
        </p:nvSpPr>
        <p:spPr>
          <a:xfrm>
            <a:off x="3200400" y="4846320"/>
            <a:ext cx="2103120" cy="685800"/>
          </a:xfrm>
          <a:prstGeom prst="rect">
            <a:avLst/>
          </a:prstGeom>
          <a:noFill/>
        </p:spPr>
        <p:txBody>
          <a:bodyPr wrap="square" lIns="45720" tIns="27432" rIns="45720" bIns="27432" anchor="t">
            <a:spAutoFit/>
          </a:bodyPr>
          <a:lstStyle/>
          <a:p>
            <a:pPr algn="l">
              <a:lnSpc>
                <a:spcPct val="110000"/>
              </a:lnSpc>
              <a:spcAft>
                <a:spcPts val="600"/>
              </a:spcAft>
            </a:pPr>
            <a:r>
              <a:rPr lang="vi-VN" sz="1200" b="0" i="0">
                <a:solidFill>
                  <a:srgbClr val="1F2937"/>
                </a:solidFill>
                <a:latin typeface="Arial"/>
              </a:rPr>
              <a:t>→ "Mercedes Benz - dòng khác"</a:t>
            </a:r>
          </a:p>
        </p:txBody>
      </p:sp>
      <p:sp>
        <p:nvSpPr>
          <p:cNvPr id="13" name="Rounded Rectangle 12"/>
          <p:cNvSpPr/>
          <p:nvPr/>
        </p:nvSpPr>
        <p:spPr>
          <a:xfrm>
            <a:off x="5577840" y="4343400"/>
            <a:ext cx="2331720" cy="11887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5687568" y="4434840"/>
            <a:ext cx="384048" cy="384048"/>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vi-VN" sz="1200" b="1" i="0">
                <a:solidFill>
                  <a:srgbClr val="FFFFFF"/>
                </a:solidFill>
                <a:latin typeface="Arial"/>
              </a:rPr>
              <a:t>3</a:t>
            </a:r>
          </a:p>
        </p:txBody>
      </p:sp>
      <p:sp>
        <p:nvSpPr>
          <p:cNvPr id="15" name="TextBox 14"/>
          <p:cNvSpPr txBox="1"/>
          <p:nvPr/>
        </p:nvSpPr>
        <p:spPr>
          <a:xfrm>
            <a:off x="6144768" y="4407408"/>
            <a:ext cx="1737360" cy="411480"/>
          </a:xfrm>
          <a:prstGeom prst="rect">
            <a:avLst/>
          </a:prstGeom>
          <a:noFill/>
        </p:spPr>
        <p:txBody>
          <a:bodyPr wrap="square" lIns="45720" tIns="27432" rIns="45720" bIns="27432" anchor="t">
            <a:spAutoFit/>
          </a:bodyPr>
          <a:lstStyle/>
          <a:p>
            <a:pPr algn="l">
              <a:lnSpc>
                <a:spcPct val="110000"/>
              </a:lnSpc>
              <a:spcAft>
                <a:spcPts val="600"/>
              </a:spcAft>
            </a:pPr>
            <a:r>
              <a:rPr lang="vi-VN" sz="1300" b="1" i="0">
                <a:solidFill>
                  <a:srgbClr val="075289"/>
                </a:solidFill>
                <a:latin typeface="Arial"/>
              </a:rPr>
              <a:t>Hãng &lt; 30 tin</a:t>
            </a:r>
          </a:p>
        </p:txBody>
      </p:sp>
      <p:sp>
        <p:nvSpPr>
          <p:cNvPr id="16" name="TextBox 15"/>
          <p:cNvSpPr txBox="1"/>
          <p:nvPr/>
        </p:nvSpPr>
        <p:spPr>
          <a:xfrm>
            <a:off x="5715000" y="4846320"/>
            <a:ext cx="2103120" cy="685800"/>
          </a:xfrm>
          <a:prstGeom prst="rect">
            <a:avLst/>
          </a:prstGeom>
          <a:noFill/>
        </p:spPr>
        <p:txBody>
          <a:bodyPr wrap="square" lIns="45720" tIns="27432" rIns="45720" bIns="27432" anchor="t">
            <a:spAutoFit/>
          </a:bodyPr>
          <a:lstStyle/>
          <a:p>
            <a:pPr algn="l">
              <a:lnSpc>
                <a:spcPct val="110000"/>
              </a:lnSpc>
              <a:spcAft>
                <a:spcPts val="600"/>
              </a:spcAft>
            </a:pPr>
            <a:r>
              <a:rPr lang="vi-VN" sz="1200" b="0" i="0">
                <a:solidFill>
                  <a:srgbClr val="1F2937"/>
                </a:solidFill>
                <a:latin typeface="Arial"/>
              </a:rPr>
              <a:t>→ "Hãng cao cấp khác" (Bentley) / "phổ thông khác" (Wuling)</a:t>
            </a:r>
          </a:p>
        </p:txBody>
      </p:sp>
      <p:sp>
        <p:nvSpPr>
          <p:cNvPr id="17" name="Rounded Rectangle 16"/>
          <p:cNvSpPr/>
          <p:nvPr/>
        </p:nvSpPr>
        <p:spPr>
          <a:xfrm>
            <a:off x="8183879" y="1371600"/>
            <a:ext cx="3429000" cy="182880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366759" y="1444752"/>
            <a:ext cx="3063240" cy="365760"/>
          </a:xfrm>
          <a:prstGeom prst="rect">
            <a:avLst/>
          </a:prstGeom>
          <a:noFill/>
        </p:spPr>
        <p:txBody>
          <a:bodyPr wrap="square" lIns="45720" tIns="27432" rIns="45720" bIns="27432" anchor="t">
            <a:spAutoFit/>
          </a:bodyPr>
          <a:lstStyle/>
          <a:p>
            <a:pPr algn="l">
              <a:lnSpc>
                <a:spcPct val="110000"/>
              </a:lnSpc>
              <a:spcAft>
                <a:spcPts val="600"/>
              </a:spcAft>
            </a:pPr>
            <a:r>
              <a:rPr lang="vi-VN" sz="1400" b="1" i="0">
                <a:solidFill>
                  <a:srgbClr val="FFD400"/>
                </a:solidFill>
                <a:latin typeface="Arial"/>
              </a:rPr>
              <a:t>27 hãng, 196 dòng (train)</a:t>
            </a:r>
          </a:p>
        </p:txBody>
      </p:sp>
      <p:sp>
        <p:nvSpPr>
          <p:cNvPr id="19" name="TextBox 18"/>
          <p:cNvSpPr txBox="1"/>
          <p:nvPr/>
        </p:nvSpPr>
        <p:spPr>
          <a:xfrm>
            <a:off x="8366759" y="1828800"/>
            <a:ext cx="3063240" cy="1325880"/>
          </a:xfrm>
          <a:prstGeom prst="rect">
            <a:avLst/>
          </a:prstGeom>
          <a:noFill/>
        </p:spPr>
        <p:txBody>
          <a:bodyPr wrap="square" lIns="45720" tIns="27432" rIns="45720" bIns="27432" anchor="t">
            <a:spAutoFit/>
          </a:bodyPr>
          <a:lstStyle/>
          <a:p>
            <a:pPr algn="l">
              <a:lnSpc>
                <a:spcPct val="110000"/>
              </a:lnSpc>
              <a:spcAft>
                <a:spcPts val="400"/>
              </a:spcAft>
            </a:pPr>
            <a:r>
              <a:rPr lang="vi-VN" sz="1200" b="0" i="0">
                <a:solidFill>
                  <a:srgbClr val="FFFFFF"/>
                </a:solidFill>
                <a:latin typeface="Arial"/>
              </a:rPr>
              <a:t>CV MAPE (cũ → chọn): Ridge 23,8% → 19,6%; RF 17,5% → 16,6%</a:t>
            </a:r>
          </a:p>
        </p:txBody>
      </p:sp>
      <p:sp>
        <p:nvSpPr>
          <p:cNvPr id="20" name="Rounded Rectangle 19"/>
          <p:cNvSpPr/>
          <p:nvPr/>
        </p:nvSpPr>
        <p:spPr>
          <a:xfrm>
            <a:off x="8183879" y="3383280"/>
            <a:ext cx="3429000" cy="21488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366759" y="3456432"/>
            <a:ext cx="3063240" cy="365760"/>
          </a:xfrm>
          <a:prstGeom prst="rect">
            <a:avLst/>
          </a:prstGeom>
          <a:noFill/>
        </p:spPr>
        <p:txBody>
          <a:bodyPr wrap="square" lIns="45720" tIns="27432" rIns="45720" bIns="27432" anchor="t">
            <a:spAutoFit/>
          </a:bodyPr>
          <a:lstStyle/>
          <a:p>
            <a:pPr algn="l">
              <a:lnSpc>
                <a:spcPct val="110000"/>
              </a:lnSpc>
              <a:spcAft>
                <a:spcPts val="600"/>
              </a:spcAft>
            </a:pPr>
            <a:r>
              <a:rPr lang="vi-VN" sz="1400" b="1" i="0">
                <a:solidFill>
                  <a:srgbClr val="075289"/>
                </a:solidFill>
                <a:latin typeface="Arial"/>
              </a:rPr>
              <a:t>Thêm vị trí có giúp không?</a:t>
            </a:r>
          </a:p>
        </p:txBody>
      </p:sp>
      <p:sp>
        <p:nvSpPr>
          <p:cNvPr id="22" name="TextBox 21"/>
          <p:cNvSpPr txBox="1"/>
          <p:nvPr/>
        </p:nvSpPr>
        <p:spPr>
          <a:xfrm>
            <a:off x="8366759" y="3840480"/>
            <a:ext cx="3063240" cy="1645920"/>
          </a:xfrm>
          <a:prstGeom prst="rect">
            <a:avLst/>
          </a:prstGeom>
          <a:noFill/>
        </p:spPr>
        <p:txBody>
          <a:bodyPr wrap="square" lIns="45720" tIns="27432" rIns="45720" bIns="27432" anchor="t">
            <a:spAutoFit/>
          </a:bodyPr>
          <a:lstStyle/>
          <a:p>
            <a:pPr algn="l">
              <a:lnSpc>
                <a:spcPct val="110000"/>
              </a:lnSpc>
              <a:spcAft>
                <a:spcPts val="400"/>
              </a:spcAft>
            </a:pPr>
            <a:r>
              <a:rPr lang="vi-VN" sz="1200" b="0" i="0">
                <a:solidFill>
                  <a:srgbClr val="1F2937"/>
                </a:solidFill>
                <a:latin typeface="Arial"/>
              </a:rPr>
              <a:t>Thêm miền hoặc tỉnh/thành: MAPE đổi dưới 0,1 điểm % → không dùng vị trí</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3 · TIỀN XỬ LÝ VÀ XỬ LÝ DỮ LIỆU</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Học trên log(giá); mất cân bằng theo phân khúc giá</a:t>
            </a:r>
          </a:p>
        </p:txBody>
      </p:sp>
      <p:pic>
        <p:nvPicPr>
          <p:cNvPr id="4" name="Picture 3" descr="p03_gia_va_log_gia.png"/>
          <p:cNvPicPr>
            <a:picLocks noChangeAspect="1"/>
          </p:cNvPicPr>
          <p:nvPr/>
        </p:nvPicPr>
        <p:blipFill>
          <a:blip r:embed="rId3"/>
          <a:stretch>
            <a:fillRect/>
          </a:stretch>
        </p:blipFill>
        <p:spPr>
          <a:xfrm>
            <a:off x="365760" y="1640504"/>
            <a:ext cx="6035040" cy="2296830"/>
          </a:xfrm>
          <a:prstGeom prst="rect">
            <a:avLst/>
          </a:prstGeom>
        </p:spPr>
      </p:pic>
      <p:pic>
        <p:nvPicPr>
          <p:cNvPr id="5" name="Picture 4" descr="p04_phan_khuc_gia.png"/>
          <p:cNvPicPr>
            <a:picLocks noChangeAspect="1"/>
          </p:cNvPicPr>
          <p:nvPr/>
        </p:nvPicPr>
        <p:blipFill>
          <a:blip r:embed="rId4"/>
          <a:stretch>
            <a:fillRect/>
          </a:stretch>
        </p:blipFill>
        <p:spPr>
          <a:xfrm>
            <a:off x="6492240" y="1346103"/>
            <a:ext cx="5212080" cy="2885632"/>
          </a:xfrm>
          <a:prstGeom prst="rect">
            <a:avLst/>
          </a:prstGeom>
        </p:spPr>
      </p:pic>
      <p:sp>
        <p:nvSpPr>
          <p:cNvPr id="6" name="Rounded Rectangle 5"/>
          <p:cNvSpPr/>
          <p:nvPr/>
        </p:nvSpPr>
        <p:spPr>
          <a:xfrm>
            <a:off x="548640" y="4434840"/>
            <a:ext cx="5394960" cy="109728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31520" y="4507992"/>
            <a:ext cx="5029200" cy="365760"/>
          </a:xfrm>
          <a:prstGeom prst="rect">
            <a:avLst/>
          </a:prstGeom>
          <a:noFill/>
        </p:spPr>
        <p:txBody>
          <a:bodyPr wrap="square" lIns="45720" tIns="27432" rIns="45720" bIns="27432" anchor="t">
            <a:spAutoFit/>
          </a:bodyPr>
          <a:lstStyle/>
          <a:p>
            <a:pPr algn="l">
              <a:lnSpc>
                <a:spcPct val="110000"/>
              </a:lnSpc>
              <a:spcAft>
                <a:spcPts val="600"/>
              </a:spcAft>
            </a:pPr>
            <a:r>
              <a:rPr lang="vi-VN" sz="1400" b="1" i="0">
                <a:solidFill>
                  <a:srgbClr val="FFD400"/>
                </a:solidFill>
                <a:latin typeface="Arial"/>
              </a:rPr>
              <a:t>Log giá: kiểm chứng bằng CV (phần 5)</a:t>
            </a:r>
          </a:p>
        </p:txBody>
      </p:sp>
      <p:sp>
        <p:nvSpPr>
          <p:cNvPr id="8" name="TextBox 7"/>
          <p:cNvSpPr txBox="1"/>
          <p:nvPr/>
        </p:nvSpPr>
        <p:spPr>
          <a:xfrm>
            <a:off x="731520" y="4892040"/>
            <a:ext cx="5029200" cy="594359"/>
          </a:xfrm>
          <a:prstGeom prst="rect">
            <a:avLst/>
          </a:prstGeom>
          <a:noFill/>
        </p:spPr>
        <p:txBody>
          <a:bodyPr wrap="square" lIns="45720" tIns="27432" rIns="45720" bIns="27432" anchor="t">
            <a:spAutoFit/>
          </a:bodyPr>
          <a:lstStyle/>
          <a:p>
            <a:pPr algn="l">
              <a:lnSpc>
                <a:spcPct val="110000"/>
              </a:lnSpc>
              <a:spcAft>
                <a:spcPts val="400"/>
              </a:spcAft>
            </a:pPr>
            <a:r>
              <a:rPr lang="vi-VN" sz="1200" b="0" i="0">
                <a:solidFill>
                  <a:srgbClr val="FFFFFF"/>
                </a:solidFill>
                <a:latin typeface="Arial"/>
              </a:rPr>
              <a:t>MAPE 16,6% so với 20,0% khi học trên giá gốc</a:t>
            </a:r>
          </a:p>
        </p:txBody>
      </p:sp>
      <p:sp>
        <p:nvSpPr>
          <p:cNvPr id="9" name="Rounded Rectangle 8"/>
          <p:cNvSpPr/>
          <p:nvPr/>
        </p:nvSpPr>
        <p:spPr>
          <a:xfrm>
            <a:off x="6172200" y="4434840"/>
            <a:ext cx="5440680" cy="109728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355080" y="4507992"/>
            <a:ext cx="5074920" cy="365760"/>
          </a:xfrm>
          <a:prstGeom prst="rect">
            <a:avLst/>
          </a:prstGeom>
          <a:noFill/>
        </p:spPr>
        <p:txBody>
          <a:bodyPr wrap="square" lIns="45720" tIns="27432" rIns="45720" bIns="27432" anchor="t">
            <a:spAutoFit/>
          </a:bodyPr>
          <a:lstStyle/>
          <a:p>
            <a:pPr algn="l">
              <a:lnSpc>
                <a:spcPct val="110000"/>
              </a:lnSpc>
              <a:spcAft>
                <a:spcPts val="600"/>
              </a:spcAft>
            </a:pPr>
            <a:r>
              <a:rPr lang="vi-VN" sz="1400" b="1" i="0">
                <a:solidFill>
                  <a:srgbClr val="075289"/>
                </a:solidFill>
                <a:latin typeface="Arial"/>
              </a:rPr>
              <a:t>Xử lý mất cân bằng</a:t>
            </a:r>
          </a:p>
        </p:txBody>
      </p:sp>
      <p:sp>
        <p:nvSpPr>
          <p:cNvPr id="11" name="TextBox 10"/>
          <p:cNvSpPr txBox="1"/>
          <p:nvPr/>
        </p:nvSpPr>
        <p:spPr>
          <a:xfrm>
            <a:off x="6355080" y="4892040"/>
            <a:ext cx="5074920" cy="594359"/>
          </a:xfrm>
          <a:prstGeom prst="rect">
            <a:avLst/>
          </a:prstGeom>
          <a:noFill/>
        </p:spPr>
        <p:txBody>
          <a:bodyPr wrap="square" lIns="45720" tIns="27432" rIns="45720" bIns="27432" anchor="t">
            <a:spAutoFit/>
          </a:bodyPr>
          <a:lstStyle/>
          <a:p>
            <a:pPr algn="l">
              <a:lnSpc>
                <a:spcPct val="110000"/>
              </a:lnSpc>
              <a:spcAft>
                <a:spcPts val="400"/>
              </a:spcAft>
            </a:pPr>
            <a:r>
              <a:rPr lang="vi-VN" sz="1200" b="0" i="0">
                <a:solidFill>
                  <a:srgbClr val="1F2937"/>
                </a:solidFill>
                <a:latin typeface="Arial"/>
              </a:rPr>
              <a:t>Chia phân tầng; báo MAPE theo phân khúc; thử trọng số mẫu / over / undersampling trong từng fold (phần 5)</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3 · TIỀN XỬ LÝ VÀ XỬ LÝ DỮ LIỆU</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Từ 14.835 tin thô còn 11.153 tin train và 2.797 tin test</a:t>
            </a:r>
          </a:p>
        </p:txBody>
      </p:sp>
      <p:pic>
        <p:nvPicPr>
          <p:cNvPr id="4" name="Picture 3" descr="p01_pheu_lam_sach.png"/>
          <p:cNvPicPr>
            <a:picLocks noChangeAspect="1"/>
          </p:cNvPicPr>
          <p:nvPr/>
        </p:nvPicPr>
        <p:blipFill>
          <a:blip r:embed="rId3"/>
          <a:stretch>
            <a:fillRect/>
          </a:stretch>
        </p:blipFill>
        <p:spPr>
          <a:xfrm>
            <a:off x="365760" y="1491631"/>
            <a:ext cx="6309360" cy="2411696"/>
          </a:xfrm>
          <a:prstGeom prst="rect">
            <a:avLst/>
          </a:prstGeom>
        </p:spPr>
      </p:pic>
      <p:graphicFrame>
        <p:nvGraphicFramePr>
          <p:cNvPr id="5" name="Table 4"/>
          <p:cNvGraphicFramePr>
            <a:graphicFrameLocks noGrp="1"/>
          </p:cNvGraphicFramePr>
          <p:nvPr/>
        </p:nvGraphicFramePr>
        <p:xfrm>
          <a:off x="6949440" y="1417320"/>
          <a:ext cx="4754880" cy="2633472"/>
        </p:xfrm>
        <a:graphic>
          <a:graphicData uri="http://schemas.openxmlformats.org/drawingml/2006/table">
            <a:tbl>
              <a:tblPr>
                <a:tableStyleId>{5940675A-B579-460E-94D1-54222C63F5DA}</a:tableStyleId>
              </a:tblPr>
              <a:tblGrid>
                <a:gridCol w="23774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tblGrid>
              <a:tr h="438912">
                <a:tc>
                  <a:txBody>
                    <a:bodyPr/>
                    <a:lstStyle/>
                    <a:p>
                      <a:endParaRPr/>
                    </a:p>
                  </a:txBody>
                  <a:tcPr marL="73152" marR="73152" marT="27432" marB="27432" anchor="ctr">
                    <a:solidFill>
                      <a:srgbClr val="075289"/>
                    </a:solidFill>
                  </a:tcPr>
                </a:tc>
                <a:tc>
                  <a:txBody>
                    <a:bodyPr/>
                    <a:lstStyle/>
                    <a:p>
                      <a:r>
                        <a:rPr lang="vi-VN" sz="1300" b="1" i="0">
                          <a:solidFill>
                            <a:srgbClr val="FFFFFF"/>
                          </a:solidFill>
                          <a:latin typeface="Arial"/>
                        </a:rPr>
                        <a:t>Train</a:t>
                      </a:r>
                    </a:p>
                  </a:txBody>
                  <a:tcPr marL="73152" marR="73152" marT="27432" marB="27432" anchor="ctr">
                    <a:solidFill>
                      <a:srgbClr val="075289"/>
                    </a:solidFill>
                  </a:tcPr>
                </a:tc>
                <a:tc>
                  <a:txBody>
                    <a:bodyPr/>
                    <a:lstStyle/>
                    <a:p>
                      <a:r>
                        <a:rPr lang="vi-VN" sz="1300" b="1" i="0">
                          <a:solidFill>
                            <a:srgbClr val="FFFFFF"/>
                          </a:solidFill>
                          <a:latin typeface="Arial"/>
                        </a:rPr>
                        <a:t>Test</a:t>
                      </a:r>
                    </a:p>
                  </a:txBody>
                  <a:tcPr marL="73152" marR="73152" marT="27432" marB="27432" anchor="ctr">
                    <a:solidFill>
                      <a:srgbClr val="075289"/>
                    </a:solidFill>
                  </a:tcPr>
                </a:tc>
                <a:extLst>
                  <a:ext uri="{0D108BD9-81ED-4DB2-BD59-A6C34878D82A}">
                    <a16:rowId xmlns:a16="http://schemas.microsoft.com/office/drawing/2014/main" val="10000"/>
                  </a:ext>
                </a:extLst>
              </a:tr>
              <a:tr h="438912">
                <a:tc>
                  <a:txBody>
                    <a:bodyPr/>
                    <a:lstStyle/>
                    <a:p>
                      <a:r>
                        <a:rPr lang="vi-VN" sz="1300" b="0" i="0">
                          <a:solidFill>
                            <a:srgbClr val="1F2937"/>
                          </a:solidFill>
                          <a:latin typeface="Arial"/>
                        </a:rPr>
                        <a:t>Sau khi chia</a:t>
                      </a:r>
                    </a:p>
                  </a:txBody>
                  <a:tcPr marL="73152" marR="73152" marT="27432" marB="27432" anchor="ctr">
                    <a:solidFill>
                      <a:srgbClr val="FFFFFF"/>
                    </a:solidFill>
                  </a:tcPr>
                </a:tc>
                <a:tc>
                  <a:txBody>
                    <a:bodyPr/>
                    <a:lstStyle/>
                    <a:p>
                      <a:r>
                        <a:rPr lang="vi-VN" sz="1300" b="0" i="0">
                          <a:solidFill>
                            <a:srgbClr val="1F2937"/>
                          </a:solidFill>
                          <a:latin typeface="Arial"/>
                        </a:rPr>
                        <a:t>11.252</a:t>
                      </a:r>
                    </a:p>
                  </a:txBody>
                  <a:tcPr marL="73152" marR="73152" marT="27432" marB="27432" anchor="ctr">
                    <a:solidFill>
                      <a:srgbClr val="FFFFFF"/>
                    </a:solidFill>
                  </a:tcPr>
                </a:tc>
                <a:tc>
                  <a:txBody>
                    <a:bodyPr/>
                    <a:lstStyle/>
                    <a:p>
                      <a:r>
                        <a:rPr lang="vi-VN" sz="1300" b="0" i="0">
                          <a:solidFill>
                            <a:srgbClr val="1F2937"/>
                          </a:solidFill>
                          <a:latin typeface="Arial"/>
                        </a:rPr>
                        <a:t>2.814</a:t>
                      </a:r>
                    </a:p>
                  </a:txBody>
                  <a:tcPr marL="73152" marR="73152" marT="27432" marB="27432" anchor="ctr">
                    <a:solidFill>
                      <a:srgbClr val="FFFFFF"/>
                    </a:solidFill>
                  </a:tcPr>
                </a:tc>
                <a:extLst>
                  <a:ext uri="{0D108BD9-81ED-4DB2-BD59-A6C34878D82A}">
                    <a16:rowId xmlns:a16="http://schemas.microsoft.com/office/drawing/2014/main" val="10001"/>
                  </a:ext>
                </a:extLst>
              </a:tr>
              <a:tr h="438912">
                <a:tc>
                  <a:txBody>
                    <a:bodyPr/>
                    <a:lstStyle/>
                    <a:p>
                      <a:r>
                        <a:rPr lang="vi-VN" sz="1300" b="0" i="0">
                          <a:solidFill>
                            <a:srgbClr val="1F2937"/>
                          </a:solidFill>
                          <a:latin typeface="Arial"/>
                        </a:rPr>
                        <a:t>Loại giá đặt cọc</a:t>
                      </a:r>
                    </a:p>
                  </a:txBody>
                  <a:tcPr marL="73152" marR="73152" marT="27432" marB="27432" anchor="ctr">
                    <a:solidFill>
                      <a:srgbClr val="EAF2FA"/>
                    </a:solidFill>
                  </a:tcPr>
                </a:tc>
                <a:tc>
                  <a:txBody>
                    <a:bodyPr/>
                    <a:lstStyle/>
                    <a:p>
                      <a:r>
                        <a:rPr lang="vi-VN" sz="1300" b="0" i="0">
                          <a:solidFill>
                            <a:srgbClr val="1F2937"/>
                          </a:solidFill>
                          <a:latin typeface="Arial"/>
                        </a:rPr>
                        <a:t>−99</a:t>
                      </a:r>
                    </a:p>
                  </a:txBody>
                  <a:tcPr marL="73152" marR="73152" marT="27432" marB="27432" anchor="ctr">
                    <a:solidFill>
                      <a:srgbClr val="EAF2FA"/>
                    </a:solidFill>
                  </a:tcPr>
                </a:tc>
                <a:tc>
                  <a:txBody>
                    <a:bodyPr/>
                    <a:lstStyle/>
                    <a:p>
                      <a:r>
                        <a:rPr lang="vi-VN" sz="1300" b="0" i="0">
                          <a:solidFill>
                            <a:srgbClr val="1F2937"/>
                          </a:solidFill>
                          <a:latin typeface="Arial"/>
                        </a:rPr>
                        <a:t>−17</a:t>
                      </a:r>
                    </a:p>
                  </a:txBody>
                  <a:tcPr marL="73152" marR="73152" marT="27432" marB="27432" anchor="ctr">
                    <a:solidFill>
                      <a:srgbClr val="EAF2FA"/>
                    </a:solidFill>
                  </a:tcPr>
                </a:tc>
                <a:extLst>
                  <a:ext uri="{0D108BD9-81ED-4DB2-BD59-A6C34878D82A}">
                    <a16:rowId xmlns:a16="http://schemas.microsoft.com/office/drawing/2014/main" val="10002"/>
                  </a:ext>
                </a:extLst>
              </a:tr>
              <a:tr h="438912">
                <a:tc>
                  <a:txBody>
                    <a:bodyPr/>
                    <a:lstStyle/>
                    <a:p>
                      <a:r>
                        <a:rPr lang="vi-VN" sz="1300" b="1" i="0">
                          <a:solidFill>
                            <a:srgbClr val="1F2937"/>
                          </a:solidFill>
                          <a:latin typeface="Arial"/>
                        </a:rPr>
                        <a:t>Còn lại</a:t>
                      </a:r>
                    </a:p>
                  </a:txBody>
                  <a:tcPr marL="73152" marR="73152" marT="27432" marB="27432" anchor="ctr">
                    <a:solidFill>
                      <a:srgbClr val="FFFFFF"/>
                    </a:solidFill>
                  </a:tcPr>
                </a:tc>
                <a:tc>
                  <a:txBody>
                    <a:bodyPr/>
                    <a:lstStyle/>
                    <a:p>
                      <a:r>
                        <a:rPr lang="vi-VN" sz="1300" b="1" i="0">
                          <a:solidFill>
                            <a:srgbClr val="EB6834"/>
                          </a:solidFill>
                          <a:latin typeface="Arial"/>
                        </a:rPr>
                        <a:t>11.153</a:t>
                      </a:r>
                    </a:p>
                  </a:txBody>
                  <a:tcPr marL="73152" marR="73152" marT="27432" marB="27432" anchor="ctr">
                    <a:solidFill>
                      <a:srgbClr val="FFFFFF"/>
                    </a:solidFill>
                  </a:tcPr>
                </a:tc>
                <a:tc>
                  <a:txBody>
                    <a:bodyPr/>
                    <a:lstStyle/>
                    <a:p>
                      <a:r>
                        <a:rPr lang="vi-VN" sz="1300" b="1" i="0">
                          <a:solidFill>
                            <a:srgbClr val="EB6834"/>
                          </a:solidFill>
                          <a:latin typeface="Arial"/>
                        </a:rPr>
                        <a:t>2.797</a:t>
                      </a:r>
                    </a:p>
                  </a:txBody>
                  <a:tcPr marL="73152" marR="73152" marT="27432" marB="27432" anchor="ctr">
                    <a:solidFill>
                      <a:srgbClr val="FFFFFF"/>
                    </a:solidFill>
                  </a:tcPr>
                </a:tc>
                <a:extLst>
                  <a:ext uri="{0D108BD9-81ED-4DB2-BD59-A6C34878D82A}">
                    <a16:rowId xmlns:a16="http://schemas.microsoft.com/office/drawing/2014/main" val="10003"/>
                  </a:ext>
                </a:extLst>
              </a:tr>
              <a:tr h="438912">
                <a:tc>
                  <a:txBody>
                    <a:bodyPr/>
                    <a:lstStyle/>
                    <a:p>
                      <a:r>
                        <a:rPr lang="vi-VN" sz="1300" b="0" i="0">
                          <a:solidFill>
                            <a:srgbClr val="1F2937"/>
                          </a:solidFill>
                          <a:latin typeface="Arial"/>
                        </a:rPr>
                        <a:t>Nhóm hãng / dòng xe</a:t>
                      </a:r>
                    </a:p>
                  </a:txBody>
                  <a:tcPr marL="73152" marR="73152" marT="27432" marB="27432" anchor="ctr">
                    <a:solidFill>
                      <a:srgbClr val="EAF2FA"/>
                    </a:solidFill>
                  </a:tcPr>
                </a:tc>
                <a:tc>
                  <a:txBody>
                    <a:bodyPr/>
                    <a:lstStyle/>
                    <a:p>
                      <a:r>
                        <a:rPr lang="vi-VN" sz="1300" b="0" i="0">
                          <a:solidFill>
                            <a:srgbClr val="1F2937"/>
                          </a:solidFill>
                          <a:latin typeface="Arial"/>
                        </a:rPr>
                        <a:t>27 / 196</a:t>
                      </a:r>
                    </a:p>
                  </a:txBody>
                  <a:tcPr marL="73152" marR="73152" marT="27432" marB="27432" anchor="ctr">
                    <a:solidFill>
                      <a:srgbClr val="EAF2FA"/>
                    </a:solidFill>
                  </a:tcPr>
                </a:tc>
                <a:tc>
                  <a:txBody>
                    <a:bodyPr/>
                    <a:lstStyle/>
                    <a:p>
                      <a:r>
                        <a:rPr lang="vi-VN" sz="1300" b="0" i="0">
                          <a:solidFill>
                            <a:srgbClr val="1F2937"/>
                          </a:solidFill>
                          <a:latin typeface="Arial"/>
                        </a:rPr>
                        <a:t>27 / 193</a:t>
                      </a:r>
                    </a:p>
                  </a:txBody>
                  <a:tcPr marL="73152" marR="73152" marT="27432" marB="27432" anchor="ctr">
                    <a:solidFill>
                      <a:srgbClr val="EAF2FA"/>
                    </a:solidFill>
                  </a:tcPr>
                </a:tc>
                <a:extLst>
                  <a:ext uri="{0D108BD9-81ED-4DB2-BD59-A6C34878D82A}">
                    <a16:rowId xmlns:a16="http://schemas.microsoft.com/office/drawing/2014/main" val="10004"/>
                  </a:ext>
                </a:extLst>
              </a:tr>
              <a:tr h="438912">
                <a:tc>
                  <a:txBody>
                    <a:bodyPr/>
                    <a:lstStyle/>
                    <a:p>
                      <a:r>
                        <a:rPr lang="vi-VN" sz="1300" b="0" i="0">
                          <a:solidFill>
                            <a:srgbClr val="1F2937"/>
                          </a:solidFill>
                          <a:latin typeface="Arial"/>
                        </a:rPr>
                        <a:t>Còn thiếu ở đặc trưng</a:t>
                      </a:r>
                    </a:p>
                  </a:txBody>
                  <a:tcPr marL="73152" marR="73152" marT="27432" marB="27432" anchor="ctr">
                    <a:solidFill>
                      <a:srgbClr val="FFFFFF"/>
                    </a:solidFill>
                  </a:tcPr>
                </a:tc>
                <a:tc>
                  <a:txBody>
                    <a:bodyPr/>
                    <a:lstStyle/>
                    <a:p>
                      <a:r>
                        <a:rPr lang="vi-VN" sz="1300" b="0" i="0">
                          <a:solidFill>
                            <a:srgbClr val="1F2937"/>
                          </a:solidFill>
                          <a:latin typeface="Arial"/>
                        </a:rPr>
                        <a:t>0</a:t>
                      </a:r>
                    </a:p>
                  </a:txBody>
                  <a:tcPr marL="73152" marR="73152" marT="27432" marB="27432" anchor="ctr">
                    <a:solidFill>
                      <a:srgbClr val="FFFFFF"/>
                    </a:solidFill>
                  </a:tcPr>
                </a:tc>
                <a:tc>
                  <a:txBody>
                    <a:bodyPr/>
                    <a:lstStyle/>
                    <a:p>
                      <a:r>
                        <a:rPr lang="vi-VN" sz="1300" b="0" i="0">
                          <a:solidFill>
                            <a:srgbClr val="1F2937"/>
                          </a:solidFill>
                          <a:latin typeface="Arial"/>
                        </a:rPr>
                        <a:t>0</a:t>
                      </a:r>
                    </a:p>
                  </a:txBody>
                  <a:tcPr marL="73152" marR="73152"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6" name="Rounded Rectangle 5"/>
          <p:cNvSpPr/>
          <p:nvPr/>
        </p:nvSpPr>
        <p:spPr>
          <a:xfrm>
            <a:off x="548640" y="4343400"/>
            <a:ext cx="3474720" cy="11887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31520" y="4416552"/>
            <a:ext cx="3108960" cy="365760"/>
          </a:xfrm>
          <a:prstGeom prst="rect">
            <a:avLst/>
          </a:prstGeom>
          <a:noFill/>
        </p:spPr>
        <p:txBody>
          <a:bodyPr wrap="square" lIns="45720" tIns="27432" rIns="45720" bIns="27432" anchor="t">
            <a:spAutoFit/>
          </a:bodyPr>
          <a:lstStyle/>
          <a:p>
            <a:pPr algn="l">
              <a:lnSpc>
                <a:spcPct val="110000"/>
              </a:lnSpc>
              <a:spcAft>
                <a:spcPts val="600"/>
              </a:spcAft>
            </a:pPr>
            <a:r>
              <a:rPr lang="vi-VN" sz="1400" b="1" i="0">
                <a:solidFill>
                  <a:srgbClr val="075289"/>
                </a:solidFill>
                <a:latin typeface="Arial"/>
              </a:rPr>
              <a:t>preprocess_data.csv</a:t>
            </a:r>
          </a:p>
        </p:txBody>
      </p:sp>
      <p:sp>
        <p:nvSpPr>
          <p:cNvPr id="8" name="TextBox 7"/>
          <p:cNvSpPr txBox="1"/>
          <p:nvPr/>
        </p:nvSpPr>
        <p:spPr>
          <a:xfrm>
            <a:off x="731520" y="4800600"/>
            <a:ext cx="3108960" cy="685800"/>
          </a:xfrm>
          <a:prstGeom prst="rect">
            <a:avLst/>
          </a:prstGeom>
          <a:noFill/>
        </p:spPr>
        <p:txBody>
          <a:bodyPr wrap="square" lIns="45720" tIns="27432" rIns="45720" bIns="27432" anchor="t">
            <a:spAutoFit/>
          </a:bodyPr>
          <a:lstStyle/>
          <a:p>
            <a:pPr algn="l">
              <a:lnSpc>
                <a:spcPct val="110000"/>
              </a:lnSpc>
              <a:spcAft>
                <a:spcPts val="400"/>
              </a:spcAft>
            </a:pPr>
            <a:r>
              <a:rPr lang="vi-VN" sz="1200" b="0" i="0">
                <a:solidFill>
                  <a:srgbClr val="1F2937"/>
                </a:solidFill>
                <a:latin typeface="Arial"/>
              </a:rPr>
              <a:t>14.066 tin, còn thiếu ở 3 cột (cố ý)</a:t>
            </a:r>
          </a:p>
        </p:txBody>
      </p:sp>
      <p:sp>
        <p:nvSpPr>
          <p:cNvPr id="9" name="Rounded Rectangle 8"/>
          <p:cNvSpPr/>
          <p:nvPr/>
        </p:nvSpPr>
        <p:spPr>
          <a:xfrm>
            <a:off x="4297679" y="4343400"/>
            <a:ext cx="3474720" cy="118872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4480559" y="4416552"/>
            <a:ext cx="3108960" cy="365760"/>
          </a:xfrm>
          <a:prstGeom prst="rect">
            <a:avLst/>
          </a:prstGeom>
          <a:noFill/>
        </p:spPr>
        <p:txBody>
          <a:bodyPr wrap="square" lIns="45720" tIns="27432" rIns="45720" bIns="27432" anchor="t">
            <a:spAutoFit/>
          </a:bodyPr>
          <a:lstStyle/>
          <a:p>
            <a:pPr algn="l">
              <a:lnSpc>
                <a:spcPct val="110000"/>
              </a:lnSpc>
              <a:spcAft>
                <a:spcPts val="600"/>
              </a:spcAft>
            </a:pPr>
            <a:r>
              <a:rPr lang="vi-VN" sz="1400" b="1" i="0">
                <a:solidFill>
                  <a:srgbClr val="FFD400"/>
                </a:solidFill>
                <a:latin typeface="Arial"/>
              </a:rPr>
              <a:t>train / test_data.csv</a:t>
            </a:r>
          </a:p>
        </p:txBody>
      </p:sp>
      <p:sp>
        <p:nvSpPr>
          <p:cNvPr id="11" name="TextBox 10"/>
          <p:cNvSpPr txBox="1"/>
          <p:nvPr/>
        </p:nvSpPr>
        <p:spPr>
          <a:xfrm>
            <a:off x="4480559" y="4800600"/>
            <a:ext cx="3108960" cy="685800"/>
          </a:xfrm>
          <a:prstGeom prst="rect">
            <a:avLst/>
          </a:prstGeom>
          <a:noFill/>
        </p:spPr>
        <p:txBody>
          <a:bodyPr wrap="square" lIns="45720" tIns="27432" rIns="45720" bIns="27432" anchor="t">
            <a:spAutoFit/>
          </a:bodyPr>
          <a:lstStyle/>
          <a:p>
            <a:pPr algn="l">
              <a:lnSpc>
                <a:spcPct val="110000"/>
              </a:lnSpc>
              <a:spcAft>
                <a:spcPts val="400"/>
              </a:spcAft>
            </a:pPr>
            <a:r>
              <a:rPr lang="vi-VN" sz="1200" b="0" i="0">
                <a:solidFill>
                  <a:srgbClr val="FFFFFF"/>
                </a:solidFill>
                <a:latin typeface="Arial"/>
              </a:rPr>
              <a:t>đã điền, gộp nhãn, có đặc trưng cho Ridge</a:t>
            </a:r>
          </a:p>
        </p:txBody>
      </p:sp>
      <p:sp>
        <p:nvSpPr>
          <p:cNvPr id="12" name="Rounded Rectangle 11"/>
          <p:cNvSpPr/>
          <p:nvPr/>
        </p:nvSpPr>
        <p:spPr>
          <a:xfrm>
            <a:off x="8046719" y="4343400"/>
            <a:ext cx="3474720" cy="11887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229599" y="4416552"/>
            <a:ext cx="3108960" cy="365760"/>
          </a:xfrm>
          <a:prstGeom prst="rect">
            <a:avLst/>
          </a:prstGeom>
          <a:noFill/>
        </p:spPr>
        <p:txBody>
          <a:bodyPr wrap="square" lIns="45720" tIns="27432" rIns="45720" bIns="27432" anchor="t">
            <a:spAutoFit/>
          </a:bodyPr>
          <a:lstStyle/>
          <a:p>
            <a:pPr algn="l">
              <a:lnSpc>
                <a:spcPct val="110000"/>
              </a:lnSpc>
              <a:spcAft>
                <a:spcPts val="600"/>
              </a:spcAft>
            </a:pPr>
            <a:r>
              <a:rPr lang="vi-VN" sz="1400" b="1" i="0">
                <a:solidFill>
                  <a:srgbClr val="075289"/>
                </a:solidFill>
                <a:latin typeface="Arial"/>
              </a:rPr>
              <a:t>data_transformers.joblib</a:t>
            </a:r>
          </a:p>
        </p:txBody>
      </p:sp>
      <p:sp>
        <p:nvSpPr>
          <p:cNvPr id="14" name="TextBox 13"/>
          <p:cNvSpPr txBox="1"/>
          <p:nvPr/>
        </p:nvSpPr>
        <p:spPr>
          <a:xfrm>
            <a:off x="8229599" y="4800600"/>
            <a:ext cx="3108960" cy="685800"/>
          </a:xfrm>
          <a:prstGeom prst="rect">
            <a:avLst/>
          </a:prstGeom>
          <a:noFill/>
        </p:spPr>
        <p:txBody>
          <a:bodyPr wrap="square" lIns="45720" tIns="27432" rIns="45720" bIns="27432" anchor="t">
            <a:spAutoFit/>
          </a:bodyPr>
          <a:lstStyle/>
          <a:p>
            <a:pPr algn="l">
              <a:lnSpc>
                <a:spcPct val="110000"/>
              </a:lnSpc>
              <a:spcAft>
                <a:spcPts val="400"/>
              </a:spcAft>
            </a:pPr>
            <a:r>
              <a:rPr lang="vi-VN" sz="1200" b="0" i="0">
                <a:solidFill>
                  <a:srgbClr val="1F2937"/>
                </a:solidFill>
                <a:latin typeface="Arial"/>
              </a:rPr>
              <a:t>tham số học từ train, dùng khi dự đoán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4 · THƯỚC ĐO</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Thước đo đánh giá: chỉ số nào cần thấp, chỉ số nào cần cao</a:t>
            </a:r>
          </a:p>
        </p:txBody>
      </p:sp>
      <p:graphicFrame>
        <p:nvGraphicFramePr>
          <p:cNvPr id="4" name="Table 3"/>
          <p:cNvGraphicFramePr>
            <a:graphicFrameLocks noGrp="1"/>
          </p:cNvGraphicFramePr>
          <p:nvPr/>
        </p:nvGraphicFramePr>
        <p:xfrm>
          <a:off x="548640" y="1463040"/>
          <a:ext cx="11064240" cy="3328416"/>
        </p:xfrm>
        <a:graphic>
          <a:graphicData uri="http://schemas.openxmlformats.org/drawingml/2006/table">
            <a:tbl>
              <a:tblPr>
                <a:tableStyleId>{5940675A-B579-460E-94D1-54222C63F5DA}</a:tableStyleId>
              </a:tblPr>
              <a:tblGrid>
                <a:gridCol w="210312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3566160">
                  <a:extLst>
                    <a:ext uri="{9D8B030D-6E8A-4147-A177-3AD203B41FA5}">
                      <a16:colId xmlns:a16="http://schemas.microsoft.com/office/drawing/2014/main" val="20003"/>
                    </a:ext>
                  </a:extLst>
                </a:gridCol>
              </a:tblGrid>
              <a:tr h="475488">
                <a:tc>
                  <a:txBody>
                    <a:bodyPr/>
                    <a:lstStyle/>
                    <a:p>
                      <a:r>
                        <a:rPr lang="vi-VN" sz="1300" b="1" i="0">
                          <a:solidFill>
                            <a:srgbClr val="FFFFFF"/>
                          </a:solidFill>
                          <a:latin typeface="Arial"/>
                        </a:rPr>
                        <a:t>Thước đo</a:t>
                      </a:r>
                    </a:p>
                  </a:txBody>
                  <a:tcPr marL="73152" marR="73152" marT="27432" marB="27432" anchor="ctr">
                    <a:solidFill>
                      <a:srgbClr val="075289"/>
                    </a:solidFill>
                  </a:tcPr>
                </a:tc>
                <a:tc>
                  <a:txBody>
                    <a:bodyPr/>
                    <a:lstStyle/>
                    <a:p>
                      <a:r>
                        <a:rPr lang="vi-VN" sz="1300" b="1" i="0">
                          <a:solidFill>
                            <a:srgbClr val="FFFFFF"/>
                          </a:solidFill>
                          <a:latin typeface="Arial"/>
                        </a:rPr>
                        <a:t>Ý nghĩa</a:t>
                      </a:r>
                    </a:p>
                  </a:txBody>
                  <a:tcPr marL="73152" marR="73152" marT="27432" marB="27432" anchor="ctr">
                    <a:solidFill>
                      <a:srgbClr val="075289"/>
                    </a:solidFill>
                  </a:tcPr>
                </a:tc>
                <a:tc>
                  <a:txBody>
                    <a:bodyPr/>
                    <a:lstStyle/>
                    <a:p>
                      <a:r>
                        <a:rPr lang="vi-VN" sz="1300" b="1" i="0">
                          <a:solidFill>
                            <a:srgbClr val="FFFFFF"/>
                          </a:solidFill>
                          <a:latin typeface="Arial"/>
                        </a:rPr>
                        <a:t>Tốt khi</a:t>
                      </a:r>
                    </a:p>
                  </a:txBody>
                  <a:tcPr marL="73152" marR="73152" marT="27432" marB="27432" anchor="ctr">
                    <a:solidFill>
                      <a:srgbClr val="075289"/>
                    </a:solidFill>
                  </a:tcPr>
                </a:tc>
                <a:tc>
                  <a:txBody>
                    <a:bodyPr/>
                    <a:lstStyle/>
                    <a:p>
                      <a:r>
                        <a:rPr lang="vi-VN" sz="1300" b="1" i="0">
                          <a:solidFill>
                            <a:srgbClr val="FFFFFF"/>
                          </a:solidFill>
                          <a:latin typeface="Arial"/>
                        </a:rPr>
                        <a:t>Mức tham khảo</a:t>
                      </a:r>
                    </a:p>
                  </a:txBody>
                  <a:tcPr marL="73152" marR="73152" marT="27432" marB="27432" anchor="ctr">
                    <a:solidFill>
                      <a:srgbClr val="075289"/>
                    </a:solidFill>
                  </a:tcPr>
                </a:tc>
                <a:extLst>
                  <a:ext uri="{0D108BD9-81ED-4DB2-BD59-A6C34878D82A}">
                    <a16:rowId xmlns:a16="http://schemas.microsoft.com/office/drawing/2014/main" val="10000"/>
                  </a:ext>
                </a:extLst>
              </a:tr>
              <a:tr h="475488">
                <a:tc>
                  <a:txBody>
                    <a:bodyPr/>
                    <a:lstStyle/>
                    <a:p>
                      <a:r>
                        <a:rPr lang="vi-VN" sz="1300" b="1" i="0">
                          <a:solidFill>
                            <a:srgbClr val="EB6834"/>
                          </a:solidFill>
                          <a:latin typeface="Arial"/>
                        </a:rPr>
                        <a:t>MAPE</a:t>
                      </a:r>
                    </a:p>
                  </a:txBody>
                  <a:tcPr marL="73152" marR="73152" marT="27432" marB="27432" anchor="ctr">
                    <a:solidFill>
                      <a:srgbClr val="FFFFFF"/>
                    </a:solidFill>
                  </a:tcPr>
                </a:tc>
                <a:tc>
                  <a:txBody>
                    <a:bodyPr/>
                    <a:lstStyle/>
                    <a:p>
                      <a:r>
                        <a:rPr lang="vi-VN" sz="1300" b="0" i="0">
                          <a:solidFill>
                            <a:srgbClr val="1F2937"/>
                          </a:solidFill>
                          <a:latin typeface="Arial"/>
                        </a:rPr>
                        <a:t>sai số % trung bình (thước đo chính)</a:t>
                      </a:r>
                    </a:p>
                  </a:txBody>
                  <a:tcPr marL="73152" marR="73152" marT="27432" marB="27432" anchor="ctr">
                    <a:solidFill>
                      <a:srgbClr val="FFFFFF"/>
                    </a:solidFill>
                  </a:tcPr>
                </a:tc>
                <a:tc>
                  <a:txBody>
                    <a:bodyPr/>
                    <a:lstStyle/>
                    <a:p>
                      <a:r>
                        <a:rPr lang="vi-VN" sz="1300" b="0" i="0">
                          <a:solidFill>
                            <a:srgbClr val="1F2937"/>
                          </a:solidFill>
                          <a:latin typeface="Arial"/>
                        </a:rPr>
                        <a:t>thấp</a:t>
                      </a:r>
                    </a:p>
                  </a:txBody>
                  <a:tcPr marL="73152" marR="73152" marT="27432" marB="27432" anchor="ctr">
                    <a:solidFill>
                      <a:srgbClr val="FFFFFF"/>
                    </a:solidFill>
                  </a:tcPr>
                </a:tc>
                <a:tc>
                  <a:txBody>
                    <a:bodyPr/>
                    <a:lstStyle/>
                    <a:p>
                      <a:r>
                        <a:rPr lang="vi-VN" sz="1300" b="0" i="0">
                          <a:solidFill>
                            <a:srgbClr val="1F2937"/>
                          </a:solidFill>
                          <a:latin typeface="Arial"/>
                        </a:rPr>
                        <a:t>&lt; 10% rất tốt · 10-20% tốt · 20-50% tạm · &gt; 50% kém</a:t>
                      </a:r>
                    </a:p>
                  </a:txBody>
                  <a:tcPr marL="73152" marR="73152" marT="27432" marB="27432" anchor="ctr">
                    <a:solidFill>
                      <a:srgbClr val="FFFFFF"/>
                    </a:solidFill>
                  </a:tcPr>
                </a:tc>
                <a:extLst>
                  <a:ext uri="{0D108BD9-81ED-4DB2-BD59-A6C34878D82A}">
                    <a16:rowId xmlns:a16="http://schemas.microsoft.com/office/drawing/2014/main" val="10001"/>
                  </a:ext>
                </a:extLst>
              </a:tr>
              <a:tr h="475488">
                <a:tc>
                  <a:txBody>
                    <a:bodyPr/>
                    <a:lstStyle/>
                    <a:p>
                      <a:r>
                        <a:rPr lang="vi-VN" sz="1300" b="1" i="0">
                          <a:solidFill>
                            <a:srgbClr val="1F2937"/>
                          </a:solidFill>
                          <a:latin typeface="Arial"/>
                        </a:rPr>
                        <a:t>MedAPE</a:t>
                      </a:r>
                    </a:p>
                  </a:txBody>
                  <a:tcPr marL="73152" marR="73152" marT="27432" marB="27432" anchor="ctr">
                    <a:solidFill>
                      <a:srgbClr val="EAF2FA"/>
                    </a:solidFill>
                  </a:tcPr>
                </a:tc>
                <a:tc>
                  <a:txBody>
                    <a:bodyPr/>
                    <a:lstStyle/>
                    <a:p>
                      <a:r>
                        <a:rPr lang="vi-VN" sz="1300" b="0" i="0">
                          <a:solidFill>
                            <a:srgbClr val="1F2937"/>
                          </a:solidFill>
                          <a:latin typeface="Arial"/>
                        </a:rPr>
                        <a:t>sai số % của xe "điển hình" (trung vị)</a:t>
                      </a:r>
                    </a:p>
                  </a:txBody>
                  <a:tcPr marL="73152" marR="73152" marT="27432" marB="27432" anchor="ctr">
                    <a:solidFill>
                      <a:srgbClr val="EAF2FA"/>
                    </a:solidFill>
                  </a:tcPr>
                </a:tc>
                <a:tc>
                  <a:txBody>
                    <a:bodyPr/>
                    <a:lstStyle/>
                    <a:p>
                      <a:r>
                        <a:rPr lang="vi-VN" sz="1300" b="0" i="0">
                          <a:solidFill>
                            <a:srgbClr val="1F2937"/>
                          </a:solidFill>
                          <a:latin typeface="Arial"/>
                        </a:rPr>
                        <a:t>thấp</a:t>
                      </a:r>
                    </a:p>
                  </a:txBody>
                  <a:tcPr marL="73152" marR="73152" marT="27432" marB="27432" anchor="ctr">
                    <a:solidFill>
                      <a:srgbClr val="EAF2FA"/>
                    </a:solidFill>
                  </a:tcPr>
                </a:tc>
                <a:tc>
                  <a:txBody>
                    <a:bodyPr/>
                    <a:lstStyle/>
                    <a:p>
                      <a:r>
                        <a:rPr lang="vi-VN" sz="1300" b="0" i="0">
                          <a:solidFill>
                            <a:srgbClr val="1F2937"/>
                          </a:solidFill>
                          <a:latin typeface="Arial"/>
                        </a:rPr>
                        <a:t>cùng thang MAPE</a:t>
                      </a:r>
                    </a:p>
                  </a:txBody>
                  <a:tcPr marL="73152" marR="73152" marT="27432" marB="27432" anchor="ctr">
                    <a:solidFill>
                      <a:srgbClr val="EAF2FA"/>
                    </a:solidFill>
                  </a:tcPr>
                </a:tc>
                <a:extLst>
                  <a:ext uri="{0D108BD9-81ED-4DB2-BD59-A6C34878D82A}">
                    <a16:rowId xmlns:a16="http://schemas.microsoft.com/office/drawing/2014/main" val="10002"/>
                  </a:ext>
                </a:extLst>
              </a:tr>
              <a:tr h="475488">
                <a:tc>
                  <a:txBody>
                    <a:bodyPr/>
                    <a:lstStyle/>
                    <a:p>
                      <a:r>
                        <a:rPr lang="vi-VN" sz="1300" b="1" i="0">
                          <a:solidFill>
                            <a:srgbClr val="1F2937"/>
                          </a:solidFill>
                          <a:latin typeface="Arial"/>
                        </a:rPr>
                        <a:t>MAE</a:t>
                      </a:r>
                    </a:p>
                  </a:txBody>
                  <a:tcPr marL="73152" marR="73152" marT="27432" marB="27432" anchor="ctr">
                    <a:solidFill>
                      <a:srgbClr val="FFFFFF"/>
                    </a:solidFill>
                  </a:tcPr>
                </a:tc>
                <a:tc>
                  <a:txBody>
                    <a:bodyPr/>
                    <a:lstStyle/>
                    <a:p>
                      <a:r>
                        <a:rPr lang="vi-VN" sz="1300" b="0" i="0">
                          <a:solidFill>
                            <a:srgbClr val="1F2937"/>
                          </a:solidFill>
                          <a:latin typeface="Arial"/>
                        </a:rPr>
                        <a:t>trung bình đoán lệch bao nhiêu triệu</a:t>
                      </a:r>
                    </a:p>
                  </a:txBody>
                  <a:tcPr marL="73152" marR="73152" marT="27432" marB="27432" anchor="ctr">
                    <a:solidFill>
                      <a:srgbClr val="FFFFFF"/>
                    </a:solidFill>
                  </a:tcPr>
                </a:tc>
                <a:tc>
                  <a:txBody>
                    <a:bodyPr/>
                    <a:lstStyle/>
                    <a:p>
                      <a:r>
                        <a:rPr lang="vi-VN" sz="1300" b="0" i="0">
                          <a:solidFill>
                            <a:srgbClr val="1F2937"/>
                          </a:solidFill>
                          <a:latin typeface="Arial"/>
                        </a:rPr>
                        <a:t>thấp</a:t>
                      </a:r>
                    </a:p>
                  </a:txBody>
                  <a:tcPr marL="73152" marR="73152" marT="27432" marB="27432" anchor="ctr">
                    <a:solidFill>
                      <a:srgbClr val="FFFFFF"/>
                    </a:solidFill>
                  </a:tcPr>
                </a:tc>
                <a:tc>
                  <a:txBody>
                    <a:bodyPr/>
                    <a:lstStyle/>
                    <a:p>
                      <a:r>
                        <a:rPr lang="vi-VN" sz="1300" b="0" i="0">
                          <a:solidFill>
                            <a:srgbClr val="1F2937"/>
                          </a:solidFill>
                          <a:latin typeface="Arial"/>
                        </a:rPr>
                        <a:t>tùy mức giá</a:t>
                      </a:r>
                    </a:p>
                  </a:txBody>
                  <a:tcPr marL="73152" marR="73152" marT="27432" marB="27432" anchor="ctr">
                    <a:solidFill>
                      <a:srgbClr val="FFFFFF"/>
                    </a:solidFill>
                  </a:tcPr>
                </a:tc>
                <a:extLst>
                  <a:ext uri="{0D108BD9-81ED-4DB2-BD59-A6C34878D82A}">
                    <a16:rowId xmlns:a16="http://schemas.microsoft.com/office/drawing/2014/main" val="10003"/>
                  </a:ext>
                </a:extLst>
              </a:tr>
              <a:tr h="475488">
                <a:tc>
                  <a:txBody>
                    <a:bodyPr/>
                    <a:lstStyle/>
                    <a:p>
                      <a:r>
                        <a:rPr lang="vi-VN" sz="1300" b="1" i="0">
                          <a:solidFill>
                            <a:srgbClr val="1F2937"/>
                          </a:solidFill>
                          <a:latin typeface="Arial"/>
                        </a:rPr>
                        <a:t>RMSE</a:t>
                      </a:r>
                    </a:p>
                  </a:txBody>
                  <a:tcPr marL="73152" marR="73152" marT="27432" marB="27432" anchor="ctr">
                    <a:solidFill>
                      <a:srgbClr val="EAF2FA"/>
                    </a:solidFill>
                  </a:tcPr>
                </a:tc>
                <a:tc>
                  <a:txBody>
                    <a:bodyPr/>
                    <a:lstStyle/>
                    <a:p>
                      <a:r>
                        <a:rPr lang="vi-VN" sz="1300" b="0" i="0">
                          <a:solidFill>
                            <a:srgbClr val="1F2937"/>
                          </a:solidFill>
                          <a:latin typeface="Arial"/>
                        </a:rPr>
                        <a:t>như MAE nhưng phạt nặng lỗi lớn</a:t>
                      </a:r>
                    </a:p>
                  </a:txBody>
                  <a:tcPr marL="73152" marR="73152" marT="27432" marB="27432" anchor="ctr">
                    <a:solidFill>
                      <a:srgbClr val="EAF2FA"/>
                    </a:solidFill>
                  </a:tcPr>
                </a:tc>
                <a:tc>
                  <a:txBody>
                    <a:bodyPr/>
                    <a:lstStyle/>
                    <a:p>
                      <a:r>
                        <a:rPr lang="vi-VN" sz="1300" b="0" i="0">
                          <a:solidFill>
                            <a:srgbClr val="1F2937"/>
                          </a:solidFill>
                          <a:latin typeface="Arial"/>
                        </a:rPr>
                        <a:t>thấp</a:t>
                      </a:r>
                    </a:p>
                  </a:txBody>
                  <a:tcPr marL="73152" marR="73152" marT="27432" marB="27432" anchor="ctr">
                    <a:solidFill>
                      <a:srgbClr val="EAF2FA"/>
                    </a:solidFill>
                  </a:tcPr>
                </a:tc>
                <a:tc>
                  <a:txBody>
                    <a:bodyPr/>
                    <a:lstStyle/>
                    <a:p>
                      <a:r>
                        <a:rPr lang="vi-VN" sz="1300" b="0" i="0">
                          <a:solidFill>
                            <a:srgbClr val="1F2937"/>
                          </a:solidFill>
                          <a:latin typeface="Arial"/>
                        </a:rPr>
                        <a:t>RMSE ≫ MAE: có vài lỗi rất lớn</a:t>
                      </a:r>
                    </a:p>
                  </a:txBody>
                  <a:tcPr marL="73152" marR="73152" marT="27432" marB="27432" anchor="ctr">
                    <a:solidFill>
                      <a:srgbClr val="EAF2FA"/>
                    </a:solidFill>
                  </a:tcPr>
                </a:tc>
                <a:extLst>
                  <a:ext uri="{0D108BD9-81ED-4DB2-BD59-A6C34878D82A}">
                    <a16:rowId xmlns:a16="http://schemas.microsoft.com/office/drawing/2014/main" val="10004"/>
                  </a:ext>
                </a:extLst>
              </a:tr>
              <a:tr h="475488">
                <a:tc>
                  <a:txBody>
                    <a:bodyPr/>
                    <a:lstStyle/>
                    <a:p>
                      <a:r>
                        <a:rPr lang="vi-VN" sz="1300" b="1" i="0">
                          <a:solidFill>
                            <a:srgbClr val="1F2937"/>
                          </a:solidFill>
                          <a:latin typeface="Arial"/>
                        </a:rPr>
                        <a:t>R² (log)</a:t>
                      </a:r>
                    </a:p>
                  </a:txBody>
                  <a:tcPr marL="73152" marR="73152" marT="27432" marB="27432" anchor="ctr">
                    <a:solidFill>
                      <a:srgbClr val="FFFFFF"/>
                    </a:solidFill>
                  </a:tcPr>
                </a:tc>
                <a:tc>
                  <a:txBody>
                    <a:bodyPr/>
                    <a:lstStyle/>
                    <a:p>
                      <a:r>
                        <a:rPr lang="vi-VN" sz="1300" b="0" i="0">
                          <a:solidFill>
                            <a:srgbClr val="1F2937"/>
                          </a:solidFill>
                          <a:latin typeface="Arial"/>
                        </a:rPr>
                        <a:t>tỉ lệ biến thiên log giá được giải thích</a:t>
                      </a:r>
                    </a:p>
                  </a:txBody>
                  <a:tcPr marL="73152" marR="73152" marT="27432" marB="27432" anchor="ctr">
                    <a:solidFill>
                      <a:srgbClr val="FFFFFF"/>
                    </a:solidFill>
                  </a:tcPr>
                </a:tc>
                <a:tc>
                  <a:txBody>
                    <a:bodyPr/>
                    <a:lstStyle/>
                    <a:p>
                      <a:r>
                        <a:rPr lang="vi-VN" sz="1300" b="0" i="0">
                          <a:solidFill>
                            <a:srgbClr val="1F2937"/>
                          </a:solidFill>
                          <a:latin typeface="Arial"/>
                        </a:rPr>
                        <a:t>cao</a:t>
                      </a:r>
                    </a:p>
                  </a:txBody>
                  <a:tcPr marL="73152" marR="73152" marT="27432" marB="27432" anchor="ctr">
                    <a:solidFill>
                      <a:srgbClr val="FFFFFF"/>
                    </a:solidFill>
                  </a:tcPr>
                </a:tc>
                <a:tc>
                  <a:txBody>
                    <a:bodyPr/>
                    <a:lstStyle/>
                    <a:p>
                      <a:r>
                        <a:rPr lang="vi-VN" sz="1300" b="0" i="0">
                          <a:solidFill>
                            <a:srgbClr val="1F2937"/>
                          </a:solidFill>
                          <a:latin typeface="Arial"/>
                        </a:rPr>
                        <a:t>1 hoàn hảo · 0 = đoán trung bình</a:t>
                      </a:r>
                    </a:p>
                  </a:txBody>
                  <a:tcPr marL="73152" marR="73152" marT="27432" marB="27432" anchor="ctr">
                    <a:solidFill>
                      <a:srgbClr val="FFFFFF"/>
                    </a:solidFill>
                  </a:tcPr>
                </a:tc>
                <a:extLst>
                  <a:ext uri="{0D108BD9-81ED-4DB2-BD59-A6C34878D82A}">
                    <a16:rowId xmlns:a16="http://schemas.microsoft.com/office/drawing/2014/main" val="10005"/>
                  </a:ext>
                </a:extLst>
              </a:tr>
              <a:tr h="475488">
                <a:tc>
                  <a:txBody>
                    <a:bodyPr/>
                    <a:lstStyle/>
                    <a:p>
                      <a:r>
                        <a:rPr lang="vi-VN" sz="1300" b="1" i="0">
                          <a:solidFill>
                            <a:srgbClr val="1F2937"/>
                          </a:solidFill>
                          <a:latin typeface="Arial"/>
                        </a:rPr>
                        <a:t>Lệch ≤ 10% / 20%</a:t>
                      </a:r>
                    </a:p>
                  </a:txBody>
                  <a:tcPr marL="73152" marR="73152" marT="27432" marB="27432" anchor="ctr">
                    <a:solidFill>
                      <a:srgbClr val="EAF2FA"/>
                    </a:solidFill>
                  </a:tcPr>
                </a:tc>
                <a:tc>
                  <a:txBody>
                    <a:bodyPr/>
                    <a:lstStyle/>
                    <a:p>
                      <a:r>
                        <a:rPr lang="vi-VN" sz="1300" b="0" i="0">
                          <a:solidFill>
                            <a:srgbClr val="1F2937"/>
                          </a:solidFill>
                          <a:latin typeface="Arial"/>
                        </a:rPr>
                        <a:t>tỉ lệ xe đoán sát giá thật</a:t>
                      </a:r>
                    </a:p>
                  </a:txBody>
                  <a:tcPr marL="73152" marR="73152" marT="27432" marB="27432" anchor="ctr">
                    <a:solidFill>
                      <a:srgbClr val="EAF2FA"/>
                    </a:solidFill>
                  </a:tcPr>
                </a:tc>
                <a:tc>
                  <a:txBody>
                    <a:bodyPr/>
                    <a:lstStyle/>
                    <a:p>
                      <a:r>
                        <a:rPr lang="vi-VN" sz="1300" b="0" i="0">
                          <a:solidFill>
                            <a:srgbClr val="1F2937"/>
                          </a:solidFill>
                          <a:latin typeface="Arial"/>
                        </a:rPr>
                        <a:t>cao</a:t>
                      </a:r>
                    </a:p>
                  </a:txBody>
                  <a:tcPr marL="73152" marR="73152" marT="27432" marB="27432" anchor="ctr">
                    <a:solidFill>
                      <a:srgbClr val="EAF2FA"/>
                    </a:solidFill>
                  </a:tcPr>
                </a:tc>
                <a:tc>
                  <a:txBody>
                    <a:bodyPr/>
                    <a:lstStyle/>
                    <a:p>
                      <a:r>
                        <a:rPr lang="vi-VN" sz="1300" b="0" i="0">
                          <a:solidFill>
                            <a:srgbClr val="1F2937"/>
                          </a:solidFill>
                          <a:latin typeface="Arial"/>
                        </a:rPr>
                        <a:t>so với baseline</a:t>
                      </a:r>
                    </a:p>
                  </a:txBody>
                  <a:tcPr marL="73152" marR="73152" marT="27432" marB="27432" anchor="ctr">
                    <a:solidFill>
                      <a:srgbClr val="EAF2FA"/>
                    </a:solidFill>
                  </a:tcPr>
                </a:tc>
                <a:extLst>
                  <a:ext uri="{0D108BD9-81ED-4DB2-BD59-A6C34878D82A}">
                    <a16:rowId xmlns:a16="http://schemas.microsoft.com/office/drawing/2014/main" val="10006"/>
                  </a:ext>
                </a:extLst>
              </a:tr>
            </a:tbl>
          </a:graphicData>
        </a:graphic>
      </p:graphicFrame>
      <p:sp>
        <p:nvSpPr>
          <p:cNvPr id="5" name="TextBox 4"/>
          <p:cNvSpPr txBox="1"/>
          <p:nvPr/>
        </p:nvSpPr>
        <p:spPr>
          <a:xfrm>
            <a:off x="548640" y="4937760"/>
            <a:ext cx="11064240" cy="548640"/>
          </a:xfrm>
          <a:prstGeom prst="rect">
            <a:avLst/>
          </a:prstGeom>
          <a:noFill/>
        </p:spPr>
        <p:txBody>
          <a:bodyPr wrap="square" lIns="45720" tIns="27432" rIns="45720" bIns="27432" anchor="t">
            <a:spAutoFit/>
          </a:bodyPr>
          <a:lstStyle/>
          <a:p>
            <a:pPr algn="l">
              <a:lnSpc>
                <a:spcPct val="110000"/>
              </a:lnSpc>
              <a:spcAft>
                <a:spcPts val="600"/>
              </a:spcAft>
            </a:pPr>
            <a:r>
              <a:rPr lang="vi-VN" sz="1400" b="1" i="0">
                <a:solidFill>
                  <a:srgbClr val="075289"/>
                </a:solidFill>
                <a:latin typeface="Arial"/>
              </a:rPr>
              <a:t>Mốc so sánh (baseline): </a:t>
            </a:r>
            <a:r>
              <a:rPr lang="vi-VN" sz="1400" b="0" i="0">
                <a:solidFill>
                  <a:srgbClr val="1F2937"/>
                </a:solidFill>
                <a:latin typeface="Arial"/>
              </a:rPr>
              <a:t>luôn đoán giá trung vị của tập train. Luôn báo thêm MAPE theo 5 phân khúc giá.</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4 · ĐẶC TRƯNG CHO RỪNG</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One-hot hay mã số thứ tự? Kiểm chứng bằng CV</a:t>
            </a:r>
          </a:p>
        </p:txBody>
      </p:sp>
      <p:pic>
        <p:nvPicPr>
          <p:cNvPr id="4" name="Picture 3" descr="m16_ma_hoa.png"/>
          <p:cNvPicPr>
            <a:picLocks noChangeAspect="1"/>
          </p:cNvPicPr>
          <p:nvPr/>
        </p:nvPicPr>
        <p:blipFill>
          <a:blip r:embed="rId3"/>
          <a:stretch>
            <a:fillRect/>
          </a:stretch>
        </p:blipFill>
        <p:spPr>
          <a:xfrm>
            <a:off x="2513570" y="1325880"/>
            <a:ext cx="7134378" cy="3154680"/>
          </a:xfrm>
          <a:prstGeom prst="rect">
            <a:avLst/>
          </a:prstGeom>
        </p:spPr>
      </p:pic>
      <p:sp>
        <p:nvSpPr>
          <p:cNvPr id="5" name="Rounded Rectangle 4"/>
          <p:cNvSpPr/>
          <p:nvPr/>
        </p:nvSpPr>
        <p:spPr>
          <a:xfrm>
            <a:off x="548640" y="4572000"/>
            <a:ext cx="5394960" cy="100584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4645152"/>
            <a:ext cx="5029200" cy="365760"/>
          </a:xfrm>
          <a:prstGeom prst="rect">
            <a:avLst/>
          </a:prstGeom>
          <a:noFill/>
        </p:spPr>
        <p:txBody>
          <a:bodyPr wrap="square" lIns="45720" tIns="27432" rIns="45720" bIns="27432" anchor="t">
            <a:spAutoFit/>
          </a:bodyPr>
          <a:lstStyle/>
          <a:p>
            <a:pPr algn="l">
              <a:lnSpc>
                <a:spcPct val="110000"/>
              </a:lnSpc>
              <a:spcAft>
                <a:spcPts val="600"/>
              </a:spcAft>
            </a:pPr>
            <a:r>
              <a:rPr lang="vi-VN" sz="1500" b="1" i="0">
                <a:solidFill>
                  <a:srgbClr val="FFD400"/>
                </a:solidFill>
                <a:latin typeface="Arial"/>
              </a:rPr>
              <a:t>Chọn one-hot: MAPE 16,8%</a:t>
            </a:r>
          </a:p>
        </p:txBody>
      </p:sp>
      <p:sp>
        <p:nvSpPr>
          <p:cNvPr id="7" name="TextBox 6"/>
          <p:cNvSpPr txBox="1"/>
          <p:nvPr/>
        </p:nvSpPr>
        <p:spPr>
          <a:xfrm>
            <a:off x="731520" y="5029200"/>
            <a:ext cx="5029200" cy="502920"/>
          </a:xfrm>
          <a:prstGeom prst="rect">
            <a:avLst/>
          </a:prstGeom>
          <a:noFill/>
        </p:spPr>
        <p:txBody>
          <a:bodyPr wrap="square" lIns="45720" tIns="27432" rIns="45720" bIns="27432" anchor="t">
            <a:spAutoFit/>
          </a:bodyPr>
          <a:lstStyle/>
          <a:p>
            <a:pPr algn="l">
              <a:lnSpc>
                <a:spcPct val="110000"/>
              </a:lnSpc>
              <a:spcAft>
                <a:spcPts val="400"/>
              </a:spcAft>
            </a:pPr>
            <a:r>
              <a:rPr lang="vi-VN" sz="1300" b="0" i="0">
                <a:solidFill>
                  <a:srgbClr val="FFFFFF"/>
                </a:solidFill>
                <a:latin typeface="Arial"/>
              </a:rPr>
              <a:t>mã số thứ tự 17,5-19,0%; xe &gt; 2 tỷ 29,8% so với 30-41%</a:t>
            </a:r>
          </a:p>
        </p:txBody>
      </p:sp>
      <p:sp>
        <p:nvSpPr>
          <p:cNvPr id="8" name="Rounded Rectangle 7"/>
          <p:cNvSpPr/>
          <p:nvPr/>
        </p:nvSpPr>
        <p:spPr>
          <a:xfrm>
            <a:off x="6217920" y="4572000"/>
            <a:ext cx="5394960" cy="10058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400800" y="4645152"/>
            <a:ext cx="5029200" cy="365760"/>
          </a:xfrm>
          <a:prstGeom prst="rect">
            <a:avLst/>
          </a:prstGeom>
          <a:noFill/>
        </p:spPr>
        <p:txBody>
          <a:bodyPr wrap="square" lIns="45720" tIns="27432" rIns="45720" bIns="27432" anchor="t">
            <a:spAutoFit/>
          </a:bodyPr>
          <a:lstStyle/>
          <a:p>
            <a:pPr algn="l">
              <a:lnSpc>
                <a:spcPct val="110000"/>
              </a:lnSpc>
              <a:spcAft>
                <a:spcPts val="600"/>
              </a:spcAft>
            </a:pPr>
            <a:r>
              <a:rPr lang="vi-VN" sz="1500" b="1" i="0">
                <a:solidFill>
                  <a:srgbClr val="075289"/>
                </a:solidFill>
                <a:latin typeface="Arial"/>
              </a:rPr>
              <a:t>Rừng không cần age², log, chuẩn hóa</a:t>
            </a:r>
          </a:p>
        </p:txBody>
      </p:sp>
      <p:sp>
        <p:nvSpPr>
          <p:cNvPr id="10" name="TextBox 9"/>
          <p:cNvSpPr txBox="1"/>
          <p:nvPr/>
        </p:nvSpPr>
        <p:spPr>
          <a:xfrm>
            <a:off x="6400800" y="5029200"/>
            <a:ext cx="5029200" cy="502920"/>
          </a:xfrm>
          <a:prstGeom prst="rect">
            <a:avLst/>
          </a:prstGeom>
          <a:noFill/>
        </p:spPr>
        <p:txBody>
          <a:bodyPr wrap="square" lIns="45720" tIns="27432" rIns="45720" bIns="27432" anchor="t">
            <a:spAutoFit/>
          </a:bodyPr>
          <a:lstStyle/>
          <a:p>
            <a:pPr algn="l">
              <a:lnSpc>
                <a:spcPct val="110000"/>
              </a:lnSpc>
              <a:spcAft>
                <a:spcPts val="400"/>
              </a:spcAft>
            </a:pPr>
            <a:r>
              <a:rPr lang="vi-VN" sz="1300" b="0" i="0">
                <a:solidFill>
                  <a:srgbClr val="1F2937"/>
                </a:solidFill>
                <a:latin typeface="Arial"/>
              </a:rPr>
              <a:t>cây chỉ so sánh ngưỡng: biến đổi đơn điệu cho cùng phép chia</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4 · LÝ THUYẾT</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Cây hồi quy CART: chia dữ liệu bằng câu hỏi có / không</a:t>
            </a:r>
          </a:p>
        </p:txBody>
      </p:sp>
      <p:pic>
        <p:nvPicPr>
          <p:cNvPr id="4" name="Picture 3" descr="m17_cay_minh_hoa.png"/>
          <p:cNvPicPr>
            <a:picLocks noChangeAspect="1"/>
          </p:cNvPicPr>
          <p:nvPr/>
        </p:nvPicPr>
        <p:blipFill>
          <a:blip r:embed="rId3"/>
          <a:stretch>
            <a:fillRect/>
          </a:stretch>
        </p:blipFill>
        <p:spPr>
          <a:xfrm>
            <a:off x="1068650" y="1280160"/>
            <a:ext cx="7646779" cy="4114800"/>
          </a:xfrm>
          <a:prstGeom prst="rect">
            <a:avLst/>
          </a:prstGeom>
        </p:spPr>
      </p:pic>
      <p:sp>
        <p:nvSpPr>
          <p:cNvPr id="5" name="Rounded Rectangle 4"/>
          <p:cNvSpPr/>
          <p:nvPr/>
        </p:nvSpPr>
        <p:spPr>
          <a:xfrm>
            <a:off x="9646920" y="1371600"/>
            <a:ext cx="2057400" cy="173736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9738360" y="1426464"/>
            <a:ext cx="1920240" cy="365760"/>
          </a:xfrm>
          <a:prstGeom prst="rect">
            <a:avLst/>
          </a:prstGeom>
          <a:noFill/>
        </p:spPr>
        <p:txBody>
          <a:bodyPr wrap="square" lIns="45720" tIns="27432" rIns="45720" bIns="27432" anchor="t">
            <a:spAutoFit/>
          </a:bodyPr>
          <a:lstStyle/>
          <a:p>
            <a:pPr algn="l">
              <a:lnSpc>
                <a:spcPct val="110000"/>
              </a:lnSpc>
              <a:spcAft>
                <a:spcPts val="600"/>
              </a:spcAft>
            </a:pPr>
            <a:r>
              <a:rPr lang="vi-VN" sz="1300" b="1" i="0">
                <a:solidFill>
                  <a:srgbClr val="FFD400"/>
                </a:solidFill>
                <a:latin typeface="Arial"/>
              </a:rPr>
              <a:t>Mức giảm SSE</a:t>
            </a:r>
          </a:p>
        </p:txBody>
      </p:sp>
      <p:sp>
        <p:nvSpPr>
          <p:cNvPr id="7" name="TextBox 6"/>
          <p:cNvSpPr txBox="1"/>
          <p:nvPr/>
        </p:nvSpPr>
        <p:spPr>
          <a:xfrm>
            <a:off x="9738360" y="1783080"/>
            <a:ext cx="1920240" cy="1280160"/>
          </a:xfrm>
          <a:prstGeom prst="rect">
            <a:avLst/>
          </a:prstGeom>
          <a:noFill/>
        </p:spPr>
        <p:txBody>
          <a:bodyPr wrap="square" lIns="45720" tIns="27432" rIns="45720" bIns="27432" anchor="t">
            <a:spAutoFit/>
          </a:bodyPr>
          <a:lstStyle/>
          <a:p>
            <a:pPr algn="l">
              <a:lnSpc>
                <a:spcPct val="110000"/>
              </a:lnSpc>
              <a:spcAft>
                <a:spcPts val="400"/>
              </a:spcAft>
            </a:pPr>
            <a:r>
              <a:rPr lang="vi-VN" sz="1300" b="1" i="0">
                <a:solidFill>
                  <a:srgbClr val="FFFFFF"/>
                </a:solidFill>
                <a:latin typeface="Arial"/>
              </a:rPr>
              <a:t>gain = S²ₗ/nₗ + S²ᵣ/nᵣ − S²/n</a:t>
            </a:r>
          </a:p>
          <a:p>
            <a:pPr algn="l">
              <a:lnSpc>
                <a:spcPct val="110000"/>
              </a:lnSpc>
              <a:spcAft>
                <a:spcPts val="400"/>
              </a:spcAft>
            </a:pPr>
            <a:r>
              <a:rPr lang="vi-VN" sz="1100" b="0" i="0">
                <a:solidFill>
                  <a:srgbClr val="FFFFFF"/>
                </a:solidFill>
                <a:latin typeface="Arial"/>
              </a:rPr>
              <a:t>n: số xe, S: tổng log giá</a:t>
            </a:r>
          </a:p>
        </p:txBody>
      </p:sp>
      <p:sp>
        <p:nvSpPr>
          <p:cNvPr id="8" name="TextBox 7"/>
          <p:cNvSpPr txBox="1"/>
          <p:nvPr/>
        </p:nvSpPr>
        <p:spPr>
          <a:xfrm>
            <a:off x="9646920" y="3246120"/>
            <a:ext cx="2057400" cy="2194560"/>
          </a:xfrm>
          <a:prstGeom prst="rect">
            <a:avLst/>
          </a:prstGeom>
          <a:noFill/>
        </p:spPr>
        <p:txBody>
          <a:bodyPr wrap="square" lIns="45720" tIns="27432" rIns="45720" bIns="27432" anchor="t">
            <a:spAutoFit/>
          </a:bodyPr>
          <a:lstStyle/>
          <a:p>
            <a:pPr marL="201168" indent="-201168" algn="l">
              <a:lnSpc>
                <a:spcPct val="110000"/>
              </a:lnSpc>
              <a:spcAft>
                <a:spcPts val="600"/>
              </a:spcAft>
              <a:buClr>
                <a:srgbClr val="075289"/>
              </a:buClr>
              <a:buFont typeface="Arial"/>
              <a:buChar char="•"/>
            </a:pPr>
            <a:r>
              <a:rPr lang="vi-VN" sz="1200" b="0" i="0">
                <a:solidFill>
                  <a:srgbClr val="1F2937"/>
                </a:solidFill>
                <a:latin typeface="Arial"/>
              </a:rPr>
              <a:t>Cây sâu: độ chệch thấp</a:t>
            </a:r>
          </a:p>
          <a:p>
            <a:pPr marL="201168" indent="-201168" algn="l">
              <a:lnSpc>
                <a:spcPct val="110000"/>
              </a:lnSpc>
              <a:spcAft>
                <a:spcPts val="600"/>
              </a:spcAft>
              <a:buClr>
                <a:srgbClr val="075289"/>
              </a:buClr>
              <a:buFont typeface="Arial"/>
              <a:buChar char="•"/>
            </a:pPr>
            <a:r>
              <a:rPr lang="vi-VN" sz="1200" b="0" i="0">
                <a:solidFill>
                  <a:srgbClr val="1F2937"/>
                </a:solidFill>
                <a:latin typeface="Arial"/>
              </a:rPr>
              <a:t>Nhưng phương sai cao: đổi vài mẫu là cây đổi hẳn</a:t>
            </a:r>
          </a:p>
          <a:p>
            <a:pPr marL="201168" indent="-201168" algn="l">
              <a:lnSpc>
                <a:spcPct val="110000"/>
              </a:lnSpc>
              <a:spcAft>
                <a:spcPts val="600"/>
              </a:spcAft>
              <a:buClr>
                <a:srgbClr val="075289"/>
              </a:buClr>
              <a:buFont typeface="Arial"/>
              <a:buChar char="•"/>
            </a:pPr>
            <a:r>
              <a:rPr lang="vi-VN" sz="1200" b="0" i="0">
                <a:solidFill>
                  <a:srgbClr val="1F2937"/>
                </a:solidFill>
                <a:latin typeface="Arial"/>
              </a:rPr>
              <a:t>→ cần trung bình nhiều cây</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4 · LÝ THUYẾT</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Random Forest: lấy trung bình nhiều cây khác nhau</a:t>
            </a:r>
          </a:p>
        </p:txBody>
      </p:sp>
      <p:sp>
        <p:nvSpPr>
          <p:cNvPr id="4" name="Rounded Rectangle 3"/>
          <p:cNvSpPr/>
          <p:nvPr/>
        </p:nvSpPr>
        <p:spPr>
          <a:xfrm>
            <a:off x="548640" y="2103120"/>
            <a:ext cx="1737360" cy="105156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48640" y="2130552"/>
            <a:ext cx="1737360" cy="1005840"/>
          </a:xfrm>
          <a:prstGeom prst="rect">
            <a:avLst/>
          </a:prstGeom>
          <a:noFill/>
        </p:spPr>
        <p:txBody>
          <a:bodyPr wrap="square" lIns="45720" tIns="27432" rIns="45720" bIns="27432" anchor="ctr">
            <a:spAutoFit/>
          </a:bodyPr>
          <a:lstStyle/>
          <a:p>
            <a:pPr algn="ctr">
              <a:lnSpc>
                <a:spcPct val="110000"/>
              </a:lnSpc>
              <a:spcAft>
                <a:spcPts val="200"/>
              </a:spcAft>
            </a:pPr>
            <a:r>
              <a:rPr lang="vi-VN" sz="1500" b="1" i="0">
                <a:solidFill>
                  <a:srgbClr val="FFFFFF"/>
                </a:solidFill>
                <a:latin typeface="Arial"/>
              </a:rPr>
              <a:t>Tập train</a:t>
            </a:r>
          </a:p>
          <a:p>
            <a:pPr algn="ctr">
              <a:lnSpc>
                <a:spcPct val="110000"/>
              </a:lnSpc>
              <a:spcAft>
                <a:spcPts val="200"/>
              </a:spcAft>
            </a:pPr>
            <a:r>
              <a:rPr lang="vi-VN" sz="1500" b="1" i="0">
                <a:solidFill>
                  <a:srgbClr val="FFFFFF"/>
                </a:solidFill>
                <a:latin typeface="Arial"/>
              </a:rPr>
              <a:t>11.153 xe</a:t>
            </a:r>
          </a:p>
        </p:txBody>
      </p:sp>
      <p:sp>
        <p:nvSpPr>
          <p:cNvPr id="6" name="Right Arrow 5"/>
          <p:cNvSpPr/>
          <p:nvPr/>
        </p:nvSpPr>
        <p:spPr>
          <a:xfrm>
            <a:off x="2377440" y="1536192"/>
            <a:ext cx="457200" cy="256032"/>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2926080" y="1417320"/>
            <a:ext cx="1737360" cy="5029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2926080" y="1435608"/>
            <a:ext cx="1737360" cy="457200"/>
          </a:xfrm>
          <a:prstGeom prst="rect">
            <a:avLst/>
          </a:prstGeom>
          <a:noFill/>
        </p:spPr>
        <p:txBody>
          <a:bodyPr wrap="square" lIns="45720" tIns="27432" rIns="45720" bIns="27432" anchor="ctr">
            <a:spAutoFit/>
          </a:bodyPr>
          <a:lstStyle/>
          <a:p>
            <a:pPr algn="ctr">
              <a:lnSpc>
                <a:spcPct val="110000"/>
              </a:lnSpc>
              <a:spcAft>
                <a:spcPts val="600"/>
              </a:spcAft>
            </a:pPr>
            <a:r>
              <a:rPr lang="vi-VN" sz="1300" b="1" i="0">
                <a:solidFill>
                  <a:srgbClr val="075289"/>
                </a:solidFill>
                <a:latin typeface="Arial"/>
              </a:rPr>
              <a:t>Bootstrap 1</a:t>
            </a:r>
          </a:p>
        </p:txBody>
      </p:sp>
      <p:sp>
        <p:nvSpPr>
          <p:cNvPr id="9" name="Right Arrow 8"/>
          <p:cNvSpPr/>
          <p:nvPr/>
        </p:nvSpPr>
        <p:spPr>
          <a:xfrm>
            <a:off x="4754880" y="1536192"/>
            <a:ext cx="365760" cy="256032"/>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212080" y="1417320"/>
            <a:ext cx="1645920" cy="50292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212080" y="1435608"/>
            <a:ext cx="1645920" cy="457200"/>
          </a:xfrm>
          <a:prstGeom prst="rect">
            <a:avLst/>
          </a:prstGeom>
          <a:noFill/>
        </p:spPr>
        <p:txBody>
          <a:bodyPr wrap="square" lIns="45720" tIns="27432" rIns="45720" bIns="27432" anchor="ctr">
            <a:spAutoFit/>
          </a:bodyPr>
          <a:lstStyle/>
          <a:p>
            <a:pPr algn="ctr">
              <a:lnSpc>
                <a:spcPct val="110000"/>
              </a:lnSpc>
              <a:spcAft>
                <a:spcPts val="600"/>
              </a:spcAft>
            </a:pPr>
            <a:r>
              <a:rPr lang="vi-VN" sz="1300" b="1" i="0">
                <a:solidFill>
                  <a:srgbClr val="1F2937"/>
                </a:solidFill>
                <a:latin typeface="Arial"/>
              </a:rPr>
              <a:t>Cây 1</a:t>
            </a:r>
          </a:p>
        </p:txBody>
      </p:sp>
      <p:sp>
        <p:nvSpPr>
          <p:cNvPr id="12" name="Right Arrow 11"/>
          <p:cNvSpPr/>
          <p:nvPr/>
        </p:nvSpPr>
        <p:spPr>
          <a:xfrm>
            <a:off x="2377440" y="2157984"/>
            <a:ext cx="457200" cy="256032"/>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2926080" y="2039112"/>
            <a:ext cx="1737360" cy="5029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2926080" y="2057400"/>
            <a:ext cx="1737360" cy="457200"/>
          </a:xfrm>
          <a:prstGeom prst="rect">
            <a:avLst/>
          </a:prstGeom>
          <a:noFill/>
        </p:spPr>
        <p:txBody>
          <a:bodyPr wrap="square" lIns="45720" tIns="27432" rIns="45720" bIns="27432" anchor="ctr">
            <a:spAutoFit/>
          </a:bodyPr>
          <a:lstStyle/>
          <a:p>
            <a:pPr algn="ctr">
              <a:lnSpc>
                <a:spcPct val="110000"/>
              </a:lnSpc>
              <a:spcAft>
                <a:spcPts val="600"/>
              </a:spcAft>
            </a:pPr>
            <a:r>
              <a:rPr lang="vi-VN" sz="1300" b="1" i="0">
                <a:solidFill>
                  <a:srgbClr val="075289"/>
                </a:solidFill>
                <a:latin typeface="Arial"/>
              </a:rPr>
              <a:t>Bootstrap 2</a:t>
            </a:r>
          </a:p>
        </p:txBody>
      </p:sp>
      <p:sp>
        <p:nvSpPr>
          <p:cNvPr id="15" name="Right Arrow 14"/>
          <p:cNvSpPr/>
          <p:nvPr/>
        </p:nvSpPr>
        <p:spPr>
          <a:xfrm>
            <a:off x="4754880" y="2157984"/>
            <a:ext cx="365760" cy="256032"/>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5212080" y="2039112"/>
            <a:ext cx="1645920" cy="50292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5212080" y="2057400"/>
            <a:ext cx="1645920" cy="457200"/>
          </a:xfrm>
          <a:prstGeom prst="rect">
            <a:avLst/>
          </a:prstGeom>
          <a:noFill/>
        </p:spPr>
        <p:txBody>
          <a:bodyPr wrap="square" lIns="45720" tIns="27432" rIns="45720" bIns="27432" anchor="ctr">
            <a:spAutoFit/>
          </a:bodyPr>
          <a:lstStyle/>
          <a:p>
            <a:pPr algn="ctr">
              <a:lnSpc>
                <a:spcPct val="110000"/>
              </a:lnSpc>
              <a:spcAft>
                <a:spcPts val="600"/>
              </a:spcAft>
            </a:pPr>
            <a:r>
              <a:rPr lang="vi-VN" sz="1300" b="1" i="0">
                <a:solidFill>
                  <a:srgbClr val="1F2937"/>
                </a:solidFill>
                <a:latin typeface="Arial"/>
              </a:rPr>
              <a:t>Cây 2</a:t>
            </a:r>
          </a:p>
        </p:txBody>
      </p:sp>
      <p:sp>
        <p:nvSpPr>
          <p:cNvPr id="18" name="Right Arrow 17"/>
          <p:cNvSpPr/>
          <p:nvPr/>
        </p:nvSpPr>
        <p:spPr>
          <a:xfrm>
            <a:off x="2377440" y="2779776"/>
            <a:ext cx="457200" cy="256032"/>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2926080" y="2660904"/>
            <a:ext cx="1737360" cy="5029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2926080" y="2679192"/>
            <a:ext cx="1737360" cy="457200"/>
          </a:xfrm>
          <a:prstGeom prst="rect">
            <a:avLst/>
          </a:prstGeom>
          <a:noFill/>
        </p:spPr>
        <p:txBody>
          <a:bodyPr wrap="square" lIns="45720" tIns="27432" rIns="45720" bIns="27432" anchor="ctr">
            <a:spAutoFit/>
          </a:bodyPr>
          <a:lstStyle/>
          <a:p>
            <a:pPr algn="ctr">
              <a:lnSpc>
                <a:spcPct val="110000"/>
              </a:lnSpc>
              <a:spcAft>
                <a:spcPts val="600"/>
              </a:spcAft>
            </a:pPr>
            <a:r>
              <a:rPr lang="vi-VN" sz="1300" b="1" i="0">
                <a:solidFill>
                  <a:srgbClr val="075289"/>
                </a:solidFill>
                <a:latin typeface="Arial"/>
              </a:rPr>
              <a:t>…</a:t>
            </a:r>
          </a:p>
        </p:txBody>
      </p:sp>
      <p:sp>
        <p:nvSpPr>
          <p:cNvPr id="21" name="Right Arrow 20"/>
          <p:cNvSpPr/>
          <p:nvPr/>
        </p:nvSpPr>
        <p:spPr>
          <a:xfrm>
            <a:off x="4754880" y="2779776"/>
            <a:ext cx="365760" cy="256032"/>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212080" y="2660904"/>
            <a:ext cx="1645920" cy="50292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5212080" y="2679192"/>
            <a:ext cx="1645920" cy="457200"/>
          </a:xfrm>
          <a:prstGeom prst="rect">
            <a:avLst/>
          </a:prstGeom>
          <a:noFill/>
        </p:spPr>
        <p:txBody>
          <a:bodyPr wrap="square" lIns="45720" tIns="27432" rIns="45720" bIns="27432" anchor="ctr">
            <a:spAutoFit/>
          </a:bodyPr>
          <a:lstStyle/>
          <a:p>
            <a:pPr algn="ctr">
              <a:lnSpc>
                <a:spcPct val="110000"/>
              </a:lnSpc>
              <a:spcAft>
                <a:spcPts val="600"/>
              </a:spcAft>
            </a:pPr>
            <a:r>
              <a:rPr lang="vi-VN" sz="1300" b="1" i="0">
                <a:solidFill>
                  <a:srgbClr val="1F2937"/>
                </a:solidFill>
                <a:latin typeface="Arial"/>
              </a:rPr>
              <a:t>Cây …</a:t>
            </a:r>
          </a:p>
        </p:txBody>
      </p:sp>
      <p:sp>
        <p:nvSpPr>
          <p:cNvPr id="24" name="Right Arrow 23"/>
          <p:cNvSpPr/>
          <p:nvPr/>
        </p:nvSpPr>
        <p:spPr>
          <a:xfrm>
            <a:off x="2377440" y="3401568"/>
            <a:ext cx="457200" cy="256032"/>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2926080" y="3282696"/>
            <a:ext cx="1737360" cy="5029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2926080" y="3300984"/>
            <a:ext cx="1737360" cy="457200"/>
          </a:xfrm>
          <a:prstGeom prst="rect">
            <a:avLst/>
          </a:prstGeom>
          <a:noFill/>
        </p:spPr>
        <p:txBody>
          <a:bodyPr wrap="square" lIns="45720" tIns="27432" rIns="45720" bIns="27432" anchor="ctr">
            <a:spAutoFit/>
          </a:bodyPr>
          <a:lstStyle/>
          <a:p>
            <a:pPr algn="ctr">
              <a:lnSpc>
                <a:spcPct val="110000"/>
              </a:lnSpc>
              <a:spcAft>
                <a:spcPts val="600"/>
              </a:spcAft>
            </a:pPr>
            <a:r>
              <a:rPr lang="vi-VN" sz="1300" b="1" i="0">
                <a:solidFill>
                  <a:srgbClr val="075289"/>
                </a:solidFill>
                <a:latin typeface="Arial"/>
              </a:rPr>
              <a:t>Bootstrap T</a:t>
            </a:r>
          </a:p>
        </p:txBody>
      </p:sp>
      <p:sp>
        <p:nvSpPr>
          <p:cNvPr id="27" name="Right Arrow 26"/>
          <p:cNvSpPr/>
          <p:nvPr/>
        </p:nvSpPr>
        <p:spPr>
          <a:xfrm>
            <a:off x="4754880" y="3401568"/>
            <a:ext cx="365760" cy="256032"/>
          </a:xfrm>
          <a:prstGeom prst="rightArrow">
            <a:avLst/>
          </a:prstGeom>
          <a:solidFill>
            <a:srgbClr val="FFD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212080" y="3282696"/>
            <a:ext cx="1645920" cy="50292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5212080" y="3300984"/>
            <a:ext cx="1645920" cy="457200"/>
          </a:xfrm>
          <a:prstGeom prst="rect">
            <a:avLst/>
          </a:prstGeom>
          <a:noFill/>
        </p:spPr>
        <p:txBody>
          <a:bodyPr wrap="square" lIns="45720" tIns="27432" rIns="45720" bIns="27432" anchor="ctr">
            <a:spAutoFit/>
          </a:bodyPr>
          <a:lstStyle/>
          <a:p>
            <a:pPr algn="ctr">
              <a:lnSpc>
                <a:spcPct val="110000"/>
              </a:lnSpc>
              <a:spcAft>
                <a:spcPts val="600"/>
              </a:spcAft>
            </a:pPr>
            <a:r>
              <a:rPr lang="vi-VN" sz="1300" b="1" i="0">
                <a:solidFill>
                  <a:srgbClr val="1F2937"/>
                </a:solidFill>
                <a:latin typeface="Arial"/>
              </a:rPr>
              <a:t>Cây T</a:t>
            </a:r>
          </a:p>
        </p:txBody>
      </p:sp>
      <p:sp>
        <p:nvSpPr>
          <p:cNvPr id="30" name="Right Arrow 29"/>
          <p:cNvSpPr/>
          <p:nvPr/>
        </p:nvSpPr>
        <p:spPr>
          <a:xfrm>
            <a:off x="6995160" y="2423160"/>
            <a:ext cx="457200" cy="411480"/>
          </a:xfrm>
          <a:prstGeom prst="rightArrow">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7589520" y="2103120"/>
            <a:ext cx="1737360" cy="1051560"/>
          </a:xfrm>
          <a:prstGeom prst="roundRect">
            <a:avLst>
              <a:gd name="adj" fmla="val 8000"/>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7589520" y="2130552"/>
            <a:ext cx="1737360" cy="1005840"/>
          </a:xfrm>
          <a:prstGeom prst="rect">
            <a:avLst/>
          </a:prstGeom>
          <a:noFill/>
        </p:spPr>
        <p:txBody>
          <a:bodyPr wrap="square" lIns="45720" tIns="27432" rIns="45720" bIns="27432" anchor="ctr">
            <a:spAutoFit/>
          </a:bodyPr>
          <a:lstStyle/>
          <a:p>
            <a:pPr algn="ctr">
              <a:lnSpc>
                <a:spcPct val="110000"/>
              </a:lnSpc>
              <a:spcAft>
                <a:spcPts val="200"/>
              </a:spcAft>
            </a:pPr>
            <a:r>
              <a:rPr lang="vi-VN" sz="1500" b="1" i="0">
                <a:solidFill>
                  <a:srgbClr val="FFFFFF"/>
                </a:solidFill>
                <a:latin typeface="Arial"/>
              </a:rPr>
              <a:t>Trung bình</a:t>
            </a:r>
          </a:p>
          <a:p>
            <a:pPr algn="ctr">
              <a:lnSpc>
                <a:spcPct val="110000"/>
              </a:lnSpc>
              <a:spcAft>
                <a:spcPts val="200"/>
              </a:spcAft>
            </a:pPr>
            <a:r>
              <a:rPr lang="vi-VN" sz="1500" b="1" i="0">
                <a:solidFill>
                  <a:srgbClr val="FFFFFF"/>
                </a:solidFill>
                <a:latin typeface="Arial"/>
              </a:rPr>
              <a:t>T dự đoán</a:t>
            </a:r>
          </a:p>
        </p:txBody>
      </p:sp>
      <p:sp>
        <p:nvSpPr>
          <p:cNvPr id="33" name="TextBox 32"/>
          <p:cNvSpPr txBox="1"/>
          <p:nvPr/>
        </p:nvSpPr>
        <p:spPr>
          <a:xfrm>
            <a:off x="9555480" y="1463040"/>
            <a:ext cx="2103120" cy="2377440"/>
          </a:xfrm>
          <a:prstGeom prst="rect">
            <a:avLst/>
          </a:prstGeom>
          <a:noFill/>
        </p:spPr>
        <p:txBody>
          <a:bodyPr wrap="square" lIns="45720" tIns="27432" rIns="45720" bIns="27432" anchor="t">
            <a:spAutoFit/>
          </a:bodyPr>
          <a:lstStyle/>
          <a:p>
            <a:pPr algn="l">
              <a:lnSpc>
                <a:spcPct val="110000"/>
              </a:lnSpc>
              <a:spcAft>
                <a:spcPts val="600"/>
              </a:spcAft>
            </a:pPr>
            <a:r>
              <a:rPr lang="vi-VN" sz="1500" b="1" i="0">
                <a:solidFill>
                  <a:srgbClr val="075289"/>
                </a:solidFill>
                <a:latin typeface="Arial"/>
              </a:rPr>
              <a:t>ŷ(x) = (1/T) Σ fₜ(x)</a:t>
            </a:r>
          </a:p>
          <a:p>
            <a:pPr algn="l">
              <a:lnSpc>
                <a:spcPct val="110000"/>
              </a:lnSpc>
              <a:spcAft>
                <a:spcPts val="600"/>
              </a:spcAft>
            </a:pPr>
            <a:r>
              <a:rPr lang="vi-VN" sz="1200" b="0" i="0">
                <a:solidFill>
                  <a:srgbClr val="5B6775"/>
                </a:solidFill>
                <a:latin typeface="Arial"/>
              </a:rPr>
              <a:t>trung bình T cây</a:t>
            </a:r>
          </a:p>
        </p:txBody>
      </p:sp>
      <p:sp>
        <p:nvSpPr>
          <p:cNvPr id="34" name="Rounded Rectangle 33"/>
          <p:cNvSpPr/>
          <p:nvPr/>
        </p:nvSpPr>
        <p:spPr>
          <a:xfrm>
            <a:off x="548640" y="4160520"/>
            <a:ext cx="3474720" cy="132588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731520" y="4233672"/>
            <a:ext cx="3108960" cy="365760"/>
          </a:xfrm>
          <a:prstGeom prst="rect">
            <a:avLst/>
          </a:prstGeom>
          <a:noFill/>
        </p:spPr>
        <p:txBody>
          <a:bodyPr wrap="square" lIns="45720" tIns="27432" rIns="45720" bIns="27432" anchor="t">
            <a:spAutoFit/>
          </a:bodyPr>
          <a:lstStyle/>
          <a:p>
            <a:pPr algn="l">
              <a:lnSpc>
                <a:spcPct val="110000"/>
              </a:lnSpc>
              <a:spcAft>
                <a:spcPts val="600"/>
              </a:spcAft>
            </a:pPr>
            <a:r>
              <a:rPr lang="vi-VN" sz="1500" b="1" i="0">
                <a:solidFill>
                  <a:srgbClr val="075289"/>
                </a:solidFill>
                <a:latin typeface="Arial"/>
              </a:rPr>
              <a:t>1. Bootstrap</a:t>
            </a:r>
          </a:p>
        </p:txBody>
      </p:sp>
      <p:sp>
        <p:nvSpPr>
          <p:cNvPr id="36" name="TextBox 35"/>
          <p:cNvSpPr txBox="1"/>
          <p:nvPr/>
        </p:nvSpPr>
        <p:spPr>
          <a:xfrm>
            <a:off x="731520" y="4617720"/>
            <a:ext cx="3108960" cy="822959"/>
          </a:xfrm>
          <a:prstGeom prst="rect">
            <a:avLst/>
          </a:prstGeom>
          <a:noFill/>
        </p:spPr>
        <p:txBody>
          <a:bodyPr wrap="square" lIns="45720" tIns="27432" rIns="45720" bIns="27432" anchor="t">
            <a:spAutoFit/>
          </a:bodyPr>
          <a:lstStyle/>
          <a:p>
            <a:pPr algn="l">
              <a:lnSpc>
                <a:spcPct val="110000"/>
              </a:lnSpc>
              <a:spcAft>
                <a:spcPts val="400"/>
              </a:spcAft>
            </a:pPr>
            <a:r>
              <a:rPr lang="vi-VN" sz="1300" b="0" i="0">
                <a:solidFill>
                  <a:srgbClr val="1F2937"/>
                </a:solidFill>
                <a:latin typeface="Arial"/>
              </a:rPr>
              <a:t>mỗi cây học ~63% số xe khác nhau</a:t>
            </a:r>
          </a:p>
        </p:txBody>
      </p:sp>
      <p:sp>
        <p:nvSpPr>
          <p:cNvPr id="37" name="Rounded Rectangle 36"/>
          <p:cNvSpPr/>
          <p:nvPr/>
        </p:nvSpPr>
        <p:spPr>
          <a:xfrm>
            <a:off x="4297679" y="4160520"/>
            <a:ext cx="3474720" cy="132588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4480559" y="4233672"/>
            <a:ext cx="3108960" cy="365760"/>
          </a:xfrm>
          <a:prstGeom prst="rect">
            <a:avLst/>
          </a:prstGeom>
          <a:noFill/>
        </p:spPr>
        <p:txBody>
          <a:bodyPr wrap="square" lIns="45720" tIns="27432" rIns="45720" bIns="27432" anchor="t">
            <a:spAutoFit/>
          </a:bodyPr>
          <a:lstStyle/>
          <a:p>
            <a:pPr algn="l">
              <a:lnSpc>
                <a:spcPct val="110000"/>
              </a:lnSpc>
              <a:spcAft>
                <a:spcPts val="600"/>
              </a:spcAft>
            </a:pPr>
            <a:r>
              <a:rPr lang="vi-VN" sz="1500" b="1" i="0">
                <a:solidFill>
                  <a:srgbClr val="075289"/>
                </a:solidFill>
                <a:latin typeface="Arial"/>
              </a:rPr>
              <a:t>2. max_features</a:t>
            </a:r>
          </a:p>
        </p:txBody>
      </p:sp>
      <p:sp>
        <p:nvSpPr>
          <p:cNvPr id="39" name="TextBox 38"/>
          <p:cNvSpPr txBox="1"/>
          <p:nvPr/>
        </p:nvSpPr>
        <p:spPr>
          <a:xfrm>
            <a:off x="4480559" y="4617720"/>
            <a:ext cx="3108960" cy="822959"/>
          </a:xfrm>
          <a:prstGeom prst="rect">
            <a:avLst/>
          </a:prstGeom>
          <a:noFill/>
        </p:spPr>
        <p:txBody>
          <a:bodyPr wrap="square" lIns="45720" tIns="27432" rIns="45720" bIns="27432" anchor="t">
            <a:spAutoFit/>
          </a:bodyPr>
          <a:lstStyle/>
          <a:p>
            <a:pPr algn="l">
              <a:lnSpc>
                <a:spcPct val="110000"/>
              </a:lnSpc>
              <a:spcAft>
                <a:spcPts val="400"/>
              </a:spcAft>
            </a:pPr>
            <a:r>
              <a:rPr lang="vi-VN" sz="1300" b="0" i="0">
                <a:solidFill>
                  <a:srgbClr val="1F2937"/>
                </a:solidFill>
                <a:latin typeface="Arial"/>
              </a:rPr>
              <a:t>mỗi nút chỉ xét một phần đặc trưng</a:t>
            </a:r>
          </a:p>
        </p:txBody>
      </p:sp>
      <p:sp>
        <p:nvSpPr>
          <p:cNvPr id="40" name="Rounded Rectangle 39"/>
          <p:cNvSpPr/>
          <p:nvPr/>
        </p:nvSpPr>
        <p:spPr>
          <a:xfrm>
            <a:off x="8046719" y="4160520"/>
            <a:ext cx="3474720" cy="132588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8229599" y="4233672"/>
            <a:ext cx="3108960" cy="365760"/>
          </a:xfrm>
          <a:prstGeom prst="rect">
            <a:avLst/>
          </a:prstGeom>
          <a:noFill/>
        </p:spPr>
        <p:txBody>
          <a:bodyPr wrap="square" lIns="45720" tIns="27432" rIns="45720" bIns="27432" anchor="t">
            <a:spAutoFit/>
          </a:bodyPr>
          <a:lstStyle/>
          <a:p>
            <a:pPr algn="l">
              <a:lnSpc>
                <a:spcPct val="110000"/>
              </a:lnSpc>
              <a:spcAft>
                <a:spcPts val="600"/>
              </a:spcAft>
            </a:pPr>
            <a:r>
              <a:rPr lang="vi-VN" sz="1500" b="1" i="0">
                <a:solidFill>
                  <a:srgbClr val="FFD400"/>
                </a:solidFill>
                <a:latin typeface="Arial"/>
              </a:rPr>
              <a:t>3. OOB</a:t>
            </a:r>
          </a:p>
        </p:txBody>
      </p:sp>
      <p:sp>
        <p:nvSpPr>
          <p:cNvPr id="42" name="TextBox 41"/>
          <p:cNvSpPr txBox="1"/>
          <p:nvPr/>
        </p:nvSpPr>
        <p:spPr>
          <a:xfrm>
            <a:off x="8229599" y="4617720"/>
            <a:ext cx="3108960" cy="822959"/>
          </a:xfrm>
          <a:prstGeom prst="rect">
            <a:avLst/>
          </a:prstGeom>
          <a:noFill/>
        </p:spPr>
        <p:txBody>
          <a:bodyPr wrap="square" lIns="45720" tIns="27432" rIns="45720" bIns="27432" anchor="t">
            <a:spAutoFit/>
          </a:bodyPr>
          <a:lstStyle/>
          <a:p>
            <a:pPr algn="l">
              <a:lnSpc>
                <a:spcPct val="110000"/>
              </a:lnSpc>
              <a:spcAft>
                <a:spcPts val="400"/>
              </a:spcAft>
            </a:pPr>
            <a:r>
              <a:rPr lang="vi-VN" sz="1300" b="0" i="0">
                <a:solidFill>
                  <a:srgbClr val="FFFFFF"/>
                </a:solidFill>
                <a:latin typeface="Arial"/>
              </a:rPr>
              <a:t>~37% xe ngoài túi → ước lượng sai số</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4 · RANDOM FOREST THƯ VIỆN</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Tinh chỉnh RandomForestRegressor bằng CV trên train</a:t>
            </a:r>
          </a:p>
        </p:txBody>
      </p:sp>
      <p:sp>
        <p:nvSpPr>
          <p:cNvPr id="4" name="TextBox 3"/>
          <p:cNvSpPr txBox="1"/>
          <p:nvPr/>
        </p:nvSpPr>
        <p:spPr>
          <a:xfrm>
            <a:off x="548640" y="1417320"/>
            <a:ext cx="6400800" cy="365760"/>
          </a:xfrm>
          <a:prstGeom prst="rect">
            <a:avLst/>
          </a:prstGeom>
          <a:noFill/>
        </p:spPr>
        <p:txBody>
          <a:bodyPr wrap="square" lIns="45720" tIns="27432" rIns="45720" bIns="27432" anchor="t">
            <a:spAutoFit/>
          </a:bodyPr>
          <a:lstStyle/>
          <a:p>
            <a:pPr algn="l">
              <a:lnSpc>
                <a:spcPct val="110000"/>
              </a:lnSpc>
              <a:spcAft>
                <a:spcPts val="600"/>
              </a:spcAft>
            </a:pPr>
            <a:r>
              <a:rPr lang="vi-VN" sz="1600" b="1" i="0">
                <a:solidFill>
                  <a:srgbClr val="075289"/>
                </a:solidFill>
                <a:latin typeface="Arial"/>
              </a:rPr>
              <a:t>5 cấu hình tốt nhất (300 cây)</a:t>
            </a:r>
          </a:p>
        </p:txBody>
      </p:sp>
      <p:graphicFrame>
        <p:nvGraphicFramePr>
          <p:cNvPr id="5" name="Table 4"/>
          <p:cNvGraphicFramePr>
            <a:graphicFrameLocks noGrp="1"/>
          </p:cNvGraphicFramePr>
          <p:nvPr/>
        </p:nvGraphicFramePr>
        <p:xfrm>
          <a:off x="548640" y="1874519"/>
          <a:ext cx="6400800" cy="2852928"/>
        </p:xfrm>
        <a:graphic>
          <a:graphicData uri="http://schemas.openxmlformats.org/drawingml/2006/table">
            <a:tbl>
              <a:tblPr>
                <a:tableStyleId>{5940675A-B579-460E-94D1-54222C63F5DA}</a:tableStyleId>
              </a:tblPr>
              <a:tblGrid>
                <a:gridCol w="182880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75488">
                <a:tc>
                  <a:txBody>
                    <a:bodyPr/>
                    <a:lstStyle/>
                    <a:p>
                      <a:r>
                        <a:rPr lang="vi-VN" sz="1400" b="1" i="0">
                          <a:solidFill>
                            <a:srgbClr val="FFFFFF"/>
                          </a:solidFill>
                          <a:latin typeface="Arial"/>
                        </a:rPr>
                        <a:t>min_samples_leaf</a:t>
                      </a:r>
                    </a:p>
                  </a:txBody>
                  <a:tcPr marL="73152" marR="73152" marT="27432" marB="27432" anchor="ctr">
                    <a:solidFill>
                      <a:srgbClr val="075289"/>
                    </a:solidFill>
                  </a:tcPr>
                </a:tc>
                <a:tc>
                  <a:txBody>
                    <a:bodyPr/>
                    <a:lstStyle/>
                    <a:p>
                      <a:r>
                        <a:rPr lang="vi-VN" sz="1400" b="1" i="0">
                          <a:solidFill>
                            <a:srgbClr val="FFFFFF"/>
                          </a:solidFill>
                          <a:latin typeface="Arial"/>
                        </a:rPr>
                        <a:t>max_features</a:t>
                      </a:r>
                    </a:p>
                  </a:txBody>
                  <a:tcPr marL="73152" marR="73152" marT="27432" marB="27432" anchor="ctr">
                    <a:solidFill>
                      <a:srgbClr val="075289"/>
                    </a:solidFill>
                  </a:tcPr>
                </a:tc>
                <a:tc>
                  <a:txBody>
                    <a:bodyPr/>
                    <a:lstStyle/>
                    <a:p>
                      <a:r>
                        <a:rPr lang="vi-VN" sz="1400" b="1" i="0">
                          <a:solidFill>
                            <a:srgbClr val="FFFFFF"/>
                          </a:solidFill>
                          <a:latin typeface="Arial"/>
                        </a:rPr>
                        <a:t>max_depth</a:t>
                      </a:r>
                    </a:p>
                  </a:txBody>
                  <a:tcPr marL="73152" marR="73152" marT="27432" marB="27432" anchor="ctr">
                    <a:solidFill>
                      <a:srgbClr val="075289"/>
                    </a:solidFill>
                  </a:tcPr>
                </a:tc>
                <a:tc>
                  <a:txBody>
                    <a:bodyPr/>
                    <a:lstStyle/>
                    <a:p>
                      <a:r>
                        <a:rPr lang="vi-VN" sz="1400" b="1" i="0">
                          <a:solidFill>
                            <a:srgbClr val="FFFFFF"/>
                          </a:solidFill>
                          <a:latin typeface="Arial"/>
                        </a:rPr>
                        <a:t>CV RMSE (log)</a:t>
                      </a:r>
                    </a:p>
                  </a:txBody>
                  <a:tcPr marL="73152" marR="73152" marT="27432" marB="27432" anchor="ctr">
                    <a:solidFill>
                      <a:srgbClr val="075289"/>
                    </a:solidFill>
                  </a:tcPr>
                </a:tc>
                <a:extLst>
                  <a:ext uri="{0D108BD9-81ED-4DB2-BD59-A6C34878D82A}">
                    <a16:rowId xmlns:a16="http://schemas.microsoft.com/office/drawing/2014/main" val="10000"/>
                  </a:ext>
                </a:extLst>
              </a:tr>
              <a:tr h="475488">
                <a:tc>
                  <a:txBody>
                    <a:bodyPr/>
                    <a:lstStyle/>
                    <a:p>
                      <a:r>
                        <a:rPr lang="vi-VN" sz="1400" b="1" i="0">
                          <a:solidFill>
                            <a:srgbClr val="EB6834"/>
                          </a:solidFill>
                          <a:latin typeface="Arial"/>
                        </a:rPr>
                        <a:t>1</a:t>
                      </a:r>
                    </a:p>
                  </a:txBody>
                  <a:tcPr marL="73152" marR="73152" marT="27432" marB="27432" anchor="ctr">
                    <a:solidFill>
                      <a:srgbClr val="FFFFFF"/>
                    </a:solidFill>
                  </a:tcPr>
                </a:tc>
                <a:tc>
                  <a:txBody>
                    <a:bodyPr/>
                    <a:lstStyle/>
                    <a:p>
                      <a:r>
                        <a:rPr lang="vi-VN" sz="1400" b="1" i="0">
                          <a:solidFill>
                            <a:srgbClr val="EB6834"/>
                          </a:solidFill>
                          <a:latin typeface="Arial"/>
                        </a:rPr>
                        <a:t>0,50</a:t>
                      </a:r>
                    </a:p>
                  </a:txBody>
                  <a:tcPr marL="73152" marR="73152" marT="27432" marB="27432" anchor="ctr">
                    <a:solidFill>
                      <a:srgbClr val="FFFFFF"/>
                    </a:solidFill>
                  </a:tcPr>
                </a:tc>
                <a:tc>
                  <a:txBody>
                    <a:bodyPr/>
                    <a:lstStyle/>
                    <a:p>
                      <a:r>
                        <a:rPr lang="vi-VN" sz="1400" b="1" i="0">
                          <a:solidFill>
                            <a:srgbClr val="EB6834"/>
                          </a:solidFill>
                          <a:latin typeface="Arial"/>
                        </a:rPr>
                        <a:t>30</a:t>
                      </a:r>
                    </a:p>
                  </a:txBody>
                  <a:tcPr marL="73152" marR="73152" marT="27432" marB="27432" anchor="ctr">
                    <a:solidFill>
                      <a:srgbClr val="FFFFFF"/>
                    </a:solidFill>
                  </a:tcPr>
                </a:tc>
                <a:tc>
                  <a:txBody>
                    <a:bodyPr/>
                    <a:lstStyle/>
                    <a:p>
                      <a:r>
                        <a:rPr lang="vi-VN" sz="1400" b="1" i="0">
                          <a:solidFill>
                            <a:srgbClr val="EB6834"/>
                          </a:solidFill>
                          <a:latin typeface="Arial"/>
                        </a:rPr>
                        <a:t>0,2745</a:t>
                      </a:r>
                    </a:p>
                  </a:txBody>
                  <a:tcPr marL="73152" marR="73152" marT="27432" marB="27432" anchor="ctr">
                    <a:solidFill>
                      <a:srgbClr val="FFFFFF"/>
                    </a:solidFill>
                  </a:tcPr>
                </a:tc>
                <a:extLst>
                  <a:ext uri="{0D108BD9-81ED-4DB2-BD59-A6C34878D82A}">
                    <a16:rowId xmlns:a16="http://schemas.microsoft.com/office/drawing/2014/main" val="10001"/>
                  </a:ext>
                </a:extLst>
              </a:tr>
              <a:tr h="475488">
                <a:tc>
                  <a:txBody>
                    <a:bodyPr/>
                    <a:lstStyle/>
                    <a:p>
                      <a:r>
                        <a:rPr lang="vi-VN" sz="1400" b="0" i="0">
                          <a:solidFill>
                            <a:srgbClr val="1F2937"/>
                          </a:solidFill>
                          <a:latin typeface="Arial"/>
                        </a:rPr>
                        <a:t>1</a:t>
                      </a:r>
                    </a:p>
                  </a:txBody>
                  <a:tcPr marL="73152" marR="73152" marT="27432" marB="27432" anchor="ctr">
                    <a:solidFill>
                      <a:srgbClr val="EAF2FA"/>
                    </a:solidFill>
                  </a:tcPr>
                </a:tc>
                <a:tc>
                  <a:txBody>
                    <a:bodyPr/>
                    <a:lstStyle/>
                    <a:p>
                      <a:r>
                        <a:rPr lang="vi-VN" sz="1400" b="0" i="0">
                          <a:solidFill>
                            <a:srgbClr val="1F2937"/>
                          </a:solidFill>
                          <a:latin typeface="Arial"/>
                        </a:rPr>
                        <a:t>0,33</a:t>
                      </a:r>
                    </a:p>
                  </a:txBody>
                  <a:tcPr marL="73152" marR="73152" marT="27432" marB="27432" anchor="ctr">
                    <a:solidFill>
                      <a:srgbClr val="EAF2FA"/>
                    </a:solidFill>
                  </a:tcPr>
                </a:tc>
                <a:tc>
                  <a:txBody>
                    <a:bodyPr/>
                    <a:lstStyle/>
                    <a:p>
                      <a:r>
                        <a:rPr lang="vi-VN" sz="1400" b="0" i="0">
                          <a:solidFill>
                            <a:srgbClr val="1F2937"/>
                          </a:solidFill>
                          <a:latin typeface="Arial"/>
                        </a:rPr>
                        <a:t>30</a:t>
                      </a:r>
                    </a:p>
                  </a:txBody>
                  <a:tcPr marL="73152" marR="73152" marT="27432" marB="27432" anchor="ctr">
                    <a:solidFill>
                      <a:srgbClr val="EAF2FA"/>
                    </a:solidFill>
                  </a:tcPr>
                </a:tc>
                <a:tc>
                  <a:txBody>
                    <a:bodyPr/>
                    <a:lstStyle/>
                    <a:p>
                      <a:r>
                        <a:rPr lang="vi-VN" sz="1400" b="0" i="0">
                          <a:solidFill>
                            <a:srgbClr val="1F2937"/>
                          </a:solidFill>
                          <a:latin typeface="Arial"/>
                        </a:rPr>
                        <a:t>0,2763</a:t>
                      </a:r>
                    </a:p>
                  </a:txBody>
                  <a:tcPr marL="73152" marR="73152" marT="27432" marB="27432" anchor="ctr">
                    <a:solidFill>
                      <a:srgbClr val="EAF2FA"/>
                    </a:solidFill>
                  </a:tcPr>
                </a:tc>
                <a:extLst>
                  <a:ext uri="{0D108BD9-81ED-4DB2-BD59-A6C34878D82A}">
                    <a16:rowId xmlns:a16="http://schemas.microsoft.com/office/drawing/2014/main" val="10002"/>
                  </a:ext>
                </a:extLst>
              </a:tr>
              <a:tr h="475488">
                <a:tc>
                  <a:txBody>
                    <a:bodyPr/>
                    <a:lstStyle/>
                    <a:p>
                      <a:r>
                        <a:rPr lang="vi-VN" sz="1400" b="0" i="0">
                          <a:solidFill>
                            <a:srgbClr val="1F2937"/>
                          </a:solidFill>
                          <a:latin typeface="Arial"/>
                        </a:rPr>
                        <a:t>2</a:t>
                      </a:r>
                    </a:p>
                  </a:txBody>
                  <a:tcPr marL="73152" marR="73152" marT="27432" marB="27432" anchor="ctr">
                    <a:solidFill>
                      <a:srgbClr val="FFFFFF"/>
                    </a:solidFill>
                  </a:tcPr>
                </a:tc>
                <a:tc>
                  <a:txBody>
                    <a:bodyPr/>
                    <a:lstStyle/>
                    <a:p>
                      <a:r>
                        <a:rPr lang="vi-VN" sz="1400" b="0" i="0">
                          <a:solidFill>
                            <a:srgbClr val="1F2937"/>
                          </a:solidFill>
                          <a:latin typeface="Arial"/>
                        </a:rPr>
                        <a:t>0,80</a:t>
                      </a:r>
                    </a:p>
                  </a:txBody>
                  <a:tcPr marL="73152" marR="73152" marT="27432" marB="27432" anchor="ctr">
                    <a:solidFill>
                      <a:srgbClr val="FFFFFF"/>
                    </a:solidFill>
                  </a:tcPr>
                </a:tc>
                <a:tc>
                  <a:txBody>
                    <a:bodyPr/>
                    <a:lstStyle/>
                    <a:p>
                      <a:r>
                        <a:rPr lang="vi-VN" sz="1400" b="0" i="0">
                          <a:solidFill>
                            <a:srgbClr val="1F2937"/>
                          </a:solidFill>
                          <a:latin typeface="Arial"/>
                        </a:rPr>
                        <a:t>30</a:t>
                      </a:r>
                    </a:p>
                  </a:txBody>
                  <a:tcPr marL="73152" marR="73152" marT="27432" marB="27432" anchor="ctr">
                    <a:solidFill>
                      <a:srgbClr val="FFFFFF"/>
                    </a:solidFill>
                  </a:tcPr>
                </a:tc>
                <a:tc>
                  <a:txBody>
                    <a:bodyPr/>
                    <a:lstStyle/>
                    <a:p>
                      <a:r>
                        <a:rPr lang="vi-VN" sz="1400" b="0" i="0">
                          <a:solidFill>
                            <a:srgbClr val="1F2937"/>
                          </a:solidFill>
                          <a:latin typeface="Arial"/>
                        </a:rPr>
                        <a:t>0,2836</a:t>
                      </a:r>
                    </a:p>
                  </a:txBody>
                  <a:tcPr marL="73152" marR="73152" marT="27432" marB="27432" anchor="ctr">
                    <a:solidFill>
                      <a:srgbClr val="FFFFFF"/>
                    </a:solidFill>
                  </a:tcPr>
                </a:tc>
                <a:extLst>
                  <a:ext uri="{0D108BD9-81ED-4DB2-BD59-A6C34878D82A}">
                    <a16:rowId xmlns:a16="http://schemas.microsoft.com/office/drawing/2014/main" val="10003"/>
                  </a:ext>
                </a:extLst>
              </a:tr>
              <a:tr h="475488">
                <a:tc>
                  <a:txBody>
                    <a:bodyPr/>
                    <a:lstStyle/>
                    <a:p>
                      <a:r>
                        <a:rPr lang="vi-VN" sz="1400" b="0" i="0">
                          <a:solidFill>
                            <a:srgbClr val="1F2937"/>
                          </a:solidFill>
                          <a:latin typeface="Arial"/>
                        </a:rPr>
                        <a:t>2</a:t>
                      </a:r>
                    </a:p>
                  </a:txBody>
                  <a:tcPr marL="73152" marR="73152" marT="27432" marB="27432" anchor="ctr">
                    <a:solidFill>
                      <a:srgbClr val="EAF2FA"/>
                    </a:solidFill>
                  </a:tcPr>
                </a:tc>
                <a:tc>
                  <a:txBody>
                    <a:bodyPr/>
                    <a:lstStyle/>
                    <a:p>
                      <a:r>
                        <a:rPr lang="vi-VN" sz="1400" b="0" i="0">
                          <a:solidFill>
                            <a:srgbClr val="1F2937"/>
                          </a:solidFill>
                          <a:latin typeface="Arial"/>
                        </a:rPr>
                        <a:t>0,50</a:t>
                      </a:r>
                    </a:p>
                  </a:txBody>
                  <a:tcPr marL="73152" marR="73152" marT="27432" marB="27432" anchor="ctr">
                    <a:solidFill>
                      <a:srgbClr val="EAF2FA"/>
                    </a:solidFill>
                  </a:tcPr>
                </a:tc>
                <a:tc>
                  <a:txBody>
                    <a:bodyPr/>
                    <a:lstStyle/>
                    <a:p>
                      <a:r>
                        <a:rPr lang="vi-VN" sz="1400" b="0" i="0">
                          <a:solidFill>
                            <a:srgbClr val="1F2937"/>
                          </a:solidFill>
                          <a:latin typeface="Arial"/>
                        </a:rPr>
                        <a:t>30</a:t>
                      </a:r>
                    </a:p>
                  </a:txBody>
                  <a:tcPr marL="73152" marR="73152" marT="27432" marB="27432" anchor="ctr">
                    <a:solidFill>
                      <a:srgbClr val="EAF2FA"/>
                    </a:solidFill>
                  </a:tcPr>
                </a:tc>
                <a:tc>
                  <a:txBody>
                    <a:bodyPr/>
                    <a:lstStyle/>
                    <a:p>
                      <a:r>
                        <a:rPr lang="vi-VN" sz="1400" b="0" i="0">
                          <a:solidFill>
                            <a:srgbClr val="1F2937"/>
                          </a:solidFill>
                          <a:latin typeface="Arial"/>
                        </a:rPr>
                        <a:t>0,2844</a:t>
                      </a:r>
                    </a:p>
                  </a:txBody>
                  <a:tcPr marL="73152" marR="73152" marT="27432" marB="27432" anchor="ctr">
                    <a:solidFill>
                      <a:srgbClr val="EAF2FA"/>
                    </a:solidFill>
                  </a:tcPr>
                </a:tc>
                <a:extLst>
                  <a:ext uri="{0D108BD9-81ED-4DB2-BD59-A6C34878D82A}">
                    <a16:rowId xmlns:a16="http://schemas.microsoft.com/office/drawing/2014/main" val="10004"/>
                  </a:ext>
                </a:extLst>
              </a:tr>
              <a:tr h="475488">
                <a:tc>
                  <a:txBody>
                    <a:bodyPr/>
                    <a:lstStyle/>
                    <a:p>
                      <a:r>
                        <a:rPr lang="vi-VN" sz="1400" b="0" i="0">
                          <a:solidFill>
                            <a:srgbClr val="1F2937"/>
                          </a:solidFill>
                          <a:latin typeface="Arial"/>
                        </a:rPr>
                        <a:t>2</a:t>
                      </a:r>
                    </a:p>
                  </a:txBody>
                  <a:tcPr marL="73152" marR="73152" marT="27432" marB="27432" anchor="ctr">
                    <a:solidFill>
                      <a:srgbClr val="FFFFFF"/>
                    </a:solidFill>
                  </a:tcPr>
                </a:tc>
                <a:tc>
                  <a:txBody>
                    <a:bodyPr/>
                    <a:lstStyle/>
                    <a:p>
                      <a:r>
                        <a:rPr lang="vi-VN" sz="1400" b="0" i="0">
                          <a:solidFill>
                            <a:srgbClr val="1F2937"/>
                          </a:solidFill>
                          <a:latin typeface="Arial"/>
                        </a:rPr>
                        <a:t>0,33</a:t>
                      </a:r>
                    </a:p>
                  </a:txBody>
                  <a:tcPr marL="73152" marR="73152" marT="27432" marB="27432" anchor="ctr">
                    <a:solidFill>
                      <a:srgbClr val="FFFFFF"/>
                    </a:solidFill>
                  </a:tcPr>
                </a:tc>
                <a:tc>
                  <a:txBody>
                    <a:bodyPr/>
                    <a:lstStyle/>
                    <a:p>
                      <a:r>
                        <a:rPr lang="vi-VN" sz="1400" b="0" i="0">
                          <a:solidFill>
                            <a:srgbClr val="1F2937"/>
                          </a:solidFill>
                          <a:latin typeface="Arial"/>
                        </a:rPr>
                        <a:t>30</a:t>
                      </a:r>
                    </a:p>
                  </a:txBody>
                  <a:tcPr marL="73152" marR="73152" marT="27432" marB="27432" anchor="ctr">
                    <a:solidFill>
                      <a:srgbClr val="FFFFFF"/>
                    </a:solidFill>
                  </a:tcPr>
                </a:tc>
                <a:tc>
                  <a:txBody>
                    <a:bodyPr/>
                    <a:lstStyle/>
                    <a:p>
                      <a:r>
                        <a:rPr lang="vi-VN" sz="1400" b="0" i="0">
                          <a:solidFill>
                            <a:srgbClr val="1F2937"/>
                          </a:solidFill>
                          <a:latin typeface="Arial"/>
                        </a:rPr>
                        <a:t>0,2876</a:t>
                      </a:r>
                    </a:p>
                  </a:txBody>
                  <a:tcPr marL="73152" marR="73152"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6" name="Rounded Rectangle 5"/>
          <p:cNvSpPr/>
          <p:nvPr/>
        </p:nvSpPr>
        <p:spPr>
          <a:xfrm>
            <a:off x="7315200" y="1463040"/>
            <a:ext cx="4297680" cy="114300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498079" y="1536192"/>
            <a:ext cx="3931920" cy="548640"/>
          </a:xfrm>
          <a:prstGeom prst="rect">
            <a:avLst/>
          </a:prstGeom>
          <a:noFill/>
        </p:spPr>
        <p:txBody>
          <a:bodyPr wrap="square" lIns="45720" tIns="27432" rIns="45720" bIns="27432" anchor="t">
            <a:spAutoFit/>
          </a:bodyPr>
          <a:lstStyle/>
          <a:p>
            <a:pPr algn="l">
              <a:lnSpc>
                <a:spcPct val="110000"/>
              </a:lnSpc>
              <a:spcAft>
                <a:spcPts val="600"/>
              </a:spcAft>
            </a:pPr>
            <a:r>
              <a:rPr lang="vi-VN" sz="2600" b="1" i="0">
                <a:solidFill>
                  <a:srgbClr val="FFD400"/>
                </a:solidFill>
                <a:latin typeface="Arial"/>
              </a:rPr>
              <a:t>0,888</a:t>
            </a:r>
          </a:p>
        </p:txBody>
      </p:sp>
      <p:sp>
        <p:nvSpPr>
          <p:cNvPr id="8" name="TextBox 7"/>
          <p:cNvSpPr txBox="1"/>
          <p:nvPr/>
        </p:nvSpPr>
        <p:spPr>
          <a:xfrm>
            <a:off x="7498079" y="2103120"/>
            <a:ext cx="3931920" cy="457200"/>
          </a:xfrm>
          <a:prstGeom prst="rect">
            <a:avLst/>
          </a:prstGeom>
          <a:noFill/>
        </p:spPr>
        <p:txBody>
          <a:bodyPr wrap="square" lIns="45720" tIns="27432" rIns="45720" bIns="27432" anchor="t">
            <a:spAutoFit/>
          </a:bodyPr>
          <a:lstStyle/>
          <a:p>
            <a:pPr algn="l">
              <a:lnSpc>
                <a:spcPct val="110000"/>
              </a:lnSpc>
              <a:spcAft>
                <a:spcPts val="600"/>
              </a:spcAft>
            </a:pPr>
            <a:r>
              <a:rPr lang="vi-VN" sz="1300" b="0" i="0">
                <a:solidFill>
                  <a:srgbClr val="FFFFFF"/>
                </a:solidFill>
                <a:latin typeface="Arial"/>
              </a:rPr>
              <a:t>OOB R² (log) của mô hình cuối</a:t>
            </a:r>
          </a:p>
        </p:txBody>
      </p:sp>
      <p:sp>
        <p:nvSpPr>
          <p:cNvPr id="9" name="Rounded Rectangle 8"/>
          <p:cNvSpPr/>
          <p:nvPr/>
        </p:nvSpPr>
        <p:spPr>
          <a:xfrm>
            <a:off x="7315200" y="2788920"/>
            <a:ext cx="4297680" cy="11430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498079" y="2862072"/>
            <a:ext cx="3931920" cy="548640"/>
          </a:xfrm>
          <a:prstGeom prst="rect">
            <a:avLst/>
          </a:prstGeom>
          <a:noFill/>
        </p:spPr>
        <p:txBody>
          <a:bodyPr wrap="square" lIns="45720" tIns="27432" rIns="45720" bIns="27432" anchor="t">
            <a:spAutoFit/>
          </a:bodyPr>
          <a:lstStyle/>
          <a:p>
            <a:pPr algn="l">
              <a:lnSpc>
                <a:spcPct val="110000"/>
              </a:lnSpc>
              <a:spcAft>
                <a:spcPts val="600"/>
              </a:spcAft>
            </a:pPr>
            <a:r>
              <a:rPr lang="vi-VN" sz="2600" b="1" i="0">
                <a:solidFill>
                  <a:srgbClr val="075289"/>
                </a:solidFill>
                <a:latin typeface="Arial"/>
              </a:rPr>
              <a:t>7 giây</a:t>
            </a:r>
          </a:p>
        </p:txBody>
      </p:sp>
      <p:sp>
        <p:nvSpPr>
          <p:cNvPr id="11" name="TextBox 10"/>
          <p:cNvSpPr txBox="1"/>
          <p:nvPr/>
        </p:nvSpPr>
        <p:spPr>
          <a:xfrm>
            <a:off x="7498079" y="3429000"/>
            <a:ext cx="3931920" cy="457200"/>
          </a:xfrm>
          <a:prstGeom prst="rect">
            <a:avLst/>
          </a:prstGeom>
          <a:noFill/>
        </p:spPr>
        <p:txBody>
          <a:bodyPr wrap="square" lIns="45720" tIns="27432" rIns="45720" bIns="27432" anchor="t">
            <a:spAutoFit/>
          </a:bodyPr>
          <a:lstStyle/>
          <a:p>
            <a:pPr algn="l">
              <a:lnSpc>
                <a:spcPct val="110000"/>
              </a:lnSpc>
              <a:spcAft>
                <a:spcPts val="600"/>
              </a:spcAft>
            </a:pPr>
            <a:r>
              <a:rPr lang="vi-VN" sz="1300" b="0" i="0">
                <a:solidFill>
                  <a:srgbClr val="1F2937"/>
                </a:solidFill>
                <a:latin typeface="Arial"/>
              </a:rPr>
              <a:t>huấn luyện 300 cây (C/Cython, nhiều lõi)</a:t>
            </a:r>
          </a:p>
        </p:txBody>
      </p:sp>
      <p:sp>
        <p:nvSpPr>
          <p:cNvPr id="12" name="Rounded Rectangle 11"/>
          <p:cNvSpPr/>
          <p:nvPr/>
        </p:nvSpPr>
        <p:spPr>
          <a:xfrm>
            <a:off x="7315200" y="4114800"/>
            <a:ext cx="4297680" cy="11430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498079" y="4187952"/>
            <a:ext cx="3931920" cy="548640"/>
          </a:xfrm>
          <a:prstGeom prst="rect">
            <a:avLst/>
          </a:prstGeom>
          <a:noFill/>
        </p:spPr>
        <p:txBody>
          <a:bodyPr wrap="square" lIns="45720" tIns="27432" rIns="45720" bIns="27432" anchor="t">
            <a:spAutoFit/>
          </a:bodyPr>
          <a:lstStyle/>
          <a:p>
            <a:pPr algn="l">
              <a:lnSpc>
                <a:spcPct val="110000"/>
              </a:lnSpc>
              <a:spcAft>
                <a:spcPts val="600"/>
              </a:spcAft>
            </a:pPr>
            <a:r>
              <a:rPr lang="vi-VN" sz="2600" b="1" i="0">
                <a:solidFill>
                  <a:srgbClr val="075289"/>
                </a:solidFill>
                <a:latin typeface="Arial"/>
              </a:rPr>
              <a:t>12 / 3-fold</a:t>
            </a:r>
          </a:p>
        </p:txBody>
      </p:sp>
      <p:sp>
        <p:nvSpPr>
          <p:cNvPr id="14" name="TextBox 13"/>
          <p:cNvSpPr txBox="1"/>
          <p:nvPr/>
        </p:nvSpPr>
        <p:spPr>
          <a:xfrm>
            <a:off x="7498079" y="4754880"/>
            <a:ext cx="3931920" cy="457200"/>
          </a:xfrm>
          <a:prstGeom prst="rect">
            <a:avLst/>
          </a:prstGeom>
          <a:noFill/>
        </p:spPr>
        <p:txBody>
          <a:bodyPr wrap="square" lIns="45720" tIns="27432" rIns="45720" bIns="27432" anchor="t">
            <a:spAutoFit/>
          </a:bodyPr>
          <a:lstStyle/>
          <a:p>
            <a:pPr algn="l">
              <a:lnSpc>
                <a:spcPct val="110000"/>
              </a:lnSpc>
              <a:spcAft>
                <a:spcPts val="600"/>
              </a:spcAft>
            </a:pPr>
            <a:r>
              <a:rPr lang="vi-VN" sz="1300" b="0" i="0">
                <a:solidFill>
                  <a:srgbClr val="1F2937"/>
                </a:solidFill>
                <a:latin typeface="Arial"/>
              </a:rPr>
              <a:t>số cấu hình thử / số fold CV</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4 · RANDOM FOREST TỰ CÀI ĐẶT</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Tự cài đặt bằng NumPy: ba lớp, tìm ngưỡng bằng histogram</a:t>
            </a:r>
          </a:p>
        </p:txBody>
      </p:sp>
      <p:sp>
        <p:nvSpPr>
          <p:cNvPr id="4" name="Oval 3"/>
          <p:cNvSpPr/>
          <p:nvPr/>
        </p:nvSpPr>
        <p:spPr>
          <a:xfrm>
            <a:off x="548640" y="1645920"/>
            <a:ext cx="457200" cy="457200"/>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vi-VN" sz="1400" b="1" i="0">
                <a:solidFill>
                  <a:srgbClr val="FFFFFF"/>
                </a:solidFill>
                <a:latin typeface="Arial"/>
              </a:rPr>
              <a:t>1</a:t>
            </a:r>
          </a:p>
        </p:txBody>
      </p:sp>
      <p:sp>
        <p:nvSpPr>
          <p:cNvPr id="5" name="Rounded Rectangle 4"/>
          <p:cNvSpPr/>
          <p:nvPr/>
        </p:nvSpPr>
        <p:spPr>
          <a:xfrm>
            <a:off x="1143000" y="1463040"/>
            <a:ext cx="4892040" cy="86868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280160" y="1508760"/>
            <a:ext cx="4663440" cy="365760"/>
          </a:xfrm>
          <a:prstGeom prst="rect">
            <a:avLst/>
          </a:prstGeom>
          <a:noFill/>
        </p:spPr>
        <p:txBody>
          <a:bodyPr wrap="square" lIns="45720" tIns="27432" rIns="45720" bIns="27432" anchor="t">
            <a:spAutoFit/>
          </a:bodyPr>
          <a:lstStyle/>
          <a:p>
            <a:pPr algn="l">
              <a:lnSpc>
                <a:spcPct val="110000"/>
              </a:lnSpc>
              <a:spcAft>
                <a:spcPts val="600"/>
              </a:spcAft>
            </a:pPr>
            <a:r>
              <a:rPr lang="vi-VN" sz="1500" b="1" i="0">
                <a:solidFill>
                  <a:srgbClr val="075289"/>
                </a:solidFill>
                <a:latin typeface="Arial"/>
              </a:rPr>
              <a:t>Binner</a:t>
            </a:r>
          </a:p>
        </p:txBody>
      </p:sp>
      <p:sp>
        <p:nvSpPr>
          <p:cNvPr id="7" name="TextBox 6"/>
          <p:cNvSpPr txBox="1"/>
          <p:nvPr/>
        </p:nvSpPr>
        <p:spPr>
          <a:xfrm>
            <a:off x="1280160" y="1892808"/>
            <a:ext cx="4663440" cy="411480"/>
          </a:xfrm>
          <a:prstGeom prst="rect">
            <a:avLst/>
          </a:prstGeom>
          <a:noFill/>
        </p:spPr>
        <p:txBody>
          <a:bodyPr wrap="square" lIns="45720" tIns="27432" rIns="45720" bIns="27432" anchor="t">
            <a:spAutoFit/>
          </a:bodyPr>
          <a:lstStyle/>
          <a:p>
            <a:pPr algn="l">
              <a:lnSpc>
                <a:spcPct val="110000"/>
              </a:lnSpc>
              <a:spcAft>
                <a:spcPts val="600"/>
              </a:spcAft>
            </a:pPr>
            <a:r>
              <a:rPr lang="vi-VN" sz="1300" b="0" i="0">
                <a:solidFill>
                  <a:srgbClr val="1F2937"/>
                </a:solidFill>
                <a:latin typeface="Arial"/>
              </a:rPr>
              <a:t>chia mỗi đặc trưng thành ≤ 32 bin theo phân vị (fit trên train)</a:t>
            </a:r>
          </a:p>
        </p:txBody>
      </p:sp>
      <p:sp>
        <p:nvSpPr>
          <p:cNvPr id="8" name="Oval 7"/>
          <p:cNvSpPr/>
          <p:nvPr/>
        </p:nvSpPr>
        <p:spPr>
          <a:xfrm>
            <a:off x="548640" y="2651760"/>
            <a:ext cx="457200" cy="457200"/>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vi-VN" sz="1400" b="1" i="0">
                <a:solidFill>
                  <a:srgbClr val="FFFFFF"/>
                </a:solidFill>
                <a:latin typeface="Arial"/>
              </a:rPr>
              <a:t>2</a:t>
            </a:r>
          </a:p>
        </p:txBody>
      </p:sp>
      <p:sp>
        <p:nvSpPr>
          <p:cNvPr id="9" name="Rounded Rectangle 8"/>
          <p:cNvSpPr/>
          <p:nvPr/>
        </p:nvSpPr>
        <p:spPr>
          <a:xfrm>
            <a:off x="1143000" y="2468880"/>
            <a:ext cx="4892040" cy="86868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280160" y="2514600"/>
            <a:ext cx="4663440" cy="365760"/>
          </a:xfrm>
          <a:prstGeom prst="rect">
            <a:avLst/>
          </a:prstGeom>
          <a:noFill/>
        </p:spPr>
        <p:txBody>
          <a:bodyPr wrap="square" lIns="45720" tIns="27432" rIns="45720" bIns="27432" anchor="t">
            <a:spAutoFit/>
          </a:bodyPr>
          <a:lstStyle/>
          <a:p>
            <a:pPr algn="l">
              <a:lnSpc>
                <a:spcPct val="110000"/>
              </a:lnSpc>
              <a:spcAft>
                <a:spcPts val="600"/>
              </a:spcAft>
            </a:pPr>
            <a:r>
              <a:rPr lang="vi-VN" sz="1500" b="1" i="0">
                <a:solidFill>
                  <a:srgbClr val="075289"/>
                </a:solidFill>
                <a:latin typeface="Arial"/>
              </a:rPr>
              <a:t>RegressionTreeScratch</a:t>
            </a:r>
          </a:p>
        </p:txBody>
      </p:sp>
      <p:sp>
        <p:nvSpPr>
          <p:cNvPr id="11" name="TextBox 10"/>
          <p:cNvSpPr txBox="1"/>
          <p:nvPr/>
        </p:nvSpPr>
        <p:spPr>
          <a:xfrm>
            <a:off x="1280160" y="2898648"/>
            <a:ext cx="4663440" cy="411480"/>
          </a:xfrm>
          <a:prstGeom prst="rect">
            <a:avLst/>
          </a:prstGeom>
          <a:noFill/>
        </p:spPr>
        <p:txBody>
          <a:bodyPr wrap="square" lIns="45720" tIns="27432" rIns="45720" bIns="27432" anchor="t">
            <a:spAutoFit/>
          </a:bodyPr>
          <a:lstStyle/>
          <a:p>
            <a:pPr algn="l">
              <a:lnSpc>
                <a:spcPct val="110000"/>
              </a:lnSpc>
              <a:spcAft>
                <a:spcPts val="600"/>
              </a:spcAft>
            </a:pPr>
            <a:r>
              <a:rPr lang="vi-VN" sz="1300" b="0" i="0">
                <a:solidFill>
                  <a:srgbClr val="1F2937"/>
                </a:solidFill>
                <a:latin typeface="Arial"/>
              </a:rPr>
              <a:t>cây CART: tìm phép chia giảm SSE lớn nhất, dựng cây bằng ngăn xếp</a:t>
            </a:r>
          </a:p>
        </p:txBody>
      </p:sp>
      <p:sp>
        <p:nvSpPr>
          <p:cNvPr id="12" name="Oval 11"/>
          <p:cNvSpPr/>
          <p:nvPr/>
        </p:nvSpPr>
        <p:spPr>
          <a:xfrm>
            <a:off x="548640" y="3657600"/>
            <a:ext cx="457200" cy="457200"/>
          </a:xfrm>
          <a:prstGeom prst="ellipse">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vi-VN" sz="1400" b="1" i="0">
                <a:solidFill>
                  <a:srgbClr val="FFFFFF"/>
                </a:solidFill>
                <a:latin typeface="Arial"/>
              </a:rPr>
              <a:t>3</a:t>
            </a:r>
          </a:p>
        </p:txBody>
      </p:sp>
      <p:sp>
        <p:nvSpPr>
          <p:cNvPr id="13" name="Rounded Rectangle 12"/>
          <p:cNvSpPr/>
          <p:nvPr/>
        </p:nvSpPr>
        <p:spPr>
          <a:xfrm>
            <a:off x="1143000" y="3474720"/>
            <a:ext cx="4892040" cy="86868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280160" y="3520440"/>
            <a:ext cx="4663440" cy="365760"/>
          </a:xfrm>
          <a:prstGeom prst="rect">
            <a:avLst/>
          </a:prstGeom>
          <a:noFill/>
        </p:spPr>
        <p:txBody>
          <a:bodyPr wrap="square" lIns="45720" tIns="27432" rIns="45720" bIns="27432" anchor="t">
            <a:spAutoFit/>
          </a:bodyPr>
          <a:lstStyle/>
          <a:p>
            <a:pPr algn="l">
              <a:lnSpc>
                <a:spcPct val="110000"/>
              </a:lnSpc>
              <a:spcAft>
                <a:spcPts val="600"/>
              </a:spcAft>
            </a:pPr>
            <a:r>
              <a:rPr lang="vi-VN" sz="1500" b="1" i="0">
                <a:solidFill>
                  <a:srgbClr val="075289"/>
                </a:solidFill>
                <a:latin typeface="Arial"/>
              </a:rPr>
              <a:t>RandomForestScratch</a:t>
            </a:r>
          </a:p>
        </p:txBody>
      </p:sp>
      <p:sp>
        <p:nvSpPr>
          <p:cNvPr id="15" name="TextBox 14"/>
          <p:cNvSpPr txBox="1"/>
          <p:nvPr/>
        </p:nvSpPr>
        <p:spPr>
          <a:xfrm>
            <a:off x="1280160" y="3904488"/>
            <a:ext cx="4663440" cy="411480"/>
          </a:xfrm>
          <a:prstGeom prst="rect">
            <a:avLst/>
          </a:prstGeom>
          <a:noFill/>
        </p:spPr>
        <p:txBody>
          <a:bodyPr wrap="square" lIns="45720" tIns="27432" rIns="45720" bIns="27432" anchor="t">
            <a:spAutoFit/>
          </a:bodyPr>
          <a:lstStyle/>
          <a:p>
            <a:pPr algn="l">
              <a:lnSpc>
                <a:spcPct val="110000"/>
              </a:lnSpc>
              <a:spcAft>
                <a:spcPts val="600"/>
              </a:spcAft>
            </a:pPr>
            <a:r>
              <a:rPr lang="vi-VN" sz="1300" b="0" i="0">
                <a:solidFill>
                  <a:srgbClr val="1F2937"/>
                </a:solidFill>
                <a:latin typeface="Arial"/>
              </a:rPr>
              <a:t>bootstrap + chọn ngẫu nhiên đặc trưng + trung bình; OOB và độ quan trọng</a:t>
            </a:r>
          </a:p>
        </p:txBody>
      </p:sp>
      <p:sp>
        <p:nvSpPr>
          <p:cNvPr id="16" name="TextBox 15"/>
          <p:cNvSpPr txBox="1"/>
          <p:nvPr/>
        </p:nvSpPr>
        <p:spPr>
          <a:xfrm>
            <a:off x="6400800" y="1463040"/>
            <a:ext cx="5212080" cy="365760"/>
          </a:xfrm>
          <a:prstGeom prst="rect">
            <a:avLst/>
          </a:prstGeom>
          <a:noFill/>
        </p:spPr>
        <p:txBody>
          <a:bodyPr wrap="square" lIns="45720" tIns="27432" rIns="45720" bIns="27432" anchor="t">
            <a:spAutoFit/>
          </a:bodyPr>
          <a:lstStyle/>
          <a:p>
            <a:pPr algn="l">
              <a:lnSpc>
                <a:spcPct val="110000"/>
              </a:lnSpc>
              <a:spcAft>
                <a:spcPts val="600"/>
              </a:spcAft>
            </a:pPr>
            <a:r>
              <a:rPr lang="vi-VN" sz="1600" b="1" i="0">
                <a:solidFill>
                  <a:srgbClr val="075289"/>
                </a:solidFill>
                <a:latin typeface="Arial"/>
              </a:rPr>
              <a:t>Tìm ngưỡng tốt nhất ở một nút</a:t>
            </a:r>
          </a:p>
        </p:txBody>
      </p:sp>
      <p:sp>
        <p:nvSpPr>
          <p:cNvPr id="17" name="Rounded Rectangle 16"/>
          <p:cNvSpPr/>
          <p:nvPr/>
        </p:nvSpPr>
        <p:spPr>
          <a:xfrm>
            <a:off x="6400800" y="1920240"/>
            <a:ext cx="5212080" cy="658368"/>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537960" y="1965960"/>
            <a:ext cx="1645920" cy="566928"/>
          </a:xfrm>
          <a:prstGeom prst="rect">
            <a:avLst/>
          </a:prstGeom>
          <a:noFill/>
        </p:spPr>
        <p:txBody>
          <a:bodyPr wrap="square" lIns="45720" tIns="27432" rIns="45720" bIns="27432" anchor="ctr">
            <a:spAutoFit/>
          </a:bodyPr>
          <a:lstStyle/>
          <a:p>
            <a:pPr algn="l">
              <a:lnSpc>
                <a:spcPct val="110000"/>
              </a:lnSpc>
              <a:spcAft>
                <a:spcPts val="600"/>
              </a:spcAft>
            </a:pPr>
            <a:r>
              <a:rPr lang="vi-VN" sz="1400" b="1" i="0">
                <a:solidFill>
                  <a:srgbClr val="075289"/>
                </a:solidFill>
                <a:latin typeface="Arial"/>
              </a:rPr>
              <a:t>Đếm theo bin</a:t>
            </a:r>
          </a:p>
        </p:txBody>
      </p:sp>
      <p:sp>
        <p:nvSpPr>
          <p:cNvPr id="19" name="TextBox 18"/>
          <p:cNvSpPr txBox="1"/>
          <p:nvPr/>
        </p:nvSpPr>
        <p:spPr>
          <a:xfrm>
            <a:off x="8183879" y="1965960"/>
            <a:ext cx="3383280" cy="566928"/>
          </a:xfrm>
          <a:prstGeom prst="rect">
            <a:avLst/>
          </a:prstGeom>
          <a:noFill/>
        </p:spPr>
        <p:txBody>
          <a:bodyPr wrap="square" lIns="45720" tIns="27432" rIns="45720" bIns="27432" anchor="ctr">
            <a:spAutoFit/>
          </a:bodyPr>
          <a:lstStyle/>
          <a:p>
            <a:pPr algn="l">
              <a:lnSpc>
                <a:spcPct val="110000"/>
              </a:lnSpc>
              <a:spcAft>
                <a:spcPts val="600"/>
              </a:spcAft>
            </a:pPr>
            <a:r>
              <a:rPr lang="vi-VN" sz="1300" b="0" i="0">
                <a:solidFill>
                  <a:srgbClr val="1F2937"/>
                </a:solidFill>
                <a:latin typeface="Arial"/>
              </a:rPr>
              <a:t>bincount: số xe, tổng log giá mỗi bin</a:t>
            </a:r>
          </a:p>
        </p:txBody>
      </p:sp>
      <p:sp>
        <p:nvSpPr>
          <p:cNvPr id="20" name="Rounded Rectangle 19"/>
          <p:cNvSpPr/>
          <p:nvPr/>
        </p:nvSpPr>
        <p:spPr>
          <a:xfrm>
            <a:off x="6400800" y="2697480"/>
            <a:ext cx="5212080" cy="658368"/>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6537960" y="2743200"/>
            <a:ext cx="1645920" cy="566928"/>
          </a:xfrm>
          <a:prstGeom prst="rect">
            <a:avLst/>
          </a:prstGeom>
          <a:noFill/>
        </p:spPr>
        <p:txBody>
          <a:bodyPr wrap="square" lIns="45720" tIns="27432" rIns="45720" bIns="27432" anchor="ctr">
            <a:spAutoFit/>
          </a:bodyPr>
          <a:lstStyle/>
          <a:p>
            <a:pPr algn="l">
              <a:lnSpc>
                <a:spcPct val="110000"/>
              </a:lnSpc>
              <a:spcAft>
                <a:spcPts val="600"/>
              </a:spcAft>
            </a:pPr>
            <a:r>
              <a:rPr lang="vi-VN" sz="1400" b="1" i="0">
                <a:solidFill>
                  <a:srgbClr val="075289"/>
                </a:solidFill>
                <a:latin typeface="Arial"/>
              </a:rPr>
              <a:t>Cộng dồn</a:t>
            </a:r>
          </a:p>
        </p:txBody>
      </p:sp>
      <p:sp>
        <p:nvSpPr>
          <p:cNvPr id="22" name="TextBox 21"/>
          <p:cNvSpPr txBox="1"/>
          <p:nvPr/>
        </p:nvSpPr>
        <p:spPr>
          <a:xfrm>
            <a:off x="8183879" y="2743200"/>
            <a:ext cx="3383280" cy="566928"/>
          </a:xfrm>
          <a:prstGeom prst="rect">
            <a:avLst/>
          </a:prstGeom>
          <a:noFill/>
        </p:spPr>
        <p:txBody>
          <a:bodyPr wrap="square" lIns="45720" tIns="27432" rIns="45720" bIns="27432" anchor="ctr">
            <a:spAutoFit/>
          </a:bodyPr>
          <a:lstStyle/>
          <a:p>
            <a:pPr algn="l">
              <a:lnSpc>
                <a:spcPct val="110000"/>
              </a:lnSpc>
              <a:spcAft>
                <a:spcPts val="600"/>
              </a:spcAft>
            </a:pPr>
            <a:r>
              <a:rPr lang="vi-VN" sz="1300" b="0" i="0">
                <a:solidFill>
                  <a:srgbClr val="1F2937"/>
                </a:solidFill>
                <a:latin typeface="Arial"/>
              </a:rPr>
              <a:t>cumsum: nhánh trái của mọi ngưỡng</a:t>
            </a:r>
          </a:p>
        </p:txBody>
      </p:sp>
      <p:sp>
        <p:nvSpPr>
          <p:cNvPr id="23" name="Rounded Rectangle 22"/>
          <p:cNvSpPr/>
          <p:nvPr/>
        </p:nvSpPr>
        <p:spPr>
          <a:xfrm>
            <a:off x="6400800" y="3474720"/>
            <a:ext cx="5212080" cy="658368"/>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6537960" y="3520439"/>
            <a:ext cx="1645920" cy="566928"/>
          </a:xfrm>
          <a:prstGeom prst="rect">
            <a:avLst/>
          </a:prstGeom>
          <a:noFill/>
        </p:spPr>
        <p:txBody>
          <a:bodyPr wrap="square" lIns="45720" tIns="27432" rIns="45720" bIns="27432" anchor="ctr">
            <a:spAutoFit/>
          </a:bodyPr>
          <a:lstStyle/>
          <a:p>
            <a:pPr algn="l">
              <a:lnSpc>
                <a:spcPct val="110000"/>
              </a:lnSpc>
              <a:spcAft>
                <a:spcPts val="600"/>
              </a:spcAft>
            </a:pPr>
            <a:r>
              <a:rPr lang="vi-VN" sz="1400" b="1" i="0">
                <a:solidFill>
                  <a:srgbClr val="075289"/>
                </a:solidFill>
                <a:latin typeface="Arial"/>
              </a:rPr>
              <a:t>Tính gain</a:t>
            </a:r>
          </a:p>
        </p:txBody>
      </p:sp>
      <p:sp>
        <p:nvSpPr>
          <p:cNvPr id="25" name="TextBox 24"/>
          <p:cNvSpPr txBox="1"/>
          <p:nvPr/>
        </p:nvSpPr>
        <p:spPr>
          <a:xfrm>
            <a:off x="8183879" y="3520439"/>
            <a:ext cx="3383280" cy="566928"/>
          </a:xfrm>
          <a:prstGeom prst="rect">
            <a:avLst/>
          </a:prstGeom>
          <a:noFill/>
        </p:spPr>
        <p:txBody>
          <a:bodyPr wrap="square" lIns="45720" tIns="27432" rIns="45720" bIns="27432" anchor="ctr">
            <a:spAutoFit/>
          </a:bodyPr>
          <a:lstStyle/>
          <a:p>
            <a:pPr algn="l">
              <a:lnSpc>
                <a:spcPct val="110000"/>
              </a:lnSpc>
              <a:spcAft>
                <a:spcPts val="600"/>
              </a:spcAft>
            </a:pPr>
            <a:r>
              <a:rPr lang="vi-VN" sz="1300" b="0" i="0">
                <a:solidFill>
                  <a:srgbClr val="1F2937"/>
                </a:solidFill>
                <a:latin typeface="Arial"/>
              </a:rPr>
              <a:t>công thức gain cho mọi ngưỡng cùng lúc</a:t>
            </a:r>
          </a:p>
        </p:txBody>
      </p:sp>
      <p:sp>
        <p:nvSpPr>
          <p:cNvPr id="26" name="Rounded Rectangle 25"/>
          <p:cNvSpPr/>
          <p:nvPr/>
        </p:nvSpPr>
        <p:spPr>
          <a:xfrm>
            <a:off x="6400800" y="4251960"/>
            <a:ext cx="5212080" cy="658368"/>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6537960" y="4297680"/>
            <a:ext cx="1645920" cy="566928"/>
          </a:xfrm>
          <a:prstGeom prst="rect">
            <a:avLst/>
          </a:prstGeom>
          <a:noFill/>
        </p:spPr>
        <p:txBody>
          <a:bodyPr wrap="square" lIns="45720" tIns="27432" rIns="45720" bIns="27432" anchor="ctr">
            <a:spAutoFit/>
          </a:bodyPr>
          <a:lstStyle/>
          <a:p>
            <a:pPr algn="l">
              <a:lnSpc>
                <a:spcPct val="110000"/>
              </a:lnSpc>
              <a:spcAft>
                <a:spcPts val="600"/>
              </a:spcAft>
            </a:pPr>
            <a:r>
              <a:rPr lang="vi-VN" sz="1400" b="1" i="0">
                <a:solidFill>
                  <a:srgbClr val="075289"/>
                </a:solidFill>
                <a:latin typeface="Arial"/>
              </a:rPr>
              <a:t>Chọn max</a:t>
            </a:r>
          </a:p>
        </p:txBody>
      </p:sp>
      <p:sp>
        <p:nvSpPr>
          <p:cNvPr id="28" name="TextBox 27"/>
          <p:cNvSpPr txBox="1"/>
          <p:nvPr/>
        </p:nvSpPr>
        <p:spPr>
          <a:xfrm>
            <a:off x="8183879" y="4297680"/>
            <a:ext cx="3383280" cy="566928"/>
          </a:xfrm>
          <a:prstGeom prst="rect">
            <a:avLst/>
          </a:prstGeom>
          <a:noFill/>
        </p:spPr>
        <p:txBody>
          <a:bodyPr wrap="square" lIns="45720" tIns="27432" rIns="45720" bIns="27432" anchor="ctr">
            <a:spAutoFit/>
          </a:bodyPr>
          <a:lstStyle/>
          <a:p>
            <a:pPr algn="l">
              <a:lnSpc>
                <a:spcPct val="110000"/>
              </a:lnSpc>
              <a:spcAft>
                <a:spcPts val="600"/>
              </a:spcAft>
            </a:pPr>
            <a:r>
              <a:rPr lang="vi-VN" sz="1300" b="0" i="0">
                <a:solidFill>
                  <a:srgbClr val="1F2937"/>
                </a:solidFill>
                <a:latin typeface="Arial"/>
              </a:rPr>
              <a:t>argmax trên (đặc trưng, ngưỡng)</a:t>
            </a:r>
          </a:p>
        </p:txBody>
      </p:sp>
      <p:sp>
        <p:nvSpPr>
          <p:cNvPr id="29" name="Rounded Rectangle 28"/>
          <p:cNvSpPr/>
          <p:nvPr/>
        </p:nvSpPr>
        <p:spPr>
          <a:xfrm>
            <a:off x="548640" y="4572000"/>
            <a:ext cx="5486400" cy="91440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731520" y="4617720"/>
            <a:ext cx="5120640" cy="822960"/>
          </a:xfrm>
          <a:prstGeom prst="rect">
            <a:avLst/>
          </a:prstGeom>
          <a:noFill/>
        </p:spPr>
        <p:txBody>
          <a:bodyPr wrap="square" lIns="45720" tIns="27432" rIns="45720" bIns="27432" anchor="ctr">
            <a:spAutoFit/>
          </a:bodyPr>
          <a:lstStyle/>
          <a:p>
            <a:pPr algn="l">
              <a:lnSpc>
                <a:spcPct val="110000"/>
              </a:lnSpc>
              <a:spcAft>
                <a:spcPts val="600"/>
              </a:spcAft>
            </a:pPr>
            <a:r>
              <a:rPr lang="vi-VN" sz="1400" b="0" i="0">
                <a:solidFill>
                  <a:srgbClr val="FFFFFF"/>
                </a:solidFill>
                <a:latin typeface="Arial"/>
              </a:rPr>
              <a:t>Cột one-hot chỉ có 2 giá trị → không mất thông tin; </a:t>
            </a:r>
            <a:r>
              <a:rPr lang="vi-VN" sz="1400" b="1" i="0">
                <a:solidFill>
                  <a:srgbClr val="FFD400"/>
                </a:solidFill>
                <a:latin typeface="Arial"/>
              </a:rPr>
              <a:t>cột số mất rất ít độ chi tiết.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4 · KIỂM CHỨNG</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Kiểm chứng: một cây và cả rừng trùng khớp thư viện</a:t>
            </a:r>
          </a:p>
        </p:txBody>
      </p:sp>
      <p:sp>
        <p:nvSpPr>
          <p:cNvPr id="4" name="TextBox 3"/>
          <p:cNvSpPr txBox="1"/>
          <p:nvPr/>
        </p:nvSpPr>
        <p:spPr>
          <a:xfrm>
            <a:off x="548640" y="1417320"/>
            <a:ext cx="4846320" cy="365760"/>
          </a:xfrm>
          <a:prstGeom prst="rect">
            <a:avLst/>
          </a:prstGeom>
          <a:noFill/>
        </p:spPr>
        <p:txBody>
          <a:bodyPr wrap="square" lIns="45720" tIns="27432" rIns="45720" bIns="27432" anchor="t">
            <a:spAutoFit/>
          </a:bodyPr>
          <a:lstStyle/>
          <a:p>
            <a:pPr algn="l">
              <a:lnSpc>
                <a:spcPct val="110000"/>
              </a:lnSpc>
              <a:spcAft>
                <a:spcPts val="600"/>
              </a:spcAft>
            </a:pPr>
            <a:r>
              <a:rPr lang="vi-VN" sz="1600" b="1" i="0">
                <a:solidFill>
                  <a:srgbClr val="075289"/>
                </a:solidFill>
                <a:latin typeface="Arial"/>
              </a:rPr>
              <a:t>Một cây (lá ≥ 5 mẫu)</a:t>
            </a:r>
          </a:p>
        </p:txBody>
      </p:sp>
      <p:graphicFrame>
        <p:nvGraphicFramePr>
          <p:cNvPr id="5" name="Table 4"/>
          <p:cNvGraphicFramePr>
            <a:graphicFrameLocks noGrp="1"/>
          </p:cNvGraphicFramePr>
          <p:nvPr/>
        </p:nvGraphicFramePr>
        <p:xfrm>
          <a:off x="548640" y="1874519"/>
          <a:ext cx="4846320" cy="2286000"/>
        </p:xfrm>
        <a:graphic>
          <a:graphicData uri="http://schemas.openxmlformats.org/drawingml/2006/table">
            <a:tbl>
              <a:tblPr>
                <a:tableStyleId>{5940675A-B579-460E-94D1-54222C63F5DA}</a:tableStyleId>
              </a:tblPr>
              <a:tblGrid>
                <a:gridCol w="19202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457200">
                <a:tc>
                  <a:txBody>
                    <a:bodyPr/>
                    <a:lstStyle/>
                    <a:p>
                      <a:endParaRPr/>
                    </a:p>
                  </a:txBody>
                  <a:tcPr marL="73152" marR="73152" marT="27432" marB="27432" anchor="ctr">
                    <a:solidFill>
                      <a:srgbClr val="075289"/>
                    </a:solidFill>
                  </a:tcPr>
                </a:tc>
                <a:tc>
                  <a:txBody>
                    <a:bodyPr/>
                    <a:lstStyle/>
                    <a:p>
                      <a:r>
                        <a:rPr lang="vi-VN" sz="1400" b="1" i="0">
                          <a:solidFill>
                            <a:srgbClr val="FFFFFF"/>
                          </a:solidFill>
                          <a:latin typeface="Arial"/>
                        </a:rPr>
                        <a:t>Thư viện</a:t>
                      </a:r>
                    </a:p>
                  </a:txBody>
                  <a:tcPr marL="73152" marR="73152" marT="27432" marB="27432" anchor="ctr">
                    <a:solidFill>
                      <a:srgbClr val="075289"/>
                    </a:solidFill>
                  </a:tcPr>
                </a:tc>
                <a:tc>
                  <a:txBody>
                    <a:bodyPr/>
                    <a:lstStyle/>
                    <a:p>
                      <a:r>
                        <a:rPr lang="vi-VN" sz="1400" b="1" i="0">
                          <a:solidFill>
                            <a:srgbClr val="FFFFFF"/>
                          </a:solidFill>
                          <a:latin typeface="Arial"/>
                        </a:rPr>
                        <a:t>Tự cài đặt</a:t>
                      </a:r>
                    </a:p>
                  </a:txBody>
                  <a:tcPr marL="73152" marR="73152" marT="27432" marB="27432" anchor="ctr">
                    <a:solidFill>
                      <a:srgbClr val="075289"/>
                    </a:solidFill>
                  </a:tcPr>
                </a:tc>
                <a:extLst>
                  <a:ext uri="{0D108BD9-81ED-4DB2-BD59-A6C34878D82A}">
                    <a16:rowId xmlns:a16="http://schemas.microsoft.com/office/drawing/2014/main" val="10000"/>
                  </a:ext>
                </a:extLst>
              </a:tr>
              <a:tr h="457200">
                <a:tc>
                  <a:txBody>
                    <a:bodyPr/>
                    <a:lstStyle/>
                    <a:p>
                      <a:r>
                        <a:rPr lang="vi-VN" sz="1400" b="1" i="0">
                          <a:solidFill>
                            <a:srgbClr val="1F2937"/>
                          </a:solidFill>
                          <a:latin typeface="Arial"/>
                        </a:rPr>
                        <a:t>Số nút</a:t>
                      </a:r>
                    </a:p>
                  </a:txBody>
                  <a:tcPr marL="73152" marR="73152" marT="27432" marB="27432" anchor="ctr">
                    <a:solidFill>
                      <a:srgbClr val="FFFFFF"/>
                    </a:solidFill>
                  </a:tcPr>
                </a:tc>
                <a:tc>
                  <a:txBody>
                    <a:bodyPr/>
                    <a:lstStyle/>
                    <a:p>
                      <a:r>
                        <a:rPr lang="vi-VN" sz="1400" b="0" i="0">
                          <a:solidFill>
                            <a:srgbClr val="1F2937"/>
                          </a:solidFill>
                          <a:latin typeface="Arial"/>
                        </a:rPr>
                        <a:t>3.479</a:t>
                      </a:r>
                    </a:p>
                  </a:txBody>
                  <a:tcPr marL="73152" marR="73152" marT="27432" marB="27432" anchor="ctr">
                    <a:solidFill>
                      <a:srgbClr val="FFFFFF"/>
                    </a:solidFill>
                  </a:tcPr>
                </a:tc>
                <a:tc>
                  <a:txBody>
                    <a:bodyPr/>
                    <a:lstStyle/>
                    <a:p>
                      <a:r>
                        <a:rPr lang="vi-VN" sz="1400" b="0" i="0">
                          <a:solidFill>
                            <a:srgbClr val="1F2937"/>
                          </a:solidFill>
                          <a:latin typeface="Arial"/>
                        </a:rPr>
                        <a:t>3.401</a:t>
                      </a:r>
                    </a:p>
                  </a:txBody>
                  <a:tcPr marL="73152" marR="73152" marT="27432" marB="27432" anchor="ctr">
                    <a:solidFill>
                      <a:srgbClr val="FFFFFF"/>
                    </a:solidFill>
                  </a:tcPr>
                </a:tc>
                <a:extLst>
                  <a:ext uri="{0D108BD9-81ED-4DB2-BD59-A6C34878D82A}">
                    <a16:rowId xmlns:a16="http://schemas.microsoft.com/office/drawing/2014/main" val="10001"/>
                  </a:ext>
                </a:extLst>
              </a:tr>
              <a:tr h="457200">
                <a:tc>
                  <a:txBody>
                    <a:bodyPr/>
                    <a:lstStyle/>
                    <a:p>
                      <a:r>
                        <a:rPr lang="vi-VN" sz="1400" b="1" i="0">
                          <a:solidFill>
                            <a:srgbClr val="1F2937"/>
                          </a:solidFill>
                          <a:latin typeface="Arial"/>
                        </a:rPr>
                        <a:t>R² (log) train</a:t>
                      </a:r>
                    </a:p>
                  </a:txBody>
                  <a:tcPr marL="73152" marR="73152" marT="27432" marB="27432" anchor="ctr">
                    <a:solidFill>
                      <a:srgbClr val="EAF2FA"/>
                    </a:solidFill>
                  </a:tcPr>
                </a:tc>
                <a:tc>
                  <a:txBody>
                    <a:bodyPr/>
                    <a:lstStyle/>
                    <a:p>
                      <a:r>
                        <a:rPr lang="vi-VN" sz="1400" b="0" i="0">
                          <a:solidFill>
                            <a:srgbClr val="1F2937"/>
                          </a:solidFill>
                          <a:latin typeface="Arial"/>
                        </a:rPr>
                        <a:t>0,922</a:t>
                      </a:r>
                    </a:p>
                  </a:txBody>
                  <a:tcPr marL="73152" marR="73152" marT="27432" marB="27432" anchor="ctr">
                    <a:solidFill>
                      <a:srgbClr val="EAF2FA"/>
                    </a:solidFill>
                  </a:tcPr>
                </a:tc>
                <a:tc>
                  <a:txBody>
                    <a:bodyPr/>
                    <a:lstStyle/>
                    <a:p>
                      <a:r>
                        <a:rPr lang="vi-VN" sz="1400" b="0" i="0">
                          <a:solidFill>
                            <a:srgbClr val="1F2937"/>
                          </a:solidFill>
                          <a:latin typeface="Arial"/>
                        </a:rPr>
                        <a:t>0,920</a:t>
                      </a:r>
                    </a:p>
                  </a:txBody>
                  <a:tcPr marL="73152" marR="73152" marT="27432" marB="27432" anchor="ctr">
                    <a:solidFill>
                      <a:srgbClr val="EAF2FA"/>
                    </a:solidFill>
                  </a:tcPr>
                </a:tc>
                <a:extLst>
                  <a:ext uri="{0D108BD9-81ED-4DB2-BD59-A6C34878D82A}">
                    <a16:rowId xmlns:a16="http://schemas.microsoft.com/office/drawing/2014/main" val="10002"/>
                  </a:ext>
                </a:extLst>
              </a:tr>
              <a:tr h="457200">
                <a:tc>
                  <a:txBody>
                    <a:bodyPr/>
                    <a:lstStyle/>
                    <a:p>
                      <a:r>
                        <a:rPr lang="vi-VN" sz="1400" b="1" i="0">
                          <a:solidFill>
                            <a:srgbClr val="1F2937"/>
                          </a:solidFill>
                          <a:latin typeface="Arial"/>
                        </a:rPr>
                        <a:t>R² (log) test</a:t>
                      </a:r>
                    </a:p>
                  </a:txBody>
                  <a:tcPr marL="73152" marR="73152" marT="27432" marB="27432" anchor="ctr">
                    <a:solidFill>
                      <a:srgbClr val="FFFFFF"/>
                    </a:solidFill>
                  </a:tcPr>
                </a:tc>
                <a:tc>
                  <a:txBody>
                    <a:bodyPr/>
                    <a:lstStyle/>
                    <a:p>
                      <a:r>
                        <a:rPr lang="vi-VN" sz="1400" b="0" i="0">
                          <a:solidFill>
                            <a:srgbClr val="1F2937"/>
                          </a:solidFill>
                          <a:latin typeface="Arial"/>
                        </a:rPr>
                        <a:t>0,869</a:t>
                      </a:r>
                    </a:p>
                  </a:txBody>
                  <a:tcPr marL="73152" marR="73152" marT="27432" marB="27432" anchor="ctr">
                    <a:solidFill>
                      <a:srgbClr val="FFFFFF"/>
                    </a:solidFill>
                  </a:tcPr>
                </a:tc>
                <a:tc>
                  <a:txBody>
                    <a:bodyPr/>
                    <a:lstStyle/>
                    <a:p>
                      <a:r>
                        <a:rPr lang="vi-VN" sz="1400" b="0" i="0">
                          <a:solidFill>
                            <a:srgbClr val="1F2937"/>
                          </a:solidFill>
                          <a:latin typeface="Arial"/>
                        </a:rPr>
                        <a:t>0,873</a:t>
                      </a:r>
                    </a:p>
                  </a:txBody>
                  <a:tcPr marL="73152" marR="73152" marT="27432" marB="27432" anchor="ctr">
                    <a:solidFill>
                      <a:srgbClr val="FFFFFF"/>
                    </a:solidFill>
                  </a:tcPr>
                </a:tc>
                <a:extLst>
                  <a:ext uri="{0D108BD9-81ED-4DB2-BD59-A6C34878D82A}">
                    <a16:rowId xmlns:a16="http://schemas.microsoft.com/office/drawing/2014/main" val="10003"/>
                  </a:ext>
                </a:extLst>
              </a:tr>
              <a:tr h="457200">
                <a:tc>
                  <a:txBody>
                    <a:bodyPr/>
                    <a:lstStyle/>
                    <a:p>
                      <a:r>
                        <a:rPr lang="vi-VN" sz="1400" b="1" i="0">
                          <a:solidFill>
                            <a:srgbClr val="1F2937"/>
                          </a:solidFill>
                          <a:latin typeface="Arial"/>
                        </a:rPr>
                        <a:t>MAPE test</a:t>
                      </a:r>
                    </a:p>
                  </a:txBody>
                  <a:tcPr marL="73152" marR="73152" marT="27432" marB="27432" anchor="ctr">
                    <a:solidFill>
                      <a:srgbClr val="EAF2FA"/>
                    </a:solidFill>
                  </a:tcPr>
                </a:tc>
                <a:tc>
                  <a:txBody>
                    <a:bodyPr/>
                    <a:lstStyle/>
                    <a:p>
                      <a:r>
                        <a:rPr lang="vi-VN" sz="1400" b="0" i="0">
                          <a:solidFill>
                            <a:srgbClr val="1F2937"/>
                          </a:solidFill>
                          <a:latin typeface="Arial"/>
                        </a:rPr>
                        <a:t>18,5%</a:t>
                      </a:r>
                    </a:p>
                  </a:txBody>
                  <a:tcPr marL="73152" marR="73152" marT="27432" marB="27432" anchor="ctr">
                    <a:solidFill>
                      <a:srgbClr val="EAF2FA"/>
                    </a:solidFill>
                  </a:tcPr>
                </a:tc>
                <a:tc>
                  <a:txBody>
                    <a:bodyPr/>
                    <a:lstStyle/>
                    <a:p>
                      <a:r>
                        <a:rPr lang="vi-VN" sz="1400" b="0" i="0">
                          <a:solidFill>
                            <a:srgbClr val="1F2937"/>
                          </a:solidFill>
                          <a:latin typeface="Arial"/>
                        </a:rPr>
                        <a:t>18,1%</a:t>
                      </a:r>
                    </a:p>
                  </a:txBody>
                  <a:tcPr marL="73152" marR="73152" marT="27432" marB="27432" anchor="ctr">
                    <a:solidFill>
                      <a:srgbClr val="EAF2FA"/>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548640" y="4251960"/>
            <a:ext cx="4846320" cy="365760"/>
          </a:xfrm>
          <a:prstGeom prst="rect">
            <a:avLst/>
          </a:prstGeom>
          <a:noFill/>
        </p:spPr>
        <p:txBody>
          <a:bodyPr wrap="square" lIns="45720" tIns="27432" rIns="45720" bIns="27432" anchor="t">
            <a:spAutoFit/>
          </a:bodyPr>
          <a:lstStyle/>
          <a:p>
            <a:pPr algn="l">
              <a:lnSpc>
                <a:spcPct val="110000"/>
              </a:lnSpc>
              <a:spcAft>
                <a:spcPts val="600"/>
              </a:spcAft>
            </a:pPr>
            <a:r>
              <a:rPr lang="vi-VN" sz="1300" b="0" i="0">
                <a:solidFill>
                  <a:srgbClr val="5B6775"/>
                </a:solidFill>
                <a:latin typeface="Arial"/>
              </a:rPr>
              <a:t>R² train cao hơn hẳn R² test: một cây có phương sai cao</a:t>
            </a:r>
          </a:p>
        </p:txBody>
      </p:sp>
      <p:sp>
        <p:nvSpPr>
          <p:cNvPr id="7" name="TextBox 6"/>
          <p:cNvSpPr txBox="1"/>
          <p:nvPr/>
        </p:nvSpPr>
        <p:spPr>
          <a:xfrm>
            <a:off x="5669280" y="1417320"/>
            <a:ext cx="6035040" cy="365760"/>
          </a:xfrm>
          <a:prstGeom prst="rect">
            <a:avLst/>
          </a:prstGeom>
          <a:noFill/>
        </p:spPr>
        <p:txBody>
          <a:bodyPr wrap="square" lIns="45720" tIns="27432" rIns="45720" bIns="27432" anchor="t">
            <a:spAutoFit/>
          </a:bodyPr>
          <a:lstStyle/>
          <a:p>
            <a:pPr algn="l">
              <a:lnSpc>
                <a:spcPct val="110000"/>
              </a:lnSpc>
              <a:spcAft>
                <a:spcPts val="600"/>
              </a:spcAft>
            </a:pPr>
            <a:r>
              <a:rPr lang="vi-VN" sz="1600" b="1" i="0">
                <a:solidFill>
                  <a:srgbClr val="075289"/>
                </a:solidFill>
                <a:latin typeface="Arial"/>
              </a:rPr>
              <a:t>Cả rừng: dự đoán trên từng xe</a:t>
            </a:r>
          </a:p>
        </p:txBody>
      </p:sp>
      <p:pic>
        <p:nvPicPr>
          <p:cNvPr id="8" name="Picture 7" descr="m11_tu_cai_dat_vs_thu_vien.png"/>
          <p:cNvPicPr>
            <a:picLocks noChangeAspect="1"/>
          </p:cNvPicPr>
          <p:nvPr/>
        </p:nvPicPr>
        <p:blipFill>
          <a:blip r:embed="rId3"/>
          <a:stretch>
            <a:fillRect/>
          </a:stretch>
        </p:blipFill>
        <p:spPr>
          <a:xfrm>
            <a:off x="5577840" y="1861556"/>
            <a:ext cx="6126480" cy="2311927"/>
          </a:xfrm>
          <a:prstGeom prst="rect">
            <a:avLst/>
          </a:prstGeom>
        </p:spPr>
      </p:pic>
      <p:sp>
        <p:nvSpPr>
          <p:cNvPr id="9" name="Rounded Rectangle 8"/>
          <p:cNvSpPr/>
          <p:nvPr/>
        </p:nvSpPr>
        <p:spPr>
          <a:xfrm>
            <a:off x="5669280" y="4389120"/>
            <a:ext cx="2834640" cy="109728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5806440" y="4434840"/>
            <a:ext cx="1097280" cy="1005840"/>
          </a:xfrm>
          <a:prstGeom prst="rect">
            <a:avLst/>
          </a:prstGeom>
          <a:noFill/>
        </p:spPr>
        <p:txBody>
          <a:bodyPr wrap="square" lIns="45720" tIns="27432" rIns="45720" bIns="27432" anchor="ctr">
            <a:spAutoFit/>
          </a:bodyPr>
          <a:lstStyle/>
          <a:p>
            <a:pPr algn="l">
              <a:lnSpc>
                <a:spcPct val="110000"/>
              </a:lnSpc>
              <a:spcAft>
                <a:spcPts val="600"/>
              </a:spcAft>
            </a:pPr>
            <a:r>
              <a:rPr lang="vi-VN" sz="2400" b="1" i="0">
                <a:solidFill>
                  <a:srgbClr val="FFD400"/>
                </a:solidFill>
                <a:latin typeface="Arial"/>
              </a:rPr>
              <a:t>2,2%</a:t>
            </a:r>
          </a:p>
        </p:txBody>
      </p:sp>
      <p:sp>
        <p:nvSpPr>
          <p:cNvPr id="11" name="TextBox 10"/>
          <p:cNvSpPr txBox="1"/>
          <p:nvPr/>
        </p:nvSpPr>
        <p:spPr>
          <a:xfrm>
            <a:off x="6903720" y="4434840"/>
            <a:ext cx="1554480" cy="1005840"/>
          </a:xfrm>
          <a:prstGeom prst="rect">
            <a:avLst/>
          </a:prstGeom>
          <a:noFill/>
        </p:spPr>
        <p:txBody>
          <a:bodyPr wrap="square" lIns="45720" tIns="27432" rIns="45720" bIns="27432" anchor="ctr">
            <a:spAutoFit/>
          </a:bodyPr>
          <a:lstStyle/>
          <a:p>
            <a:pPr algn="l">
              <a:lnSpc>
                <a:spcPct val="110000"/>
              </a:lnSpc>
              <a:spcAft>
                <a:spcPts val="0"/>
              </a:spcAft>
            </a:pPr>
            <a:r>
              <a:rPr lang="vi-VN" sz="1200" b="0" i="0">
                <a:solidFill>
                  <a:srgbClr val="FFFFFF"/>
                </a:solidFill>
                <a:latin typeface="Arial"/>
              </a:rPr>
              <a:t>độ lệch trung vị giữa hai bản trên từng xe</a:t>
            </a:r>
          </a:p>
        </p:txBody>
      </p:sp>
      <p:sp>
        <p:nvSpPr>
          <p:cNvPr id="12" name="Rounded Rectangle 11"/>
          <p:cNvSpPr/>
          <p:nvPr/>
        </p:nvSpPr>
        <p:spPr>
          <a:xfrm>
            <a:off x="8686800" y="4389120"/>
            <a:ext cx="2834640" cy="109728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823960" y="4434840"/>
            <a:ext cx="1097280" cy="1005840"/>
          </a:xfrm>
          <a:prstGeom prst="rect">
            <a:avLst/>
          </a:prstGeom>
          <a:noFill/>
        </p:spPr>
        <p:txBody>
          <a:bodyPr wrap="square" lIns="45720" tIns="27432" rIns="45720" bIns="27432" anchor="ctr">
            <a:spAutoFit/>
          </a:bodyPr>
          <a:lstStyle/>
          <a:p>
            <a:pPr algn="l">
              <a:lnSpc>
                <a:spcPct val="110000"/>
              </a:lnSpc>
              <a:spcAft>
                <a:spcPts val="600"/>
              </a:spcAft>
            </a:pPr>
            <a:r>
              <a:rPr lang="vi-VN" sz="2400" b="1" i="0">
                <a:solidFill>
                  <a:srgbClr val="EB6834"/>
                </a:solidFill>
                <a:latin typeface="Arial"/>
              </a:rPr>
              <a:t>76%</a:t>
            </a:r>
          </a:p>
        </p:txBody>
      </p:sp>
      <p:sp>
        <p:nvSpPr>
          <p:cNvPr id="14" name="TextBox 13"/>
          <p:cNvSpPr txBox="1"/>
          <p:nvPr/>
        </p:nvSpPr>
        <p:spPr>
          <a:xfrm>
            <a:off x="9921240" y="4434840"/>
            <a:ext cx="1554480" cy="1005840"/>
          </a:xfrm>
          <a:prstGeom prst="rect">
            <a:avLst/>
          </a:prstGeom>
          <a:noFill/>
        </p:spPr>
        <p:txBody>
          <a:bodyPr wrap="square" lIns="45720" tIns="27432" rIns="45720" bIns="27432" anchor="ctr">
            <a:spAutoFit/>
          </a:bodyPr>
          <a:lstStyle/>
          <a:p>
            <a:pPr algn="l">
              <a:lnSpc>
                <a:spcPct val="110000"/>
              </a:lnSpc>
              <a:spcAft>
                <a:spcPts val="0"/>
              </a:spcAft>
            </a:pPr>
            <a:r>
              <a:rPr lang="vi-VN" sz="1200" b="0" i="0">
                <a:solidFill>
                  <a:srgbClr val="1F2937"/>
                </a:solidFill>
                <a:latin typeface="Arial"/>
              </a:rPr>
              <a:t>số xe lệch không quá 5%</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4 · RANDOM FOREST TỰ CÀI ĐẶT</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Từ một cây đến một rừng: sai số giảm rõ rệt</a:t>
            </a:r>
          </a:p>
        </p:txBody>
      </p:sp>
      <p:pic>
        <p:nvPicPr>
          <p:cNvPr id="4" name="Picture 3" descr="m05_rf_so_cay.png"/>
          <p:cNvPicPr>
            <a:picLocks noChangeAspect="1"/>
          </p:cNvPicPr>
          <p:nvPr/>
        </p:nvPicPr>
        <p:blipFill>
          <a:blip r:embed="rId3"/>
          <a:stretch>
            <a:fillRect/>
          </a:stretch>
        </p:blipFill>
        <p:spPr>
          <a:xfrm>
            <a:off x="506733" y="1325880"/>
            <a:ext cx="4838692" cy="2697480"/>
          </a:xfrm>
          <a:prstGeom prst="rect">
            <a:avLst/>
          </a:prstGeom>
        </p:spPr>
      </p:pic>
      <p:pic>
        <p:nvPicPr>
          <p:cNvPr id="5" name="Picture 4" descr="m18_cay_vs_rung.png"/>
          <p:cNvPicPr>
            <a:picLocks noChangeAspect="1"/>
          </p:cNvPicPr>
          <p:nvPr/>
        </p:nvPicPr>
        <p:blipFill>
          <a:blip r:embed="rId4"/>
          <a:stretch>
            <a:fillRect/>
          </a:stretch>
        </p:blipFill>
        <p:spPr>
          <a:xfrm>
            <a:off x="6057347" y="1371600"/>
            <a:ext cx="5258905" cy="2651760"/>
          </a:xfrm>
          <a:prstGeom prst="rect">
            <a:avLst/>
          </a:prstGeom>
        </p:spPr>
      </p:pic>
      <p:sp>
        <p:nvSpPr>
          <p:cNvPr id="6" name="Rounded Rectangle 5"/>
          <p:cNvSpPr/>
          <p:nvPr/>
        </p:nvSpPr>
        <p:spPr>
          <a:xfrm>
            <a:off x="548640" y="4206240"/>
            <a:ext cx="3474720" cy="12344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31520" y="4261104"/>
            <a:ext cx="3108960" cy="548640"/>
          </a:xfrm>
          <a:prstGeom prst="rect">
            <a:avLst/>
          </a:prstGeom>
          <a:noFill/>
        </p:spPr>
        <p:txBody>
          <a:bodyPr wrap="square" lIns="45720" tIns="27432" rIns="45720" bIns="27432" anchor="t">
            <a:spAutoFit/>
          </a:bodyPr>
          <a:lstStyle/>
          <a:p>
            <a:pPr algn="l">
              <a:lnSpc>
                <a:spcPct val="110000"/>
              </a:lnSpc>
              <a:spcAft>
                <a:spcPts val="600"/>
              </a:spcAft>
            </a:pPr>
            <a:r>
              <a:rPr lang="vi-VN" sz="2200" b="1" i="0">
                <a:solidFill>
                  <a:srgbClr val="075289"/>
                </a:solidFill>
                <a:latin typeface="Arial"/>
              </a:rPr>
              <a:t>0,354 → 0,274</a:t>
            </a:r>
          </a:p>
        </p:txBody>
      </p:sp>
      <p:sp>
        <p:nvSpPr>
          <p:cNvPr id="8" name="TextBox 7"/>
          <p:cNvSpPr txBox="1"/>
          <p:nvPr/>
        </p:nvSpPr>
        <p:spPr>
          <a:xfrm>
            <a:off x="731520" y="4846320"/>
            <a:ext cx="3108960" cy="548640"/>
          </a:xfrm>
          <a:prstGeom prst="rect">
            <a:avLst/>
          </a:prstGeom>
          <a:noFill/>
        </p:spPr>
        <p:txBody>
          <a:bodyPr wrap="square" lIns="45720" tIns="27432" rIns="45720" bIns="27432" anchor="t">
            <a:spAutoFit/>
          </a:bodyPr>
          <a:lstStyle/>
          <a:p>
            <a:pPr algn="l">
              <a:lnSpc>
                <a:spcPct val="110000"/>
              </a:lnSpc>
              <a:spcAft>
                <a:spcPts val="600"/>
              </a:spcAft>
            </a:pPr>
            <a:r>
              <a:rPr lang="vi-VN" sz="1300" b="0" i="0">
                <a:solidFill>
                  <a:srgbClr val="1F2937"/>
                </a:solidFill>
                <a:latin typeface="Arial"/>
              </a:rPr>
              <a:t>OOB RMSE: 1 cây → 100 cây</a:t>
            </a:r>
          </a:p>
        </p:txBody>
      </p:sp>
      <p:sp>
        <p:nvSpPr>
          <p:cNvPr id="9" name="Rounded Rectangle 8"/>
          <p:cNvSpPr/>
          <p:nvPr/>
        </p:nvSpPr>
        <p:spPr>
          <a:xfrm>
            <a:off x="4297679" y="4206240"/>
            <a:ext cx="3474720" cy="12344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4480559" y="4261104"/>
            <a:ext cx="3108960" cy="548640"/>
          </a:xfrm>
          <a:prstGeom prst="rect">
            <a:avLst/>
          </a:prstGeom>
          <a:noFill/>
        </p:spPr>
        <p:txBody>
          <a:bodyPr wrap="square" lIns="45720" tIns="27432" rIns="45720" bIns="27432" anchor="t">
            <a:spAutoFit/>
          </a:bodyPr>
          <a:lstStyle/>
          <a:p>
            <a:pPr algn="l">
              <a:lnSpc>
                <a:spcPct val="110000"/>
              </a:lnSpc>
              <a:spcAft>
                <a:spcPts val="600"/>
              </a:spcAft>
            </a:pPr>
            <a:r>
              <a:rPr lang="vi-VN" sz="2200" b="1" i="0">
                <a:solidFill>
                  <a:srgbClr val="075289"/>
                </a:solidFill>
                <a:latin typeface="Arial"/>
              </a:rPr>
              <a:t>0,883</a:t>
            </a:r>
          </a:p>
        </p:txBody>
      </p:sp>
      <p:sp>
        <p:nvSpPr>
          <p:cNvPr id="11" name="TextBox 10"/>
          <p:cNvSpPr txBox="1"/>
          <p:nvPr/>
        </p:nvSpPr>
        <p:spPr>
          <a:xfrm>
            <a:off x="4480559" y="4846320"/>
            <a:ext cx="3108960" cy="548640"/>
          </a:xfrm>
          <a:prstGeom prst="rect">
            <a:avLst/>
          </a:prstGeom>
          <a:noFill/>
        </p:spPr>
        <p:txBody>
          <a:bodyPr wrap="square" lIns="45720" tIns="27432" rIns="45720" bIns="27432" anchor="t">
            <a:spAutoFit/>
          </a:bodyPr>
          <a:lstStyle/>
          <a:p>
            <a:pPr algn="l">
              <a:lnSpc>
                <a:spcPct val="110000"/>
              </a:lnSpc>
              <a:spcAft>
                <a:spcPts val="600"/>
              </a:spcAft>
            </a:pPr>
            <a:r>
              <a:rPr lang="vi-VN" sz="1300" b="0" i="0">
                <a:solidFill>
                  <a:srgbClr val="1F2937"/>
                </a:solidFill>
                <a:latin typeface="Arial"/>
              </a:rPr>
              <a:t>OOB R² tự cài đặt (thư viện 0,888)</a:t>
            </a:r>
          </a:p>
        </p:txBody>
      </p:sp>
      <p:sp>
        <p:nvSpPr>
          <p:cNvPr id="12" name="Rounded Rectangle 11"/>
          <p:cNvSpPr/>
          <p:nvPr/>
        </p:nvSpPr>
        <p:spPr>
          <a:xfrm>
            <a:off x="8046719" y="4206240"/>
            <a:ext cx="3474720" cy="123444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229599" y="4261104"/>
            <a:ext cx="3108960" cy="548640"/>
          </a:xfrm>
          <a:prstGeom prst="rect">
            <a:avLst/>
          </a:prstGeom>
          <a:noFill/>
        </p:spPr>
        <p:txBody>
          <a:bodyPr wrap="square" lIns="45720" tIns="27432" rIns="45720" bIns="27432" anchor="t">
            <a:spAutoFit/>
          </a:bodyPr>
          <a:lstStyle/>
          <a:p>
            <a:pPr algn="l">
              <a:lnSpc>
                <a:spcPct val="110000"/>
              </a:lnSpc>
              <a:spcAft>
                <a:spcPts val="600"/>
              </a:spcAft>
            </a:pPr>
            <a:r>
              <a:rPr lang="vi-VN" sz="2200" b="1" i="0">
                <a:solidFill>
                  <a:srgbClr val="FFD400"/>
                </a:solidFill>
                <a:latin typeface="Arial"/>
              </a:rPr>
              <a:t>18,5% → 15,1%</a:t>
            </a:r>
          </a:p>
        </p:txBody>
      </p:sp>
      <p:sp>
        <p:nvSpPr>
          <p:cNvPr id="14" name="TextBox 13"/>
          <p:cNvSpPr txBox="1"/>
          <p:nvPr/>
        </p:nvSpPr>
        <p:spPr>
          <a:xfrm>
            <a:off x="8229599" y="4846320"/>
            <a:ext cx="3108960" cy="548640"/>
          </a:xfrm>
          <a:prstGeom prst="rect">
            <a:avLst/>
          </a:prstGeom>
          <a:noFill/>
        </p:spPr>
        <p:txBody>
          <a:bodyPr wrap="square" lIns="45720" tIns="27432" rIns="45720" bIns="27432" anchor="t">
            <a:spAutoFit/>
          </a:bodyPr>
          <a:lstStyle/>
          <a:p>
            <a:pPr algn="l">
              <a:lnSpc>
                <a:spcPct val="110000"/>
              </a:lnSpc>
              <a:spcAft>
                <a:spcPts val="600"/>
              </a:spcAft>
            </a:pPr>
            <a:r>
              <a:rPr lang="vi-VN" sz="1300" b="0" i="0">
                <a:solidFill>
                  <a:srgbClr val="FFFFFF"/>
                </a:solidFill>
                <a:latin typeface="Arial"/>
              </a:rPr>
              <a:t>MAPE test: một cây → cả rừng</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4 · MÔ HÌNH SO SÁNH</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Ridge Regression: mốc so sánh tuyến tính</a:t>
            </a:r>
          </a:p>
        </p:txBody>
      </p:sp>
      <p:sp>
        <p:nvSpPr>
          <p:cNvPr id="4" name="Rounded Rectangle 3"/>
          <p:cNvSpPr/>
          <p:nvPr/>
        </p:nvSpPr>
        <p:spPr>
          <a:xfrm>
            <a:off x="548640" y="1463040"/>
            <a:ext cx="5486400" cy="16002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31520" y="1554480"/>
            <a:ext cx="5120640" cy="365760"/>
          </a:xfrm>
          <a:prstGeom prst="rect">
            <a:avLst/>
          </a:prstGeom>
          <a:noFill/>
        </p:spPr>
        <p:txBody>
          <a:bodyPr wrap="square" lIns="45720" tIns="27432" rIns="45720" bIns="27432" anchor="t">
            <a:spAutoFit/>
          </a:bodyPr>
          <a:lstStyle/>
          <a:p>
            <a:pPr algn="l">
              <a:lnSpc>
                <a:spcPct val="110000"/>
              </a:lnSpc>
              <a:spcAft>
                <a:spcPts val="600"/>
              </a:spcAft>
            </a:pPr>
            <a:r>
              <a:rPr lang="vi-VN" sz="1500" b="1" i="0">
                <a:solidFill>
                  <a:srgbClr val="075289"/>
                </a:solidFill>
                <a:latin typeface="Arial"/>
              </a:rPr>
              <a:t>Hàm mất mát</a:t>
            </a:r>
          </a:p>
        </p:txBody>
      </p:sp>
      <p:sp>
        <p:nvSpPr>
          <p:cNvPr id="6" name="TextBox 5"/>
          <p:cNvSpPr txBox="1"/>
          <p:nvPr/>
        </p:nvSpPr>
        <p:spPr>
          <a:xfrm>
            <a:off x="731520" y="1965960"/>
            <a:ext cx="5120640" cy="1005840"/>
          </a:xfrm>
          <a:prstGeom prst="rect">
            <a:avLst/>
          </a:prstGeom>
          <a:noFill/>
        </p:spPr>
        <p:txBody>
          <a:bodyPr wrap="square" lIns="45720" tIns="27432" rIns="45720" bIns="27432" anchor="t">
            <a:spAutoFit/>
          </a:bodyPr>
          <a:lstStyle/>
          <a:p>
            <a:pPr algn="l">
              <a:lnSpc>
                <a:spcPct val="110000"/>
              </a:lnSpc>
              <a:spcAft>
                <a:spcPts val="600"/>
              </a:spcAft>
            </a:pPr>
            <a:r>
              <a:rPr lang="vi-VN" sz="2000" b="0" i="0">
                <a:solidFill>
                  <a:srgbClr val="1F2937"/>
                </a:solidFill>
                <a:latin typeface="Arial"/>
              </a:rPr>
              <a:t>J(w) = </a:t>
            </a:r>
            <a:r>
              <a:rPr lang="vi-VN" sz="2000" b="1" i="0">
                <a:solidFill>
                  <a:srgbClr val="1F2937"/>
                </a:solidFill>
                <a:latin typeface="Arial"/>
              </a:rPr>
              <a:t>(1/2n) Σ (yᵢ − ŷᵢ)²</a:t>
            </a:r>
            <a:r>
              <a:rPr lang="vi-VN" sz="2000" b="0" i="0">
                <a:solidFill>
                  <a:srgbClr val="1F2937"/>
                </a:solidFill>
                <a:latin typeface="Arial"/>
              </a:rPr>
              <a:t>  +  </a:t>
            </a:r>
            <a:r>
              <a:rPr lang="vi-VN" sz="2000" b="1" i="0">
                <a:solidFill>
                  <a:srgbClr val="EB6834"/>
                </a:solidFill>
                <a:latin typeface="Arial"/>
              </a:rPr>
              <a:t>(α/2) Σ wⱼ²</a:t>
            </a:r>
          </a:p>
          <a:p>
            <a:pPr algn="l">
              <a:lnSpc>
                <a:spcPct val="110000"/>
              </a:lnSpc>
              <a:spcAft>
                <a:spcPts val="600"/>
              </a:spcAft>
            </a:pPr>
            <a:r>
              <a:rPr lang="vi-VN" sz="1200" b="0" i="0">
                <a:solidFill>
                  <a:srgbClr val="5B6775"/>
                </a:solidFill>
                <a:latin typeface="Arial"/>
              </a:rPr>
              <a:t>sai số dự đoán            khoản phạt L2</a:t>
            </a:r>
          </a:p>
        </p:txBody>
      </p:sp>
      <p:sp>
        <p:nvSpPr>
          <p:cNvPr id="7" name="TextBox 6"/>
          <p:cNvSpPr txBox="1"/>
          <p:nvPr/>
        </p:nvSpPr>
        <p:spPr>
          <a:xfrm>
            <a:off x="548640" y="3246120"/>
            <a:ext cx="5486400" cy="2286000"/>
          </a:xfrm>
          <a:prstGeom prst="rect">
            <a:avLst/>
          </a:prstGeom>
          <a:noFill/>
        </p:spPr>
        <p:txBody>
          <a:bodyPr wrap="square" lIns="45720" tIns="27432" rIns="45720" bIns="27432" anchor="t">
            <a:spAutoFit/>
          </a:bodyPr>
          <a:lstStyle/>
          <a:p>
            <a:pPr marL="201168" indent="-201168" algn="l">
              <a:lnSpc>
                <a:spcPct val="110000"/>
              </a:lnSpc>
              <a:spcAft>
                <a:spcPts val="900"/>
              </a:spcAft>
              <a:buClr>
                <a:srgbClr val="075289"/>
              </a:buClr>
              <a:buFont typeface="Arial"/>
              <a:buChar char="•"/>
            </a:pPr>
            <a:r>
              <a:rPr lang="vi-VN" sz="1500" b="0" i="0">
                <a:solidFill>
                  <a:srgbClr val="1F2937"/>
                </a:solidFill>
                <a:latin typeface="Arial"/>
              </a:rPr>
              <a:t>ŷ = w₀ + Σ wⱼxⱼ: tổ hợp tuyến tính, dự đoán log giá</a:t>
            </a:r>
          </a:p>
          <a:p>
            <a:pPr marL="201168" indent="-201168" algn="l">
              <a:lnSpc>
                <a:spcPct val="110000"/>
              </a:lnSpc>
              <a:spcAft>
                <a:spcPts val="900"/>
              </a:spcAft>
              <a:buClr>
                <a:srgbClr val="075289"/>
              </a:buClr>
              <a:buFont typeface="Arial"/>
              <a:buChar char="•"/>
            </a:pPr>
            <a:r>
              <a:rPr lang="vi-VN" sz="1500" b="0" i="0">
                <a:solidFill>
                  <a:srgbClr val="1F2937"/>
                </a:solidFill>
                <a:latin typeface="Arial"/>
              </a:rPr>
              <a:t>Phạt L2 giữ hệ số ổn định khi các cột one-hot tương quan (Toyota và Toyota Vios)</a:t>
            </a:r>
          </a:p>
          <a:p>
            <a:pPr marL="201168" indent="-201168" algn="l">
              <a:lnSpc>
                <a:spcPct val="110000"/>
              </a:lnSpc>
              <a:spcAft>
                <a:spcPts val="900"/>
              </a:spcAft>
              <a:buClr>
                <a:srgbClr val="075289"/>
              </a:buClr>
              <a:buFont typeface="Arial"/>
              <a:buChar char="•"/>
            </a:pPr>
            <a:r>
              <a:rPr lang="vi-VN" sz="1500" b="0" i="0">
                <a:solidFill>
                  <a:srgbClr val="1F2937"/>
                </a:solidFill>
                <a:latin typeface="Arial"/>
              </a:rPr>
              <a:t>α = 0,56 chọn bằng 5-fold CV trên train</a:t>
            </a:r>
          </a:p>
        </p:txBody>
      </p:sp>
      <p:sp>
        <p:nvSpPr>
          <p:cNvPr id="8" name="Rounded Rectangle 7"/>
          <p:cNvSpPr/>
          <p:nvPr/>
        </p:nvSpPr>
        <p:spPr>
          <a:xfrm>
            <a:off x="6400800" y="1463040"/>
            <a:ext cx="5212080" cy="182880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583680" y="1536192"/>
            <a:ext cx="4846320" cy="365760"/>
          </a:xfrm>
          <a:prstGeom prst="rect">
            <a:avLst/>
          </a:prstGeom>
          <a:noFill/>
        </p:spPr>
        <p:txBody>
          <a:bodyPr wrap="square" lIns="45720" tIns="27432" rIns="45720" bIns="27432" anchor="t">
            <a:spAutoFit/>
          </a:bodyPr>
          <a:lstStyle/>
          <a:p>
            <a:pPr algn="l">
              <a:lnSpc>
                <a:spcPct val="110000"/>
              </a:lnSpc>
              <a:spcAft>
                <a:spcPts val="600"/>
              </a:spcAft>
            </a:pPr>
            <a:r>
              <a:rPr lang="vi-VN" sz="1500" b="1" i="0">
                <a:solidFill>
                  <a:srgbClr val="FFD400"/>
                </a:solidFill>
                <a:latin typeface="Arial"/>
              </a:rPr>
              <a:t>Vì sao chọn Ridge làm mốc?</a:t>
            </a:r>
          </a:p>
        </p:txBody>
      </p:sp>
      <p:sp>
        <p:nvSpPr>
          <p:cNvPr id="10" name="TextBox 9"/>
          <p:cNvSpPr txBox="1"/>
          <p:nvPr/>
        </p:nvSpPr>
        <p:spPr>
          <a:xfrm>
            <a:off x="6583680" y="1920240"/>
            <a:ext cx="4846320" cy="1325880"/>
          </a:xfrm>
          <a:prstGeom prst="rect">
            <a:avLst/>
          </a:prstGeom>
          <a:noFill/>
        </p:spPr>
        <p:txBody>
          <a:bodyPr wrap="square" lIns="45720" tIns="27432" rIns="45720" bIns="27432" anchor="t">
            <a:spAutoFit/>
          </a:bodyPr>
          <a:lstStyle/>
          <a:p>
            <a:pPr algn="l">
              <a:lnSpc>
                <a:spcPct val="110000"/>
              </a:lnSpc>
              <a:spcAft>
                <a:spcPts val="400"/>
              </a:spcAft>
            </a:pPr>
            <a:r>
              <a:rPr lang="vi-VN" sz="1300" b="0" i="0">
                <a:solidFill>
                  <a:srgbClr val="FFFFFF"/>
                </a:solidFill>
                <a:latin typeface="Arial"/>
              </a:rPr>
              <a:t>Cùng tập train/test, cùng thước đo, cũng được tinh chỉnh → so sánh công bằng</a:t>
            </a:r>
          </a:p>
          <a:p>
            <a:pPr algn="l">
              <a:lnSpc>
                <a:spcPct val="110000"/>
              </a:lnSpc>
              <a:spcAft>
                <a:spcPts val="400"/>
              </a:spcAft>
            </a:pPr>
            <a:r>
              <a:rPr lang="vi-VN" sz="1300" b="0" i="0">
                <a:solidFill>
                  <a:srgbClr val="FFFFFF"/>
                </a:solidFill>
                <a:latin typeface="Arial"/>
              </a:rPr>
              <a:t>Trả lời: phi tuyến và tương tác giúp được bao nhiêu?</a:t>
            </a:r>
          </a:p>
        </p:txBody>
      </p:sp>
      <p:sp>
        <p:nvSpPr>
          <p:cNvPr id="11" name="Rounded Rectangle 10"/>
          <p:cNvSpPr/>
          <p:nvPr/>
        </p:nvSpPr>
        <p:spPr>
          <a:xfrm>
            <a:off x="6400800" y="3474720"/>
            <a:ext cx="5212080" cy="201168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583680" y="3547872"/>
            <a:ext cx="4846320" cy="365760"/>
          </a:xfrm>
          <a:prstGeom prst="rect">
            <a:avLst/>
          </a:prstGeom>
          <a:noFill/>
        </p:spPr>
        <p:txBody>
          <a:bodyPr wrap="square" lIns="45720" tIns="27432" rIns="45720" bIns="27432" anchor="t">
            <a:spAutoFit/>
          </a:bodyPr>
          <a:lstStyle/>
          <a:p>
            <a:pPr algn="l">
              <a:lnSpc>
                <a:spcPct val="110000"/>
              </a:lnSpc>
              <a:spcAft>
                <a:spcPts val="600"/>
              </a:spcAft>
            </a:pPr>
            <a:r>
              <a:rPr lang="vi-VN" sz="1500" b="1" i="0">
                <a:solidFill>
                  <a:srgbClr val="075289"/>
                </a:solidFill>
                <a:latin typeface="Arial"/>
              </a:rPr>
              <a:t>Ridge khác rừng ở đặc trưng số</a:t>
            </a:r>
          </a:p>
        </p:txBody>
      </p:sp>
      <p:sp>
        <p:nvSpPr>
          <p:cNvPr id="13" name="TextBox 12"/>
          <p:cNvSpPr txBox="1"/>
          <p:nvPr/>
        </p:nvSpPr>
        <p:spPr>
          <a:xfrm>
            <a:off x="6583680" y="3931920"/>
            <a:ext cx="4846320" cy="1508760"/>
          </a:xfrm>
          <a:prstGeom prst="rect">
            <a:avLst/>
          </a:prstGeom>
          <a:noFill/>
        </p:spPr>
        <p:txBody>
          <a:bodyPr wrap="square" lIns="45720" tIns="27432" rIns="45720" bIns="27432" anchor="t">
            <a:spAutoFit/>
          </a:bodyPr>
          <a:lstStyle/>
          <a:p>
            <a:pPr algn="l">
              <a:lnSpc>
                <a:spcPct val="110000"/>
              </a:lnSpc>
              <a:spcAft>
                <a:spcPts val="400"/>
              </a:spcAft>
            </a:pPr>
            <a:r>
              <a:rPr lang="vi-VN" sz="1300" b="0" i="0">
                <a:solidFill>
                  <a:srgbClr val="1F2937"/>
                </a:solidFill>
                <a:latin typeface="Arial"/>
              </a:rPr>
              <a:t>Cần age², log(1+km), log(1+km/năm) và StandardScaler</a:t>
            </a:r>
          </a:p>
          <a:p>
            <a:pPr algn="l">
              <a:lnSpc>
                <a:spcPct val="110000"/>
              </a:lnSpc>
              <a:spcAft>
                <a:spcPts val="400"/>
              </a:spcAft>
            </a:pPr>
            <a:r>
              <a:rPr lang="vi-VN" sz="1300" b="0" i="0">
                <a:solidFill>
                  <a:srgbClr val="1F2937"/>
                </a:solidFill>
                <a:latin typeface="Arial"/>
              </a:rPr>
              <a:t>Vì chỉ cộng hiệu ứng tuyến tính, trong khi xe mất giá nhanh những năm đầu rồi chậm lại</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5 · KẾT QUẢ</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Random Forest: MAPE 15,1%, 79% xe lệch không quá 20%</a:t>
            </a:r>
          </a:p>
        </p:txBody>
      </p:sp>
      <p:sp>
        <p:nvSpPr>
          <p:cNvPr id="4" name="Rounded Rectangle 3"/>
          <p:cNvSpPr/>
          <p:nvPr/>
        </p:nvSpPr>
        <p:spPr>
          <a:xfrm>
            <a:off x="548640" y="1417320"/>
            <a:ext cx="3474720" cy="1234440"/>
          </a:xfrm>
          <a:prstGeom prst="roundRect">
            <a:avLst>
              <a:gd name="adj" fmla="val 8000"/>
            </a:avLst>
          </a:prstGeom>
          <a:solidFill>
            <a:srgbClr val="9AA0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48640" y="1444752"/>
            <a:ext cx="3474720" cy="731520"/>
          </a:xfrm>
          <a:prstGeom prst="rect">
            <a:avLst/>
          </a:prstGeom>
          <a:noFill/>
        </p:spPr>
        <p:txBody>
          <a:bodyPr wrap="square" lIns="45720" tIns="27432" rIns="45720" bIns="27432" anchor="t">
            <a:spAutoFit/>
          </a:bodyPr>
          <a:lstStyle/>
          <a:p>
            <a:pPr algn="ctr">
              <a:lnSpc>
                <a:spcPct val="110000"/>
              </a:lnSpc>
              <a:spcAft>
                <a:spcPts val="600"/>
              </a:spcAft>
            </a:pPr>
            <a:r>
              <a:rPr lang="vi-VN" sz="3600" b="1" i="0">
                <a:solidFill>
                  <a:srgbClr val="FFFFFF"/>
                </a:solidFill>
                <a:latin typeface="Arial"/>
              </a:rPr>
              <a:t>88,0%</a:t>
            </a:r>
          </a:p>
        </p:txBody>
      </p:sp>
      <p:sp>
        <p:nvSpPr>
          <p:cNvPr id="6" name="TextBox 5"/>
          <p:cNvSpPr txBox="1"/>
          <p:nvPr/>
        </p:nvSpPr>
        <p:spPr>
          <a:xfrm>
            <a:off x="548640" y="2148840"/>
            <a:ext cx="3474720" cy="411480"/>
          </a:xfrm>
          <a:prstGeom prst="rect">
            <a:avLst/>
          </a:prstGeom>
          <a:noFill/>
        </p:spPr>
        <p:txBody>
          <a:bodyPr wrap="square" lIns="45720" tIns="27432" rIns="45720" bIns="27432" anchor="t">
            <a:spAutoFit/>
          </a:bodyPr>
          <a:lstStyle/>
          <a:p>
            <a:pPr algn="ctr">
              <a:lnSpc>
                <a:spcPct val="110000"/>
              </a:lnSpc>
              <a:spcAft>
                <a:spcPts val="600"/>
              </a:spcAft>
            </a:pPr>
            <a:r>
              <a:rPr lang="vi-VN" sz="1400" b="0" i="0">
                <a:solidFill>
                  <a:srgbClr val="FFFFFF"/>
                </a:solidFill>
                <a:latin typeface="Arial"/>
              </a:rPr>
              <a:t>Baseline · MAPE</a:t>
            </a:r>
          </a:p>
        </p:txBody>
      </p:sp>
      <p:sp>
        <p:nvSpPr>
          <p:cNvPr id="7" name="Rounded Rectangle 6"/>
          <p:cNvSpPr/>
          <p:nvPr/>
        </p:nvSpPr>
        <p:spPr>
          <a:xfrm>
            <a:off x="4297679" y="1417320"/>
            <a:ext cx="3474720" cy="123444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297679" y="1444752"/>
            <a:ext cx="3474720" cy="731520"/>
          </a:xfrm>
          <a:prstGeom prst="rect">
            <a:avLst/>
          </a:prstGeom>
          <a:noFill/>
        </p:spPr>
        <p:txBody>
          <a:bodyPr wrap="square" lIns="45720" tIns="27432" rIns="45720" bIns="27432" anchor="t">
            <a:spAutoFit/>
          </a:bodyPr>
          <a:lstStyle/>
          <a:p>
            <a:pPr algn="ctr">
              <a:lnSpc>
                <a:spcPct val="110000"/>
              </a:lnSpc>
              <a:spcAft>
                <a:spcPts val="600"/>
              </a:spcAft>
            </a:pPr>
            <a:r>
              <a:rPr lang="vi-VN" sz="3600" b="1" i="0">
                <a:solidFill>
                  <a:srgbClr val="FFFFFF"/>
                </a:solidFill>
                <a:latin typeface="Arial"/>
              </a:rPr>
              <a:t>18,5%</a:t>
            </a:r>
          </a:p>
        </p:txBody>
      </p:sp>
      <p:sp>
        <p:nvSpPr>
          <p:cNvPr id="9" name="TextBox 8"/>
          <p:cNvSpPr txBox="1"/>
          <p:nvPr/>
        </p:nvSpPr>
        <p:spPr>
          <a:xfrm>
            <a:off x="4297679" y="2148840"/>
            <a:ext cx="3474720" cy="411480"/>
          </a:xfrm>
          <a:prstGeom prst="rect">
            <a:avLst/>
          </a:prstGeom>
          <a:noFill/>
        </p:spPr>
        <p:txBody>
          <a:bodyPr wrap="square" lIns="45720" tIns="27432" rIns="45720" bIns="27432" anchor="t">
            <a:spAutoFit/>
          </a:bodyPr>
          <a:lstStyle/>
          <a:p>
            <a:pPr algn="ctr">
              <a:lnSpc>
                <a:spcPct val="110000"/>
              </a:lnSpc>
              <a:spcAft>
                <a:spcPts val="600"/>
              </a:spcAft>
            </a:pPr>
            <a:r>
              <a:rPr lang="vi-VN" sz="1400" b="0" i="0">
                <a:solidFill>
                  <a:srgbClr val="FFFFFF"/>
                </a:solidFill>
                <a:latin typeface="Arial"/>
              </a:rPr>
              <a:t>Ridge (so sánh) · MAPE</a:t>
            </a:r>
          </a:p>
        </p:txBody>
      </p:sp>
      <p:sp>
        <p:nvSpPr>
          <p:cNvPr id="10" name="Rounded Rectangle 9"/>
          <p:cNvSpPr/>
          <p:nvPr/>
        </p:nvSpPr>
        <p:spPr>
          <a:xfrm>
            <a:off x="8046719" y="1417320"/>
            <a:ext cx="3474720" cy="1234440"/>
          </a:xfrm>
          <a:prstGeom prst="roundRect">
            <a:avLst>
              <a:gd name="adj" fmla="val 8000"/>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046719" y="1444752"/>
            <a:ext cx="3474720" cy="731520"/>
          </a:xfrm>
          <a:prstGeom prst="rect">
            <a:avLst/>
          </a:prstGeom>
          <a:noFill/>
        </p:spPr>
        <p:txBody>
          <a:bodyPr wrap="square" lIns="45720" tIns="27432" rIns="45720" bIns="27432" anchor="t">
            <a:spAutoFit/>
          </a:bodyPr>
          <a:lstStyle/>
          <a:p>
            <a:pPr algn="ctr">
              <a:lnSpc>
                <a:spcPct val="110000"/>
              </a:lnSpc>
              <a:spcAft>
                <a:spcPts val="600"/>
              </a:spcAft>
            </a:pPr>
            <a:r>
              <a:rPr lang="vi-VN" sz="3600" b="1" i="0">
                <a:solidFill>
                  <a:srgbClr val="FFFFFF"/>
                </a:solidFill>
                <a:latin typeface="Arial"/>
              </a:rPr>
              <a:t>15,1%</a:t>
            </a:r>
          </a:p>
        </p:txBody>
      </p:sp>
      <p:sp>
        <p:nvSpPr>
          <p:cNvPr id="12" name="TextBox 11"/>
          <p:cNvSpPr txBox="1"/>
          <p:nvPr/>
        </p:nvSpPr>
        <p:spPr>
          <a:xfrm>
            <a:off x="8046719" y="2148840"/>
            <a:ext cx="3474720" cy="411480"/>
          </a:xfrm>
          <a:prstGeom prst="rect">
            <a:avLst/>
          </a:prstGeom>
          <a:noFill/>
        </p:spPr>
        <p:txBody>
          <a:bodyPr wrap="square" lIns="45720" tIns="27432" rIns="45720" bIns="27432" anchor="t">
            <a:spAutoFit/>
          </a:bodyPr>
          <a:lstStyle/>
          <a:p>
            <a:pPr algn="ctr">
              <a:lnSpc>
                <a:spcPct val="110000"/>
              </a:lnSpc>
              <a:spcAft>
                <a:spcPts val="600"/>
              </a:spcAft>
            </a:pPr>
            <a:r>
              <a:rPr lang="vi-VN" sz="1400" b="0" i="0">
                <a:solidFill>
                  <a:srgbClr val="FFFFFF"/>
                </a:solidFill>
                <a:latin typeface="Arial"/>
              </a:rPr>
              <a:t>Random Forest · MAPE</a:t>
            </a:r>
          </a:p>
        </p:txBody>
      </p:sp>
      <p:graphicFrame>
        <p:nvGraphicFramePr>
          <p:cNvPr id="13" name="Table 12"/>
          <p:cNvGraphicFramePr>
            <a:graphicFrameLocks noGrp="1"/>
          </p:cNvGraphicFramePr>
          <p:nvPr/>
        </p:nvGraphicFramePr>
        <p:xfrm>
          <a:off x="548640" y="2880360"/>
          <a:ext cx="11064240" cy="2286000"/>
        </p:xfrm>
        <a:graphic>
          <a:graphicData uri="http://schemas.openxmlformats.org/drawingml/2006/table">
            <a:tbl>
              <a:tblPr>
                <a:tableStyleId>{5940675A-B579-460E-94D1-54222C63F5DA}</a:tableStyleId>
              </a:tblPr>
              <a:tblGrid>
                <a:gridCol w="32004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1097280">
                  <a:extLst>
                    <a:ext uri="{9D8B030D-6E8A-4147-A177-3AD203B41FA5}">
                      <a16:colId xmlns:a16="http://schemas.microsoft.com/office/drawing/2014/main" val="20005"/>
                    </a:ext>
                  </a:extLst>
                </a:gridCol>
                <a:gridCol w="100584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457200">
                <a:tc>
                  <a:txBody>
                    <a:bodyPr/>
                    <a:lstStyle/>
                    <a:p>
                      <a:r>
                        <a:rPr lang="vi-VN" sz="1400" b="1" i="0">
                          <a:solidFill>
                            <a:srgbClr val="FFFFFF"/>
                          </a:solidFill>
                          <a:latin typeface="Arial"/>
                        </a:rPr>
                        <a:t>Mô hình</a:t>
                      </a:r>
                    </a:p>
                  </a:txBody>
                  <a:tcPr marL="73152" marR="73152" marT="27432" marB="27432" anchor="ctr">
                    <a:solidFill>
                      <a:srgbClr val="075289"/>
                    </a:solidFill>
                  </a:tcPr>
                </a:tc>
                <a:tc>
                  <a:txBody>
                    <a:bodyPr/>
                    <a:lstStyle/>
                    <a:p>
                      <a:r>
                        <a:rPr lang="vi-VN" sz="1400" b="1" i="0">
                          <a:solidFill>
                            <a:srgbClr val="FFFFFF"/>
                          </a:solidFill>
                          <a:latin typeface="Arial"/>
                        </a:rPr>
                        <a:t>MAPE</a:t>
                      </a:r>
                    </a:p>
                  </a:txBody>
                  <a:tcPr marL="73152" marR="73152" marT="27432" marB="27432" anchor="ctr">
                    <a:solidFill>
                      <a:srgbClr val="075289"/>
                    </a:solidFill>
                  </a:tcPr>
                </a:tc>
                <a:tc>
                  <a:txBody>
                    <a:bodyPr/>
                    <a:lstStyle/>
                    <a:p>
                      <a:r>
                        <a:rPr lang="vi-VN" sz="1400" b="1" i="0">
                          <a:solidFill>
                            <a:srgbClr val="FFFFFF"/>
                          </a:solidFill>
                          <a:latin typeface="Arial"/>
                        </a:rPr>
                        <a:t>MedAPE</a:t>
                      </a:r>
                    </a:p>
                  </a:txBody>
                  <a:tcPr marL="73152" marR="73152" marT="27432" marB="27432" anchor="ctr">
                    <a:solidFill>
                      <a:srgbClr val="075289"/>
                    </a:solidFill>
                  </a:tcPr>
                </a:tc>
                <a:tc>
                  <a:txBody>
                    <a:bodyPr/>
                    <a:lstStyle/>
                    <a:p>
                      <a:r>
                        <a:rPr lang="vi-VN" sz="1400" b="1" i="0">
                          <a:solidFill>
                            <a:srgbClr val="FFFFFF"/>
                          </a:solidFill>
                          <a:latin typeface="Arial"/>
                        </a:rPr>
                        <a:t>MAE (tr)</a:t>
                      </a:r>
                    </a:p>
                  </a:txBody>
                  <a:tcPr marL="73152" marR="73152" marT="27432" marB="27432" anchor="ctr">
                    <a:solidFill>
                      <a:srgbClr val="075289"/>
                    </a:solidFill>
                  </a:tcPr>
                </a:tc>
                <a:tc>
                  <a:txBody>
                    <a:bodyPr/>
                    <a:lstStyle/>
                    <a:p>
                      <a:r>
                        <a:rPr lang="vi-VN" sz="1400" b="1" i="0">
                          <a:solidFill>
                            <a:srgbClr val="FFFFFF"/>
                          </a:solidFill>
                          <a:latin typeface="Arial"/>
                        </a:rPr>
                        <a:t>RMSE (tr)</a:t>
                      </a:r>
                    </a:p>
                  </a:txBody>
                  <a:tcPr marL="73152" marR="73152" marT="27432" marB="27432" anchor="ctr">
                    <a:solidFill>
                      <a:srgbClr val="075289"/>
                    </a:solidFill>
                  </a:tcPr>
                </a:tc>
                <a:tc>
                  <a:txBody>
                    <a:bodyPr/>
                    <a:lstStyle/>
                    <a:p>
                      <a:r>
                        <a:rPr lang="vi-VN" sz="1400" b="1" i="0">
                          <a:solidFill>
                            <a:srgbClr val="FFFFFF"/>
                          </a:solidFill>
                          <a:latin typeface="Arial"/>
                        </a:rPr>
                        <a:t>R² (log)</a:t>
                      </a:r>
                    </a:p>
                  </a:txBody>
                  <a:tcPr marL="73152" marR="73152" marT="27432" marB="27432" anchor="ctr">
                    <a:solidFill>
                      <a:srgbClr val="075289"/>
                    </a:solidFill>
                  </a:tcPr>
                </a:tc>
                <a:tc>
                  <a:txBody>
                    <a:bodyPr/>
                    <a:lstStyle/>
                    <a:p>
                      <a:r>
                        <a:rPr lang="vi-VN" sz="1400" b="1" i="0">
                          <a:solidFill>
                            <a:srgbClr val="FFFFFF"/>
                          </a:solidFill>
                          <a:latin typeface="Arial"/>
                        </a:rPr>
                        <a:t>≤ 20%</a:t>
                      </a:r>
                    </a:p>
                  </a:txBody>
                  <a:tcPr marL="73152" marR="73152" marT="27432" marB="27432" anchor="ctr">
                    <a:solidFill>
                      <a:srgbClr val="075289"/>
                    </a:solidFill>
                  </a:tcPr>
                </a:tc>
                <a:tc>
                  <a:txBody>
                    <a:bodyPr/>
                    <a:lstStyle/>
                    <a:p>
                      <a:r>
                        <a:rPr lang="vi-VN" sz="1400" b="1" i="0">
                          <a:solidFill>
                            <a:srgbClr val="FFFFFF"/>
                          </a:solidFill>
                          <a:latin typeface="Arial"/>
                        </a:rPr>
                        <a:t>Huấn luyện</a:t>
                      </a:r>
                    </a:p>
                  </a:txBody>
                  <a:tcPr marL="73152" marR="73152" marT="27432" marB="27432" anchor="ctr">
                    <a:solidFill>
                      <a:srgbClr val="075289"/>
                    </a:solidFill>
                  </a:tcPr>
                </a:tc>
                <a:extLst>
                  <a:ext uri="{0D108BD9-81ED-4DB2-BD59-A6C34878D82A}">
                    <a16:rowId xmlns:a16="http://schemas.microsoft.com/office/drawing/2014/main" val="10000"/>
                  </a:ext>
                </a:extLst>
              </a:tr>
              <a:tr h="457200">
                <a:tc>
                  <a:txBody>
                    <a:bodyPr/>
                    <a:lstStyle/>
                    <a:p>
                      <a:r>
                        <a:rPr lang="vi-VN" sz="1400" b="1" i="0">
                          <a:solidFill>
                            <a:srgbClr val="1F2937"/>
                          </a:solidFill>
                          <a:latin typeface="Arial"/>
                        </a:rPr>
                        <a:t>Baseline (trung vị)</a:t>
                      </a:r>
                    </a:p>
                  </a:txBody>
                  <a:tcPr marL="73152" marR="73152" marT="27432" marB="27432" anchor="ctr">
                    <a:solidFill>
                      <a:srgbClr val="FFFFFF"/>
                    </a:solidFill>
                  </a:tcPr>
                </a:tc>
                <a:tc>
                  <a:txBody>
                    <a:bodyPr/>
                    <a:lstStyle/>
                    <a:p>
                      <a:r>
                        <a:rPr lang="vi-VN" sz="1400" b="0" i="0">
                          <a:solidFill>
                            <a:srgbClr val="1F2937"/>
                          </a:solidFill>
                          <a:latin typeface="Arial"/>
                        </a:rPr>
                        <a:t>88,0%</a:t>
                      </a:r>
                    </a:p>
                  </a:txBody>
                  <a:tcPr marL="73152" marR="73152" marT="27432" marB="27432" anchor="ctr">
                    <a:solidFill>
                      <a:srgbClr val="FFFFFF"/>
                    </a:solidFill>
                  </a:tcPr>
                </a:tc>
                <a:tc>
                  <a:txBody>
                    <a:bodyPr/>
                    <a:lstStyle/>
                    <a:p>
                      <a:r>
                        <a:rPr lang="vi-VN" sz="1400" b="0" i="0">
                          <a:solidFill>
                            <a:srgbClr val="1F2937"/>
                          </a:solidFill>
                          <a:latin typeface="Arial"/>
                        </a:rPr>
                        <a:t>40,4%</a:t>
                      </a:r>
                    </a:p>
                  </a:txBody>
                  <a:tcPr marL="73152" marR="73152" marT="27432" marB="27432" anchor="ctr">
                    <a:solidFill>
                      <a:srgbClr val="FFFFFF"/>
                    </a:solidFill>
                  </a:tcPr>
                </a:tc>
                <a:tc>
                  <a:txBody>
                    <a:bodyPr/>
                    <a:lstStyle/>
                    <a:p>
                      <a:r>
                        <a:rPr lang="vi-VN" sz="1400" b="0" i="0">
                          <a:solidFill>
                            <a:srgbClr val="1F2937"/>
                          </a:solidFill>
                          <a:latin typeface="Arial"/>
                        </a:rPr>
                        <a:t>323</a:t>
                      </a:r>
                    </a:p>
                  </a:txBody>
                  <a:tcPr marL="73152" marR="73152" marT="27432" marB="27432" anchor="ctr">
                    <a:solidFill>
                      <a:srgbClr val="FFFFFF"/>
                    </a:solidFill>
                  </a:tcPr>
                </a:tc>
                <a:tc>
                  <a:txBody>
                    <a:bodyPr/>
                    <a:lstStyle/>
                    <a:p>
                      <a:r>
                        <a:rPr lang="vi-VN" sz="1400" b="0" i="0">
                          <a:solidFill>
                            <a:srgbClr val="1F2937"/>
                          </a:solidFill>
                          <a:latin typeface="Arial"/>
                        </a:rPr>
                        <a:t>642</a:t>
                      </a:r>
                    </a:p>
                  </a:txBody>
                  <a:tcPr marL="73152" marR="73152" marT="27432" marB="27432" anchor="ctr">
                    <a:solidFill>
                      <a:srgbClr val="FFFFFF"/>
                    </a:solidFill>
                  </a:tcPr>
                </a:tc>
                <a:tc>
                  <a:txBody>
                    <a:bodyPr/>
                    <a:lstStyle/>
                    <a:p>
                      <a:r>
                        <a:rPr lang="vi-VN" sz="1400" b="0" i="0">
                          <a:solidFill>
                            <a:srgbClr val="1F2937"/>
                          </a:solidFill>
                          <a:latin typeface="Arial"/>
                        </a:rPr>
                        <a:t>0,00</a:t>
                      </a:r>
                    </a:p>
                  </a:txBody>
                  <a:tcPr marL="73152" marR="73152" marT="27432" marB="27432" anchor="ctr">
                    <a:solidFill>
                      <a:srgbClr val="FFFFFF"/>
                    </a:solidFill>
                  </a:tcPr>
                </a:tc>
                <a:tc>
                  <a:txBody>
                    <a:bodyPr/>
                    <a:lstStyle/>
                    <a:p>
                      <a:r>
                        <a:rPr lang="vi-VN" sz="1400" b="0" i="0">
                          <a:solidFill>
                            <a:srgbClr val="1F2937"/>
                          </a:solidFill>
                          <a:latin typeface="Arial"/>
                        </a:rPr>
                        <a:t>26%</a:t>
                      </a:r>
                    </a:p>
                  </a:txBody>
                  <a:tcPr marL="73152" marR="73152" marT="27432" marB="27432" anchor="ctr">
                    <a:solidFill>
                      <a:srgbClr val="FFFFFF"/>
                    </a:solidFill>
                  </a:tcPr>
                </a:tc>
                <a:tc>
                  <a:txBody>
                    <a:bodyPr/>
                    <a:lstStyle/>
                    <a:p>
                      <a:r>
                        <a:rPr lang="vi-VN" sz="1400" b="0" i="0">
                          <a:solidFill>
                            <a:srgbClr val="1F2937"/>
                          </a:solidFill>
                          <a:latin typeface="Arial"/>
                        </a:rPr>
                        <a:t>–</a:t>
                      </a:r>
                    </a:p>
                  </a:txBody>
                  <a:tcPr marL="73152" marR="73152" marT="27432" marB="27432" anchor="ctr">
                    <a:solidFill>
                      <a:srgbClr val="FFFFFF"/>
                    </a:solidFill>
                  </a:tcPr>
                </a:tc>
                <a:extLst>
                  <a:ext uri="{0D108BD9-81ED-4DB2-BD59-A6C34878D82A}">
                    <a16:rowId xmlns:a16="http://schemas.microsoft.com/office/drawing/2014/main" val="10001"/>
                  </a:ext>
                </a:extLst>
              </a:tr>
              <a:tr h="457200">
                <a:tc>
                  <a:txBody>
                    <a:bodyPr/>
                    <a:lstStyle/>
                    <a:p>
                      <a:r>
                        <a:rPr lang="vi-VN" sz="1400" b="1" i="0">
                          <a:solidFill>
                            <a:srgbClr val="1F2937"/>
                          </a:solidFill>
                          <a:latin typeface="Arial"/>
                        </a:rPr>
                        <a:t>Ridge – thư viện</a:t>
                      </a:r>
                    </a:p>
                  </a:txBody>
                  <a:tcPr marL="73152" marR="73152" marT="27432" marB="27432" anchor="ctr">
                    <a:solidFill>
                      <a:srgbClr val="EAF2FA"/>
                    </a:solidFill>
                  </a:tcPr>
                </a:tc>
                <a:tc>
                  <a:txBody>
                    <a:bodyPr/>
                    <a:lstStyle/>
                    <a:p>
                      <a:r>
                        <a:rPr lang="vi-VN" sz="1400" b="0" i="0">
                          <a:solidFill>
                            <a:srgbClr val="1F2937"/>
                          </a:solidFill>
                          <a:latin typeface="Arial"/>
                        </a:rPr>
                        <a:t>18,5%</a:t>
                      </a:r>
                    </a:p>
                  </a:txBody>
                  <a:tcPr marL="73152" marR="73152" marT="27432" marB="27432" anchor="ctr">
                    <a:solidFill>
                      <a:srgbClr val="EAF2FA"/>
                    </a:solidFill>
                  </a:tcPr>
                </a:tc>
                <a:tc>
                  <a:txBody>
                    <a:bodyPr/>
                    <a:lstStyle/>
                    <a:p>
                      <a:r>
                        <a:rPr lang="vi-VN" sz="1400" b="0" i="0">
                          <a:solidFill>
                            <a:srgbClr val="1F2937"/>
                          </a:solidFill>
                          <a:latin typeface="Arial"/>
                        </a:rPr>
                        <a:t>10,5%</a:t>
                      </a:r>
                    </a:p>
                  </a:txBody>
                  <a:tcPr marL="73152" marR="73152" marT="27432" marB="27432" anchor="ctr">
                    <a:solidFill>
                      <a:srgbClr val="EAF2FA"/>
                    </a:solidFill>
                  </a:tcPr>
                </a:tc>
                <a:tc>
                  <a:txBody>
                    <a:bodyPr/>
                    <a:lstStyle/>
                    <a:p>
                      <a:r>
                        <a:rPr lang="vi-VN" sz="1400" b="0" i="0">
                          <a:solidFill>
                            <a:srgbClr val="1F2937"/>
                          </a:solidFill>
                          <a:latin typeface="Arial"/>
                        </a:rPr>
                        <a:t>108</a:t>
                      </a:r>
                    </a:p>
                  </a:txBody>
                  <a:tcPr marL="73152" marR="73152" marT="27432" marB="27432" anchor="ctr">
                    <a:solidFill>
                      <a:srgbClr val="EAF2FA"/>
                    </a:solidFill>
                  </a:tcPr>
                </a:tc>
                <a:tc>
                  <a:txBody>
                    <a:bodyPr/>
                    <a:lstStyle/>
                    <a:p>
                      <a:r>
                        <a:rPr lang="vi-VN" sz="1400" b="0" i="0">
                          <a:solidFill>
                            <a:srgbClr val="1F2937"/>
                          </a:solidFill>
                          <a:latin typeface="Arial"/>
                        </a:rPr>
                        <a:t>313</a:t>
                      </a:r>
                    </a:p>
                  </a:txBody>
                  <a:tcPr marL="73152" marR="73152" marT="27432" marB="27432" anchor="ctr">
                    <a:solidFill>
                      <a:srgbClr val="EAF2FA"/>
                    </a:solidFill>
                  </a:tcPr>
                </a:tc>
                <a:tc>
                  <a:txBody>
                    <a:bodyPr/>
                    <a:lstStyle/>
                    <a:p>
                      <a:r>
                        <a:rPr lang="vi-VN" sz="1400" b="0" i="0">
                          <a:solidFill>
                            <a:srgbClr val="1F2937"/>
                          </a:solidFill>
                          <a:latin typeface="Arial"/>
                        </a:rPr>
                        <a:t>0,878</a:t>
                      </a:r>
                    </a:p>
                  </a:txBody>
                  <a:tcPr marL="73152" marR="73152" marT="27432" marB="27432" anchor="ctr">
                    <a:solidFill>
                      <a:srgbClr val="EAF2FA"/>
                    </a:solidFill>
                  </a:tcPr>
                </a:tc>
                <a:tc>
                  <a:txBody>
                    <a:bodyPr/>
                    <a:lstStyle/>
                    <a:p>
                      <a:r>
                        <a:rPr lang="vi-VN" sz="1400" b="0" i="0">
                          <a:solidFill>
                            <a:srgbClr val="1F2937"/>
                          </a:solidFill>
                          <a:latin typeface="Arial"/>
                        </a:rPr>
                        <a:t>75%</a:t>
                      </a:r>
                    </a:p>
                  </a:txBody>
                  <a:tcPr marL="73152" marR="73152" marT="27432" marB="27432" anchor="ctr">
                    <a:solidFill>
                      <a:srgbClr val="EAF2FA"/>
                    </a:solidFill>
                  </a:tcPr>
                </a:tc>
                <a:tc>
                  <a:txBody>
                    <a:bodyPr/>
                    <a:lstStyle/>
                    <a:p>
                      <a:r>
                        <a:rPr lang="vi-VN" sz="1400" b="0" i="0">
                          <a:solidFill>
                            <a:srgbClr val="1F2937"/>
                          </a:solidFill>
                          <a:latin typeface="Arial"/>
                        </a:rPr>
                        <a:t>0,04 giây</a:t>
                      </a:r>
                    </a:p>
                  </a:txBody>
                  <a:tcPr marL="73152" marR="73152" marT="27432" marB="27432" anchor="ctr">
                    <a:solidFill>
                      <a:srgbClr val="EAF2FA"/>
                    </a:solidFill>
                  </a:tcPr>
                </a:tc>
                <a:extLst>
                  <a:ext uri="{0D108BD9-81ED-4DB2-BD59-A6C34878D82A}">
                    <a16:rowId xmlns:a16="http://schemas.microsoft.com/office/drawing/2014/main" val="10002"/>
                  </a:ext>
                </a:extLst>
              </a:tr>
              <a:tr h="457200">
                <a:tc>
                  <a:txBody>
                    <a:bodyPr/>
                    <a:lstStyle/>
                    <a:p>
                      <a:r>
                        <a:rPr lang="vi-VN" sz="1400" b="1" i="0">
                          <a:solidFill>
                            <a:srgbClr val="EB6834"/>
                          </a:solidFill>
                          <a:latin typeface="Arial"/>
                        </a:rPr>
                        <a:t>Random Forest – thư viện</a:t>
                      </a:r>
                    </a:p>
                  </a:txBody>
                  <a:tcPr marL="73152" marR="73152" marT="27432" marB="27432" anchor="ctr">
                    <a:solidFill>
                      <a:srgbClr val="FFFFFF"/>
                    </a:solidFill>
                  </a:tcPr>
                </a:tc>
                <a:tc>
                  <a:txBody>
                    <a:bodyPr/>
                    <a:lstStyle/>
                    <a:p>
                      <a:r>
                        <a:rPr lang="vi-VN" sz="1400" b="1" i="0">
                          <a:solidFill>
                            <a:srgbClr val="1F2937"/>
                          </a:solidFill>
                          <a:latin typeface="Arial"/>
                        </a:rPr>
                        <a:t>15,1%</a:t>
                      </a:r>
                    </a:p>
                  </a:txBody>
                  <a:tcPr marL="73152" marR="73152" marT="27432" marB="27432" anchor="ctr">
                    <a:solidFill>
                      <a:srgbClr val="FFFFFF"/>
                    </a:solidFill>
                  </a:tcPr>
                </a:tc>
                <a:tc>
                  <a:txBody>
                    <a:bodyPr/>
                    <a:lstStyle/>
                    <a:p>
                      <a:r>
                        <a:rPr lang="vi-VN" sz="1400" b="0" i="0">
                          <a:solidFill>
                            <a:srgbClr val="1F2937"/>
                          </a:solidFill>
                          <a:latin typeface="Arial"/>
                        </a:rPr>
                        <a:t>8,8%</a:t>
                      </a:r>
                    </a:p>
                  </a:txBody>
                  <a:tcPr marL="73152" marR="73152" marT="27432" marB="27432" anchor="ctr">
                    <a:solidFill>
                      <a:srgbClr val="FFFFFF"/>
                    </a:solidFill>
                  </a:tcPr>
                </a:tc>
                <a:tc>
                  <a:txBody>
                    <a:bodyPr/>
                    <a:lstStyle/>
                    <a:p>
                      <a:r>
                        <a:rPr lang="vi-VN" sz="1400" b="0" i="0">
                          <a:solidFill>
                            <a:srgbClr val="1F2937"/>
                          </a:solidFill>
                          <a:latin typeface="Arial"/>
                        </a:rPr>
                        <a:t>90</a:t>
                      </a:r>
                    </a:p>
                  </a:txBody>
                  <a:tcPr marL="73152" marR="73152" marT="27432" marB="27432" anchor="ctr">
                    <a:solidFill>
                      <a:srgbClr val="FFFFFF"/>
                    </a:solidFill>
                  </a:tcPr>
                </a:tc>
                <a:tc>
                  <a:txBody>
                    <a:bodyPr/>
                    <a:lstStyle/>
                    <a:p>
                      <a:r>
                        <a:rPr lang="vi-VN" sz="1400" b="0" i="0">
                          <a:solidFill>
                            <a:srgbClr val="1F2937"/>
                          </a:solidFill>
                          <a:latin typeface="Arial"/>
                        </a:rPr>
                        <a:t>270</a:t>
                      </a:r>
                    </a:p>
                  </a:txBody>
                  <a:tcPr marL="73152" marR="73152" marT="27432" marB="27432" anchor="ctr">
                    <a:solidFill>
                      <a:srgbClr val="FFFFFF"/>
                    </a:solidFill>
                  </a:tcPr>
                </a:tc>
                <a:tc>
                  <a:txBody>
                    <a:bodyPr/>
                    <a:lstStyle/>
                    <a:p>
                      <a:r>
                        <a:rPr lang="vi-VN" sz="1400" b="0" i="0">
                          <a:solidFill>
                            <a:srgbClr val="1F2937"/>
                          </a:solidFill>
                          <a:latin typeface="Arial"/>
                        </a:rPr>
                        <a:t>0,910</a:t>
                      </a:r>
                    </a:p>
                  </a:txBody>
                  <a:tcPr marL="73152" marR="73152" marT="27432" marB="27432" anchor="ctr">
                    <a:solidFill>
                      <a:srgbClr val="FFFFFF"/>
                    </a:solidFill>
                  </a:tcPr>
                </a:tc>
                <a:tc>
                  <a:txBody>
                    <a:bodyPr/>
                    <a:lstStyle/>
                    <a:p>
                      <a:r>
                        <a:rPr lang="vi-VN" sz="1400" b="0" i="0">
                          <a:solidFill>
                            <a:srgbClr val="1F2937"/>
                          </a:solidFill>
                          <a:latin typeface="Arial"/>
                        </a:rPr>
                        <a:t>79%</a:t>
                      </a:r>
                    </a:p>
                  </a:txBody>
                  <a:tcPr marL="73152" marR="73152" marT="27432" marB="27432" anchor="ctr">
                    <a:solidFill>
                      <a:srgbClr val="FFFFFF"/>
                    </a:solidFill>
                  </a:tcPr>
                </a:tc>
                <a:tc>
                  <a:txBody>
                    <a:bodyPr/>
                    <a:lstStyle/>
                    <a:p>
                      <a:r>
                        <a:rPr lang="vi-VN" sz="1400" b="0" i="0">
                          <a:solidFill>
                            <a:srgbClr val="1F2937"/>
                          </a:solidFill>
                          <a:latin typeface="Arial"/>
                        </a:rPr>
                        <a:t>7 giây</a:t>
                      </a:r>
                    </a:p>
                  </a:txBody>
                  <a:tcPr marL="73152" marR="73152" marT="27432" marB="27432" anchor="ctr">
                    <a:solidFill>
                      <a:srgbClr val="FFFFFF"/>
                    </a:solidFill>
                  </a:tcPr>
                </a:tc>
                <a:extLst>
                  <a:ext uri="{0D108BD9-81ED-4DB2-BD59-A6C34878D82A}">
                    <a16:rowId xmlns:a16="http://schemas.microsoft.com/office/drawing/2014/main" val="10003"/>
                  </a:ext>
                </a:extLst>
              </a:tr>
              <a:tr h="457200">
                <a:tc>
                  <a:txBody>
                    <a:bodyPr/>
                    <a:lstStyle/>
                    <a:p>
                      <a:r>
                        <a:rPr lang="vi-VN" sz="1400" b="1" i="0">
                          <a:solidFill>
                            <a:srgbClr val="1F2937"/>
                          </a:solidFill>
                          <a:latin typeface="Arial"/>
                        </a:rPr>
                        <a:t>Random Forest – tự cài đặt</a:t>
                      </a:r>
                    </a:p>
                  </a:txBody>
                  <a:tcPr marL="73152" marR="73152" marT="27432" marB="27432" anchor="ctr">
                    <a:solidFill>
                      <a:srgbClr val="EAF2FA"/>
                    </a:solidFill>
                  </a:tcPr>
                </a:tc>
                <a:tc>
                  <a:txBody>
                    <a:bodyPr/>
                    <a:lstStyle/>
                    <a:p>
                      <a:r>
                        <a:rPr lang="vi-VN" sz="1400" b="0" i="0">
                          <a:solidFill>
                            <a:srgbClr val="1F2937"/>
                          </a:solidFill>
                          <a:latin typeface="Arial"/>
                        </a:rPr>
                        <a:t>15,7%</a:t>
                      </a:r>
                    </a:p>
                  </a:txBody>
                  <a:tcPr marL="73152" marR="73152" marT="27432" marB="27432" anchor="ctr">
                    <a:solidFill>
                      <a:srgbClr val="EAF2FA"/>
                    </a:solidFill>
                  </a:tcPr>
                </a:tc>
                <a:tc>
                  <a:txBody>
                    <a:bodyPr/>
                    <a:lstStyle/>
                    <a:p>
                      <a:r>
                        <a:rPr lang="vi-VN" sz="1400" b="0" i="0">
                          <a:solidFill>
                            <a:srgbClr val="1F2937"/>
                          </a:solidFill>
                          <a:latin typeface="Arial"/>
                        </a:rPr>
                        <a:t>9,5%</a:t>
                      </a:r>
                    </a:p>
                  </a:txBody>
                  <a:tcPr marL="73152" marR="73152" marT="27432" marB="27432" anchor="ctr">
                    <a:solidFill>
                      <a:srgbClr val="EAF2FA"/>
                    </a:solidFill>
                  </a:tcPr>
                </a:tc>
                <a:tc>
                  <a:txBody>
                    <a:bodyPr/>
                    <a:lstStyle/>
                    <a:p>
                      <a:r>
                        <a:rPr lang="vi-VN" sz="1400" b="0" i="0">
                          <a:solidFill>
                            <a:srgbClr val="1F2937"/>
                          </a:solidFill>
                          <a:latin typeface="Arial"/>
                        </a:rPr>
                        <a:t>95</a:t>
                      </a:r>
                    </a:p>
                  </a:txBody>
                  <a:tcPr marL="73152" marR="73152" marT="27432" marB="27432" anchor="ctr">
                    <a:solidFill>
                      <a:srgbClr val="EAF2FA"/>
                    </a:solidFill>
                  </a:tcPr>
                </a:tc>
                <a:tc>
                  <a:txBody>
                    <a:bodyPr/>
                    <a:lstStyle/>
                    <a:p>
                      <a:r>
                        <a:rPr lang="vi-VN" sz="1400" b="0" i="0">
                          <a:solidFill>
                            <a:srgbClr val="1F2937"/>
                          </a:solidFill>
                          <a:latin typeface="Arial"/>
                        </a:rPr>
                        <a:t>289</a:t>
                      </a:r>
                    </a:p>
                  </a:txBody>
                  <a:tcPr marL="73152" marR="73152" marT="27432" marB="27432" anchor="ctr">
                    <a:solidFill>
                      <a:srgbClr val="EAF2FA"/>
                    </a:solidFill>
                  </a:tcPr>
                </a:tc>
                <a:tc>
                  <a:txBody>
                    <a:bodyPr/>
                    <a:lstStyle/>
                    <a:p>
                      <a:r>
                        <a:rPr lang="vi-VN" sz="1400" b="0" i="0">
                          <a:solidFill>
                            <a:srgbClr val="1F2937"/>
                          </a:solidFill>
                          <a:latin typeface="Arial"/>
                        </a:rPr>
                        <a:t>0,904</a:t>
                      </a:r>
                    </a:p>
                  </a:txBody>
                  <a:tcPr marL="73152" marR="73152" marT="27432" marB="27432" anchor="ctr">
                    <a:solidFill>
                      <a:srgbClr val="EAF2FA"/>
                    </a:solidFill>
                  </a:tcPr>
                </a:tc>
                <a:tc>
                  <a:txBody>
                    <a:bodyPr/>
                    <a:lstStyle/>
                    <a:p>
                      <a:r>
                        <a:rPr lang="vi-VN" sz="1400" b="0" i="0">
                          <a:solidFill>
                            <a:srgbClr val="1F2937"/>
                          </a:solidFill>
                          <a:latin typeface="Arial"/>
                        </a:rPr>
                        <a:t>78%</a:t>
                      </a:r>
                    </a:p>
                  </a:txBody>
                  <a:tcPr marL="73152" marR="73152" marT="27432" marB="27432" anchor="ctr">
                    <a:solidFill>
                      <a:srgbClr val="EAF2FA"/>
                    </a:solidFill>
                  </a:tcPr>
                </a:tc>
                <a:tc>
                  <a:txBody>
                    <a:bodyPr/>
                    <a:lstStyle/>
                    <a:p>
                      <a:r>
                        <a:rPr lang="vi-VN" sz="1400" b="0" i="0">
                          <a:solidFill>
                            <a:srgbClr val="1F2937"/>
                          </a:solidFill>
                          <a:latin typeface="Arial"/>
                        </a:rPr>
                        <a:t>86 giây</a:t>
                      </a:r>
                    </a:p>
                  </a:txBody>
                  <a:tcPr marL="73152" marR="73152" marT="27432" marB="27432" anchor="ctr">
                    <a:solidFill>
                      <a:srgbClr val="EAF2FA"/>
                    </a:solidFill>
                  </a:tcPr>
                </a:tc>
                <a:extLst>
                  <a:ext uri="{0D108BD9-81ED-4DB2-BD59-A6C34878D82A}">
                    <a16:rowId xmlns:a16="http://schemas.microsoft.com/office/drawing/2014/main" val="10004"/>
                  </a:ext>
                </a:extLst>
              </a:tr>
            </a:tbl>
          </a:graphicData>
        </a:graphic>
      </p:graphicFrame>
      <p:sp>
        <p:nvSpPr>
          <p:cNvPr id="14" name="TextBox 13"/>
          <p:cNvSpPr txBox="1"/>
          <p:nvPr/>
        </p:nvSpPr>
        <p:spPr>
          <a:xfrm>
            <a:off x="548640" y="5212080"/>
            <a:ext cx="11064240" cy="365760"/>
          </a:xfrm>
          <a:prstGeom prst="rect">
            <a:avLst/>
          </a:prstGeom>
          <a:noFill/>
        </p:spPr>
        <p:txBody>
          <a:bodyPr wrap="square" lIns="45720" tIns="27432" rIns="45720" bIns="27432" anchor="t">
            <a:spAutoFit/>
          </a:bodyPr>
          <a:lstStyle/>
          <a:p>
            <a:pPr algn="l">
              <a:lnSpc>
                <a:spcPct val="110000"/>
              </a:lnSpc>
              <a:spcAft>
                <a:spcPts val="600"/>
              </a:spcAft>
            </a:pPr>
            <a:r>
              <a:rPr lang="vi-VN" sz="1300" b="0" i="0">
                <a:solidFill>
                  <a:srgbClr val="5B6775"/>
                </a:solidFill>
                <a:latin typeface="Arial"/>
              </a:rPr>
              <a:t>Theo thang tham khảo, MAPE 10-20% là mức tốt. Bản tự cài đặt kém bản thư viện 0,6 điểm % và chậm hơn khoảng 12 lần.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5 · KẾT QUẢ</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Mô hình tốt ở phân khúc giữa, kém ở hai đầu thang giá</a:t>
            </a:r>
          </a:p>
        </p:txBody>
      </p:sp>
      <p:pic>
        <p:nvPicPr>
          <p:cNvPr id="4" name="Picture 3" descr="m07_mape_phan_khuc.png"/>
          <p:cNvPicPr>
            <a:picLocks noChangeAspect="1"/>
          </p:cNvPicPr>
          <p:nvPr/>
        </p:nvPicPr>
        <p:blipFill>
          <a:blip r:embed="rId3"/>
          <a:stretch>
            <a:fillRect/>
          </a:stretch>
        </p:blipFill>
        <p:spPr>
          <a:xfrm>
            <a:off x="2515046" y="1325880"/>
            <a:ext cx="7131427" cy="3337560"/>
          </a:xfrm>
          <a:prstGeom prst="rect">
            <a:avLst/>
          </a:prstGeom>
        </p:spPr>
      </p:pic>
      <p:sp>
        <p:nvSpPr>
          <p:cNvPr id="5" name="Rounded Rectangle 4"/>
          <p:cNvSpPr/>
          <p:nvPr/>
        </p:nvSpPr>
        <p:spPr>
          <a:xfrm>
            <a:off x="548640" y="4754880"/>
            <a:ext cx="3474720" cy="7772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85800" y="4800600"/>
            <a:ext cx="1097280" cy="685800"/>
          </a:xfrm>
          <a:prstGeom prst="rect">
            <a:avLst/>
          </a:prstGeom>
          <a:noFill/>
        </p:spPr>
        <p:txBody>
          <a:bodyPr wrap="square" lIns="45720" tIns="27432" rIns="45720" bIns="27432" anchor="ctr">
            <a:spAutoFit/>
          </a:bodyPr>
          <a:lstStyle/>
          <a:p>
            <a:pPr algn="l">
              <a:lnSpc>
                <a:spcPct val="110000"/>
              </a:lnSpc>
              <a:spcAft>
                <a:spcPts val="600"/>
              </a:spcAft>
            </a:pPr>
            <a:r>
              <a:rPr lang="vi-VN" sz="2200" b="1" i="0">
                <a:solidFill>
                  <a:srgbClr val="EB6834"/>
                </a:solidFill>
                <a:latin typeface="Arial"/>
              </a:rPr>
              <a:t>~11%</a:t>
            </a:r>
          </a:p>
        </p:txBody>
      </p:sp>
      <p:sp>
        <p:nvSpPr>
          <p:cNvPr id="7" name="TextBox 6"/>
          <p:cNvSpPr txBox="1"/>
          <p:nvPr/>
        </p:nvSpPr>
        <p:spPr>
          <a:xfrm>
            <a:off x="1783080" y="4800600"/>
            <a:ext cx="2148840" cy="685800"/>
          </a:xfrm>
          <a:prstGeom prst="rect">
            <a:avLst/>
          </a:prstGeom>
          <a:noFill/>
        </p:spPr>
        <p:txBody>
          <a:bodyPr wrap="square" lIns="45720" tIns="27432" rIns="45720" bIns="27432" anchor="ctr">
            <a:spAutoFit/>
          </a:bodyPr>
          <a:lstStyle/>
          <a:p>
            <a:pPr algn="l">
              <a:lnSpc>
                <a:spcPct val="110000"/>
              </a:lnSpc>
              <a:spcAft>
                <a:spcPts val="0"/>
              </a:spcAft>
            </a:pPr>
            <a:r>
              <a:rPr lang="vi-VN" sz="1200" b="0" i="0">
                <a:solidFill>
                  <a:srgbClr val="1F2937"/>
                </a:solidFill>
                <a:latin typeface="Arial"/>
              </a:rPr>
              <a:t>sai số ở phân khúc 200 triệu - 1 tỷ (75% thị trường)</a:t>
            </a:r>
          </a:p>
        </p:txBody>
      </p:sp>
      <p:sp>
        <p:nvSpPr>
          <p:cNvPr id="8" name="Rounded Rectangle 7"/>
          <p:cNvSpPr/>
          <p:nvPr/>
        </p:nvSpPr>
        <p:spPr>
          <a:xfrm>
            <a:off x="4297679" y="4754880"/>
            <a:ext cx="3474720" cy="7772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4434840" y="4800600"/>
            <a:ext cx="1097280" cy="685800"/>
          </a:xfrm>
          <a:prstGeom prst="rect">
            <a:avLst/>
          </a:prstGeom>
          <a:noFill/>
        </p:spPr>
        <p:txBody>
          <a:bodyPr wrap="square" lIns="45720" tIns="27432" rIns="45720" bIns="27432" anchor="ctr">
            <a:spAutoFit/>
          </a:bodyPr>
          <a:lstStyle/>
          <a:p>
            <a:pPr algn="l">
              <a:lnSpc>
                <a:spcPct val="110000"/>
              </a:lnSpc>
              <a:spcAft>
                <a:spcPts val="600"/>
              </a:spcAft>
            </a:pPr>
            <a:r>
              <a:rPr lang="vi-VN" sz="2200" b="1" i="0">
                <a:solidFill>
                  <a:srgbClr val="EB6834"/>
                </a:solidFill>
                <a:latin typeface="Arial"/>
              </a:rPr>
              <a:t>32%</a:t>
            </a:r>
          </a:p>
        </p:txBody>
      </p:sp>
      <p:sp>
        <p:nvSpPr>
          <p:cNvPr id="10" name="TextBox 9"/>
          <p:cNvSpPr txBox="1"/>
          <p:nvPr/>
        </p:nvSpPr>
        <p:spPr>
          <a:xfrm>
            <a:off x="5532119" y="4800600"/>
            <a:ext cx="2148840" cy="685800"/>
          </a:xfrm>
          <a:prstGeom prst="rect">
            <a:avLst/>
          </a:prstGeom>
          <a:noFill/>
        </p:spPr>
        <p:txBody>
          <a:bodyPr wrap="square" lIns="45720" tIns="27432" rIns="45720" bIns="27432" anchor="ctr">
            <a:spAutoFit/>
          </a:bodyPr>
          <a:lstStyle/>
          <a:p>
            <a:pPr algn="l">
              <a:lnSpc>
                <a:spcPct val="110000"/>
              </a:lnSpc>
              <a:spcAft>
                <a:spcPts val="0"/>
              </a:spcAft>
            </a:pPr>
            <a:r>
              <a:rPr lang="vi-VN" sz="1200" b="0" i="0">
                <a:solidFill>
                  <a:srgbClr val="1F2937"/>
                </a:solidFill>
                <a:latin typeface="Arial"/>
              </a:rPr>
              <a:t>xe dưới 200 triệu: giá thấp, tình trạng khác nhau, giá trả trước sót</a:t>
            </a:r>
          </a:p>
        </p:txBody>
      </p:sp>
      <p:sp>
        <p:nvSpPr>
          <p:cNvPr id="11" name="Rounded Rectangle 10"/>
          <p:cNvSpPr/>
          <p:nvPr/>
        </p:nvSpPr>
        <p:spPr>
          <a:xfrm>
            <a:off x="8046719" y="4754880"/>
            <a:ext cx="3474720" cy="7772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183879" y="4800600"/>
            <a:ext cx="1097280" cy="685800"/>
          </a:xfrm>
          <a:prstGeom prst="rect">
            <a:avLst/>
          </a:prstGeom>
          <a:noFill/>
        </p:spPr>
        <p:txBody>
          <a:bodyPr wrap="square" lIns="45720" tIns="27432" rIns="45720" bIns="27432" anchor="ctr">
            <a:spAutoFit/>
          </a:bodyPr>
          <a:lstStyle/>
          <a:p>
            <a:pPr algn="l">
              <a:lnSpc>
                <a:spcPct val="110000"/>
              </a:lnSpc>
              <a:spcAft>
                <a:spcPts val="600"/>
              </a:spcAft>
            </a:pPr>
            <a:r>
              <a:rPr lang="vi-VN" sz="2200" b="1" i="0">
                <a:solidFill>
                  <a:srgbClr val="EB6834"/>
                </a:solidFill>
                <a:latin typeface="Arial"/>
              </a:rPr>
              <a:t>21%</a:t>
            </a:r>
          </a:p>
        </p:txBody>
      </p:sp>
      <p:sp>
        <p:nvSpPr>
          <p:cNvPr id="13" name="TextBox 12"/>
          <p:cNvSpPr txBox="1"/>
          <p:nvPr/>
        </p:nvSpPr>
        <p:spPr>
          <a:xfrm>
            <a:off x="9281159" y="4800600"/>
            <a:ext cx="2148840" cy="685800"/>
          </a:xfrm>
          <a:prstGeom prst="rect">
            <a:avLst/>
          </a:prstGeom>
          <a:noFill/>
        </p:spPr>
        <p:txBody>
          <a:bodyPr wrap="square" lIns="45720" tIns="27432" rIns="45720" bIns="27432" anchor="ctr">
            <a:spAutoFit/>
          </a:bodyPr>
          <a:lstStyle/>
          <a:p>
            <a:pPr algn="l">
              <a:lnSpc>
                <a:spcPct val="110000"/>
              </a:lnSpc>
              <a:spcAft>
                <a:spcPts val="0"/>
              </a:spcAft>
            </a:pPr>
            <a:r>
              <a:rPr lang="vi-VN" sz="1200" b="0" i="0">
                <a:solidFill>
                  <a:srgbClr val="1F2937"/>
                </a:solidFill>
                <a:latin typeface="Arial"/>
              </a:rPr>
              <a:t>xe trên 2 tỷ: chỉ 3% dữ liệu, thiếu phiên bản / trang bị</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5 · KẾT QUẢ</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Dự đoán so với giá thật: RF bám sát đường chéo</a:t>
            </a:r>
          </a:p>
        </p:txBody>
      </p:sp>
      <p:pic>
        <p:nvPicPr>
          <p:cNvPr id="4" name="Picture 3" descr="m08_du_doan_vs_thuc_te.png"/>
          <p:cNvPicPr>
            <a:picLocks noChangeAspect="1"/>
          </p:cNvPicPr>
          <p:nvPr/>
        </p:nvPicPr>
        <p:blipFill>
          <a:blip r:embed="rId3"/>
          <a:stretch>
            <a:fillRect/>
          </a:stretch>
        </p:blipFill>
        <p:spPr>
          <a:xfrm>
            <a:off x="495163" y="1280160"/>
            <a:ext cx="7696472" cy="3520440"/>
          </a:xfrm>
          <a:prstGeom prst="rect">
            <a:avLst/>
          </a:prstGeom>
        </p:spPr>
      </p:pic>
      <p:sp>
        <p:nvSpPr>
          <p:cNvPr id="5" name="TextBox 4"/>
          <p:cNvSpPr txBox="1"/>
          <p:nvPr/>
        </p:nvSpPr>
        <p:spPr>
          <a:xfrm>
            <a:off x="8503920" y="1463040"/>
            <a:ext cx="3108960" cy="3657600"/>
          </a:xfrm>
          <a:prstGeom prst="rect">
            <a:avLst/>
          </a:prstGeom>
          <a:noFill/>
        </p:spPr>
        <p:txBody>
          <a:bodyPr wrap="square" lIns="45720" tIns="27432" rIns="45720" bIns="27432" anchor="t">
            <a:spAutoFit/>
          </a:bodyPr>
          <a:lstStyle/>
          <a:p>
            <a:pPr marL="201168" indent="-201168" algn="l">
              <a:lnSpc>
                <a:spcPct val="110000"/>
              </a:lnSpc>
              <a:spcAft>
                <a:spcPts val="1000"/>
              </a:spcAft>
              <a:buClr>
                <a:srgbClr val="075289"/>
              </a:buClr>
              <a:buFont typeface="Arial"/>
              <a:buChar char="•"/>
            </a:pPr>
            <a:r>
              <a:rPr lang="vi-VN" sz="1400" b="0" i="0">
                <a:solidFill>
                  <a:srgbClr val="1F2937"/>
                </a:solidFill>
                <a:latin typeface="Arial"/>
              </a:rPr>
              <a:t>R² (log): Ridge 0,878, RF 0,910</a:t>
            </a:r>
          </a:p>
          <a:p>
            <a:pPr marL="201168" indent="-201168" algn="l">
              <a:lnSpc>
                <a:spcPct val="110000"/>
              </a:lnSpc>
              <a:spcAft>
                <a:spcPts val="1000"/>
              </a:spcAft>
              <a:buClr>
                <a:srgbClr val="075289"/>
              </a:buClr>
              <a:buFont typeface="Arial"/>
              <a:buChar char="•"/>
            </a:pPr>
            <a:r>
              <a:rPr lang="vi-VN" sz="1400" b="0" i="0">
                <a:solidFill>
                  <a:srgbClr val="1F2937"/>
                </a:solidFill>
                <a:latin typeface="Arial"/>
              </a:rPr>
              <a:t>Lệch ≤ 20%: Ridge 75%, RF 79%</a:t>
            </a:r>
          </a:p>
          <a:p>
            <a:pPr marL="201168" indent="-201168" algn="l">
              <a:lnSpc>
                <a:spcPct val="110000"/>
              </a:lnSpc>
              <a:spcAft>
                <a:spcPts val="1000"/>
              </a:spcAft>
              <a:buClr>
                <a:srgbClr val="075289"/>
              </a:buClr>
              <a:buFont typeface="Arial"/>
              <a:buChar char="•"/>
            </a:pPr>
            <a:r>
              <a:rPr lang="vi-VN" sz="1400" b="0" i="0">
                <a:solidFill>
                  <a:srgbClr val="1F2937"/>
                </a:solidFill>
                <a:latin typeface="Arial"/>
              </a:rPr>
              <a:t>Không đoán lệch hệ thống (phần dư quanh 0)</a:t>
            </a:r>
          </a:p>
          <a:p>
            <a:pPr marL="201168" indent="-201168" algn="l">
              <a:lnSpc>
                <a:spcPct val="110000"/>
              </a:lnSpc>
              <a:spcAft>
                <a:spcPts val="1000"/>
              </a:spcAft>
              <a:buClr>
                <a:srgbClr val="075289"/>
              </a:buClr>
              <a:buFont typeface="Arial"/>
              <a:buChar char="•"/>
            </a:pPr>
            <a:r>
              <a:rPr lang="vi-VN" sz="1400" b="0" i="0">
                <a:solidFill>
                  <a:srgbClr val="1F2937"/>
                </a:solidFill>
                <a:latin typeface="Arial"/>
              </a:rPr>
              <a:t>Điểm xa đường chéo nhất: xe rất rẻ và xe sang</a:t>
            </a:r>
          </a:p>
        </p:txBody>
      </p:sp>
      <p:sp>
        <p:nvSpPr>
          <p:cNvPr id="6" name="TextBox 5"/>
          <p:cNvSpPr txBox="1"/>
          <p:nvPr/>
        </p:nvSpPr>
        <p:spPr>
          <a:xfrm>
            <a:off x="548640" y="4846320"/>
            <a:ext cx="11064240" cy="365760"/>
          </a:xfrm>
          <a:prstGeom prst="rect">
            <a:avLst/>
          </a:prstGeom>
          <a:noFill/>
        </p:spPr>
        <p:txBody>
          <a:bodyPr wrap="square" lIns="45720" tIns="27432" rIns="45720" bIns="27432" anchor="t">
            <a:spAutoFit/>
          </a:bodyPr>
          <a:lstStyle/>
          <a:p>
            <a:pPr algn="l">
              <a:lnSpc>
                <a:spcPct val="110000"/>
              </a:lnSpc>
              <a:spcAft>
                <a:spcPts val="600"/>
              </a:spcAft>
            </a:pPr>
            <a:r>
              <a:rPr lang="vi-VN" sz="1300" b="0" i="0">
                <a:solidFill>
                  <a:srgbClr val="5B6775"/>
                </a:solidFill>
                <a:latin typeface="Arial"/>
              </a:rPr>
              <a:t>Giá dự đoán = exp(dự đoán log giá), tức ước lượng trung vị của giá; phù hợp với MAPE.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5 · KẾT QUẢ</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Chênh lệch có ý nghĩa thống kê không? Bootstrap ghép cặp</a:t>
            </a:r>
          </a:p>
        </p:txBody>
      </p:sp>
      <p:pic>
        <p:nvPicPr>
          <p:cNvPr id="4" name="Picture 3" descr="m10_khoang_tin_cay.png"/>
          <p:cNvPicPr>
            <a:picLocks noChangeAspect="1"/>
          </p:cNvPicPr>
          <p:nvPr/>
        </p:nvPicPr>
        <p:blipFill>
          <a:blip r:embed="rId3"/>
          <a:stretch>
            <a:fillRect/>
          </a:stretch>
        </p:blipFill>
        <p:spPr>
          <a:xfrm>
            <a:off x="521383" y="1417320"/>
            <a:ext cx="6546752" cy="3108960"/>
          </a:xfrm>
          <a:prstGeom prst="rect">
            <a:avLst/>
          </a:prstGeom>
        </p:spPr>
      </p:pic>
      <p:sp>
        <p:nvSpPr>
          <p:cNvPr id="5" name="TextBox 4"/>
          <p:cNvSpPr txBox="1"/>
          <p:nvPr/>
        </p:nvSpPr>
        <p:spPr>
          <a:xfrm>
            <a:off x="548640" y="4572000"/>
            <a:ext cx="6583680" cy="365760"/>
          </a:xfrm>
          <a:prstGeom prst="rect">
            <a:avLst/>
          </a:prstGeom>
          <a:noFill/>
        </p:spPr>
        <p:txBody>
          <a:bodyPr wrap="square" lIns="45720" tIns="27432" rIns="45720" bIns="27432" anchor="t">
            <a:spAutoFit/>
          </a:bodyPr>
          <a:lstStyle/>
          <a:p>
            <a:pPr algn="l">
              <a:lnSpc>
                <a:spcPct val="110000"/>
              </a:lnSpc>
              <a:spcAft>
                <a:spcPts val="600"/>
              </a:spcAft>
            </a:pPr>
            <a:r>
              <a:rPr lang="vi-VN" sz="1300" b="0" i="0">
                <a:solidFill>
                  <a:srgbClr val="5B6775"/>
                </a:solidFill>
                <a:latin typeface="Arial"/>
              </a:rPr>
              <a:t>Bốc lại tập test 1.000 lần → khoảng chứa 95% giá trị MAPE ở giữa</a:t>
            </a:r>
          </a:p>
        </p:txBody>
      </p:sp>
      <p:sp>
        <p:nvSpPr>
          <p:cNvPr id="6" name="Rounded Rectangle 5"/>
          <p:cNvSpPr/>
          <p:nvPr/>
        </p:nvSpPr>
        <p:spPr>
          <a:xfrm>
            <a:off x="7406640" y="1463040"/>
            <a:ext cx="4206240" cy="141732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589520" y="1536192"/>
            <a:ext cx="3840480" cy="365760"/>
          </a:xfrm>
          <a:prstGeom prst="rect">
            <a:avLst/>
          </a:prstGeom>
          <a:noFill/>
        </p:spPr>
        <p:txBody>
          <a:bodyPr wrap="square" lIns="45720" tIns="27432" rIns="45720" bIns="27432" anchor="t">
            <a:spAutoFit/>
          </a:bodyPr>
          <a:lstStyle/>
          <a:p>
            <a:pPr algn="l">
              <a:lnSpc>
                <a:spcPct val="110000"/>
              </a:lnSpc>
              <a:spcAft>
                <a:spcPts val="600"/>
              </a:spcAft>
            </a:pPr>
            <a:r>
              <a:rPr lang="vi-VN" sz="1500" b="1" i="0">
                <a:solidFill>
                  <a:srgbClr val="FFFFFF"/>
                </a:solidFill>
                <a:latin typeface="Arial"/>
              </a:rPr>
              <a:t>RF tốt hơn Ridge</a:t>
            </a:r>
          </a:p>
        </p:txBody>
      </p:sp>
      <p:sp>
        <p:nvSpPr>
          <p:cNvPr id="8" name="TextBox 7"/>
          <p:cNvSpPr txBox="1"/>
          <p:nvPr/>
        </p:nvSpPr>
        <p:spPr>
          <a:xfrm>
            <a:off x="7589520" y="1965960"/>
            <a:ext cx="1828800" cy="548640"/>
          </a:xfrm>
          <a:prstGeom prst="rect">
            <a:avLst/>
          </a:prstGeom>
          <a:noFill/>
        </p:spPr>
        <p:txBody>
          <a:bodyPr wrap="square" lIns="45720" tIns="27432" rIns="45720" bIns="27432" anchor="t">
            <a:spAutoFit/>
          </a:bodyPr>
          <a:lstStyle/>
          <a:p>
            <a:pPr algn="l">
              <a:lnSpc>
                <a:spcPct val="110000"/>
              </a:lnSpc>
              <a:spcAft>
                <a:spcPts val="600"/>
              </a:spcAft>
            </a:pPr>
            <a:r>
              <a:rPr lang="vi-VN" sz="2200" b="1" i="0">
                <a:solidFill>
                  <a:srgbClr val="FFD400"/>
                </a:solidFill>
                <a:latin typeface="Arial"/>
              </a:rPr>
              <a:t>3,3 điểm %</a:t>
            </a:r>
          </a:p>
        </p:txBody>
      </p:sp>
      <p:sp>
        <p:nvSpPr>
          <p:cNvPr id="9" name="TextBox 8"/>
          <p:cNvSpPr txBox="1"/>
          <p:nvPr/>
        </p:nvSpPr>
        <p:spPr>
          <a:xfrm>
            <a:off x="9418320" y="1920240"/>
            <a:ext cx="2148840" cy="868680"/>
          </a:xfrm>
          <a:prstGeom prst="rect">
            <a:avLst/>
          </a:prstGeom>
          <a:noFill/>
        </p:spPr>
        <p:txBody>
          <a:bodyPr wrap="square" lIns="45720" tIns="27432" rIns="45720" bIns="27432" anchor="t">
            <a:spAutoFit/>
          </a:bodyPr>
          <a:lstStyle/>
          <a:p>
            <a:pPr algn="l">
              <a:lnSpc>
                <a:spcPct val="110000"/>
              </a:lnSpc>
              <a:spcAft>
                <a:spcPts val="200"/>
              </a:spcAft>
            </a:pPr>
            <a:r>
              <a:rPr lang="vi-VN" sz="1200" b="0" i="0">
                <a:solidFill>
                  <a:srgbClr val="FFFFFF"/>
                </a:solidFill>
                <a:latin typeface="Arial"/>
              </a:rPr>
              <a:t>KTC 95%: 2,4 → 4,4</a:t>
            </a:r>
          </a:p>
          <a:p>
            <a:pPr algn="l">
              <a:lnSpc>
                <a:spcPct val="110000"/>
              </a:lnSpc>
              <a:spcAft>
                <a:spcPts val="200"/>
              </a:spcAft>
            </a:pPr>
            <a:r>
              <a:rPr lang="vi-VN" sz="1200" b="0" i="0">
                <a:solidFill>
                  <a:srgbClr val="FFFFFF"/>
                </a:solidFill>
                <a:latin typeface="Arial"/>
              </a:rPr>
              <a:t>không chứa 0 → có ý nghĩa</a:t>
            </a:r>
          </a:p>
        </p:txBody>
      </p:sp>
      <p:sp>
        <p:nvSpPr>
          <p:cNvPr id="10" name="Rounded Rectangle 9"/>
          <p:cNvSpPr/>
          <p:nvPr/>
        </p:nvSpPr>
        <p:spPr>
          <a:xfrm>
            <a:off x="7406640" y="3063240"/>
            <a:ext cx="4206240" cy="14173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7589520" y="3136392"/>
            <a:ext cx="3840480" cy="365760"/>
          </a:xfrm>
          <a:prstGeom prst="rect">
            <a:avLst/>
          </a:prstGeom>
          <a:noFill/>
        </p:spPr>
        <p:txBody>
          <a:bodyPr wrap="square" lIns="45720" tIns="27432" rIns="45720" bIns="27432" anchor="t">
            <a:spAutoFit/>
          </a:bodyPr>
          <a:lstStyle/>
          <a:p>
            <a:pPr algn="l">
              <a:lnSpc>
                <a:spcPct val="110000"/>
              </a:lnSpc>
              <a:spcAft>
                <a:spcPts val="600"/>
              </a:spcAft>
            </a:pPr>
            <a:r>
              <a:rPr lang="vi-VN" sz="1500" b="1" i="0">
                <a:solidFill>
                  <a:srgbClr val="075289"/>
                </a:solidFill>
                <a:latin typeface="Arial"/>
              </a:rPr>
              <a:t>RF tự cài đặt − thư viện</a:t>
            </a:r>
          </a:p>
        </p:txBody>
      </p:sp>
      <p:sp>
        <p:nvSpPr>
          <p:cNvPr id="12" name="TextBox 11"/>
          <p:cNvSpPr txBox="1"/>
          <p:nvPr/>
        </p:nvSpPr>
        <p:spPr>
          <a:xfrm>
            <a:off x="7589520" y="3566160"/>
            <a:ext cx="1828800" cy="548640"/>
          </a:xfrm>
          <a:prstGeom prst="rect">
            <a:avLst/>
          </a:prstGeom>
          <a:noFill/>
        </p:spPr>
        <p:txBody>
          <a:bodyPr wrap="square" lIns="45720" tIns="27432" rIns="45720" bIns="27432" anchor="t">
            <a:spAutoFit/>
          </a:bodyPr>
          <a:lstStyle/>
          <a:p>
            <a:pPr algn="l">
              <a:lnSpc>
                <a:spcPct val="110000"/>
              </a:lnSpc>
              <a:spcAft>
                <a:spcPts val="600"/>
              </a:spcAft>
            </a:pPr>
            <a:r>
              <a:rPr lang="vi-VN" sz="2200" b="1" i="0">
                <a:solidFill>
                  <a:srgbClr val="EB6834"/>
                </a:solidFill>
                <a:latin typeface="Arial"/>
              </a:rPr>
              <a:t>0,6 điểm %</a:t>
            </a:r>
          </a:p>
        </p:txBody>
      </p:sp>
      <p:sp>
        <p:nvSpPr>
          <p:cNvPr id="13" name="TextBox 12"/>
          <p:cNvSpPr txBox="1"/>
          <p:nvPr/>
        </p:nvSpPr>
        <p:spPr>
          <a:xfrm>
            <a:off x="9418320" y="3520440"/>
            <a:ext cx="2148840" cy="868680"/>
          </a:xfrm>
          <a:prstGeom prst="rect">
            <a:avLst/>
          </a:prstGeom>
          <a:noFill/>
        </p:spPr>
        <p:txBody>
          <a:bodyPr wrap="square" lIns="45720" tIns="27432" rIns="45720" bIns="27432" anchor="t">
            <a:spAutoFit/>
          </a:bodyPr>
          <a:lstStyle/>
          <a:p>
            <a:pPr algn="l">
              <a:lnSpc>
                <a:spcPct val="110000"/>
              </a:lnSpc>
              <a:spcAft>
                <a:spcPts val="200"/>
              </a:spcAft>
            </a:pPr>
            <a:r>
              <a:rPr lang="vi-VN" sz="1200" b="0" i="0">
                <a:solidFill>
                  <a:srgbClr val="1F2937"/>
                </a:solidFill>
                <a:latin typeface="Arial"/>
              </a:rPr>
              <a:t>KTC 95%: 0,34 → 0,86</a:t>
            </a:r>
          </a:p>
          <a:p>
            <a:pPr algn="l">
              <a:lnSpc>
                <a:spcPct val="110000"/>
              </a:lnSpc>
              <a:spcAft>
                <a:spcPts val="200"/>
              </a:spcAft>
            </a:pPr>
            <a:r>
              <a:rPr lang="vi-VN" sz="1200" b="0" i="0">
                <a:solidFill>
                  <a:srgbClr val="1F2937"/>
                </a:solidFill>
                <a:latin typeface="Arial"/>
              </a:rPr>
              <a:t>có ý nghĩa nhưng nhỏ</a:t>
            </a:r>
          </a:p>
        </p:txBody>
      </p:sp>
      <p:sp>
        <p:nvSpPr>
          <p:cNvPr id="14" name="Rounded Rectangle 13"/>
          <p:cNvSpPr/>
          <p:nvPr/>
        </p:nvSpPr>
        <p:spPr>
          <a:xfrm>
            <a:off x="7406640" y="4663440"/>
            <a:ext cx="4206240" cy="82296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543800" y="4681728"/>
            <a:ext cx="3931920" cy="777240"/>
          </a:xfrm>
          <a:prstGeom prst="rect">
            <a:avLst/>
          </a:prstGeom>
          <a:noFill/>
        </p:spPr>
        <p:txBody>
          <a:bodyPr wrap="square" lIns="45720" tIns="27432" rIns="45720" bIns="27432" anchor="ctr">
            <a:spAutoFit/>
          </a:bodyPr>
          <a:lstStyle/>
          <a:p>
            <a:pPr algn="l">
              <a:lnSpc>
                <a:spcPct val="110000"/>
              </a:lnSpc>
              <a:spcAft>
                <a:spcPts val="600"/>
              </a:spcAft>
            </a:pPr>
            <a:r>
              <a:rPr lang="vi-VN" sz="1300" b="0" i="0">
                <a:solidFill>
                  <a:srgbClr val="1F2937"/>
                </a:solidFill>
                <a:latin typeface="Arial"/>
              </a:rPr>
              <a:t>Quy tắc: khoảng của hiệu không chứa 0 thì chênh lệch là thật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5 · DIỄN GIẢI</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Đặc trưng nào quyết định giá? Hai cách đo</a:t>
            </a:r>
          </a:p>
        </p:txBody>
      </p:sp>
      <p:pic>
        <p:nvPicPr>
          <p:cNvPr id="4" name="Picture 3" descr="m12_do_quan_trong.png"/>
          <p:cNvPicPr>
            <a:picLocks noChangeAspect="1"/>
          </p:cNvPicPr>
          <p:nvPr/>
        </p:nvPicPr>
        <p:blipFill>
          <a:blip r:embed="rId3"/>
          <a:stretch>
            <a:fillRect/>
          </a:stretch>
        </p:blipFill>
        <p:spPr>
          <a:xfrm>
            <a:off x="2476811" y="1280159"/>
            <a:ext cx="7207897" cy="3291840"/>
          </a:xfrm>
          <a:prstGeom prst="rect">
            <a:avLst/>
          </a:prstGeom>
        </p:spPr>
      </p:pic>
      <p:sp>
        <p:nvSpPr>
          <p:cNvPr id="5" name="Rounded Rectangle 4"/>
          <p:cNvSpPr/>
          <p:nvPr/>
        </p:nvSpPr>
        <p:spPr>
          <a:xfrm>
            <a:off x="548640" y="4617720"/>
            <a:ext cx="3474720" cy="91440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4690872"/>
            <a:ext cx="3108960" cy="365760"/>
          </a:xfrm>
          <a:prstGeom prst="rect">
            <a:avLst/>
          </a:prstGeom>
          <a:noFill/>
        </p:spPr>
        <p:txBody>
          <a:bodyPr wrap="square" lIns="45720" tIns="27432" rIns="45720" bIns="27432" anchor="t">
            <a:spAutoFit/>
          </a:bodyPr>
          <a:lstStyle/>
          <a:p>
            <a:pPr algn="l">
              <a:lnSpc>
                <a:spcPct val="110000"/>
              </a:lnSpc>
              <a:spcAft>
                <a:spcPts val="600"/>
              </a:spcAft>
            </a:pPr>
            <a:r>
              <a:rPr lang="vi-VN" sz="1400" b="1" i="0">
                <a:solidFill>
                  <a:srgbClr val="FFD400"/>
                </a:solidFill>
                <a:latin typeface="Arial"/>
              </a:rPr>
              <a:t>Tuổi xe đứng đầu</a:t>
            </a:r>
          </a:p>
        </p:txBody>
      </p:sp>
      <p:sp>
        <p:nvSpPr>
          <p:cNvPr id="7" name="TextBox 6"/>
          <p:cNvSpPr txBox="1"/>
          <p:nvPr/>
        </p:nvSpPr>
        <p:spPr>
          <a:xfrm>
            <a:off x="731520" y="5074920"/>
            <a:ext cx="3108960" cy="411479"/>
          </a:xfrm>
          <a:prstGeom prst="rect">
            <a:avLst/>
          </a:prstGeom>
          <a:noFill/>
        </p:spPr>
        <p:txBody>
          <a:bodyPr wrap="square" lIns="45720" tIns="27432" rIns="45720" bIns="27432" anchor="t">
            <a:spAutoFit/>
          </a:bodyPr>
          <a:lstStyle/>
          <a:p>
            <a:pPr algn="l">
              <a:lnSpc>
                <a:spcPct val="110000"/>
              </a:lnSpc>
              <a:spcAft>
                <a:spcPts val="400"/>
              </a:spcAft>
            </a:pPr>
            <a:r>
              <a:rPr lang="vi-VN" sz="1200" b="0" i="0">
                <a:solidFill>
                  <a:srgbClr val="FFFFFF"/>
                </a:solidFill>
                <a:latin typeface="Arial"/>
              </a:rPr>
              <a:t>xáo trộn làm MAPE tăng 45 điểm %</a:t>
            </a:r>
          </a:p>
        </p:txBody>
      </p:sp>
      <p:sp>
        <p:nvSpPr>
          <p:cNvPr id="8" name="Rounded Rectangle 7"/>
          <p:cNvSpPr/>
          <p:nvPr/>
        </p:nvSpPr>
        <p:spPr>
          <a:xfrm>
            <a:off x="4297679" y="4617720"/>
            <a:ext cx="3474720" cy="9144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4480559" y="4690872"/>
            <a:ext cx="3108960" cy="365760"/>
          </a:xfrm>
          <a:prstGeom prst="rect">
            <a:avLst/>
          </a:prstGeom>
          <a:noFill/>
        </p:spPr>
        <p:txBody>
          <a:bodyPr wrap="square" lIns="45720" tIns="27432" rIns="45720" bIns="27432" anchor="t">
            <a:spAutoFit/>
          </a:bodyPr>
          <a:lstStyle/>
          <a:p>
            <a:pPr algn="l">
              <a:lnSpc>
                <a:spcPct val="110000"/>
              </a:lnSpc>
              <a:spcAft>
                <a:spcPts val="600"/>
              </a:spcAft>
            </a:pPr>
            <a:r>
              <a:rPr lang="vi-VN" sz="1400" b="1" i="0">
                <a:solidFill>
                  <a:srgbClr val="075289"/>
                </a:solidFill>
                <a:latin typeface="Arial"/>
              </a:rPr>
              <a:t>Hộp số: hạng 2 → 4</a:t>
            </a:r>
          </a:p>
        </p:txBody>
      </p:sp>
      <p:sp>
        <p:nvSpPr>
          <p:cNvPr id="10" name="TextBox 9"/>
          <p:cNvSpPr txBox="1"/>
          <p:nvPr/>
        </p:nvSpPr>
        <p:spPr>
          <a:xfrm>
            <a:off x="4480559" y="5074920"/>
            <a:ext cx="3108960" cy="411479"/>
          </a:xfrm>
          <a:prstGeom prst="rect">
            <a:avLst/>
          </a:prstGeom>
          <a:noFill/>
        </p:spPr>
        <p:txBody>
          <a:bodyPr wrap="square" lIns="45720" tIns="27432" rIns="45720" bIns="27432" anchor="t">
            <a:spAutoFit/>
          </a:bodyPr>
          <a:lstStyle/>
          <a:p>
            <a:pPr algn="l">
              <a:lnSpc>
                <a:spcPct val="110000"/>
              </a:lnSpc>
              <a:spcAft>
                <a:spcPts val="400"/>
              </a:spcAft>
            </a:pPr>
            <a:r>
              <a:rPr lang="vi-VN" sz="1200" b="0" i="0">
                <a:solidFill>
                  <a:srgbClr val="1F2937"/>
                </a:solidFill>
                <a:latin typeface="Arial"/>
              </a:rPr>
              <a:t>trùng thông tin với tuổi xe</a:t>
            </a:r>
          </a:p>
        </p:txBody>
      </p:sp>
      <p:sp>
        <p:nvSpPr>
          <p:cNvPr id="11" name="Rounded Rectangle 10"/>
          <p:cNvSpPr/>
          <p:nvPr/>
        </p:nvSpPr>
        <p:spPr>
          <a:xfrm>
            <a:off x="8046719" y="4617720"/>
            <a:ext cx="3474720" cy="91440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229599" y="4690872"/>
            <a:ext cx="3108960" cy="365760"/>
          </a:xfrm>
          <a:prstGeom prst="rect">
            <a:avLst/>
          </a:prstGeom>
          <a:noFill/>
        </p:spPr>
        <p:txBody>
          <a:bodyPr wrap="square" lIns="45720" tIns="27432" rIns="45720" bIns="27432" anchor="t">
            <a:spAutoFit/>
          </a:bodyPr>
          <a:lstStyle/>
          <a:p>
            <a:pPr algn="l">
              <a:lnSpc>
                <a:spcPct val="110000"/>
              </a:lnSpc>
              <a:spcAft>
                <a:spcPts val="600"/>
              </a:spcAft>
            </a:pPr>
            <a:r>
              <a:rPr lang="vi-VN" sz="1400" b="1" i="0">
                <a:solidFill>
                  <a:srgbClr val="075289"/>
                </a:solidFill>
                <a:latin typeface="Arial"/>
              </a:rPr>
              <a:t>Hãng: hạng 3 → 2</a:t>
            </a:r>
          </a:p>
        </p:txBody>
      </p:sp>
      <p:sp>
        <p:nvSpPr>
          <p:cNvPr id="13" name="TextBox 12"/>
          <p:cNvSpPr txBox="1"/>
          <p:nvPr/>
        </p:nvSpPr>
        <p:spPr>
          <a:xfrm>
            <a:off x="8229599" y="5074920"/>
            <a:ext cx="3108960" cy="411479"/>
          </a:xfrm>
          <a:prstGeom prst="rect">
            <a:avLst/>
          </a:prstGeom>
          <a:noFill/>
        </p:spPr>
        <p:txBody>
          <a:bodyPr wrap="square" lIns="45720" tIns="27432" rIns="45720" bIns="27432" anchor="t">
            <a:spAutoFit/>
          </a:bodyPr>
          <a:lstStyle/>
          <a:p>
            <a:pPr algn="l">
              <a:lnSpc>
                <a:spcPct val="110000"/>
              </a:lnSpc>
              <a:spcAft>
                <a:spcPts val="400"/>
              </a:spcAft>
            </a:pPr>
            <a:r>
              <a:rPr lang="vi-VN" sz="1200" b="0" i="0">
                <a:solidFill>
                  <a:srgbClr val="1F2937"/>
                </a:solidFill>
                <a:latin typeface="Arial"/>
              </a:rPr>
              <a:t>giá thương hiệu khó thay thế</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5 · DIỄN GIẢI</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Random Forest học được mỗi dòng xe khấu hao khác nhau</a:t>
            </a:r>
          </a:p>
        </p:txBody>
      </p:sp>
      <p:pic>
        <p:nvPicPr>
          <p:cNvPr id="4" name="Picture 3" descr="m13_duong_khau_hao.png"/>
          <p:cNvPicPr>
            <a:picLocks noChangeAspect="1"/>
          </p:cNvPicPr>
          <p:nvPr/>
        </p:nvPicPr>
        <p:blipFill>
          <a:blip r:embed="rId3"/>
          <a:stretch>
            <a:fillRect/>
          </a:stretch>
        </p:blipFill>
        <p:spPr>
          <a:xfrm>
            <a:off x="1852308" y="1325880"/>
            <a:ext cx="8456903" cy="3474720"/>
          </a:xfrm>
          <a:prstGeom prst="rect">
            <a:avLst/>
          </a:prstGeom>
        </p:spPr>
      </p:pic>
      <p:sp>
        <p:nvSpPr>
          <p:cNvPr id="5" name="TextBox 4"/>
          <p:cNvSpPr txBox="1"/>
          <p:nvPr/>
        </p:nvSpPr>
        <p:spPr>
          <a:xfrm>
            <a:off x="548640" y="4892040"/>
            <a:ext cx="11064240" cy="685800"/>
          </a:xfrm>
          <a:prstGeom prst="rect">
            <a:avLst/>
          </a:prstGeom>
          <a:noFill/>
        </p:spPr>
        <p:txBody>
          <a:bodyPr wrap="square" lIns="45720" tIns="27432" rIns="45720" bIns="27432" anchor="t">
            <a:spAutoFit/>
          </a:bodyPr>
          <a:lstStyle/>
          <a:p>
            <a:pPr algn="l">
              <a:lnSpc>
                <a:spcPct val="110000"/>
              </a:lnSpc>
              <a:spcAft>
                <a:spcPts val="600"/>
              </a:spcAft>
            </a:pPr>
            <a:r>
              <a:rPr lang="vi-VN" sz="1500" b="1" i="0">
                <a:solidFill>
                  <a:srgbClr val="075289"/>
                </a:solidFill>
                <a:latin typeface="Arial"/>
              </a:rPr>
              <a:t>Vì sao Random Forest chính xác hơn: </a:t>
            </a:r>
            <a:r>
              <a:rPr lang="vi-VN" sz="1500" b="0" i="0">
                <a:solidFill>
                  <a:srgbClr val="1F2937"/>
                </a:solidFill>
                <a:latin typeface="Arial"/>
              </a:rPr>
              <a:t>giá phụ thuộc phi tuyến và có tương tác giữa các đặc trưng. Mức chênh 3,3 điểm % chính là phần mô hình tuyến tính bỏ lỡ.</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5 · THÍ NGHIỆM</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Log giá và xử lý mất cân bằng: kiểm chứng bằng CV trên train</a:t>
            </a:r>
          </a:p>
        </p:txBody>
      </p:sp>
      <p:pic>
        <p:nvPicPr>
          <p:cNvPr id="4" name="Picture 3" descr="m14_log_va_mat_can_bang.png"/>
          <p:cNvPicPr>
            <a:picLocks noChangeAspect="1"/>
          </p:cNvPicPr>
          <p:nvPr/>
        </p:nvPicPr>
        <p:blipFill>
          <a:blip r:embed="rId3"/>
          <a:stretch>
            <a:fillRect/>
          </a:stretch>
        </p:blipFill>
        <p:spPr>
          <a:xfrm>
            <a:off x="1925618" y="1325880"/>
            <a:ext cx="8310282" cy="3291840"/>
          </a:xfrm>
          <a:prstGeom prst="rect">
            <a:avLst/>
          </a:prstGeom>
        </p:spPr>
      </p:pic>
      <p:sp>
        <p:nvSpPr>
          <p:cNvPr id="5" name="Rounded Rectangle 4"/>
          <p:cNvSpPr/>
          <p:nvPr/>
        </p:nvSpPr>
        <p:spPr>
          <a:xfrm>
            <a:off x="548640" y="4709160"/>
            <a:ext cx="3474720" cy="82296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4754880"/>
            <a:ext cx="3200400" cy="365760"/>
          </a:xfrm>
          <a:prstGeom prst="rect">
            <a:avLst/>
          </a:prstGeom>
          <a:noFill/>
        </p:spPr>
        <p:txBody>
          <a:bodyPr wrap="square" lIns="45720" tIns="27432" rIns="45720" bIns="27432" anchor="t">
            <a:spAutoFit/>
          </a:bodyPr>
          <a:lstStyle/>
          <a:p>
            <a:pPr algn="l">
              <a:lnSpc>
                <a:spcPct val="110000"/>
              </a:lnSpc>
              <a:spcAft>
                <a:spcPts val="600"/>
              </a:spcAft>
            </a:pPr>
            <a:r>
              <a:rPr lang="vi-VN" sz="1500" b="1" i="0">
                <a:solidFill>
                  <a:srgbClr val="FFD400"/>
                </a:solidFill>
                <a:latin typeface="Arial"/>
              </a:rPr>
              <a:t>Log giá</a:t>
            </a:r>
          </a:p>
        </p:txBody>
      </p:sp>
      <p:sp>
        <p:nvSpPr>
          <p:cNvPr id="7" name="TextBox 6"/>
          <p:cNvSpPr txBox="1"/>
          <p:nvPr/>
        </p:nvSpPr>
        <p:spPr>
          <a:xfrm>
            <a:off x="731520" y="5102352"/>
            <a:ext cx="3200400" cy="365760"/>
          </a:xfrm>
          <a:prstGeom prst="rect">
            <a:avLst/>
          </a:prstGeom>
          <a:noFill/>
        </p:spPr>
        <p:txBody>
          <a:bodyPr wrap="square" lIns="45720" tIns="27432" rIns="45720" bIns="27432" anchor="t">
            <a:spAutoFit/>
          </a:bodyPr>
          <a:lstStyle/>
          <a:p>
            <a:pPr algn="l">
              <a:lnSpc>
                <a:spcPct val="110000"/>
              </a:lnSpc>
              <a:spcAft>
                <a:spcPts val="600"/>
              </a:spcAft>
            </a:pPr>
            <a:r>
              <a:rPr lang="vi-VN" sz="1300" b="0" i="0">
                <a:solidFill>
                  <a:srgbClr val="FFFFFF"/>
                </a:solidFill>
                <a:latin typeface="Arial"/>
              </a:rPr>
              <a:t>20,0% → 16,6% MAPE tổng</a:t>
            </a:r>
          </a:p>
        </p:txBody>
      </p:sp>
      <p:sp>
        <p:nvSpPr>
          <p:cNvPr id="8" name="Rounded Rectangle 7"/>
          <p:cNvSpPr/>
          <p:nvPr/>
        </p:nvSpPr>
        <p:spPr>
          <a:xfrm>
            <a:off x="4297679" y="4709160"/>
            <a:ext cx="3474720" cy="82296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4480559" y="4754880"/>
            <a:ext cx="3200400" cy="365760"/>
          </a:xfrm>
          <a:prstGeom prst="rect">
            <a:avLst/>
          </a:prstGeom>
          <a:noFill/>
        </p:spPr>
        <p:txBody>
          <a:bodyPr wrap="square" lIns="45720" tIns="27432" rIns="45720" bIns="27432" anchor="t">
            <a:spAutoFit/>
          </a:bodyPr>
          <a:lstStyle/>
          <a:p>
            <a:pPr algn="l">
              <a:lnSpc>
                <a:spcPct val="110000"/>
              </a:lnSpc>
              <a:spcAft>
                <a:spcPts val="600"/>
              </a:spcAft>
            </a:pPr>
            <a:r>
              <a:rPr lang="vi-VN" sz="1500" b="1" i="0">
                <a:solidFill>
                  <a:srgbClr val="075289"/>
                </a:solidFill>
                <a:latin typeface="Arial"/>
              </a:rPr>
              <a:t>Oversampling</a:t>
            </a:r>
          </a:p>
        </p:txBody>
      </p:sp>
      <p:sp>
        <p:nvSpPr>
          <p:cNvPr id="10" name="TextBox 9"/>
          <p:cNvSpPr txBox="1"/>
          <p:nvPr/>
        </p:nvSpPr>
        <p:spPr>
          <a:xfrm>
            <a:off x="4480559" y="5102352"/>
            <a:ext cx="3200400" cy="365760"/>
          </a:xfrm>
          <a:prstGeom prst="rect">
            <a:avLst/>
          </a:prstGeom>
          <a:noFill/>
        </p:spPr>
        <p:txBody>
          <a:bodyPr wrap="square" lIns="45720" tIns="27432" rIns="45720" bIns="27432" anchor="t">
            <a:spAutoFit/>
          </a:bodyPr>
          <a:lstStyle/>
          <a:p>
            <a:pPr algn="l">
              <a:lnSpc>
                <a:spcPct val="110000"/>
              </a:lnSpc>
              <a:spcAft>
                <a:spcPts val="600"/>
              </a:spcAft>
            </a:pPr>
            <a:r>
              <a:rPr lang="vi-VN" sz="1300" b="0" i="0">
                <a:solidFill>
                  <a:srgbClr val="1F2937"/>
                </a:solidFill>
                <a:latin typeface="Arial"/>
              </a:rPr>
              <a:t>xe &gt; 2 tỷ: 28,4% → 25,0%</a:t>
            </a:r>
          </a:p>
        </p:txBody>
      </p:sp>
      <p:sp>
        <p:nvSpPr>
          <p:cNvPr id="11" name="Rounded Rectangle 10"/>
          <p:cNvSpPr/>
          <p:nvPr/>
        </p:nvSpPr>
        <p:spPr>
          <a:xfrm>
            <a:off x="8046719" y="4709160"/>
            <a:ext cx="3474720" cy="82296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229599" y="4754880"/>
            <a:ext cx="3200400" cy="365760"/>
          </a:xfrm>
          <a:prstGeom prst="rect">
            <a:avLst/>
          </a:prstGeom>
          <a:noFill/>
        </p:spPr>
        <p:txBody>
          <a:bodyPr wrap="square" lIns="45720" tIns="27432" rIns="45720" bIns="27432" anchor="t">
            <a:spAutoFit/>
          </a:bodyPr>
          <a:lstStyle/>
          <a:p>
            <a:pPr algn="l">
              <a:lnSpc>
                <a:spcPct val="110000"/>
              </a:lnSpc>
              <a:spcAft>
                <a:spcPts val="600"/>
              </a:spcAft>
            </a:pPr>
            <a:r>
              <a:rPr lang="vi-VN" sz="1500" b="1" i="0">
                <a:solidFill>
                  <a:srgbClr val="075289"/>
                </a:solidFill>
                <a:latin typeface="Arial"/>
              </a:rPr>
              <a:t>Undersampling</a:t>
            </a:r>
          </a:p>
        </p:txBody>
      </p:sp>
      <p:sp>
        <p:nvSpPr>
          <p:cNvPr id="13" name="TextBox 12"/>
          <p:cNvSpPr txBox="1"/>
          <p:nvPr/>
        </p:nvSpPr>
        <p:spPr>
          <a:xfrm>
            <a:off x="8229599" y="5102352"/>
            <a:ext cx="3200400" cy="365760"/>
          </a:xfrm>
          <a:prstGeom prst="rect">
            <a:avLst/>
          </a:prstGeom>
          <a:noFill/>
        </p:spPr>
        <p:txBody>
          <a:bodyPr wrap="square" lIns="45720" tIns="27432" rIns="45720" bIns="27432" anchor="t">
            <a:spAutoFit/>
          </a:bodyPr>
          <a:lstStyle/>
          <a:p>
            <a:pPr algn="l">
              <a:lnSpc>
                <a:spcPct val="110000"/>
              </a:lnSpc>
              <a:spcAft>
                <a:spcPts val="600"/>
              </a:spcAft>
            </a:pPr>
            <a:r>
              <a:rPr lang="vi-VN" sz="1300" b="0" i="0">
                <a:solidFill>
                  <a:srgbClr val="1F2937"/>
                </a:solidFill>
                <a:latin typeface="Arial"/>
              </a:rPr>
              <a:t>mất 22% dữ liệu, MAPE 17,2%</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5 · HẠN CHẾ</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Hai nguồn sai lệch: tin đăng lại và nhãn sai còn sót</a:t>
            </a:r>
          </a:p>
        </p:txBody>
      </p:sp>
      <p:sp>
        <p:nvSpPr>
          <p:cNvPr id="4" name="TextBox 3"/>
          <p:cNvSpPr txBox="1"/>
          <p:nvPr/>
        </p:nvSpPr>
        <p:spPr>
          <a:xfrm>
            <a:off x="548640" y="1417320"/>
            <a:ext cx="5120640" cy="365760"/>
          </a:xfrm>
          <a:prstGeom prst="rect">
            <a:avLst/>
          </a:prstGeom>
          <a:noFill/>
        </p:spPr>
        <p:txBody>
          <a:bodyPr wrap="square" lIns="45720" tIns="27432" rIns="45720" bIns="27432" anchor="t">
            <a:spAutoFit/>
          </a:bodyPr>
          <a:lstStyle/>
          <a:p>
            <a:pPr algn="l">
              <a:lnSpc>
                <a:spcPct val="110000"/>
              </a:lnSpc>
              <a:spcAft>
                <a:spcPts val="600"/>
              </a:spcAft>
            </a:pPr>
            <a:r>
              <a:rPr lang="vi-VN" sz="1500" b="1" i="0">
                <a:solidFill>
                  <a:srgbClr val="075289"/>
                </a:solidFill>
                <a:latin typeface="Arial"/>
              </a:rPr>
              <a:t>Chia ngẫu nhiên so với chia theo nhóm (CV)</a:t>
            </a:r>
          </a:p>
        </p:txBody>
      </p:sp>
      <p:graphicFrame>
        <p:nvGraphicFramePr>
          <p:cNvPr id="5" name="Table 4"/>
          <p:cNvGraphicFramePr>
            <a:graphicFrameLocks noGrp="1"/>
          </p:cNvGraphicFramePr>
          <p:nvPr/>
        </p:nvGraphicFramePr>
        <p:xfrm>
          <a:off x="548640" y="1828800"/>
          <a:ext cx="5120640" cy="1371600"/>
        </p:xfrm>
        <a:graphic>
          <a:graphicData uri="http://schemas.openxmlformats.org/drawingml/2006/table">
            <a:tbl>
              <a:tblPr>
                <a:tableStyleId>{5940675A-B579-460E-94D1-54222C63F5DA}</a:tableStyleId>
              </a:tblPr>
              <a:tblGrid>
                <a:gridCol w="182880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457200">
                <a:tc>
                  <a:txBody>
                    <a:bodyPr/>
                    <a:lstStyle/>
                    <a:p>
                      <a:r>
                        <a:rPr lang="vi-VN" sz="1400" b="1" i="0">
                          <a:solidFill>
                            <a:srgbClr val="FFFFFF"/>
                          </a:solidFill>
                          <a:latin typeface="Arial"/>
                        </a:rPr>
                        <a:t>Cách chia</a:t>
                      </a:r>
                    </a:p>
                  </a:txBody>
                  <a:tcPr marL="73152" marR="73152" marT="27432" marB="27432" anchor="ctr">
                    <a:solidFill>
                      <a:srgbClr val="075289"/>
                    </a:solidFill>
                  </a:tcPr>
                </a:tc>
                <a:tc>
                  <a:txBody>
                    <a:bodyPr/>
                    <a:lstStyle/>
                    <a:p>
                      <a:r>
                        <a:rPr lang="vi-VN" sz="1400" b="1" i="0">
                          <a:solidFill>
                            <a:srgbClr val="FFFFFF"/>
                          </a:solidFill>
                          <a:latin typeface="Arial"/>
                        </a:rPr>
                        <a:t>MAPE</a:t>
                      </a:r>
                    </a:p>
                  </a:txBody>
                  <a:tcPr marL="73152" marR="73152" marT="27432" marB="27432" anchor="ctr">
                    <a:solidFill>
                      <a:srgbClr val="075289"/>
                    </a:solidFill>
                  </a:tcPr>
                </a:tc>
                <a:tc>
                  <a:txBody>
                    <a:bodyPr/>
                    <a:lstStyle/>
                    <a:p>
                      <a:r>
                        <a:rPr lang="vi-VN" sz="1400" b="1" i="0">
                          <a:solidFill>
                            <a:srgbClr val="FFFFFF"/>
                          </a:solidFill>
                          <a:latin typeface="Arial"/>
                        </a:rPr>
                        <a:t>&lt; 200 tr</a:t>
                      </a:r>
                    </a:p>
                  </a:txBody>
                  <a:tcPr marL="73152" marR="73152" marT="27432" marB="27432" anchor="ctr">
                    <a:solidFill>
                      <a:srgbClr val="075289"/>
                    </a:solidFill>
                  </a:tcPr>
                </a:tc>
                <a:tc>
                  <a:txBody>
                    <a:bodyPr/>
                    <a:lstStyle/>
                    <a:p>
                      <a:r>
                        <a:rPr lang="vi-VN" sz="1400" b="1" i="0">
                          <a:solidFill>
                            <a:srgbClr val="FFFFFF"/>
                          </a:solidFill>
                          <a:latin typeface="Arial"/>
                        </a:rPr>
                        <a:t>&gt; 2 tỷ</a:t>
                      </a:r>
                    </a:p>
                  </a:txBody>
                  <a:tcPr marL="73152" marR="73152" marT="27432" marB="27432" anchor="ctr">
                    <a:solidFill>
                      <a:srgbClr val="075289"/>
                    </a:solidFill>
                  </a:tcPr>
                </a:tc>
                <a:extLst>
                  <a:ext uri="{0D108BD9-81ED-4DB2-BD59-A6C34878D82A}">
                    <a16:rowId xmlns:a16="http://schemas.microsoft.com/office/drawing/2014/main" val="10000"/>
                  </a:ext>
                </a:extLst>
              </a:tr>
              <a:tr h="457200">
                <a:tc>
                  <a:txBody>
                    <a:bodyPr/>
                    <a:lstStyle/>
                    <a:p>
                      <a:r>
                        <a:rPr lang="vi-VN" sz="1400" b="1" i="0">
                          <a:solidFill>
                            <a:srgbClr val="1F2937"/>
                          </a:solidFill>
                          <a:latin typeface="Arial"/>
                        </a:rPr>
                        <a:t>Ngẫu nhiên</a:t>
                      </a:r>
                    </a:p>
                  </a:txBody>
                  <a:tcPr marL="73152" marR="73152" marT="27432" marB="27432" anchor="ctr">
                    <a:solidFill>
                      <a:srgbClr val="FFFFFF"/>
                    </a:solidFill>
                  </a:tcPr>
                </a:tc>
                <a:tc>
                  <a:txBody>
                    <a:bodyPr/>
                    <a:lstStyle/>
                    <a:p>
                      <a:r>
                        <a:rPr lang="vi-VN" sz="1400" b="0" i="0">
                          <a:solidFill>
                            <a:srgbClr val="1F2937"/>
                          </a:solidFill>
                          <a:latin typeface="Arial"/>
                        </a:rPr>
                        <a:t>16,6%</a:t>
                      </a:r>
                    </a:p>
                  </a:txBody>
                  <a:tcPr marL="73152" marR="73152" marT="27432" marB="27432" anchor="ctr">
                    <a:solidFill>
                      <a:srgbClr val="FFFFFF"/>
                    </a:solidFill>
                  </a:tcPr>
                </a:tc>
                <a:tc>
                  <a:txBody>
                    <a:bodyPr/>
                    <a:lstStyle/>
                    <a:p>
                      <a:r>
                        <a:rPr lang="vi-VN" sz="1400" b="0" i="0">
                          <a:solidFill>
                            <a:srgbClr val="1F2937"/>
                          </a:solidFill>
                          <a:latin typeface="Arial"/>
                        </a:rPr>
                        <a:t>39,7%</a:t>
                      </a:r>
                    </a:p>
                  </a:txBody>
                  <a:tcPr marL="73152" marR="73152" marT="27432" marB="27432" anchor="ctr">
                    <a:solidFill>
                      <a:srgbClr val="FFFFFF"/>
                    </a:solidFill>
                  </a:tcPr>
                </a:tc>
                <a:tc>
                  <a:txBody>
                    <a:bodyPr/>
                    <a:lstStyle/>
                    <a:p>
                      <a:r>
                        <a:rPr lang="vi-VN" sz="1400" b="0" i="0">
                          <a:solidFill>
                            <a:srgbClr val="1F2937"/>
                          </a:solidFill>
                          <a:latin typeface="Arial"/>
                        </a:rPr>
                        <a:t>28,4%</a:t>
                      </a:r>
                    </a:p>
                  </a:txBody>
                  <a:tcPr marL="73152" marR="73152" marT="27432" marB="27432" anchor="ctr">
                    <a:solidFill>
                      <a:srgbClr val="FFFFFF"/>
                    </a:solidFill>
                  </a:tcPr>
                </a:tc>
                <a:extLst>
                  <a:ext uri="{0D108BD9-81ED-4DB2-BD59-A6C34878D82A}">
                    <a16:rowId xmlns:a16="http://schemas.microsoft.com/office/drawing/2014/main" val="10001"/>
                  </a:ext>
                </a:extLst>
              </a:tr>
              <a:tr h="457200">
                <a:tc>
                  <a:txBody>
                    <a:bodyPr/>
                    <a:lstStyle/>
                    <a:p>
                      <a:r>
                        <a:rPr lang="vi-VN" sz="1400" b="1" i="0">
                          <a:solidFill>
                            <a:srgbClr val="1F2937"/>
                          </a:solidFill>
                          <a:latin typeface="Arial"/>
                        </a:rPr>
                        <a:t>Theo nhóm</a:t>
                      </a:r>
                    </a:p>
                  </a:txBody>
                  <a:tcPr marL="73152" marR="73152" marT="27432" marB="27432" anchor="ctr">
                    <a:solidFill>
                      <a:srgbClr val="EAF2FA"/>
                    </a:solidFill>
                  </a:tcPr>
                </a:tc>
                <a:tc>
                  <a:txBody>
                    <a:bodyPr/>
                    <a:lstStyle/>
                    <a:p>
                      <a:r>
                        <a:rPr lang="vi-VN" sz="1400" b="0" i="0">
                          <a:solidFill>
                            <a:srgbClr val="1F2937"/>
                          </a:solidFill>
                          <a:latin typeface="Arial"/>
                        </a:rPr>
                        <a:t>17,0%</a:t>
                      </a:r>
                    </a:p>
                  </a:txBody>
                  <a:tcPr marL="73152" marR="73152" marT="27432" marB="27432" anchor="ctr">
                    <a:solidFill>
                      <a:srgbClr val="EAF2FA"/>
                    </a:solidFill>
                  </a:tcPr>
                </a:tc>
                <a:tc>
                  <a:txBody>
                    <a:bodyPr/>
                    <a:lstStyle/>
                    <a:p>
                      <a:r>
                        <a:rPr lang="vi-VN" sz="1400" b="0" i="0">
                          <a:solidFill>
                            <a:srgbClr val="1F2937"/>
                          </a:solidFill>
                          <a:latin typeface="Arial"/>
                        </a:rPr>
                        <a:t>41,1%</a:t>
                      </a:r>
                    </a:p>
                  </a:txBody>
                  <a:tcPr marL="73152" marR="73152" marT="27432" marB="27432" anchor="ctr">
                    <a:solidFill>
                      <a:srgbClr val="EAF2FA"/>
                    </a:solidFill>
                  </a:tcPr>
                </a:tc>
                <a:tc>
                  <a:txBody>
                    <a:bodyPr/>
                    <a:lstStyle/>
                    <a:p>
                      <a:r>
                        <a:rPr lang="vi-VN" sz="1400" b="0" i="0">
                          <a:solidFill>
                            <a:srgbClr val="1F2937"/>
                          </a:solidFill>
                          <a:latin typeface="Arial"/>
                        </a:rPr>
                        <a:t>29,6%</a:t>
                      </a:r>
                    </a:p>
                  </a:txBody>
                  <a:tcPr marL="73152" marR="73152" marT="27432" marB="27432" anchor="ctr">
                    <a:solidFill>
                      <a:srgbClr val="EAF2FA"/>
                    </a:solidFill>
                  </a:tcPr>
                </a:tc>
                <a:extLst>
                  <a:ext uri="{0D108BD9-81ED-4DB2-BD59-A6C34878D82A}">
                    <a16:rowId xmlns:a16="http://schemas.microsoft.com/office/drawing/2014/main" val="10002"/>
                  </a:ext>
                </a:extLst>
              </a:tr>
            </a:tbl>
          </a:graphicData>
        </a:graphic>
      </p:graphicFrame>
      <p:sp>
        <p:nvSpPr>
          <p:cNvPr id="6" name="Rounded Rectangle 5"/>
          <p:cNvSpPr/>
          <p:nvPr/>
        </p:nvSpPr>
        <p:spPr>
          <a:xfrm>
            <a:off x="548640" y="3429000"/>
            <a:ext cx="5120640" cy="205740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31520" y="3502152"/>
            <a:ext cx="4754879" cy="365760"/>
          </a:xfrm>
          <a:prstGeom prst="rect">
            <a:avLst/>
          </a:prstGeom>
          <a:noFill/>
        </p:spPr>
        <p:txBody>
          <a:bodyPr wrap="square" lIns="45720" tIns="27432" rIns="45720" bIns="27432" anchor="t">
            <a:spAutoFit/>
          </a:bodyPr>
          <a:lstStyle/>
          <a:p>
            <a:pPr algn="l">
              <a:lnSpc>
                <a:spcPct val="110000"/>
              </a:lnSpc>
              <a:spcAft>
                <a:spcPts val="600"/>
              </a:spcAft>
            </a:pPr>
            <a:r>
              <a:rPr lang="vi-VN" sz="1500" b="1" i="0">
                <a:solidFill>
                  <a:srgbClr val="FFD400"/>
                </a:solidFill>
                <a:latin typeface="Arial"/>
              </a:rPr>
              <a:t>Ước lượng thận trọng: khoảng 16%</a:t>
            </a:r>
          </a:p>
        </p:txBody>
      </p:sp>
      <p:sp>
        <p:nvSpPr>
          <p:cNvPr id="8" name="TextBox 7"/>
          <p:cNvSpPr txBox="1"/>
          <p:nvPr/>
        </p:nvSpPr>
        <p:spPr>
          <a:xfrm>
            <a:off x="731520" y="3886200"/>
            <a:ext cx="4754879" cy="1554480"/>
          </a:xfrm>
          <a:prstGeom prst="rect">
            <a:avLst/>
          </a:prstGeom>
          <a:noFill/>
        </p:spPr>
        <p:txBody>
          <a:bodyPr wrap="square" lIns="45720" tIns="27432" rIns="45720" bIns="27432" anchor="t">
            <a:spAutoFit/>
          </a:bodyPr>
          <a:lstStyle/>
          <a:p>
            <a:pPr algn="l">
              <a:lnSpc>
                <a:spcPct val="110000"/>
              </a:lnSpc>
              <a:spcAft>
                <a:spcPts val="400"/>
              </a:spcAft>
            </a:pPr>
            <a:r>
              <a:rPr lang="vi-VN" sz="1300" b="0" i="0">
                <a:solidFill>
                  <a:srgbClr val="FFFFFF"/>
                </a:solidFill>
                <a:latin typeface="Arial"/>
              </a:rPr>
              <a:t>14% tin test có bản sao trong train: MAPE 10,1% so với 15,9% ở phần còn lại</a:t>
            </a:r>
          </a:p>
          <a:p>
            <a:pPr algn="l">
              <a:lnSpc>
                <a:spcPct val="110000"/>
              </a:lnSpc>
              <a:spcAft>
                <a:spcPts val="400"/>
              </a:spcAft>
            </a:pPr>
            <a:r>
              <a:rPr lang="vi-VN" sz="1300" b="0" i="0">
                <a:solidFill>
                  <a:srgbClr val="FFFFFF"/>
                </a:solidFill>
                <a:latin typeface="Arial"/>
              </a:rPr>
              <a:t>Mức lạc quan có nhưng nhỏ, không đổi kết luận</a:t>
            </a:r>
          </a:p>
        </p:txBody>
      </p:sp>
      <p:sp>
        <p:nvSpPr>
          <p:cNvPr id="9" name="TextBox 8"/>
          <p:cNvSpPr txBox="1"/>
          <p:nvPr/>
        </p:nvSpPr>
        <p:spPr>
          <a:xfrm>
            <a:off x="5943600" y="1417320"/>
            <a:ext cx="5669280" cy="365760"/>
          </a:xfrm>
          <a:prstGeom prst="rect">
            <a:avLst/>
          </a:prstGeom>
          <a:noFill/>
        </p:spPr>
        <p:txBody>
          <a:bodyPr wrap="square" lIns="45720" tIns="27432" rIns="45720" bIns="27432" anchor="t">
            <a:spAutoFit/>
          </a:bodyPr>
          <a:lstStyle/>
          <a:p>
            <a:pPr algn="l">
              <a:lnSpc>
                <a:spcPct val="110000"/>
              </a:lnSpc>
              <a:spcAft>
                <a:spcPts val="600"/>
              </a:spcAft>
            </a:pPr>
            <a:r>
              <a:rPr lang="vi-VN" sz="1500" b="1" i="0">
                <a:solidFill>
                  <a:srgbClr val="075289"/>
                </a:solidFill>
                <a:latin typeface="Arial"/>
              </a:rPr>
              <a:t>Xe bị đoán sai nhiều nhất (triệu đồng)</a:t>
            </a:r>
          </a:p>
        </p:txBody>
      </p:sp>
      <p:graphicFrame>
        <p:nvGraphicFramePr>
          <p:cNvPr id="10" name="Table 9"/>
          <p:cNvGraphicFramePr>
            <a:graphicFrameLocks noGrp="1"/>
          </p:cNvGraphicFramePr>
          <p:nvPr/>
        </p:nvGraphicFramePr>
        <p:xfrm>
          <a:off x="5943600" y="1828800"/>
          <a:ext cx="5669280" cy="2578608"/>
        </p:xfrm>
        <a:graphic>
          <a:graphicData uri="http://schemas.openxmlformats.org/drawingml/2006/table">
            <a:tbl>
              <a:tblPr>
                <a:tableStyleId>{5940675A-B579-460E-94D1-54222C63F5DA}</a:tableStyleId>
              </a:tblPr>
              <a:tblGrid>
                <a:gridCol w="25603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429768">
                <a:tc>
                  <a:txBody>
                    <a:bodyPr/>
                    <a:lstStyle/>
                    <a:p>
                      <a:r>
                        <a:rPr lang="vi-VN" sz="1300" b="1" i="0">
                          <a:solidFill>
                            <a:srgbClr val="FFFFFF"/>
                          </a:solidFill>
                          <a:latin typeface="Arial"/>
                        </a:rPr>
                        <a:t>Xe</a:t>
                      </a:r>
                    </a:p>
                  </a:txBody>
                  <a:tcPr marL="73152" marR="73152" marT="27432" marB="27432" anchor="ctr">
                    <a:solidFill>
                      <a:srgbClr val="075289"/>
                    </a:solidFill>
                  </a:tcPr>
                </a:tc>
                <a:tc>
                  <a:txBody>
                    <a:bodyPr/>
                    <a:lstStyle/>
                    <a:p>
                      <a:r>
                        <a:rPr lang="vi-VN" sz="1300" b="1" i="0">
                          <a:solidFill>
                            <a:srgbClr val="FFFFFF"/>
                          </a:solidFill>
                          <a:latin typeface="Arial"/>
                        </a:rPr>
                        <a:t>Tình trạng</a:t>
                      </a:r>
                    </a:p>
                  </a:txBody>
                  <a:tcPr marL="73152" marR="73152" marT="27432" marB="27432" anchor="ctr">
                    <a:solidFill>
                      <a:srgbClr val="075289"/>
                    </a:solidFill>
                  </a:tcPr>
                </a:tc>
                <a:tc>
                  <a:txBody>
                    <a:bodyPr/>
                    <a:lstStyle/>
                    <a:p>
                      <a:r>
                        <a:rPr lang="vi-VN" sz="1300" b="1" i="0">
                          <a:solidFill>
                            <a:srgbClr val="FFFFFF"/>
                          </a:solidFill>
                          <a:latin typeface="Arial"/>
                        </a:rPr>
                        <a:t>Giá rao</a:t>
                      </a:r>
                    </a:p>
                  </a:txBody>
                  <a:tcPr marL="73152" marR="73152" marT="27432" marB="27432" anchor="ctr">
                    <a:solidFill>
                      <a:srgbClr val="075289"/>
                    </a:solidFill>
                  </a:tcPr>
                </a:tc>
                <a:tc>
                  <a:txBody>
                    <a:bodyPr/>
                    <a:lstStyle/>
                    <a:p>
                      <a:r>
                        <a:rPr lang="vi-VN" sz="1300" b="1" i="0">
                          <a:solidFill>
                            <a:srgbClr val="FFFFFF"/>
                          </a:solidFill>
                          <a:latin typeface="Arial"/>
                        </a:rPr>
                        <a:t>Dự đoán</a:t>
                      </a:r>
                    </a:p>
                  </a:txBody>
                  <a:tcPr marL="73152" marR="73152" marT="27432" marB="27432" anchor="ctr">
                    <a:solidFill>
                      <a:srgbClr val="075289"/>
                    </a:solidFill>
                  </a:tcPr>
                </a:tc>
                <a:extLst>
                  <a:ext uri="{0D108BD9-81ED-4DB2-BD59-A6C34878D82A}">
                    <a16:rowId xmlns:a16="http://schemas.microsoft.com/office/drawing/2014/main" val="10000"/>
                  </a:ext>
                </a:extLst>
              </a:tr>
              <a:tr h="429768">
                <a:tc>
                  <a:txBody>
                    <a:bodyPr/>
                    <a:lstStyle/>
                    <a:p>
                      <a:r>
                        <a:rPr lang="vi-VN" sz="1300" b="1" i="0">
                          <a:solidFill>
                            <a:srgbClr val="1F2937"/>
                          </a:solidFill>
                          <a:latin typeface="Arial"/>
                        </a:rPr>
                        <a:t>Hyundai Accent 2026</a:t>
                      </a:r>
                    </a:p>
                  </a:txBody>
                  <a:tcPr marL="73152" marR="73152" marT="27432" marB="27432" anchor="ctr">
                    <a:solidFill>
                      <a:srgbClr val="FFFFFF"/>
                    </a:solidFill>
                  </a:tcPr>
                </a:tc>
                <a:tc>
                  <a:txBody>
                    <a:bodyPr/>
                    <a:lstStyle/>
                    <a:p>
                      <a:r>
                        <a:rPr lang="vi-VN" sz="1300" b="0" i="0">
                          <a:solidFill>
                            <a:srgbClr val="1F2937"/>
                          </a:solidFill>
                          <a:latin typeface="Arial"/>
                        </a:rPr>
                        <a:t>Mới</a:t>
                      </a:r>
                    </a:p>
                  </a:txBody>
                  <a:tcPr marL="73152" marR="73152" marT="27432" marB="27432" anchor="ctr">
                    <a:solidFill>
                      <a:srgbClr val="FFFFFF"/>
                    </a:solidFill>
                  </a:tcPr>
                </a:tc>
                <a:tc>
                  <a:txBody>
                    <a:bodyPr/>
                    <a:lstStyle/>
                    <a:p>
                      <a:r>
                        <a:rPr lang="vi-VN" sz="1300" b="0" i="0">
                          <a:solidFill>
                            <a:srgbClr val="1F2937"/>
                          </a:solidFill>
                          <a:latin typeface="Arial"/>
                        </a:rPr>
                        <a:t>90</a:t>
                      </a:r>
                    </a:p>
                  </a:txBody>
                  <a:tcPr marL="73152" marR="73152" marT="27432" marB="27432" anchor="ctr">
                    <a:solidFill>
                      <a:srgbClr val="FFFFFF"/>
                    </a:solidFill>
                  </a:tcPr>
                </a:tc>
                <a:tc>
                  <a:txBody>
                    <a:bodyPr/>
                    <a:lstStyle/>
                    <a:p>
                      <a:r>
                        <a:rPr lang="vi-VN" sz="1300" b="0" i="0">
                          <a:solidFill>
                            <a:srgbClr val="1F2937"/>
                          </a:solidFill>
                          <a:latin typeface="Arial"/>
                        </a:rPr>
                        <a:t>465</a:t>
                      </a:r>
                    </a:p>
                  </a:txBody>
                  <a:tcPr marL="73152" marR="73152" marT="27432" marB="27432" anchor="ctr">
                    <a:solidFill>
                      <a:srgbClr val="FFFFFF"/>
                    </a:solidFill>
                  </a:tcPr>
                </a:tc>
                <a:extLst>
                  <a:ext uri="{0D108BD9-81ED-4DB2-BD59-A6C34878D82A}">
                    <a16:rowId xmlns:a16="http://schemas.microsoft.com/office/drawing/2014/main" val="10001"/>
                  </a:ext>
                </a:extLst>
              </a:tr>
              <a:tr h="429768">
                <a:tc>
                  <a:txBody>
                    <a:bodyPr/>
                    <a:lstStyle/>
                    <a:p>
                      <a:r>
                        <a:rPr lang="vi-VN" sz="1300" b="1" i="0">
                          <a:solidFill>
                            <a:srgbClr val="1F2937"/>
                          </a:solidFill>
                          <a:latin typeface="Arial"/>
                        </a:rPr>
                        <a:t>Geely (dòng khác) 2026</a:t>
                      </a:r>
                    </a:p>
                  </a:txBody>
                  <a:tcPr marL="73152" marR="73152" marT="27432" marB="27432" anchor="ctr">
                    <a:solidFill>
                      <a:srgbClr val="EAF2FA"/>
                    </a:solidFill>
                  </a:tcPr>
                </a:tc>
                <a:tc>
                  <a:txBody>
                    <a:bodyPr/>
                    <a:lstStyle/>
                    <a:p>
                      <a:r>
                        <a:rPr lang="vi-VN" sz="1300" b="0" i="0">
                          <a:solidFill>
                            <a:srgbClr val="1F2937"/>
                          </a:solidFill>
                          <a:latin typeface="Arial"/>
                        </a:rPr>
                        <a:t>Mới</a:t>
                      </a:r>
                    </a:p>
                  </a:txBody>
                  <a:tcPr marL="73152" marR="73152" marT="27432" marB="27432" anchor="ctr">
                    <a:solidFill>
                      <a:srgbClr val="EAF2FA"/>
                    </a:solidFill>
                  </a:tcPr>
                </a:tc>
                <a:tc>
                  <a:txBody>
                    <a:bodyPr/>
                    <a:lstStyle/>
                    <a:p>
                      <a:r>
                        <a:rPr lang="vi-VN" sz="1300" b="0" i="0">
                          <a:solidFill>
                            <a:srgbClr val="1F2937"/>
                          </a:solidFill>
                          <a:latin typeface="Arial"/>
                        </a:rPr>
                        <a:t>114</a:t>
                      </a:r>
                    </a:p>
                  </a:txBody>
                  <a:tcPr marL="73152" marR="73152" marT="27432" marB="27432" anchor="ctr">
                    <a:solidFill>
                      <a:srgbClr val="EAF2FA"/>
                    </a:solidFill>
                  </a:tcPr>
                </a:tc>
                <a:tc>
                  <a:txBody>
                    <a:bodyPr/>
                    <a:lstStyle/>
                    <a:p>
                      <a:r>
                        <a:rPr lang="vi-VN" sz="1300" b="0" i="0">
                          <a:solidFill>
                            <a:srgbClr val="1F2937"/>
                          </a:solidFill>
                          <a:latin typeface="Arial"/>
                        </a:rPr>
                        <a:t>604</a:t>
                      </a:r>
                    </a:p>
                  </a:txBody>
                  <a:tcPr marL="73152" marR="73152" marT="27432" marB="27432" anchor="ctr">
                    <a:solidFill>
                      <a:srgbClr val="EAF2FA"/>
                    </a:solidFill>
                  </a:tcPr>
                </a:tc>
                <a:extLst>
                  <a:ext uri="{0D108BD9-81ED-4DB2-BD59-A6C34878D82A}">
                    <a16:rowId xmlns:a16="http://schemas.microsoft.com/office/drawing/2014/main" val="10002"/>
                  </a:ext>
                </a:extLst>
              </a:tr>
              <a:tr h="429768">
                <a:tc>
                  <a:txBody>
                    <a:bodyPr/>
                    <a:lstStyle/>
                    <a:p>
                      <a:r>
                        <a:rPr lang="vi-VN" sz="1300" b="1" i="0">
                          <a:solidFill>
                            <a:srgbClr val="1F2937"/>
                          </a:solidFill>
                          <a:latin typeface="Arial"/>
                        </a:rPr>
                        <a:t>GAC M8 2025</a:t>
                      </a:r>
                    </a:p>
                  </a:txBody>
                  <a:tcPr marL="73152" marR="73152" marT="27432" marB="27432" anchor="ctr">
                    <a:solidFill>
                      <a:srgbClr val="FFFFFF"/>
                    </a:solidFill>
                  </a:tcPr>
                </a:tc>
                <a:tc>
                  <a:txBody>
                    <a:bodyPr/>
                    <a:lstStyle/>
                    <a:p>
                      <a:r>
                        <a:rPr lang="vi-VN" sz="1300" b="0" i="0">
                          <a:solidFill>
                            <a:srgbClr val="1F2937"/>
                          </a:solidFill>
                          <a:latin typeface="Arial"/>
                        </a:rPr>
                        <a:t>Mới</a:t>
                      </a:r>
                    </a:p>
                  </a:txBody>
                  <a:tcPr marL="73152" marR="73152" marT="27432" marB="27432" anchor="ctr">
                    <a:solidFill>
                      <a:srgbClr val="FFFFFF"/>
                    </a:solidFill>
                  </a:tcPr>
                </a:tc>
                <a:tc>
                  <a:txBody>
                    <a:bodyPr/>
                    <a:lstStyle/>
                    <a:p>
                      <a:r>
                        <a:rPr lang="vi-VN" sz="1300" b="0" i="0">
                          <a:solidFill>
                            <a:srgbClr val="1F2937"/>
                          </a:solidFill>
                          <a:latin typeface="Arial"/>
                        </a:rPr>
                        <a:t>168</a:t>
                      </a:r>
                    </a:p>
                  </a:txBody>
                  <a:tcPr marL="73152" marR="73152" marT="27432" marB="27432" anchor="ctr">
                    <a:solidFill>
                      <a:srgbClr val="FFFFFF"/>
                    </a:solidFill>
                  </a:tcPr>
                </a:tc>
                <a:tc>
                  <a:txBody>
                    <a:bodyPr/>
                    <a:lstStyle/>
                    <a:p>
                      <a:r>
                        <a:rPr lang="vi-VN" sz="1300" b="0" i="0">
                          <a:solidFill>
                            <a:srgbClr val="1F2937"/>
                          </a:solidFill>
                          <a:latin typeface="Arial"/>
                        </a:rPr>
                        <a:t>621</a:t>
                      </a:r>
                    </a:p>
                  </a:txBody>
                  <a:tcPr marL="73152" marR="73152" marT="27432" marB="27432" anchor="ctr">
                    <a:solidFill>
                      <a:srgbClr val="FFFFFF"/>
                    </a:solidFill>
                  </a:tcPr>
                </a:tc>
                <a:extLst>
                  <a:ext uri="{0D108BD9-81ED-4DB2-BD59-A6C34878D82A}">
                    <a16:rowId xmlns:a16="http://schemas.microsoft.com/office/drawing/2014/main" val="10003"/>
                  </a:ext>
                </a:extLst>
              </a:tr>
              <a:tr h="429768">
                <a:tc>
                  <a:txBody>
                    <a:bodyPr/>
                    <a:lstStyle/>
                    <a:p>
                      <a:r>
                        <a:rPr lang="vi-VN" sz="1300" b="1" i="0">
                          <a:solidFill>
                            <a:srgbClr val="1F2937"/>
                          </a:solidFill>
                          <a:latin typeface="Arial"/>
                        </a:rPr>
                        <a:t>MINI Cooper 2025</a:t>
                      </a:r>
                    </a:p>
                  </a:txBody>
                  <a:tcPr marL="73152" marR="73152" marT="27432" marB="27432" anchor="ctr">
                    <a:solidFill>
                      <a:srgbClr val="EAF2FA"/>
                    </a:solidFill>
                  </a:tcPr>
                </a:tc>
                <a:tc>
                  <a:txBody>
                    <a:bodyPr/>
                    <a:lstStyle/>
                    <a:p>
                      <a:r>
                        <a:rPr lang="vi-VN" sz="1300" b="0" i="0">
                          <a:solidFill>
                            <a:srgbClr val="1F2937"/>
                          </a:solidFill>
                          <a:latin typeface="Arial"/>
                        </a:rPr>
                        <a:t>Đã dùng</a:t>
                      </a:r>
                    </a:p>
                  </a:txBody>
                  <a:tcPr marL="73152" marR="73152" marT="27432" marB="27432" anchor="ctr">
                    <a:solidFill>
                      <a:srgbClr val="EAF2FA"/>
                    </a:solidFill>
                  </a:tcPr>
                </a:tc>
                <a:tc>
                  <a:txBody>
                    <a:bodyPr/>
                    <a:lstStyle/>
                    <a:p>
                      <a:r>
                        <a:rPr lang="vi-VN" sz="1300" b="0" i="0">
                          <a:solidFill>
                            <a:srgbClr val="1F2937"/>
                          </a:solidFill>
                          <a:latin typeface="Arial"/>
                        </a:rPr>
                        <a:t>199</a:t>
                      </a:r>
                    </a:p>
                  </a:txBody>
                  <a:tcPr marL="73152" marR="73152" marT="27432" marB="27432" anchor="ctr">
                    <a:solidFill>
                      <a:srgbClr val="EAF2FA"/>
                    </a:solidFill>
                  </a:tcPr>
                </a:tc>
                <a:tc>
                  <a:txBody>
                    <a:bodyPr/>
                    <a:lstStyle/>
                    <a:p>
                      <a:r>
                        <a:rPr lang="vi-VN" sz="1300" b="0" i="0">
                          <a:solidFill>
                            <a:srgbClr val="1F2937"/>
                          </a:solidFill>
                          <a:latin typeface="Arial"/>
                        </a:rPr>
                        <a:t>751</a:t>
                      </a:r>
                    </a:p>
                  </a:txBody>
                  <a:tcPr marL="73152" marR="73152" marT="27432" marB="27432" anchor="ctr">
                    <a:solidFill>
                      <a:srgbClr val="EAF2FA"/>
                    </a:solidFill>
                  </a:tcPr>
                </a:tc>
                <a:extLst>
                  <a:ext uri="{0D108BD9-81ED-4DB2-BD59-A6C34878D82A}">
                    <a16:rowId xmlns:a16="http://schemas.microsoft.com/office/drawing/2014/main" val="10004"/>
                  </a:ext>
                </a:extLst>
              </a:tr>
              <a:tr h="429768">
                <a:tc>
                  <a:txBody>
                    <a:bodyPr/>
                    <a:lstStyle/>
                    <a:p>
                      <a:r>
                        <a:rPr lang="vi-VN" sz="1300" b="1" i="0">
                          <a:solidFill>
                            <a:srgbClr val="1F2937"/>
                          </a:solidFill>
                          <a:latin typeface="Arial"/>
                        </a:rPr>
                        <a:t>VinFast (dòng khác) 2025</a:t>
                      </a:r>
                    </a:p>
                  </a:txBody>
                  <a:tcPr marL="73152" marR="73152" marT="27432" marB="27432" anchor="ctr">
                    <a:solidFill>
                      <a:srgbClr val="FFFFFF"/>
                    </a:solidFill>
                  </a:tcPr>
                </a:tc>
                <a:tc>
                  <a:txBody>
                    <a:bodyPr/>
                    <a:lstStyle/>
                    <a:p>
                      <a:r>
                        <a:rPr lang="vi-VN" sz="1300" b="0" i="0">
                          <a:solidFill>
                            <a:srgbClr val="1F2937"/>
                          </a:solidFill>
                          <a:latin typeface="Arial"/>
                        </a:rPr>
                        <a:t>Đã dùng</a:t>
                      </a:r>
                    </a:p>
                  </a:txBody>
                  <a:tcPr marL="73152" marR="73152" marT="27432" marB="27432" anchor="ctr">
                    <a:solidFill>
                      <a:srgbClr val="FFFFFF"/>
                    </a:solidFill>
                  </a:tcPr>
                </a:tc>
                <a:tc>
                  <a:txBody>
                    <a:bodyPr/>
                    <a:lstStyle/>
                    <a:p>
                      <a:r>
                        <a:rPr lang="vi-VN" sz="1300" b="0" i="0">
                          <a:solidFill>
                            <a:srgbClr val="1F2937"/>
                          </a:solidFill>
                          <a:latin typeface="Arial"/>
                        </a:rPr>
                        <a:t>200</a:t>
                      </a:r>
                    </a:p>
                  </a:txBody>
                  <a:tcPr marL="73152" marR="73152" marT="27432" marB="27432" anchor="ctr">
                    <a:solidFill>
                      <a:srgbClr val="FFFFFF"/>
                    </a:solidFill>
                  </a:tcPr>
                </a:tc>
                <a:tc>
                  <a:txBody>
                    <a:bodyPr/>
                    <a:lstStyle/>
                    <a:p>
                      <a:r>
                        <a:rPr lang="vi-VN" sz="1300" b="0" i="0">
                          <a:solidFill>
                            <a:srgbClr val="1F2937"/>
                          </a:solidFill>
                          <a:latin typeface="Arial"/>
                        </a:rPr>
                        <a:t>590</a:t>
                      </a:r>
                    </a:p>
                  </a:txBody>
                  <a:tcPr marL="73152" marR="73152"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11" name="TextBox 10"/>
          <p:cNvSpPr txBox="1"/>
          <p:nvPr/>
        </p:nvSpPr>
        <p:spPr>
          <a:xfrm>
            <a:off x="5943600" y="4526280"/>
            <a:ext cx="5669280" cy="365760"/>
          </a:xfrm>
          <a:prstGeom prst="rect">
            <a:avLst/>
          </a:prstGeom>
          <a:noFill/>
        </p:spPr>
        <p:txBody>
          <a:bodyPr wrap="square" lIns="45720" tIns="27432" rIns="45720" bIns="27432" anchor="t">
            <a:spAutoFit/>
          </a:bodyPr>
          <a:lstStyle/>
          <a:p>
            <a:pPr algn="l">
              <a:lnSpc>
                <a:spcPct val="110000"/>
              </a:lnSpc>
              <a:spcAft>
                <a:spcPts val="600"/>
              </a:spcAft>
            </a:pPr>
            <a:r>
              <a:rPr lang="vi-VN" sz="1200" b="0" i="0">
                <a:solidFill>
                  <a:srgbClr val="5B6775"/>
                </a:solidFill>
                <a:latin typeface="Arial"/>
              </a:rPr>
              <a:t>Xe đời mới rao 90-200 triệu: gần như chắc chắn là giá trả trước lọt lưới (nhóm &lt; 3 xe ở train hoặc "Dòng khác").</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5 · QUY TRÌNH</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Trước / sau khi sửa quy trình: kết luận không đổi</a:t>
            </a:r>
          </a:p>
        </p:txBody>
      </p:sp>
      <p:pic>
        <p:nvPicPr>
          <p:cNvPr id="4" name="Picture 3" descr="s07_truoc_sau.png"/>
          <p:cNvPicPr>
            <a:picLocks noChangeAspect="1"/>
          </p:cNvPicPr>
          <p:nvPr/>
        </p:nvPicPr>
        <p:blipFill>
          <a:blip r:embed="rId3"/>
          <a:stretch>
            <a:fillRect/>
          </a:stretch>
        </p:blipFill>
        <p:spPr>
          <a:xfrm>
            <a:off x="365760" y="1330694"/>
            <a:ext cx="7589520" cy="3007891"/>
          </a:xfrm>
          <a:prstGeom prst="rect">
            <a:avLst/>
          </a:prstGeom>
        </p:spPr>
      </p:pic>
      <p:graphicFrame>
        <p:nvGraphicFramePr>
          <p:cNvPr id="5" name="Table 4"/>
          <p:cNvGraphicFramePr>
            <a:graphicFrameLocks noGrp="1"/>
          </p:cNvGraphicFramePr>
          <p:nvPr/>
        </p:nvGraphicFramePr>
        <p:xfrm>
          <a:off x="8138160" y="1371600"/>
          <a:ext cx="3520440" cy="2103120"/>
        </p:xfrm>
        <a:graphic>
          <a:graphicData uri="http://schemas.openxmlformats.org/drawingml/2006/table">
            <a:tbl>
              <a:tblPr>
                <a:tableStyleId>{5940675A-B579-460E-94D1-54222C63F5DA}</a:tableStyleId>
              </a:tblPr>
              <a:tblGrid>
                <a:gridCol w="160020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tblGrid>
              <a:tr h="420624">
                <a:tc>
                  <a:txBody>
                    <a:bodyPr/>
                    <a:lstStyle/>
                    <a:p>
                      <a:r>
                        <a:rPr lang="vi-VN" sz="1300" b="1" i="0">
                          <a:solidFill>
                            <a:srgbClr val="FFFFFF"/>
                          </a:solidFill>
                          <a:latin typeface="Arial"/>
                        </a:rPr>
                        <a:t>MAPE test</a:t>
                      </a:r>
                    </a:p>
                  </a:txBody>
                  <a:tcPr marL="73152" marR="73152" marT="27432" marB="27432" anchor="ctr">
                    <a:solidFill>
                      <a:srgbClr val="075289"/>
                    </a:solidFill>
                  </a:tcPr>
                </a:tc>
                <a:tc>
                  <a:txBody>
                    <a:bodyPr/>
                    <a:lstStyle/>
                    <a:p>
                      <a:r>
                        <a:rPr lang="vi-VN" sz="1300" b="1" i="0">
                          <a:solidFill>
                            <a:srgbClr val="FFFFFF"/>
                          </a:solidFill>
                          <a:latin typeface="Arial"/>
                        </a:rPr>
                        <a:t>Trước</a:t>
                      </a:r>
                    </a:p>
                  </a:txBody>
                  <a:tcPr marL="73152" marR="73152" marT="27432" marB="27432" anchor="ctr">
                    <a:solidFill>
                      <a:srgbClr val="075289"/>
                    </a:solidFill>
                  </a:tcPr>
                </a:tc>
                <a:tc>
                  <a:txBody>
                    <a:bodyPr/>
                    <a:lstStyle/>
                    <a:p>
                      <a:r>
                        <a:rPr lang="vi-VN" sz="1300" b="1" i="0">
                          <a:solidFill>
                            <a:srgbClr val="FFFFFF"/>
                          </a:solidFill>
                          <a:latin typeface="Arial"/>
                        </a:rPr>
                        <a:t>Sau</a:t>
                      </a:r>
                    </a:p>
                  </a:txBody>
                  <a:tcPr marL="73152" marR="73152" marT="27432" marB="27432" anchor="ctr">
                    <a:solidFill>
                      <a:srgbClr val="075289"/>
                    </a:solidFill>
                  </a:tcPr>
                </a:tc>
                <a:extLst>
                  <a:ext uri="{0D108BD9-81ED-4DB2-BD59-A6C34878D82A}">
                    <a16:rowId xmlns:a16="http://schemas.microsoft.com/office/drawing/2014/main" val="10000"/>
                  </a:ext>
                </a:extLst>
              </a:tr>
              <a:tr h="420624">
                <a:tc>
                  <a:txBody>
                    <a:bodyPr/>
                    <a:lstStyle/>
                    <a:p>
                      <a:r>
                        <a:rPr lang="vi-VN" sz="1300" b="1" i="0">
                          <a:solidFill>
                            <a:srgbClr val="1F2937"/>
                          </a:solidFill>
                          <a:latin typeface="Arial"/>
                        </a:rPr>
                        <a:t>Ridge</a:t>
                      </a:r>
                    </a:p>
                  </a:txBody>
                  <a:tcPr marL="73152" marR="73152" marT="27432" marB="27432" anchor="ctr">
                    <a:solidFill>
                      <a:srgbClr val="FFFFFF"/>
                    </a:solidFill>
                  </a:tcPr>
                </a:tc>
                <a:tc>
                  <a:txBody>
                    <a:bodyPr/>
                    <a:lstStyle/>
                    <a:p>
                      <a:r>
                        <a:rPr lang="vi-VN" sz="1300" b="0" i="0">
                          <a:solidFill>
                            <a:srgbClr val="1F2937"/>
                          </a:solidFill>
                          <a:latin typeface="Arial"/>
                        </a:rPr>
                        <a:t>18,5%</a:t>
                      </a:r>
                    </a:p>
                  </a:txBody>
                  <a:tcPr marL="73152" marR="73152" marT="27432" marB="27432" anchor="ctr">
                    <a:solidFill>
                      <a:srgbClr val="FFFFFF"/>
                    </a:solidFill>
                  </a:tcPr>
                </a:tc>
                <a:tc>
                  <a:txBody>
                    <a:bodyPr/>
                    <a:lstStyle/>
                    <a:p>
                      <a:r>
                        <a:rPr lang="vi-VN" sz="1300" b="0" i="0">
                          <a:solidFill>
                            <a:srgbClr val="1F2937"/>
                          </a:solidFill>
                          <a:latin typeface="Arial"/>
                        </a:rPr>
                        <a:t>18,5%</a:t>
                      </a:r>
                    </a:p>
                  </a:txBody>
                  <a:tcPr marL="73152" marR="73152" marT="27432" marB="27432" anchor="ctr">
                    <a:solidFill>
                      <a:srgbClr val="FFFFFF"/>
                    </a:solidFill>
                  </a:tcPr>
                </a:tc>
                <a:extLst>
                  <a:ext uri="{0D108BD9-81ED-4DB2-BD59-A6C34878D82A}">
                    <a16:rowId xmlns:a16="http://schemas.microsoft.com/office/drawing/2014/main" val="10001"/>
                  </a:ext>
                </a:extLst>
              </a:tr>
              <a:tr h="420624">
                <a:tc>
                  <a:txBody>
                    <a:bodyPr/>
                    <a:lstStyle/>
                    <a:p>
                      <a:r>
                        <a:rPr lang="vi-VN" sz="1300" b="1" i="0">
                          <a:solidFill>
                            <a:srgbClr val="1F2937"/>
                          </a:solidFill>
                          <a:latin typeface="Arial"/>
                        </a:rPr>
                        <a:t>RF thư viện</a:t>
                      </a:r>
                    </a:p>
                  </a:txBody>
                  <a:tcPr marL="73152" marR="73152" marT="27432" marB="27432" anchor="ctr">
                    <a:solidFill>
                      <a:srgbClr val="EAF2FA"/>
                    </a:solidFill>
                  </a:tcPr>
                </a:tc>
                <a:tc>
                  <a:txBody>
                    <a:bodyPr/>
                    <a:lstStyle/>
                    <a:p>
                      <a:r>
                        <a:rPr lang="vi-VN" sz="1300" b="0" i="0">
                          <a:solidFill>
                            <a:srgbClr val="1F2937"/>
                          </a:solidFill>
                          <a:latin typeface="Arial"/>
                        </a:rPr>
                        <a:t>15,5%</a:t>
                      </a:r>
                    </a:p>
                  </a:txBody>
                  <a:tcPr marL="73152" marR="73152" marT="27432" marB="27432" anchor="ctr">
                    <a:solidFill>
                      <a:srgbClr val="EAF2FA"/>
                    </a:solidFill>
                  </a:tcPr>
                </a:tc>
                <a:tc>
                  <a:txBody>
                    <a:bodyPr/>
                    <a:lstStyle/>
                    <a:p>
                      <a:r>
                        <a:rPr lang="vi-VN" sz="1300" b="1" i="0">
                          <a:solidFill>
                            <a:srgbClr val="EB6834"/>
                          </a:solidFill>
                          <a:latin typeface="Arial"/>
                        </a:rPr>
                        <a:t>15,1%</a:t>
                      </a:r>
                    </a:p>
                  </a:txBody>
                  <a:tcPr marL="73152" marR="73152" marT="27432" marB="27432" anchor="ctr">
                    <a:solidFill>
                      <a:srgbClr val="EAF2FA"/>
                    </a:solidFill>
                  </a:tcPr>
                </a:tc>
                <a:extLst>
                  <a:ext uri="{0D108BD9-81ED-4DB2-BD59-A6C34878D82A}">
                    <a16:rowId xmlns:a16="http://schemas.microsoft.com/office/drawing/2014/main" val="10002"/>
                  </a:ext>
                </a:extLst>
              </a:tr>
              <a:tr h="420624">
                <a:tc>
                  <a:txBody>
                    <a:bodyPr/>
                    <a:lstStyle/>
                    <a:p>
                      <a:r>
                        <a:rPr lang="vi-VN" sz="1300" b="1" i="0">
                          <a:solidFill>
                            <a:srgbClr val="1F2937"/>
                          </a:solidFill>
                          <a:latin typeface="Arial"/>
                        </a:rPr>
                        <a:t>RF tự cài đặt</a:t>
                      </a:r>
                    </a:p>
                  </a:txBody>
                  <a:tcPr marL="73152" marR="73152" marT="27432" marB="27432" anchor="ctr">
                    <a:solidFill>
                      <a:srgbClr val="FFFFFF"/>
                    </a:solidFill>
                  </a:tcPr>
                </a:tc>
                <a:tc>
                  <a:txBody>
                    <a:bodyPr/>
                    <a:lstStyle/>
                    <a:p>
                      <a:r>
                        <a:rPr lang="vi-VN" sz="1300" b="0" i="0">
                          <a:solidFill>
                            <a:srgbClr val="1F2937"/>
                          </a:solidFill>
                          <a:latin typeface="Arial"/>
                        </a:rPr>
                        <a:t>15,7%</a:t>
                      </a:r>
                    </a:p>
                  </a:txBody>
                  <a:tcPr marL="73152" marR="73152" marT="27432" marB="27432" anchor="ctr">
                    <a:solidFill>
                      <a:srgbClr val="FFFFFF"/>
                    </a:solidFill>
                  </a:tcPr>
                </a:tc>
                <a:tc>
                  <a:txBody>
                    <a:bodyPr/>
                    <a:lstStyle/>
                    <a:p>
                      <a:r>
                        <a:rPr lang="vi-VN" sz="1300" b="0" i="0">
                          <a:solidFill>
                            <a:srgbClr val="1F2937"/>
                          </a:solidFill>
                          <a:latin typeface="Arial"/>
                        </a:rPr>
                        <a:t>15,7%</a:t>
                      </a:r>
                    </a:p>
                  </a:txBody>
                  <a:tcPr marL="73152" marR="73152" marT="27432" marB="27432" anchor="ctr">
                    <a:solidFill>
                      <a:srgbClr val="FFFFFF"/>
                    </a:solidFill>
                  </a:tcPr>
                </a:tc>
                <a:extLst>
                  <a:ext uri="{0D108BD9-81ED-4DB2-BD59-A6C34878D82A}">
                    <a16:rowId xmlns:a16="http://schemas.microsoft.com/office/drawing/2014/main" val="10003"/>
                  </a:ext>
                </a:extLst>
              </a:tr>
              <a:tr h="420624">
                <a:tc>
                  <a:txBody>
                    <a:bodyPr/>
                    <a:lstStyle/>
                    <a:p>
                      <a:r>
                        <a:rPr lang="vi-VN" sz="1300" b="1" i="0">
                          <a:solidFill>
                            <a:srgbClr val="1F2937"/>
                          </a:solidFill>
                          <a:latin typeface="Arial"/>
                        </a:rPr>
                        <a:t>Số tin test</a:t>
                      </a:r>
                    </a:p>
                  </a:txBody>
                  <a:tcPr marL="73152" marR="73152" marT="27432" marB="27432" anchor="ctr">
                    <a:solidFill>
                      <a:srgbClr val="EAF2FA"/>
                    </a:solidFill>
                  </a:tcPr>
                </a:tc>
                <a:tc>
                  <a:txBody>
                    <a:bodyPr/>
                    <a:lstStyle/>
                    <a:p>
                      <a:r>
                        <a:rPr lang="vi-VN" sz="1300" b="0" i="0">
                          <a:solidFill>
                            <a:srgbClr val="1F2937"/>
                          </a:solidFill>
                          <a:latin typeface="Arial"/>
                        </a:rPr>
                        <a:t>2.788</a:t>
                      </a:r>
                    </a:p>
                  </a:txBody>
                  <a:tcPr marL="73152" marR="73152" marT="27432" marB="27432" anchor="ctr">
                    <a:solidFill>
                      <a:srgbClr val="EAF2FA"/>
                    </a:solidFill>
                  </a:tcPr>
                </a:tc>
                <a:tc>
                  <a:txBody>
                    <a:bodyPr/>
                    <a:lstStyle/>
                    <a:p>
                      <a:r>
                        <a:rPr lang="vi-VN" sz="1300" b="0" i="0">
                          <a:solidFill>
                            <a:srgbClr val="1F2937"/>
                          </a:solidFill>
                          <a:latin typeface="Arial"/>
                        </a:rPr>
                        <a:t>2.797</a:t>
                      </a:r>
                    </a:p>
                  </a:txBody>
                  <a:tcPr marL="73152" marR="73152" marT="27432" marB="27432" anchor="ctr">
                    <a:solidFill>
                      <a:srgbClr val="EAF2FA"/>
                    </a:solidFill>
                  </a:tcPr>
                </a:tc>
                <a:extLst>
                  <a:ext uri="{0D108BD9-81ED-4DB2-BD59-A6C34878D82A}">
                    <a16:rowId xmlns:a16="http://schemas.microsoft.com/office/drawing/2014/main" val="10004"/>
                  </a:ext>
                </a:extLst>
              </a:tr>
            </a:tbl>
          </a:graphicData>
        </a:graphic>
      </p:graphicFrame>
      <p:sp>
        <p:nvSpPr>
          <p:cNvPr id="6" name="Rounded Rectangle 5"/>
          <p:cNvSpPr/>
          <p:nvPr/>
        </p:nvSpPr>
        <p:spPr>
          <a:xfrm>
            <a:off x="8138160" y="3657600"/>
            <a:ext cx="3520440" cy="73152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275320" y="3657600"/>
            <a:ext cx="3291840" cy="731520"/>
          </a:xfrm>
          <a:prstGeom prst="rect">
            <a:avLst/>
          </a:prstGeom>
          <a:noFill/>
        </p:spPr>
        <p:txBody>
          <a:bodyPr wrap="square" lIns="45720" tIns="27432" rIns="45720" bIns="27432" anchor="ctr">
            <a:spAutoFit/>
          </a:bodyPr>
          <a:lstStyle/>
          <a:p>
            <a:pPr algn="l">
              <a:lnSpc>
                <a:spcPct val="110000"/>
              </a:lnSpc>
              <a:spcAft>
                <a:spcPts val="600"/>
              </a:spcAft>
            </a:pPr>
            <a:r>
              <a:rPr lang="vi-VN" sz="1400" b="1" i="0">
                <a:solidFill>
                  <a:srgbClr val="FFD400"/>
                </a:solidFill>
                <a:latin typeface="Arial"/>
              </a:rPr>
              <a:t>Đối chứng: chỉ 0,04 điểm %</a:t>
            </a:r>
          </a:p>
        </p:txBody>
      </p:sp>
      <p:sp>
        <p:nvSpPr>
          <p:cNvPr id="8" name="Rounded Rectangle 7"/>
          <p:cNvSpPr/>
          <p:nvPr/>
        </p:nvSpPr>
        <p:spPr>
          <a:xfrm>
            <a:off x="548640" y="4572000"/>
            <a:ext cx="5440680" cy="96012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731520" y="4645152"/>
            <a:ext cx="5074920" cy="365760"/>
          </a:xfrm>
          <a:prstGeom prst="rect">
            <a:avLst/>
          </a:prstGeom>
          <a:noFill/>
        </p:spPr>
        <p:txBody>
          <a:bodyPr wrap="square" lIns="45720" tIns="27432" rIns="45720" bIns="27432" anchor="t">
            <a:spAutoFit/>
          </a:bodyPr>
          <a:lstStyle/>
          <a:p>
            <a:pPr algn="l">
              <a:lnSpc>
                <a:spcPct val="110000"/>
              </a:lnSpc>
              <a:spcAft>
                <a:spcPts val="600"/>
              </a:spcAft>
            </a:pPr>
            <a:r>
              <a:rPr lang="vi-VN" sz="1400" b="1" i="0">
                <a:solidFill>
                  <a:srgbClr val="075289"/>
                </a:solidFill>
                <a:latin typeface="Arial"/>
              </a:rPr>
              <a:t>Trước</a:t>
            </a:r>
          </a:p>
        </p:txBody>
      </p:sp>
      <p:sp>
        <p:nvSpPr>
          <p:cNvPr id="10" name="TextBox 9"/>
          <p:cNvSpPr txBox="1"/>
          <p:nvPr/>
        </p:nvSpPr>
        <p:spPr>
          <a:xfrm>
            <a:off x="731520" y="5029200"/>
            <a:ext cx="5074920" cy="457200"/>
          </a:xfrm>
          <a:prstGeom prst="rect">
            <a:avLst/>
          </a:prstGeom>
          <a:noFill/>
        </p:spPr>
        <p:txBody>
          <a:bodyPr wrap="square" lIns="45720" tIns="27432" rIns="45720" bIns="27432" anchor="t">
            <a:spAutoFit/>
          </a:bodyPr>
          <a:lstStyle/>
          <a:p>
            <a:pPr algn="l">
              <a:lnSpc>
                <a:spcPct val="110000"/>
              </a:lnSpc>
              <a:spcAft>
                <a:spcPts val="400"/>
              </a:spcAft>
            </a:pPr>
            <a:r>
              <a:rPr lang="vi-VN" sz="1200" b="0" i="0">
                <a:solidFill>
                  <a:srgbClr val="1F2937"/>
                </a:solidFill>
                <a:latin typeface="Arial"/>
              </a:rPr>
              <a:t>Tham số tiền xử lý tính trên toàn bộ dữ liệu: tập test góp phần tạo giá trị điền, nhãn gộp, bảng lọc</a:t>
            </a:r>
          </a:p>
        </p:txBody>
      </p:sp>
      <p:sp>
        <p:nvSpPr>
          <p:cNvPr id="11" name="Rounded Rectangle 10"/>
          <p:cNvSpPr/>
          <p:nvPr/>
        </p:nvSpPr>
        <p:spPr>
          <a:xfrm>
            <a:off x="6172200" y="4572000"/>
            <a:ext cx="5440680" cy="96012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355080" y="4645152"/>
            <a:ext cx="5074920" cy="365760"/>
          </a:xfrm>
          <a:prstGeom prst="rect">
            <a:avLst/>
          </a:prstGeom>
          <a:noFill/>
        </p:spPr>
        <p:txBody>
          <a:bodyPr wrap="square" lIns="45720" tIns="27432" rIns="45720" bIns="27432" anchor="t">
            <a:spAutoFit/>
          </a:bodyPr>
          <a:lstStyle/>
          <a:p>
            <a:pPr algn="l">
              <a:lnSpc>
                <a:spcPct val="110000"/>
              </a:lnSpc>
              <a:spcAft>
                <a:spcPts val="600"/>
              </a:spcAft>
            </a:pPr>
            <a:r>
              <a:rPr lang="vi-VN" sz="1400" b="1" i="0">
                <a:solidFill>
                  <a:srgbClr val="FFD400"/>
                </a:solidFill>
                <a:latin typeface="Arial"/>
              </a:rPr>
              <a:t>Sau</a:t>
            </a:r>
          </a:p>
        </p:txBody>
      </p:sp>
      <p:sp>
        <p:nvSpPr>
          <p:cNvPr id="13" name="TextBox 12"/>
          <p:cNvSpPr txBox="1"/>
          <p:nvPr/>
        </p:nvSpPr>
        <p:spPr>
          <a:xfrm>
            <a:off x="6355080" y="5029200"/>
            <a:ext cx="5074920" cy="457200"/>
          </a:xfrm>
          <a:prstGeom prst="rect">
            <a:avLst/>
          </a:prstGeom>
          <a:noFill/>
        </p:spPr>
        <p:txBody>
          <a:bodyPr wrap="square" lIns="45720" tIns="27432" rIns="45720" bIns="27432" anchor="t">
            <a:spAutoFit/>
          </a:bodyPr>
          <a:lstStyle/>
          <a:p>
            <a:pPr algn="l">
              <a:lnSpc>
                <a:spcPct val="110000"/>
              </a:lnSpc>
              <a:spcAft>
                <a:spcPts val="400"/>
              </a:spcAft>
            </a:pPr>
            <a:r>
              <a:rPr lang="vi-VN" sz="1200" b="0" i="0">
                <a:solidFill>
                  <a:srgbClr val="FFFFFF"/>
                </a:solidFill>
                <a:latin typeface="Arial"/>
              </a:rPr>
              <a:t>Tham số chỉ học từ train; test chỉ được transform → điểm là ước lượng trung thực cho xe mới</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PHẦN 5 · TRIỂN KHAI</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Lưu mô hình và dự đoán từ thông tin thô của xe</a:t>
            </a:r>
          </a:p>
        </p:txBody>
      </p:sp>
      <p:graphicFrame>
        <p:nvGraphicFramePr>
          <p:cNvPr id="4" name="Table 3"/>
          <p:cNvGraphicFramePr>
            <a:graphicFrameLocks noGrp="1"/>
          </p:cNvGraphicFramePr>
          <p:nvPr/>
        </p:nvGraphicFramePr>
        <p:xfrm>
          <a:off x="548640" y="1463040"/>
          <a:ext cx="6035040" cy="3008376"/>
        </p:xfrm>
        <a:graphic>
          <a:graphicData uri="http://schemas.openxmlformats.org/drawingml/2006/table">
            <a:tbl>
              <a:tblPr>
                <a:tableStyleId>{5940675A-B579-460E-94D1-54222C63F5DA}</a:tableStyleId>
              </a:tblPr>
              <a:tblGrid>
                <a:gridCol w="283464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tblGrid>
              <a:tr h="429768">
                <a:tc>
                  <a:txBody>
                    <a:bodyPr/>
                    <a:lstStyle/>
                    <a:p>
                      <a:r>
                        <a:rPr lang="vi-VN" sz="1200" b="1" i="0">
                          <a:solidFill>
                            <a:srgbClr val="FFFFFF"/>
                          </a:solidFill>
                          <a:latin typeface="Arial"/>
                        </a:rPr>
                        <a:t>File</a:t>
                      </a:r>
                    </a:p>
                  </a:txBody>
                  <a:tcPr marL="73152" marR="73152" marT="27432" marB="27432" anchor="ctr">
                    <a:solidFill>
                      <a:srgbClr val="075289"/>
                    </a:solidFill>
                  </a:tcPr>
                </a:tc>
                <a:tc>
                  <a:txBody>
                    <a:bodyPr/>
                    <a:lstStyle/>
                    <a:p>
                      <a:r>
                        <a:rPr lang="vi-VN" sz="1200" b="1" i="0">
                          <a:solidFill>
                            <a:srgbClr val="FFFFFF"/>
                          </a:solidFill>
                          <a:latin typeface="Arial"/>
                        </a:rPr>
                        <a:t>Nội dung</a:t>
                      </a:r>
                    </a:p>
                  </a:txBody>
                  <a:tcPr marL="73152" marR="73152" marT="27432" marB="27432" anchor="ctr">
                    <a:solidFill>
                      <a:srgbClr val="075289"/>
                    </a:solidFill>
                  </a:tcPr>
                </a:tc>
                <a:extLst>
                  <a:ext uri="{0D108BD9-81ED-4DB2-BD59-A6C34878D82A}">
                    <a16:rowId xmlns:a16="http://schemas.microsoft.com/office/drawing/2014/main" val="10000"/>
                  </a:ext>
                </a:extLst>
              </a:tr>
              <a:tr h="429768">
                <a:tc>
                  <a:txBody>
                    <a:bodyPr/>
                    <a:lstStyle/>
                    <a:p>
                      <a:r>
                        <a:rPr lang="vi-VN" sz="1200" b="1" i="0">
                          <a:solidFill>
                            <a:srgbClr val="1F2937"/>
                          </a:solidFill>
                          <a:latin typeface="Arial"/>
                        </a:rPr>
                        <a:t>random_forest_sklearn.joblib</a:t>
                      </a:r>
                    </a:p>
                  </a:txBody>
                  <a:tcPr marL="73152" marR="73152" marT="27432" marB="27432" anchor="ctr">
                    <a:solidFill>
                      <a:srgbClr val="FFFFFF"/>
                    </a:solidFill>
                  </a:tcPr>
                </a:tc>
                <a:tc>
                  <a:txBody>
                    <a:bodyPr/>
                    <a:lstStyle/>
                    <a:p>
                      <a:r>
                        <a:rPr lang="vi-VN" sz="1200" b="0" i="0">
                          <a:solidFill>
                            <a:srgbClr val="1F2937"/>
                          </a:solidFill>
                          <a:latin typeface="Arial"/>
                        </a:rPr>
                        <a:t>rừng thư viện (300 cây)</a:t>
                      </a:r>
                    </a:p>
                  </a:txBody>
                  <a:tcPr marL="73152" marR="73152" marT="27432" marB="27432" anchor="ctr">
                    <a:solidFill>
                      <a:srgbClr val="FFFFFF"/>
                    </a:solidFill>
                  </a:tcPr>
                </a:tc>
                <a:extLst>
                  <a:ext uri="{0D108BD9-81ED-4DB2-BD59-A6C34878D82A}">
                    <a16:rowId xmlns:a16="http://schemas.microsoft.com/office/drawing/2014/main" val="10001"/>
                  </a:ext>
                </a:extLst>
              </a:tr>
              <a:tr h="429768">
                <a:tc>
                  <a:txBody>
                    <a:bodyPr/>
                    <a:lstStyle/>
                    <a:p>
                      <a:r>
                        <a:rPr lang="vi-VN" sz="1200" b="1" i="0">
                          <a:solidFill>
                            <a:srgbClr val="1F2937"/>
                          </a:solidFill>
                          <a:latin typeface="Arial"/>
                        </a:rPr>
                        <a:t>random_forest_scratch.npz</a:t>
                      </a:r>
                    </a:p>
                  </a:txBody>
                  <a:tcPr marL="73152" marR="73152" marT="27432" marB="27432" anchor="ctr">
                    <a:solidFill>
                      <a:srgbClr val="EAF2FA"/>
                    </a:solidFill>
                  </a:tcPr>
                </a:tc>
                <a:tc>
                  <a:txBody>
                    <a:bodyPr/>
                    <a:lstStyle/>
                    <a:p>
                      <a:r>
                        <a:rPr lang="vi-VN" sz="1200" b="0" i="0">
                          <a:solidFill>
                            <a:srgbClr val="1F2937"/>
                          </a:solidFill>
                          <a:latin typeface="Arial"/>
                        </a:rPr>
                        <a:t>các cây và ngưỡng bin của rừng tự cài đặt</a:t>
                      </a:r>
                    </a:p>
                  </a:txBody>
                  <a:tcPr marL="73152" marR="73152" marT="27432" marB="27432" anchor="ctr">
                    <a:solidFill>
                      <a:srgbClr val="EAF2FA"/>
                    </a:solidFill>
                  </a:tcPr>
                </a:tc>
                <a:extLst>
                  <a:ext uri="{0D108BD9-81ED-4DB2-BD59-A6C34878D82A}">
                    <a16:rowId xmlns:a16="http://schemas.microsoft.com/office/drawing/2014/main" val="10002"/>
                  </a:ext>
                </a:extLst>
              </a:tr>
              <a:tr h="429768">
                <a:tc>
                  <a:txBody>
                    <a:bodyPr/>
                    <a:lstStyle/>
                    <a:p>
                      <a:r>
                        <a:rPr lang="vi-VN" sz="1200" b="1" i="0">
                          <a:solidFill>
                            <a:srgbClr val="1F2937"/>
                          </a:solidFill>
                          <a:latin typeface="Arial"/>
                        </a:rPr>
                        <a:t>preprocessor_rf.joblib</a:t>
                      </a:r>
                    </a:p>
                  </a:txBody>
                  <a:tcPr marL="73152" marR="73152" marT="27432" marB="27432" anchor="ctr">
                    <a:solidFill>
                      <a:srgbClr val="FFFFFF"/>
                    </a:solidFill>
                  </a:tcPr>
                </a:tc>
                <a:tc>
                  <a:txBody>
                    <a:bodyPr/>
                    <a:lstStyle/>
                    <a:p>
                      <a:r>
                        <a:rPr lang="vi-VN" sz="1200" b="0" i="0">
                          <a:solidFill>
                            <a:srgbClr val="1F2937"/>
                          </a:solidFill>
                          <a:latin typeface="Arial"/>
                        </a:rPr>
                        <a:t>bộ mã hóa one-hot (fit trên train)</a:t>
                      </a:r>
                    </a:p>
                  </a:txBody>
                  <a:tcPr marL="73152" marR="73152" marT="27432" marB="27432" anchor="ctr">
                    <a:solidFill>
                      <a:srgbClr val="FFFFFF"/>
                    </a:solidFill>
                  </a:tcPr>
                </a:tc>
                <a:extLst>
                  <a:ext uri="{0D108BD9-81ED-4DB2-BD59-A6C34878D82A}">
                    <a16:rowId xmlns:a16="http://schemas.microsoft.com/office/drawing/2014/main" val="10003"/>
                  </a:ext>
                </a:extLst>
              </a:tr>
              <a:tr h="429768">
                <a:tc>
                  <a:txBody>
                    <a:bodyPr/>
                    <a:lstStyle/>
                    <a:p>
                      <a:r>
                        <a:rPr lang="vi-VN" sz="1200" b="1" i="0">
                          <a:solidFill>
                            <a:srgbClr val="1F2937"/>
                          </a:solidFill>
                          <a:latin typeface="Arial"/>
                        </a:rPr>
                        <a:t>metadata.json</a:t>
                      </a:r>
                    </a:p>
                  </a:txBody>
                  <a:tcPr marL="73152" marR="73152" marT="27432" marB="27432" anchor="ctr">
                    <a:solidFill>
                      <a:srgbClr val="EAF2FA"/>
                    </a:solidFill>
                  </a:tcPr>
                </a:tc>
                <a:tc>
                  <a:txBody>
                    <a:bodyPr/>
                    <a:lstStyle/>
                    <a:p>
                      <a:r>
                        <a:rPr lang="vi-VN" sz="1200" b="0" i="0">
                          <a:solidFill>
                            <a:srgbClr val="1F2937"/>
                          </a:solidFill>
                          <a:latin typeface="Arial"/>
                        </a:rPr>
                        <a:t>nhãn đủ ngưỡng, trung vị km (học từ train), metric</a:t>
                      </a:r>
                    </a:p>
                  </a:txBody>
                  <a:tcPr marL="73152" marR="73152" marT="27432" marB="27432" anchor="ctr">
                    <a:solidFill>
                      <a:srgbClr val="EAF2FA"/>
                    </a:solidFill>
                  </a:tcPr>
                </a:tc>
                <a:extLst>
                  <a:ext uri="{0D108BD9-81ED-4DB2-BD59-A6C34878D82A}">
                    <a16:rowId xmlns:a16="http://schemas.microsoft.com/office/drawing/2014/main" val="10004"/>
                  </a:ext>
                </a:extLst>
              </a:tr>
              <a:tr h="429768">
                <a:tc>
                  <a:txBody>
                    <a:bodyPr/>
                    <a:lstStyle/>
                    <a:p>
                      <a:r>
                        <a:rPr lang="vi-VN" sz="1200" b="1" i="0">
                          <a:solidFill>
                            <a:srgbClr val="1F2937"/>
                          </a:solidFill>
                          <a:latin typeface="Arial"/>
                        </a:rPr>
                        <a:t>data_transformers.joblib</a:t>
                      </a:r>
                    </a:p>
                  </a:txBody>
                  <a:tcPr marL="73152" marR="73152" marT="27432" marB="27432" anchor="ctr">
                    <a:solidFill>
                      <a:srgbClr val="FFFFFF"/>
                    </a:solidFill>
                  </a:tcPr>
                </a:tc>
                <a:tc>
                  <a:txBody>
                    <a:bodyPr/>
                    <a:lstStyle/>
                    <a:p>
                      <a:r>
                        <a:rPr lang="vi-VN" sz="1200" b="0" i="0">
                          <a:solidFill>
                            <a:srgbClr val="1F2937"/>
                          </a:solidFill>
                          <a:latin typeface="Arial"/>
                        </a:rPr>
                        <a:t>CarImputer, BrandModelGrouper đã fit trên train</a:t>
                      </a:r>
                    </a:p>
                  </a:txBody>
                  <a:tcPr marL="73152" marR="73152" marT="27432" marB="27432" anchor="ctr">
                    <a:solidFill>
                      <a:srgbClr val="FFFFFF"/>
                    </a:solidFill>
                  </a:tcPr>
                </a:tc>
                <a:extLst>
                  <a:ext uri="{0D108BD9-81ED-4DB2-BD59-A6C34878D82A}">
                    <a16:rowId xmlns:a16="http://schemas.microsoft.com/office/drawing/2014/main" val="10005"/>
                  </a:ext>
                </a:extLst>
              </a:tr>
              <a:tr h="429768">
                <a:tc>
                  <a:txBody>
                    <a:bodyPr/>
                    <a:lstStyle/>
                    <a:p>
                      <a:r>
                        <a:rPr lang="vi-VN" sz="1200" b="1" i="0">
                          <a:solidFill>
                            <a:srgbClr val="1F2937"/>
                          </a:solidFill>
                          <a:latin typeface="Arial"/>
                        </a:rPr>
                        <a:t>price_model.py</a:t>
                      </a:r>
                    </a:p>
                  </a:txBody>
                  <a:tcPr marL="73152" marR="73152" marT="27432" marB="27432" anchor="ctr">
                    <a:solidFill>
                      <a:srgbClr val="EAF2FA"/>
                    </a:solidFill>
                  </a:tcPr>
                </a:tc>
                <a:tc>
                  <a:txBody>
                    <a:bodyPr/>
                    <a:lstStyle/>
                    <a:p>
                      <a:r>
                        <a:rPr lang="vi-VN" sz="1200" b="0" i="0">
                          <a:solidFill>
                            <a:srgbClr val="1F2937"/>
                          </a:solidFill>
                          <a:latin typeface="Arial"/>
                        </a:rPr>
                        <a:t>load_model(), predict_price()</a:t>
                      </a:r>
                    </a:p>
                  </a:txBody>
                  <a:tcPr marL="73152" marR="73152" marT="27432" marB="27432" anchor="ctr">
                    <a:solidFill>
                      <a:srgbClr val="EAF2FA"/>
                    </a:solidFill>
                  </a:tcPr>
                </a:tc>
                <a:extLst>
                  <a:ext uri="{0D108BD9-81ED-4DB2-BD59-A6C34878D82A}">
                    <a16:rowId xmlns:a16="http://schemas.microsoft.com/office/drawing/2014/main" val="10006"/>
                  </a:ext>
                </a:extLst>
              </a:tr>
            </a:tbl>
          </a:graphicData>
        </a:graphic>
      </p:graphicFrame>
      <p:sp>
        <p:nvSpPr>
          <p:cNvPr id="5" name="TextBox 4"/>
          <p:cNvSpPr txBox="1"/>
          <p:nvPr/>
        </p:nvSpPr>
        <p:spPr>
          <a:xfrm>
            <a:off x="6858000" y="1417320"/>
            <a:ext cx="4754880" cy="365760"/>
          </a:xfrm>
          <a:prstGeom prst="rect">
            <a:avLst/>
          </a:prstGeom>
          <a:noFill/>
        </p:spPr>
        <p:txBody>
          <a:bodyPr wrap="square" lIns="45720" tIns="27432" rIns="45720" bIns="27432" anchor="t">
            <a:spAutoFit/>
          </a:bodyPr>
          <a:lstStyle/>
          <a:p>
            <a:pPr algn="l">
              <a:lnSpc>
                <a:spcPct val="110000"/>
              </a:lnSpc>
              <a:spcAft>
                <a:spcPts val="600"/>
              </a:spcAft>
            </a:pPr>
            <a:r>
              <a:rPr lang="vi-VN" sz="1500" b="1" i="0">
                <a:solidFill>
                  <a:srgbClr val="075289"/>
                </a:solidFill>
                <a:latin typeface="Arial"/>
              </a:rPr>
              <a:t>Ví dụ dự đoán (triệu đồng)</a:t>
            </a:r>
          </a:p>
        </p:txBody>
      </p:sp>
      <p:graphicFrame>
        <p:nvGraphicFramePr>
          <p:cNvPr id="6" name="Table 5"/>
          <p:cNvGraphicFramePr>
            <a:graphicFrameLocks noGrp="1"/>
          </p:cNvGraphicFramePr>
          <p:nvPr/>
        </p:nvGraphicFramePr>
        <p:xfrm>
          <a:off x="6858000" y="1828800"/>
          <a:ext cx="4754880" cy="1645920"/>
        </p:xfrm>
        <a:graphic>
          <a:graphicData uri="http://schemas.openxmlformats.org/drawingml/2006/table">
            <a:tbl>
              <a:tblPr>
                <a:tableStyleId>{5940675A-B579-460E-94D1-54222C63F5DA}</a:tableStyleId>
              </a:tblPr>
              <a:tblGrid>
                <a:gridCol w="23774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tblGrid>
              <a:tr h="548640">
                <a:tc>
                  <a:txBody>
                    <a:bodyPr/>
                    <a:lstStyle/>
                    <a:p>
                      <a:r>
                        <a:rPr lang="vi-VN" sz="1300" b="1" i="0">
                          <a:solidFill>
                            <a:srgbClr val="FFFFFF"/>
                          </a:solidFill>
                          <a:latin typeface="Arial"/>
                        </a:rPr>
                        <a:t>Xe</a:t>
                      </a:r>
                    </a:p>
                  </a:txBody>
                  <a:tcPr marL="73152" marR="73152" marT="27432" marB="27432" anchor="ctr">
                    <a:solidFill>
                      <a:srgbClr val="075289"/>
                    </a:solidFill>
                  </a:tcPr>
                </a:tc>
                <a:tc>
                  <a:txBody>
                    <a:bodyPr/>
                    <a:lstStyle/>
                    <a:p>
                      <a:r>
                        <a:rPr lang="vi-VN" sz="1300" b="1" i="0">
                          <a:solidFill>
                            <a:srgbClr val="FFFFFF"/>
                          </a:solidFill>
                          <a:latin typeface="Arial"/>
                        </a:rPr>
                        <a:t>RF (TV)</a:t>
                      </a:r>
                    </a:p>
                  </a:txBody>
                  <a:tcPr marL="73152" marR="73152" marT="27432" marB="27432" anchor="ctr">
                    <a:solidFill>
                      <a:srgbClr val="075289"/>
                    </a:solidFill>
                  </a:tcPr>
                </a:tc>
                <a:tc>
                  <a:txBody>
                    <a:bodyPr/>
                    <a:lstStyle/>
                    <a:p>
                      <a:r>
                        <a:rPr lang="vi-VN" sz="1300" b="1" i="0">
                          <a:solidFill>
                            <a:srgbClr val="FFFFFF"/>
                          </a:solidFill>
                          <a:latin typeface="Arial"/>
                        </a:rPr>
                        <a:t>RF (TCĐ)</a:t>
                      </a:r>
                    </a:p>
                  </a:txBody>
                  <a:tcPr marL="73152" marR="73152" marT="27432" marB="27432" anchor="ctr">
                    <a:solidFill>
                      <a:srgbClr val="075289"/>
                    </a:solidFill>
                  </a:tcPr>
                </a:tc>
                <a:tc>
                  <a:txBody>
                    <a:bodyPr/>
                    <a:lstStyle/>
                    <a:p>
                      <a:r>
                        <a:rPr lang="vi-VN" sz="1300" b="1" i="0">
                          <a:solidFill>
                            <a:srgbClr val="FFFFFF"/>
                          </a:solidFill>
                          <a:latin typeface="Arial"/>
                        </a:rPr>
                        <a:t>Ridge</a:t>
                      </a:r>
                    </a:p>
                  </a:txBody>
                  <a:tcPr marL="73152" marR="73152" marT="27432" marB="27432" anchor="ctr">
                    <a:solidFill>
                      <a:srgbClr val="075289"/>
                    </a:solidFill>
                  </a:tcPr>
                </a:tc>
                <a:extLst>
                  <a:ext uri="{0D108BD9-81ED-4DB2-BD59-A6C34878D82A}">
                    <a16:rowId xmlns:a16="http://schemas.microsoft.com/office/drawing/2014/main" val="10000"/>
                  </a:ext>
                </a:extLst>
              </a:tr>
              <a:tr h="548640">
                <a:tc>
                  <a:txBody>
                    <a:bodyPr/>
                    <a:lstStyle/>
                    <a:p>
                      <a:r>
                        <a:rPr lang="vi-VN" sz="1300" b="1" i="0">
                          <a:solidFill>
                            <a:srgbClr val="1F2937"/>
                          </a:solidFill>
                          <a:latin typeface="Arial"/>
                        </a:rPr>
                        <a:t>Toyota Vios 2018, 80.000 km</a:t>
                      </a:r>
                    </a:p>
                  </a:txBody>
                  <a:tcPr marL="73152" marR="73152" marT="27432" marB="27432" anchor="ctr">
                    <a:solidFill>
                      <a:srgbClr val="FFFFFF"/>
                    </a:solidFill>
                  </a:tcPr>
                </a:tc>
                <a:tc>
                  <a:txBody>
                    <a:bodyPr/>
                    <a:lstStyle/>
                    <a:p>
                      <a:r>
                        <a:rPr lang="vi-VN" sz="1300" b="0" i="0">
                          <a:solidFill>
                            <a:srgbClr val="1F2937"/>
                          </a:solidFill>
                          <a:latin typeface="Arial"/>
                        </a:rPr>
                        <a:t>299</a:t>
                      </a:r>
                    </a:p>
                  </a:txBody>
                  <a:tcPr marL="73152" marR="73152" marT="27432" marB="27432" anchor="ctr">
                    <a:solidFill>
                      <a:srgbClr val="FFFFFF"/>
                    </a:solidFill>
                  </a:tcPr>
                </a:tc>
                <a:tc>
                  <a:txBody>
                    <a:bodyPr/>
                    <a:lstStyle/>
                    <a:p>
                      <a:r>
                        <a:rPr lang="vi-VN" sz="1300" b="0" i="0">
                          <a:solidFill>
                            <a:srgbClr val="1F2937"/>
                          </a:solidFill>
                          <a:latin typeface="Arial"/>
                        </a:rPr>
                        <a:t>300</a:t>
                      </a:r>
                    </a:p>
                  </a:txBody>
                  <a:tcPr marL="73152" marR="73152" marT="27432" marB="27432" anchor="ctr">
                    <a:solidFill>
                      <a:srgbClr val="FFFFFF"/>
                    </a:solidFill>
                  </a:tcPr>
                </a:tc>
                <a:tc>
                  <a:txBody>
                    <a:bodyPr/>
                    <a:lstStyle/>
                    <a:p>
                      <a:r>
                        <a:rPr lang="vi-VN" sz="1300" b="0" i="0">
                          <a:solidFill>
                            <a:srgbClr val="1F2937"/>
                          </a:solidFill>
                          <a:latin typeface="Arial"/>
                        </a:rPr>
                        <a:t>283</a:t>
                      </a:r>
                    </a:p>
                  </a:txBody>
                  <a:tcPr marL="73152" marR="73152" marT="27432" marB="27432" anchor="ctr">
                    <a:solidFill>
                      <a:srgbClr val="FFFFFF"/>
                    </a:solidFill>
                  </a:tcPr>
                </a:tc>
                <a:extLst>
                  <a:ext uri="{0D108BD9-81ED-4DB2-BD59-A6C34878D82A}">
                    <a16:rowId xmlns:a16="http://schemas.microsoft.com/office/drawing/2014/main" val="10001"/>
                  </a:ext>
                </a:extLst>
              </a:tr>
              <a:tr h="548640">
                <a:tc>
                  <a:txBody>
                    <a:bodyPr/>
                    <a:lstStyle/>
                    <a:p>
                      <a:r>
                        <a:rPr lang="vi-VN" sz="1300" b="1" i="0">
                          <a:solidFill>
                            <a:srgbClr val="1F2937"/>
                          </a:solidFill>
                          <a:latin typeface="Arial"/>
                        </a:rPr>
                        <a:t>Ford Ranger 2021, không rõ km</a:t>
                      </a:r>
                    </a:p>
                  </a:txBody>
                  <a:tcPr marL="73152" marR="73152" marT="27432" marB="27432" anchor="ctr">
                    <a:solidFill>
                      <a:srgbClr val="EAF2FA"/>
                    </a:solidFill>
                  </a:tcPr>
                </a:tc>
                <a:tc>
                  <a:txBody>
                    <a:bodyPr/>
                    <a:lstStyle/>
                    <a:p>
                      <a:r>
                        <a:rPr lang="vi-VN" sz="1300" b="0" i="0">
                          <a:solidFill>
                            <a:srgbClr val="1F2937"/>
                          </a:solidFill>
                          <a:latin typeface="Arial"/>
                        </a:rPr>
                        <a:t>518</a:t>
                      </a:r>
                    </a:p>
                  </a:txBody>
                  <a:tcPr marL="73152" marR="73152" marT="27432" marB="27432" anchor="ctr">
                    <a:solidFill>
                      <a:srgbClr val="EAF2FA"/>
                    </a:solidFill>
                  </a:tcPr>
                </a:tc>
                <a:tc>
                  <a:txBody>
                    <a:bodyPr/>
                    <a:lstStyle/>
                    <a:p>
                      <a:r>
                        <a:rPr lang="vi-VN" sz="1300" b="0" i="0">
                          <a:solidFill>
                            <a:srgbClr val="1F2937"/>
                          </a:solidFill>
                          <a:latin typeface="Arial"/>
                        </a:rPr>
                        <a:t>563</a:t>
                      </a:r>
                    </a:p>
                  </a:txBody>
                  <a:tcPr marL="73152" marR="73152" marT="27432" marB="27432" anchor="ctr">
                    <a:solidFill>
                      <a:srgbClr val="EAF2FA"/>
                    </a:solidFill>
                  </a:tcPr>
                </a:tc>
                <a:tc>
                  <a:txBody>
                    <a:bodyPr/>
                    <a:lstStyle/>
                    <a:p>
                      <a:r>
                        <a:rPr lang="vi-VN" sz="1300" b="0" i="0">
                          <a:solidFill>
                            <a:srgbClr val="1F2937"/>
                          </a:solidFill>
                          <a:latin typeface="Arial"/>
                        </a:rPr>
                        <a:t>600</a:t>
                      </a:r>
                    </a:p>
                  </a:txBody>
                  <a:tcPr marL="73152" marR="73152" marT="27432" marB="27432" anchor="ctr">
                    <a:solidFill>
                      <a:srgbClr val="EAF2FA"/>
                    </a:solidFill>
                  </a:tcPr>
                </a:tc>
                <a:extLst>
                  <a:ext uri="{0D108BD9-81ED-4DB2-BD59-A6C34878D82A}">
                    <a16:rowId xmlns:a16="http://schemas.microsoft.com/office/drawing/2014/main" val="10002"/>
                  </a:ext>
                </a:extLst>
              </a:tr>
            </a:tbl>
          </a:graphicData>
        </a:graphic>
      </p:graphicFrame>
      <p:sp>
        <p:nvSpPr>
          <p:cNvPr id="7" name="Rounded Rectangle 6"/>
          <p:cNvSpPr/>
          <p:nvPr/>
        </p:nvSpPr>
        <p:spPr>
          <a:xfrm>
            <a:off x="6858000" y="3657600"/>
            <a:ext cx="4754880" cy="173736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040880" y="3730752"/>
            <a:ext cx="4480560" cy="1645920"/>
          </a:xfrm>
          <a:prstGeom prst="rect">
            <a:avLst/>
          </a:prstGeom>
          <a:noFill/>
        </p:spPr>
        <p:txBody>
          <a:bodyPr wrap="square" lIns="45720" tIns="27432" rIns="45720" bIns="27432" anchor="t">
            <a:spAutoFit/>
          </a:bodyPr>
          <a:lstStyle/>
          <a:p>
            <a:pPr marL="201168" indent="-201168" algn="l">
              <a:lnSpc>
                <a:spcPct val="110000"/>
              </a:lnSpc>
              <a:spcAft>
                <a:spcPts val="600"/>
              </a:spcAft>
              <a:buClr>
                <a:srgbClr val="075289"/>
              </a:buClr>
              <a:buFont typeface="Arial"/>
              <a:buChar char="•"/>
            </a:pPr>
            <a:r>
              <a:rPr lang="vi-VN" sz="1300" b="0" i="0">
                <a:solidFill>
                  <a:srgbClr val="1F2937"/>
                </a:solidFill>
                <a:latin typeface="Arial"/>
              </a:rPr>
              <a:t>Xe đã dùng không rõ km → điền trung vị km theo năm sản xuất, đánh dấu mileage_missing</a:t>
            </a:r>
          </a:p>
          <a:p>
            <a:pPr marL="201168" indent="-201168" algn="l">
              <a:lnSpc>
                <a:spcPct val="110000"/>
              </a:lnSpc>
              <a:spcAft>
                <a:spcPts val="600"/>
              </a:spcAft>
              <a:buClr>
                <a:srgbClr val="075289"/>
              </a:buClr>
              <a:buFont typeface="Arial"/>
              <a:buChar char="•"/>
            </a:pPr>
            <a:r>
              <a:rPr lang="vi-VN" sz="1300" b="0" i="0">
                <a:solidFill>
                  <a:srgbClr val="1F2937"/>
                </a:solidFill>
                <a:latin typeface="Arial"/>
              </a:rPr>
              <a:t>Dòng xe chưa gặp → lùi về "&lt;hãng&gt; - dòng khác"</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Kicker"/>
          <p:cNvSpPr txBox="1"/>
          <p:nvPr/>
        </p:nvSpPr>
        <p:spPr>
          <a:xfrm>
            <a:off x="548640" y="274320"/>
            <a:ext cx="9601200" cy="320040"/>
          </a:xfrm>
          <a:prstGeom prst="rect">
            <a:avLst/>
          </a:prstGeom>
          <a:noFill/>
        </p:spPr>
        <p:txBody>
          <a:bodyPr wrap="square" lIns="45720" tIns="27432" rIns="45720" bIns="27432" anchor="t">
            <a:spAutoFit/>
          </a:bodyPr>
          <a:lstStyle/>
          <a:p>
            <a:pPr algn="l">
              <a:lnSpc>
                <a:spcPct val="110000"/>
              </a:lnSpc>
              <a:spcAft>
                <a:spcPts val="600"/>
              </a:spcAft>
            </a:pPr>
            <a:r>
              <a:rPr lang="vi-VN" sz="1200" b="1" i="0">
                <a:solidFill>
                  <a:srgbClr val="EB6834"/>
                </a:solidFill>
                <a:latin typeface="Arial"/>
              </a:rPr>
              <a:t>KẾT LUẬN</a:t>
            </a:r>
          </a:p>
        </p:txBody>
      </p:sp>
      <p:sp>
        <p:nvSpPr>
          <p:cNvPr id="3" name="Title"/>
          <p:cNvSpPr txBox="1"/>
          <p:nvPr/>
        </p:nvSpPr>
        <p:spPr>
          <a:xfrm>
            <a:off x="548640" y="548640"/>
            <a:ext cx="11064240" cy="731520"/>
          </a:xfrm>
          <a:prstGeom prst="rect">
            <a:avLst/>
          </a:prstGeom>
          <a:noFill/>
        </p:spPr>
        <p:txBody>
          <a:bodyPr wrap="square" lIns="45720" tIns="27432" rIns="45720" bIns="27432" anchor="t">
            <a:spAutoFit/>
          </a:bodyPr>
          <a:lstStyle/>
          <a:p>
            <a:pPr algn="l">
              <a:lnSpc>
                <a:spcPct val="110000"/>
              </a:lnSpc>
              <a:spcAft>
                <a:spcPts val="600"/>
              </a:spcAft>
            </a:pPr>
            <a:r>
              <a:rPr lang="vi-VN" sz="2800" b="1" i="0">
                <a:solidFill>
                  <a:srgbClr val="075289"/>
                </a:solidFill>
                <a:latin typeface="Arial"/>
              </a:rPr>
              <a:t>Kết luận, hạn chế và hướng phát triển</a:t>
            </a:r>
          </a:p>
        </p:txBody>
      </p:sp>
      <p:sp>
        <p:nvSpPr>
          <p:cNvPr id="4" name="Rounded Rectangle 3"/>
          <p:cNvSpPr/>
          <p:nvPr/>
        </p:nvSpPr>
        <p:spPr>
          <a:xfrm>
            <a:off x="548640" y="1417320"/>
            <a:ext cx="3474720" cy="1234440"/>
          </a:xfrm>
          <a:prstGeom prst="roundRect">
            <a:avLst>
              <a:gd name="adj" fmla="val 8000"/>
            </a:avLst>
          </a:prstGeom>
          <a:solidFill>
            <a:srgbClr val="0752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31520" y="1463040"/>
            <a:ext cx="3108960" cy="594360"/>
          </a:xfrm>
          <a:prstGeom prst="rect">
            <a:avLst/>
          </a:prstGeom>
          <a:noFill/>
        </p:spPr>
        <p:txBody>
          <a:bodyPr wrap="square" lIns="45720" tIns="27432" rIns="45720" bIns="27432" anchor="t">
            <a:spAutoFit/>
          </a:bodyPr>
          <a:lstStyle/>
          <a:p>
            <a:pPr algn="l">
              <a:lnSpc>
                <a:spcPct val="110000"/>
              </a:lnSpc>
              <a:spcAft>
                <a:spcPts val="600"/>
              </a:spcAft>
            </a:pPr>
            <a:r>
              <a:rPr lang="vi-VN" sz="2600" b="1" i="0">
                <a:solidFill>
                  <a:srgbClr val="FFD400"/>
                </a:solidFill>
                <a:latin typeface="Arial"/>
              </a:rPr>
              <a:t>15,1%</a:t>
            </a:r>
          </a:p>
        </p:txBody>
      </p:sp>
      <p:sp>
        <p:nvSpPr>
          <p:cNvPr id="6" name="TextBox 5"/>
          <p:cNvSpPr txBox="1"/>
          <p:nvPr/>
        </p:nvSpPr>
        <p:spPr>
          <a:xfrm>
            <a:off x="731520" y="2057400"/>
            <a:ext cx="3154680" cy="594360"/>
          </a:xfrm>
          <a:prstGeom prst="rect">
            <a:avLst/>
          </a:prstGeom>
          <a:noFill/>
        </p:spPr>
        <p:txBody>
          <a:bodyPr wrap="square" lIns="45720" tIns="27432" rIns="45720" bIns="27432" anchor="t">
            <a:spAutoFit/>
          </a:bodyPr>
          <a:lstStyle/>
          <a:p>
            <a:pPr algn="l">
              <a:lnSpc>
                <a:spcPct val="110000"/>
              </a:lnSpc>
              <a:spcAft>
                <a:spcPts val="600"/>
              </a:spcAft>
            </a:pPr>
            <a:r>
              <a:rPr lang="vi-VN" sz="1300" b="0" i="0">
                <a:solidFill>
                  <a:srgbClr val="FFFFFF"/>
                </a:solidFill>
                <a:latin typeface="Arial"/>
              </a:rPr>
              <a:t>MAPE của Random Forest; 79% xe lệch ≤ 20%</a:t>
            </a:r>
          </a:p>
        </p:txBody>
      </p:sp>
      <p:sp>
        <p:nvSpPr>
          <p:cNvPr id="7" name="Rounded Rectangle 6"/>
          <p:cNvSpPr/>
          <p:nvPr/>
        </p:nvSpPr>
        <p:spPr>
          <a:xfrm>
            <a:off x="4297679" y="1417320"/>
            <a:ext cx="3474720" cy="12344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480559" y="1463040"/>
            <a:ext cx="3108960" cy="594360"/>
          </a:xfrm>
          <a:prstGeom prst="rect">
            <a:avLst/>
          </a:prstGeom>
          <a:noFill/>
        </p:spPr>
        <p:txBody>
          <a:bodyPr wrap="square" lIns="45720" tIns="27432" rIns="45720" bIns="27432" anchor="t">
            <a:spAutoFit/>
          </a:bodyPr>
          <a:lstStyle/>
          <a:p>
            <a:pPr algn="l">
              <a:lnSpc>
                <a:spcPct val="110000"/>
              </a:lnSpc>
              <a:spcAft>
                <a:spcPts val="600"/>
              </a:spcAft>
            </a:pPr>
            <a:r>
              <a:rPr lang="vi-VN" sz="2600" b="1" i="0">
                <a:solidFill>
                  <a:srgbClr val="EB6834"/>
                </a:solidFill>
                <a:latin typeface="Arial"/>
              </a:rPr>
              <a:t>+3,3 điểm %</a:t>
            </a:r>
          </a:p>
        </p:txBody>
      </p:sp>
      <p:sp>
        <p:nvSpPr>
          <p:cNvPr id="9" name="TextBox 8"/>
          <p:cNvSpPr txBox="1"/>
          <p:nvPr/>
        </p:nvSpPr>
        <p:spPr>
          <a:xfrm>
            <a:off x="4480559" y="2057400"/>
            <a:ext cx="3154680" cy="594360"/>
          </a:xfrm>
          <a:prstGeom prst="rect">
            <a:avLst/>
          </a:prstGeom>
          <a:noFill/>
        </p:spPr>
        <p:txBody>
          <a:bodyPr wrap="square" lIns="45720" tIns="27432" rIns="45720" bIns="27432" anchor="t">
            <a:spAutoFit/>
          </a:bodyPr>
          <a:lstStyle/>
          <a:p>
            <a:pPr algn="l">
              <a:lnSpc>
                <a:spcPct val="110000"/>
              </a:lnSpc>
              <a:spcAft>
                <a:spcPts val="600"/>
              </a:spcAft>
            </a:pPr>
            <a:r>
              <a:rPr lang="vi-VN" sz="1300" b="0" i="0">
                <a:solidFill>
                  <a:srgbClr val="1F2937"/>
                </a:solidFill>
                <a:latin typeface="Arial"/>
              </a:rPr>
              <a:t>tốt hơn Ridge, có ý nghĩa thống kê</a:t>
            </a:r>
          </a:p>
        </p:txBody>
      </p:sp>
      <p:sp>
        <p:nvSpPr>
          <p:cNvPr id="10" name="Rounded Rectangle 9"/>
          <p:cNvSpPr/>
          <p:nvPr/>
        </p:nvSpPr>
        <p:spPr>
          <a:xfrm>
            <a:off x="8046719" y="1417320"/>
            <a:ext cx="3474720" cy="12344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229599" y="1463040"/>
            <a:ext cx="3108960" cy="594360"/>
          </a:xfrm>
          <a:prstGeom prst="rect">
            <a:avLst/>
          </a:prstGeom>
          <a:noFill/>
        </p:spPr>
        <p:txBody>
          <a:bodyPr wrap="square" lIns="45720" tIns="27432" rIns="45720" bIns="27432" anchor="t">
            <a:spAutoFit/>
          </a:bodyPr>
          <a:lstStyle/>
          <a:p>
            <a:pPr algn="l">
              <a:lnSpc>
                <a:spcPct val="110000"/>
              </a:lnSpc>
              <a:spcAft>
                <a:spcPts val="600"/>
              </a:spcAft>
            </a:pPr>
            <a:r>
              <a:rPr lang="vi-VN" sz="2600" b="1" i="0">
                <a:solidFill>
                  <a:srgbClr val="EB6834"/>
                </a:solidFill>
                <a:latin typeface="Arial"/>
              </a:rPr>
              <a:t>15,7%</a:t>
            </a:r>
          </a:p>
        </p:txBody>
      </p:sp>
      <p:sp>
        <p:nvSpPr>
          <p:cNvPr id="12" name="TextBox 11"/>
          <p:cNvSpPr txBox="1"/>
          <p:nvPr/>
        </p:nvSpPr>
        <p:spPr>
          <a:xfrm>
            <a:off x="8229599" y="2057400"/>
            <a:ext cx="3154680" cy="594360"/>
          </a:xfrm>
          <a:prstGeom prst="rect">
            <a:avLst/>
          </a:prstGeom>
          <a:noFill/>
        </p:spPr>
        <p:txBody>
          <a:bodyPr wrap="square" lIns="45720" tIns="27432" rIns="45720" bIns="27432" anchor="t">
            <a:spAutoFit/>
          </a:bodyPr>
          <a:lstStyle/>
          <a:p>
            <a:pPr algn="l">
              <a:lnSpc>
                <a:spcPct val="110000"/>
              </a:lnSpc>
              <a:spcAft>
                <a:spcPts val="600"/>
              </a:spcAft>
            </a:pPr>
            <a:r>
              <a:rPr lang="vi-VN" sz="1300" b="0" i="0">
                <a:solidFill>
                  <a:srgbClr val="1F2937"/>
                </a:solidFill>
                <a:latin typeface="Arial"/>
              </a:rPr>
              <a:t>rừng tự cài đặt, kiểm chứng ở mức cây và rừng</a:t>
            </a:r>
          </a:p>
        </p:txBody>
      </p:sp>
      <p:sp>
        <p:nvSpPr>
          <p:cNvPr id="13" name="Rounded Rectangle 12"/>
          <p:cNvSpPr/>
          <p:nvPr/>
        </p:nvSpPr>
        <p:spPr>
          <a:xfrm>
            <a:off x="548640" y="2788920"/>
            <a:ext cx="5440680" cy="2148840"/>
          </a:xfrm>
          <a:prstGeom prst="roundRect">
            <a:avLst>
              <a:gd name="adj" fmla="val 8000"/>
            </a:avLst>
          </a:prstGeom>
          <a:solidFill>
            <a:srgbClr val="EAF2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777240" y="2852928"/>
            <a:ext cx="5029200" cy="365760"/>
          </a:xfrm>
          <a:prstGeom prst="rect">
            <a:avLst/>
          </a:prstGeom>
          <a:noFill/>
        </p:spPr>
        <p:txBody>
          <a:bodyPr wrap="square" lIns="45720" tIns="27432" rIns="45720" bIns="27432" anchor="t">
            <a:spAutoFit/>
          </a:bodyPr>
          <a:lstStyle/>
          <a:p>
            <a:pPr algn="l">
              <a:lnSpc>
                <a:spcPct val="110000"/>
              </a:lnSpc>
              <a:spcAft>
                <a:spcPts val="600"/>
              </a:spcAft>
            </a:pPr>
            <a:r>
              <a:rPr lang="vi-VN" sz="1600" b="1" i="0">
                <a:solidFill>
                  <a:srgbClr val="075289"/>
                </a:solidFill>
                <a:latin typeface="Arial"/>
              </a:rPr>
              <a:t>Hạn chế</a:t>
            </a:r>
          </a:p>
        </p:txBody>
      </p:sp>
      <p:sp>
        <p:nvSpPr>
          <p:cNvPr id="15" name="TextBox 14"/>
          <p:cNvSpPr txBox="1"/>
          <p:nvPr/>
        </p:nvSpPr>
        <p:spPr>
          <a:xfrm>
            <a:off x="777240" y="3246120"/>
            <a:ext cx="5029200" cy="1645920"/>
          </a:xfrm>
          <a:prstGeom prst="rect">
            <a:avLst/>
          </a:prstGeom>
          <a:noFill/>
        </p:spPr>
        <p:txBody>
          <a:bodyPr wrap="square" lIns="45720" tIns="27432" rIns="45720" bIns="27432" anchor="t">
            <a:spAutoFit/>
          </a:bodyPr>
          <a:lstStyle/>
          <a:p>
            <a:pPr marL="201168" indent="-201168" algn="l">
              <a:lnSpc>
                <a:spcPct val="110000"/>
              </a:lnSpc>
              <a:spcAft>
                <a:spcPts val="500"/>
              </a:spcAft>
              <a:buClr>
                <a:srgbClr val="075289"/>
              </a:buClr>
              <a:buFont typeface="Arial"/>
              <a:buChar char="•"/>
            </a:pPr>
            <a:r>
              <a:rPr lang="vi-VN" sz="1400" b="0" i="0">
                <a:solidFill>
                  <a:srgbClr val="1F2937"/>
                </a:solidFill>
                <a:latin typeface="Arial"/>
              </a:rPr>
              <a:t>Giá rao bán, không phải giá giao dịch</a:t>
            </a:r>
          </a:p>
          <a:p>
            <a:pPr marL="201168" indent="-201168" algn="l">
              <a:lnSpc>
                <a:spcPct val="110000"/>
              </a:lnSpc>
              <a:spcAft>
                <a:spcPts val="500"/>
              </a:spcAft>
              <a:buClr>
                <a:srgbClr val="075289"/>
              </a:buClr>
              <a:buFont typeface="Arial"/>
              <a:buChar char="•"/>
            </a:pPr>
            <a:r>
              <a:rPr lang="vi-VN" sz="1400" b="0" i="0">
                <a:solidFill>
                  <a:srgbClr val="1F2937"/>
                </a:solidFill>
                <a:latin typeface="Arial"/>
              </a:rPr>
              <a:t>Chưa lấy phiên bản, số đời chủ, đăng kiểm</a:t>
            </a:r>
          </a:p>
          <a:p>
            <a:pPr marL="201168" indent="-201168" algn="l">
              <a:lnSpc>
                <a:spcPct val="110000"/>
              </a:lnSpc>
              <a:spcAft>
                <a:spcPts val="500"/>
              </a:spcAft>
              <a:buClr>
                <a:srgbClr val="075289"/>
              </a:buClr>
              <a:buFont typeface="Arial"/>
              <a:buChar char="•"/>
            </a:pPr>
            <a:r>
              <a:rPr lang="vi-VN" sz="1400" b="0" i="0">
                <a:solidFill>
                  <a:srgbClr val="1F2937"/>
                </a:solidFill>
                <a:latin typeface="Arial"/>
              </a:rPr>
              <a:t>Còn sót giá trả trước ở dòng xe ít tin; có tin đăng lại</a:t>
            </a:r>
          </a:p>
          <a:p>
            <a:pPr marL="201168" indent="-201168" algn="l">
              <a:lnSpc>
                <a:spcPct val="110000"/>
              </a:lnSpc>
              <a:spcAft>
                <a:spcPts val="500"/>
              </a:spcAft>
              <a:buClr>
                <a:srgbClr val="075289"/>
              </a:buClr>
              <a:buFont typeface="Arial"/>
              <a:buChar char="•"/>
            </a:pPr>
            <a:r>
              <a:rPr lang="vi-VN" sz="1400" b="0" i="0">
                <a:solidFill>
                  <a:srgbClr val="1F2937"/>
                </a:solidFill>
                <a:latin typeface="Arial"/>
              </a:rPr>
              <a:t>Ảnh chụp thị trường 10/2026, xe ≤ 10 tỷ</a:t>
            </a:r>
          </a:p>
        </p:txBody>
      </p:sp>
      <p:sp>
        <p:nvSpPr>
          <p:cNvPr id="16" name="Rounded Rectangle 15"/>
          <p:cNvSpPr/>
          <p:nvPr/>
        </p:nvSpPr>
        <p:spPr>
          <a:xfrm>
            <a:off x="6172200" y="2788920"/>
            <a:ext cx="5440680" cy="2148840"/>
          </a:xfrm>
          <a:prstGeom prst="roundRect">
            <a:avLst>
              <a:gd name="adj" fmla="val 8000"/>
            </a:avLst>
          </a:prstGeom>
          <a:solidFill>
            <a:srgbClr val="FFF6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6400800" y="2852928"/>
            <a:ext cx="5029200" cy="365760"/>
          </a:xfrm>
          <a:prstGeom prst="rect">
            <a:avLst/>
          </a:prstGeom>
          <a:noFill/>
        </p:spPr>
        <p:txBody>
          <a:bodyPr wrap="square" lIns="45720" tIns="27432" rIns="45720" bIns="27432" anchor="t">
            <a:spAutoFit/>
          </a:bodyPr>
          <a:lstStyle/>
          <a:p>
            <a:pPr algn="l">
              <a:lnSpc>
                <a:spcPct val="110000"/>
              </a:lnSpc>
              <a:spcAft>
                <a:spcPts val="600"/>
              </a:spcAft>
            </a:pPr>
            <a:r>
              <a:rPr lang="vi-VN" sz="1600" b="1" i="0">
                <a:solidFill>
                  <a:srgbClr val="075289"/>
                </a:solidFill>
                <a:latin typeface="Arial"/>
              </a:rPr>
              <a:t>Hướng phát triển</a:t>
            </a:r>
          </a:p>
        </p:txBody>
      </p:sp>
      <p:sp>
        <p:nvSpPr>
          <p:cNvPr id="18" name="TextBox 17"/>
          <p:cNvSpPr txBox="1"/>
          <p:nvPr/>
        </p:nvSpPr>
        <p:spPr>
          <a:xfrm>
            <a:off x="6400800" y="3246120"/>
            <a:ext cx="5029200" cy="1645920"/>
          </a:xfrm>
          <a:prstGeom prst="rect">
            <a:avLst/>
          </a:prstGeom>
          <a:noFill/>
        </p:spPr>
        <p:txBody>
          <a:bodyPr wrap="square" lIns="45720" tIns="27432" rIns="45720" bIns="27432" anchor="t">
            <a:spAutoFit/>
          </a:bodyPr>
          <a:lstStyle/>
          <a:p>
            <a:pPr marL="201168" indent="-201168" algn="l">
              <a:lnSpc>
                <a:spcPct val="110000"/>
              </a:lnSpc>
              <a:spcAft>
                <a:spcPts val="500"/>
              </a:spcAft>
              <a:buClr>
                <a:srgbClr val="075289"/>
              </a:buClr>
              <a:buFont typeface="Arial"/>
              <a:buChar char="•"/>
            </a:pPr>
            <a:r>
              <a:rPr lang="vi-VN" sz="1400" b="0" i="0">
                <a:solidFill>
                  <a:srgbClr val="1F2937"/>
                </a:solidFill>
                <a:latin typeface="Arial"/>
              </a:rPr>
              <a:t>Crawl tiêu đề, mô tả: phiên bản xe, lọc giá trả trước</a:t>
            </a:r>
          </a:p>
          <a:p>
            <a:pPr marL="201168" indent="-201168" algn="l">
              <a:lnSpc>
                <a:spcPct val="110000"/>
              </a:lnSpc>
              <a:spcAft>
                <a:spcPts val="500"/>
              </a:spcAft>
              <a:buClr>
                <a:srgbClr val="075289"/>
              </a:buClr>
              <a:buFont typeface="Arial"/>
              <a:buChar char="•"/>
            </a:pPr>
            <a:r>
              <a:rPr lang="vi-VN" sz="1400" b="0" i="0">
                <a:solidFill>
                  <a:srgbClr val="1F2937"/>
                </a:solidFill>
                <a:latin typeface="Arial"/>
              </a:rPr>
              <a:t>Chia train/test theo nhóm làm đánh giá chính</a:t>
            </a:r>
          </a:p>
          <a:p>
            <a:pPr marL="201168" indent="-201168" algn="l">
              <a:lnSpc>
                <a:spcPct val="110000"/>
              </a:lnSpc>
              <a:spcAft>
                <a:spcPts val="500"/>
              </a:spcAft>
              <a:buClr>
                <a:srgbClr val="075289"/>
              </a:buClr>
              <a:buFont typeface="Arial"/>
              <a:buChar char="•"/>
            </a:pPr>
            <a:r>
              <a:rPr lang="vi-VN" sz="1400" b="0" i="0">
                <a:solidFill>
                  <a:srgbClr val="1F2937"/>
                </a:solidFill>
                <a:latin typeface="Arial"/>
              </a:rPr>
              <a:t>Gradient Boosting dùng lại lớp cây tự cài đặt</a:t>
            </a:r>
          </a:p>
          <a:p>
            <a:pPr marL="201168" indent="-201168" algn="l">
              <a:lnSpc>
                <a:spcPct val="110000"/>
              </a:lnSpc>
              <a:spcAft>
                <a:spcPts val="500"/>
              </a:spcAft>
              <a:buClr>
                <a:srgbClr val="075289"/>
              </a:buClr>
              <a:buFont typeface="Arial"/>
              <a:buChar char="•"/>
            </a:pPr>
            <a:r>
              <a:rPr lang="vi-VN" sz="1400" b="0" i="0">
                <a:solidFill>
                  <a:srgbClr val="1F2937"/>
                </a:solidFill>
                <a:latin typeface="Arial"/>
              </a:rPr>
              <a:t>Giao diện web nhập thông tin xe, nhận giá</a:t>
            </a:r>
          </a:p>
        </p:txBody>
      </p:sp>
      <p:sp>
        <p:nvSpPr>
          <p:cNvPr id="19" name="TextBox 18"/>
          <p:cNvSpPr txBox="1"/>
          <p:nvPr/>
        </p:nvSpPr>
        <p:spPr>
          <a:xfrm>
            <a:off x="548640" y="5029200"/>
            <a:ext cx="11064240" cy="411480"/>
          </a:xfrm>
          <a:prstGeom prst="rect">
            <a:avLst/>
          </a:prstGeom>
          <a:noFill/>
        </p:spPr>
        <p:txBody>
          <a:bodyPr wrap="square" lIns="45720" tIns="27432" rIns="45720" bIns="27432" anchor="t">
            <a:spAutoFit/>
          </a:bodyPr>
          <a:lstStyle/>
          <a:p>
            <a:pPr algn="ctr">
              <a:lnSpc>
                <a:spcPct val="110000"/>
              </a:lnSpc>
              <a:spcAft>
                <a:spcPts val="600"/>
              </a:spcAft>
            </a:pPr>
            <a:r>
              <a:rPr lang="vi-VN" sz="1800" b="1" i="0">
                <a:solidFill>
                  <a:srgbClr val="EB6834"/>
                </a:solidFill>
                <a:latin typeface="Arial"/>
              </a:rPr>
              <a:t>Cảm ơn thầy cô đã lắng nghe!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116</TotalTime>
  <Words>7698</Words>
  <Application>Microsoft Office PowerPoint</Application>
  <PresentationFormat>Widescreen</PresentationFormat>
  <Paragraphs>793</Paragraphs>
  <Slides>41</Slides>
  <Notes>41</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41</vt:i4>
      </vt:variant>
    </vt:vector>
  </HeadingPairs>
  <TitlesOfParts>
    <vt:vector size="47" baseType="lpstr">
      <vt:lpstr>Arial</vt:lpstr>
      <vt:lpstr>Calibri</vt:lpstr>
      <vt:lpstr>Calibri Light</vt:lpstr>
      <vt:lpstr>UTM Neutra</vt:lpstr>
      <vt:lpstr>Office Theme</vt:lpstr>
      <vt:lpstr>Custom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Truong Ngoc Son-Khoa QLDA</dc:creator>
  <cp:lastModifiedBy>Dương Công Tiến</cp:lastModifiedBy>
  <cp:revision>7</cp:revision>
  <dcterms:created xsi:type="dcterms:W3CDTF">2022-10-04T00:50:19Z</dcterms:created>
  <dcterms:modified xsi:type="dcterms:W3CDTF">2026-10-31T04:50:09Z</dcterms:modified>
</cp:coreProperties>
</file>